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16e9bee85e848da" /><Relationship Type="http://schemas.openxmlformats.org/officeDocument/2006/relationships/extended-properties" Target="/docProps/app.xml" Id="Rf7cf50468451410c" /><Relationship Type="http://schemas.openxmlformats.org/officeDocument/2006/relationships/officeDocument" Target="/ppt/presentation.xml" Id="Rda93a43e6f634d1d" /></Relationships>
</file>

<file path=ppt/presentation.xml><?xml version="1.0" encoding="utf-8"?>
<p:presentation xmlns:p="http://schemas.openxmlformats.org/presentationml/2006/main">
  <p:sldMasterIdLst>
    <p:sldMasterId xmlns:r="http://schemas.openxmlformats.org/officeDocument/2006/relationships" id="2147483648" r:id="Rfc436cd5e1b44fa0"/>
  </p:sldMasterIdLst>
  <p:notesMasterIdLst>
    <p:notesMasterId xmlns:r="http://schemas.openxmlformats.org/officeDocument/2006/relationships" r:id="Rf7d4d6c884ea45f0"/>
  </p:notesMasterIdLst>
  <p:sldIdLst>
    <p:sldId xmlns:r="http://schemas.openxmlformats.org/officeDocument/2006/relationships" id="256" r:id="R9d4583494da74eac"/>
    <p:sldId xmlns:r="http://schemas.openxmlformats.org/officeDocument/2006/relationships" id="257" r:id="R1fdb708f3a0b409a"/>
    <p:sldId xmlns:r="http://schemas.openxmlformats.org/officeDocument/2006/relationships" id="258" r:id="Rd320573faf364162"/>
    <p:sldId xmlns:r="http://schemas.openxmlformats.org/officeDocument/2006/relationships" id="259" r:id="Rb058ed6ce0404bea"/>
    <p:sldId xmlns:r="http://schemas.openxmlformats.org/officeDocument/2006/relationships" id="260" r:id="R7748902f3e704ec9"/>
    <p:sldId xmlns:r="http://schemas.openxmlformats.org/officeDocument/2006/relationships" id="261" r:id="R928f6d641e8a4711"/>
    <p:sldId xmlns:r="http://schemas.openxmlformats.org/officeDocument/2006/relationships" id="262" r:id="R1ad2a382233a4a0c"/>
    <p:sldId xmlns:r="http://schemas.openxmlformats.org/officeDocument/2006/relationships" id="263" r:id="R647d2af1286d4b58"/>
    <p:sldId xmlns:r="http://schemas.openxmlformats.org/officeDocument/2006/relationships" id="264" r:id="R70f9865b4231463b"/>
    <p:sldId xmlns:r="http://schemas.openxmlformats.org/officeDocument/2006/relationships" id="265" r:id="R60f29469e2bd42d6"/>
    <p:sldId xmlns:r="http://schemas.openxmlformats.org/officeDocument/2006/relationships" id="266" r:id="R9532881c4288451e"/>
    <p:sldId xmlns:r="http://schemas.openxmlformats.org/officeDocument/2006/relationships" id="267" r:id="Raafac30564334fe7"/>
    <p:sldId xmlns:r="http://schemas.openxmlformats.org/officeDocument/2006/relationships" id="268" r:id="Rebb4ee4cdea84927"/>
    <p:sldId xmlns:r="http://schemas.openxmlformats.org/officeDocument/2006/relationships" id="269" r:id="R1f15183740944bf9"/>
    <p:sldId xmlns:r="http://schemas.openxmlformats.org/officeDocument/2006/relationships" id="270" r:id="R6aa6fd761de6401e"/>
    <p:sldId xmlns:r="http://schemas.openxmlformats.org/officeDocument/2006/relationships" id="271" r:id="R04792819561c43b9"/>
    <p:sldId xmlns:r="http://schemas.openxmlformats.org/officeDocument/2006/relationships" id="272" r:id="R82057663a85d48f1"/>
    <p:sldId xmlns:r="http://schemas.openxmlformats.org/officeDocument/2006/relationships" id="273" r:id="R832bc43f9b6a44b9"/>
    <p:sldId xmlns:r="http://schemas.openxmlformats.org/officeDocument/2006/relationships" id="274" r:id="R0cd5862d18ad452a"/>
    <p:sldId xmlns:r="http://schemas.openxmlformats.org/officeDocument/2006/relationships" id="275" r:id="R0d4b49f6cddd4eaa"/>
    <p:sldId xmlns:r="http://schemas.openxmlformats.org/officeDocument/2006/relationships" id="276" r:id="R6402911e34574fb5"/>
    <p:sldId xmlns:r="http://schemas.openxmlformats.org/officeDocument/2006/relationships" id="277" r:id="R16f535c0ccc142bd"/>
    <p:sldId xmlns:r="http://schemas.openxmlformats.org/officeDocument/2006/relationships" id="278" r:id="R2d62f7d42be74de3"/>
    <p:sldId xmlns:r="http://schemas.openxmlformats.org/officeDocument/2006/relationships" id="279" r:id="Raca358925664424f"/>
    <p:sldId xmlns:r="http://schemas.openxmlformats.org/officeDocument/2006/relationships" id="280" r:id="R97a16641bbeb449c"/>
    <p:sldId xmlns:r="http://schemas.openxmlformats.org/officeDocument/2006/relationships" id="281" r:id="R0bba23ab4912473e"/>
    <p:sldId xmlns:r="http://schemas.openxmlformats.org/officeDocument/2006/relationships" id="282" r:id="Re29bef2afe0a492b"/>
    <p:sldId xmlns:r="http://schemas.openxmlformats.org/officeDocument/2006/relationships" id="283" r:id="R18a9b4579c63442f"/>
    <p:sldId xmlns:r="http://schemas.openxmlformats.org/officeDocument/2006/relationships" id="284" r:id="Rf502d3e439504a9d"/>
    <p:sldId xmlns:r="http://schemas.openxmlformats.org/officeDocument/2006/relationships" id="285" r:id="R153df1a4f85c4ef8"/>
    <p:sldId xmlns:r="http://schemas.openxmlformats.org/officeDocument/2006/relationships" id="286" r:id="R5232e489b9c6436a"/>
    <p:sldId xmlns:r="http://schemas.openxmlformats.org/officeDocument/2006/relationships" id="287" r:id="R26cd02fc0b59401c"/>
    <p:sldId xmlns:r="http://schemas.openxmlformats.org/officeDocument/2006/relationships" id="288" r:id="Re267f5fd79bf4cfa"/>
    <p:sldId xmlns:r="http://schemas.openxmlformats.org/officeDocument/2006/relationships" id="289" r:id="R8b382c08533d4799"/>
    <p:sldId xmlns:r="http://schemas.openxmlformats.org/officeDocument/2006/relationships" id="290" r:id="R5d3de23b6c17434a"/>
    <p:sldId xmlns:r="http://schemas.openxmlformats.org/officeDocument/2006/relationships" id="291" r:id="R2a9b6e6f57ae44ec"/>
    <p:sldId xmlns:r="http://schemas.openxmlformats.org/officeDocument/2006/relationships" id="292" r:id="R2b0ca8833ea448f8"/>
    <p:sldId xmlns:r="http://schemas.openxmlformats.org/officeDocument/2006/relationships" id="293" r:id="Ra7cb4e2befb04071"/>
    <p:sldId xmlns:r="http://schemas.openxmlformats.org/officeDocument/2006/relationships" id="294" r:id="Rc150262a987a405a"/>
    <p:sldId xmlns:r="http://schemas.openxmlformats.org/officeDocument/2006/relationships" id="295" r:id="Rc8a58e4479e74543"/>
    <p:sldId xmlns:r="http://schemas.openxmlformats.org/officeDocument/2006/relationships" id="296" r:id="Rff9e71c9050149aa"/>
    <p:sldId xmlns:r="http://schemas.openxmlformats.org/officeDocument/2006/relationships" id="297" r:id="Rce7f1b6ac1904a08"/>
    <p:sldId xmlns:r="http://schemas.openxmlformats.org/officeDocument/2006/relationships" id="298" r:id="R0ece50fd0af44dae"/>
    <p:sldId xmlns:r="http://schemas.openxmlformats.org/officeDocument/2006/relationships" id="299" r:id="R251339913c34410b"/>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602162ecd934879" /><Relationship Type="http://schemas.openxmlformats.org/officeDocument/2006/relationships/slideMaster" Target="/ppt/slideMasters/slideMaster1.xml" Id="Rfc436cd5e1b44fa0" /><Relationship Type="http://schemas.openxmlformats.org/officeDocument/2006/relationships/notesMaster" Target="/ppt/notesMasters/notesMaster1.xml" Id="Rf7d4d6c884ea45f0" /><Relationship Type="http://schemas.openxmlformats.org/officeDocument/2006/relationships/presProps" Target="/ppt/presProps.xml" Id="Rfe0a56009e4347a0" /><Relationship Type="http://schemas.openxmlformats.org/officeDocument/2006/relationships/viewProps" Target="/ppt/viewProps.xml" Id="R23cc265ddb014a95" /><Relationship Type="http://schemas.openxmlformats.org/officeDocument/2006/relationships/tableStyles" Target="/ppt/tableStyles.xml" Id="Rd839ae2d4eef45e5" /><Relationship Type="http://schemas.openxmlformats.org/officeDocument/2006/relationships/slide" Target="/ppt/slides/slide1.xml" Id="R9d4583494da74eac" /><Relationship Type="http://schemas.openxmlformats.org/officeDocument/2006/relationships/slide" Target="/ppt/slides/slide2.xml" Id="R1fdb708f3a0b409a" /><Relationship Type="http://schemas.openxmlformats.org/officeDocument/2006/relationships/slide" Target="/ppt/slides/slide3.xml" Id="Rd320573faf364162" /><Relationship Type="http://schemas.openxmlformats.org/officeDocument/2006/relationships/slide" Target="/ppt/slides/slide4.xml" Id="Rb058ed6ce0404bea" /><Relationship Type="http://schemas.openxmlformats.org/officeDocument/2006/relationships/slide" Target="/ppt/slides/slide5.xml" Id="R7748902f3e704ec9" /><Relationship Type="http://schemas.openxmlformats.org/officeDocument/2006/relationships/slide" Target="/ppt/slides/slide6.xml" Id="R928f6d641e8a4711" /><Relationship Type="http://schemas.openxmlformats.org/officeDocument/2006/relationships/slide" Target="/ppt/slides/slide7.xml" Id="R1ad2a382233a4a0c" /><Relationship Type="http://schemas.openxmlformats.org/officeDocument/2006/relationships/slide" Target="/ppt/slides/slide8.xml" Id="R647d2af1286d4b58" /><Relationship Type="http://schemas.openxmlformats.org/officeDocument/2006/relationships/slide" Target="/ppt/slides/slide9.xml" Id="R70f9865b4231463b" /><Relationship Type="http://schemas.openxmlformats.org/officeDocument/2006/relationships/slide" Target="/ppt/slides/slide10.xml" Id="R60f29469e2bd42d6" /><Relationship Type="http://schemas.openxmlformats.org/officeDocument/2006/relationships/slide" Target="/ppt/slides/slide11.xml" Id="R9532881c4288451e" /><Relationship Type="http://schemas.openxmlformats.org/officeDocument/2006/relationships/slide" Target="/ppt/slides/slide12.xml" Id="Raafac30564334fe7" /><Relationship Type="http://schemas.openxmlformats.org/officeDocument/2006/relationships/slide" Target="/ppt/slides/slide13.xml" Id="Rebb4ee4cdea84927" /><Relationship Type="http://schemas.openxmlformats.org/officeDocument/2006/relationships/slide" Target="/ppt/slides/slide14.xml" Id="R1f15183740944bf9" /><Relationship Type="http://schemas.openxmlformats.org/officeDocument/2006/relationships/slide" Target="/ppt/slides/slide15.xml" Id="R6aa6fd761de6401e" /><Relationship Type="http://schemas.openxmlformats.org/officeDocument/2006/relationships/slide" Target="/ppt/slides/slide16.xml" Id="R04792819561c43b9" /><Relationship Type="http://schemas.openxmlformats.org/officeDocument/2006/relationships/slide" Target="/ppt/slides/slide17.xml" Id="R82057663a85d48f1" /><Relationship Type="http://schemas.openxmlformats.org/officeDocument/2006/relationships/slide" Target="/ppt/slides/slide18.xml" Id="R832bc43f9b6a44b9" /><Relationship Type="http://schemas.openxmlformats.org/officeDocument/2006/relationships/slide" Target="/ppt/slides/slide19.xml" Id="R0cd5862d18ad452a" /><Relationship Type="http://schemas.openxmlformats.org/officeDocument/2006/relationships/slide" Target="/ppt/slides/slide20.xml" Id="R0d4b49f6cddd4eaa" /><Relationship Type="http://schemas.openxmlformats.org/officeDocument/2006/relationships/slide" Target="/ppt/slides/slide21.xml" Id="R6402911e34574fb5" /><Relationship Type="http://schemas.openxmlformats.org/officeDocument/2006/relationships/slide" Target="/ppt/slides/slide22.xml" Id="R16f535c0ccc142bd" /><Relationship Type="http://schemas.openxmlformats.org/officeDocument/2006/relationships/slide" Target="/ppt/slides/slide23.xml" Id="R2d62f7d42be74de3" /><Relationship Type="http://schemas.openxmlformats.org/officeDocument/2006/relationships/slide" Target="/ppt/slides/slide24.xml" Id="Raca358925664424f" /><Relationship Type="http://schemas.openxmlformats.org/officeDocument/2006/relationships/slide" Target="/ppt/slides/slide25.xml" Id="R97a16641bbeb449c" /><Relationship Type="http://schemas.openxmlformats.org/officeDocument/2006/relationships/slide" Target="/ppt/slides/slide26.xml" Id="R0bba23ab4912473e" /><Relationship Type="http://schemas.openxmlformats.org/officeDocument/2006/relationships/slide" Target="/ppt/slides/slide27.xml" Id="Re29bef2afe0a492b" /><Relationship Type="http://schemas.openxmlformats.org/officeDocument/2006/relationships/slide" Target="/ppt/slides/slide28.xml" Id="R18a9b4579c63442f" /><Relationship Type="http://schemas.openxmlformats.org/officeDocument/2006/relationships/slide" Target="/ppt/slides/slide29.xml" Id="Rf502d3e439504a9d" /><Relationship Type="http://schemas.openxmlformats.org/officeDocument/2006/relationships/slide" Target="/ppt/slides/slide30.xml" Id="R153df1a4f85c4ef8" /><Relationship Type="http://schemas.openxmlformats.org/officeDocument/2006/relationships/slide" Target="/ppt/slides/slide31.xml" Id="R5232e489b9c6436a" /><Relationship Type="http://schemas.openxmlformats.org/officeDocument/2006/relationships/slide" Target="/ppt/slides/slide32.xml" Id="R26cd02fc0b59401c" /><Relationship Type="http://schemas.openxmlformats.org/officeDocument/2006/relationships/slide" Target="/ppt/slides/slide33.xml" Id="Re267f5fd79bf4cfa" /><Relationship Type="http://schemas.openxmlformats.org/officeDocument/2006/relationships/slide" Target="/ppt/slides/slide34.xml" Id="R8b382c08533d4799" /><Relationship Type="http://schemas.openxmlformats.org/officeDocument/2006/relationships/slide" Target="/ppt/slides/slide35.xml" Id="R5d3de23b6c17434a" /><Relationship Type="http://schemas.openxmlformats.org/officeDocument/2006/relationships/slide" Target="/ppt/slides/slide36.xml" Id="R2a9b6e6f57ae44ec" /><Relationship Type="http://schemas.openxmlformats.org/officeDocument/2006/relationships/slide" Target="/ppt/slides/slide37.xml" Id="R2b0ca8833ea448f8" /><Relationship Type="http://schemas.openxmlformats.org/officeDocument/2006/relationships/slide" Target="/ppt/slides/slide38.xml" Id="Ra7cb4e2befb04071" /><Relationship Type="http://schemas.openxmlformats.org/officeDocument/2006/relationships/slide" Target="/ppt/slides/slide39.xml" Id="Rc150262a987a405a" /><Relationship Type="http://schemas.openxmlformats.org/officeDocument/2006/relationships/slide" Target="/ppt/slides/slide40.xml" Id="Rc8a58e4479e74543" /><Relationship Type="http://schemas.openxmlformats.org/officeDocument/2006/relationships/slide" Target="/ppt/slides/slide41.xml" Id="Rff9e71c9050149aa" /><Relationship Type="http://schemas.openxmlformats.org/officeDocument/2006/relationships/slide" Target="/ppt/slides/slide42.xml" Id="Rce7f1b6ac1904a08" /><Relationship Type="http://schemas.openxmlformats.org/officeDocument/2006/relationships/slide" Target="/ppt/slides/slide43.xml" Id="R0ece50fd0af44dae" /><Relationship Type="http://schemas.openxmlformats.org/officeDocument/2006/relationships/slide" Target="/ppt/slides/slide44.xml" Id="R251339913c3441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6744e90f1747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4297008ce04a22" /><Relationship Type="http://schemas.openxmlformats.org/officeDocument/2006/relationships/notesMaster" Target="/ppt/notesMasters/notesMaster1.xml" Id="Ra6339fd8ba194d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07c2915e4e4632" /><Relationship Type="http://schemas.openxmlformats.org/officeDocument/2006/relationships/notesMaster" Target="/ppt/notesMasters/notesMaster1.xml" Id="Rddeb1a07464f40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7a8e6fa4104b0b" /><Relationship Type="http://schemas.openxmlformats.org/officeDocument/2006/relationships/notesMaster" Target="/ppt/notesMasters/notesMaster1.xml" Id="R8d9b8f54f1bc4d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346ff7d27d43cd" /><Relationship Type="http://schemas.openxmlformats.org/officeDocument/2006/relationships/notesMaster" Target="/ppt/notesMasters/notesMaster1.xml" Id="R9251314be3f746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5cb13efe2f4a7a" /><Relationship Type="http://schemas.openxmlformats.org/officeDocument/2006/relationships/notesMaster" Target="/ppt/notesMasters/notesMaster1.xml" Id="R6f4693d2e8cb4d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4b9f51c02b441a" /><Relationship Type="http://schemas.openxmlformats.org/officeDocument/2006/relationships/notesMaster" Target="/ppt/notesMasters/notesMaster1.xml" Id="R6f15e0317aed4f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16c969eaea4730" /><Relationship Type="http://schemas.openxmlformats.org/officeDocument/2006/relationships/notesMaster" Target="/ppt/notesMasters/notesMaster1.xml" Id="R58f6e55f06eb47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041901995a4380" /><Relationship Type="http://schemas.openxmlformats.org/officeDocument/2006/relationships/notesMaster" Target="/ppt/notesMasters/notesMaster1.xml" Id="R5d7ca481c52c46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95b27594cb4a88" /><Relationship Type="http://schemas.openxmlformats.org/officeDocument/2006/relationships/notesMaster" Target="/ppt/notesMasters/notesMaster1.xml" Id="Reaa0f24717a64d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154301519e8443a" /><Relationship Type="http://schemas.openxmlformats.org/officeDocument/2006/relationships/notesMaster" Target="/ppt/notesMasters/notesMaster1.xml" Id="Rafe463351c5a45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fc786c8c6e4f0a" /><Relationship Type="http://schemas.openxmlformats.org/officeDocument/2006/relationships/notesMaster" Target="/ppt/notesMasters/notesMaster1.xml" Id="Rd91c990d0a03410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91effe5f7c54034" /><Relationship Type="http://schemas.openxmlformats.org/officeDocument/2006/relationships/notesMaster" Target="/ppt/notesMasters/notesMaster1.xml" Id="R5e1a45cc3196420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0ca72050454f40" /><Relationship Type="http://schemas.openxmlformats.org/officeDocument/2006/relationships/notesMaster" Target="/ppt/notesMasters/notesMaster1.xml" Id="R5b1ac09b505047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c615af80cc44035" /><Relationship Type="http://schemas.openxmlformats.org/officeDocument/2006/relationships/notesMaster" Target="/ppt/notesMasters/notesMaster1.xml" Id="Rddec2edaca8e45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0ea27460b6a4e54" /><Relationship Type="http://schemas.openxmlformats.org/officeDocument/2006/relationships/notesMaster" Target="/ppt/notesMasters/notesMaster1.xml" Id="R156ff69afb8441c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155176202ac4f4a" /><Relationship Type="http://schemas.openxmlformats.org/officeDocument/2006/relationships/notesMaster" Target="/ppt/notesMasters/notesMaster1.xml" Id="R9d422360c1f8447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28eed5a7a14dc8" /><Relationship Type="http://schemas.openxmlformats.org/officeDocument/2006/relationships/notesMaster" Target="/ppt/notesMasters/notesMaster1.xml" Id="R7e1c8ccae4b24d8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75c09feffc74f51" /><Relationship Type="http://schemas.openxmlformats.org/officeDocument/2006/relationships/notesMaster" Target="/ppt/notesMasters/notesMaster1.xml" Id="Ra26abd1fc4924c9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1985581ae0b4973" /><Relationship Type="http://schemas.openxmlformats.org/officeDocument/2006/relationships/notesMaster" Target="/ppt/notesMasters/notesMaster1.xml" Id="Raed833edffaf482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9d3062ab55e4070" /><Relationship Type="http://schemas.openxmlformats.org/officeDocument/2006/relationships/notesMaster" Target="/ppt/notesMasters/notesMaster1.xml" Id="R4303f8b139ad4c4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a435b655d504138" /><Relationship Type="http://schemas.openxmlformats.org/officeDocument/2006/relationships/notesMaster" Target="/ppt/notesMasters/notesMaster1.xml" Id="R6257ea0d7efb4a2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e1d09597b5640f0" /><Relationship Type="http://schemas.openxmlformats.org/officeDocument/2006/relationships/notesMaster" Target="/ppt/notesMasters/notesMaster1.xml" Id="Re581d6958c2b43d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5de3c145e144347" /><Relationship Type="http://schemas.openxmlformats.org/officeDocument/2006/relationships/notesMaster" Target="/ppt/notesMasters/notesMaster1.xml" Id="R227a938605f3448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d9f2db49b2f48ac" /><Relationship Type="http://schemas.openxmlformats.org/officeDocument/2006/relationships/notesMaster" Target="/ppt/notesMasters/notesMaster1.xml" Id="R49c2b95e286b4e2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2370e4b302b4ab7" /><Relationship Type="http://schemas.openxmlformats.org/officeDocument/2006/relationships/notesMaster" Target="/ppt/notesMasters/notesMaster1.xml" Id="R4d440de56f0b4c4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db1d025b67c43fb" /><Relationship Type="http://schemas.openxmlformats.org/officeDocument/2006/relationships/notesMaster" Target="/ppt/notesMasters/notesMaster1.xml" Id="Rcd40b3df3db041b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453b84ea9e144e4" /><Relationship Type="http://schemas.openxmlformats.org/officeDocument/2006/relationships/notesMaster" Target="/ppt/notesMasters/notesMaster1.xml" Id="R7997e18f2807464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396fd26b18e477d" /><Relationship Type="http://schemas.openxmlformats.org/officeDocument/2006/relationships/notesMaster" Target="/ppt/notesMasters/notesMaster1.xml" Id="R4d32397b406b48e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6df89b5d513471b" /><Relationship Type="http://schemas.openxmlformats.org/officeDocument/2006/relationships/notesMaster" Target="/ppt/notesMasters/notesMaster1.xml" Id="R275229e7fb4b41d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ed2842c9eb743e0" /><Relationship Type="http://schemas.openxmlformats.org/officeDocument/2006/relationships/notesMaster" Target="/ppt/notesMasters/notesMaster1.xml" Id="Ra970c0bb276a4c2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7584374ada246ee" /><Relationship Type="http://schemas.openxmlformats.org/officeDocument/2006/relationships/notesMaster" Target="/ppt/notesMasters/notesMaster1.xml" Id="R8a256b72d3fe451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dadeadd63f84180" /><Relationship Type="http://schemas.openxmlformats.org/officeDocument/2006/relationships/notesMaster" Target="/ppt/notesMasters/notesMaster1.xml" Id="Raa13e8d123dc475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98c9b79a6964dcd" /><Relationship Type="http://schemas.openxmlformats.org/officeDocument/2006/relationships/notesMaster" Target="/ppt/notesMasters/notesMaster1.xml" Id="Rf07c2139c9e0426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2fb45b08a4e4ee9" /><Relationship Type="http://schemas.openxmlformats.org/officeDocument/2006/relationships/notesMaster" Target="/ppt/notesMasters/notesMaster1.xml" Id="R3905d9add81a4a3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e6968c05c8d4080" /><Relationship Type="http://schemas.openxmlformats.org/officeDocument/2006/relationships/notesMaster" Target="/ppt/notesMasters/notesMaster1.xml" Id="R4ff71c2ad95b476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73f75317d3c4c6c" /><Relationship Type="http://schemas.openxmlformats.org/officeDocument/2006/relationships/notesMaster" Target="/ppt/notesMasters/notesMaster1.xml" Id="Rffd58e33b2ab4f0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f0a264e1a9040d9" /><Relationship Type="http://schemas.openxmlformats.org/officeDocument/2006/relationships/notesMaster" Target="/ppt/notesMasters/notesMaster1.xml" Id="Rf0578910c90a417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c4bc29c43f342cd" /><Relationship Type="http://schemas.openxmlformats.org/officeDocument/2006/relationships/notesMaster" Target="/ppt/notesMasters/notesMaster1.xml" Id="Rbd9b8f9a6f47416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71ed5ddb7c84e26" /><Relationship Type="http://schemas.openxmlformats.org/officeDocument/2006/relationships/notesMaster" Target="/ppt/notesMasters/notesMaster1.xml" Id="R31e413e3628f472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46cdb76c1814ca0" /><Relationship Type="http://schemas.openxmlformats.org/officeDocument/2006/relationships/notesMaster" Target="/ppt/notesMasters/notesMaster1.xml" Id="Rcd39e9a2464c4e7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b19923f7ad44eb2" /><Relationship Type="http://schemas.openxmlformats.org/officeDocument/2006/relationships/notesMaster" Target="/ppt/notesMasters/notesMaster1.xml" Id="Rd6eddad3bfe940b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71e261b1f014b55" /><Relationship Type="http://schemas.openxmlformats.org/officeDocument/2006/relationships/notesMaster" Target="/ppt/notesMasters/notesMaster1.xml" Id="R4f7bfa0bbaae444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eb8835dcf4a4636" /><Relationship Type="http://schemas.openxmlformats.org/officeDocument/2006/relationships/notesMaster" Target="/ppt/notesMasters/notesMaster1.xml" Id="R68d81964cc58435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f60e33bf8fc4864" /><Relationship Type="http://schemas.openxmlformats.org/officeDocument/2006/relationships/notesMaster" Target="/ppt/notesMasters/notesMaster1.xml" Id="R7c872f1031ae4e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Lesson goal: follow a byte from software through a controller to a target, then distinguish functional simulation from physical implementation. Students need basic binary numbers, registers and clocked logic. The local build is a fixed-function reference with an IHP SG13G2 implementation. It does not yet implement the competition’s programmable emulator.</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Use a temperature sensor as the classroom example. A CPU wants a measurement but only sees voltage levels on pins. A protocol gives those levels an agreed meaning. Distinguish electrical behaviour, bit timing and application register meaning. A device address selects a target, while the register address selects something inside that target. Those are different fields.</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Explain controller and target roles. The controller starts a transfer and normally generates SCL. A target responds to its address. Bidirectional SDA changes owner during acknowledgement and read phases. The core exposes separate input, output and enable pins because digital core signals need pad-level integration.</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Demonstrate with switches to ground and a resistor to supply. If any switch closes, everyone observes low. This supports shared ownership without opposing high and low drivers. Pull-up selection depends on rise time, bus capacitance and sink current. An RTL tri-state model is ideal digital behaviour and does not prove these analogue limits. The integration needs correct output-enable polarity.</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Work through each row with two switches to ground. The pull-up can raise the line only when neither participant sinks current. Explain why a controller sending a logical one must observe SDA: another controller can still pull it low. A digital simulation does not model pull-up resistance or pad sink current.</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These are stated classroom assumptions, not measured board values. The 0.8473 factor describes the 30-to-70 percent RC rise interval. A real design must use the device data sheet limits and include wiring, connector and pin capacitance. Ask what happens when capacitance doubles: the same pull-up gives about 373 ns rise time and fails the assumed 300 ns budget. NXP UM10204 section 7.1 describes this method. This calculation does not prove electrical compliance of our RTL pads.</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For ordinary data, SDA should stay stable while SCL is high. START and STOP are exceptions that define a transaction boundary. A typical register read writes a register index and then uses repeated START to switch to read direction. The bench exercises that sequence, but does not independently assert every legal timing parameter.</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Read the x-axis as illustrative timing slots, not nanoseconds. Ask the class which transitions establish boundaries and which simply prepare data. This crop illustrates edge rules only and does not contain a complete addressed transaction. Ordinary data stays stable during SCL high. START and STOP deliberately change SDA during high.</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Walk through one byte and ask who owns SDA on clock nine. For a write, the target acknowledges each received byte. For a read, the controller acknowledges received data. Clock count includes the response bit, so one payload byte consumes at least nine SCL periods. Additional address and control phases add overhead.</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Use address 0x10 from this bench. Shift it left by one: the write address byte is 0x20 and the read byte is 0x21. Do not confuse either byte with the register index. Reserved addresses and ten-bit addressing exist, but this lesson’s example uses seven-bit addressing.</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Decode every high SCL interval before looking at the answer. The transmitted byte is the address shifted left once plus direction, not the seven-bit number itself. SDA on the ninth interval belongs to the addressed target, while the controller supplies SCL. This is a pedagogical target address; the actual regression uses target 0x10 and transmits 0x20.</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Narrate the software sequence while students identify SDA ownership. The register index and auto-increment behaviour belong to the target’s application contract, not to I2C itself. The local target model stores bytes for this exercise. A real device datasheet determines whether this exact multi-byte sequence is valid.</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The first acknowledged read requests more bytes. The controller should NACK the final byte before STOP to tell the target that the receive phase is over. Our regression checks A5 and 5A. Later uninitialized locations print unknown values but are not asserted, so they cannot count as extra verified payload bytes.</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The receiver owns the acknowledgement bit. During a read, the controller receives the data and therefore chooses ACK or NACK. NACK on the final requested byte means the controller does not want another byte, which is an expected end condition. Contrast this with an address NACK, where the target did not accept selection. START/STOP are outside this byte-only crop.</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Walk through why the controller first writes an index even though the application wants a read. Repeated START keeps the transaction active while changing direction. The target owns read data, and the controller owns the final response. Some devices use different register widths or pointer behaviour; this worked convention is not universal.</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The bench probes an invalid address and asserts the NACK result. That test is useful because a controller can generate perfectly shaped clocks while communicating with no device. Discuss application retry policy separately from protocol signalling. The simulation watchdog is a test safety mechanism, not proof of a hardware bus-recovery implementation.</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Distinguish releasing SCL from observing SCL high. The actual bus can remain low because another participant holds it. The RTL samples the pad input. The inherited bench includes a stretching target, but its completion assertion does not certify arbitrary stretch durations or stuck-low recovery. This limitation belongs in an honest test report.</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The selected OpenCores design contains arbitration logic. Presence of that logic is different from test coverage. The second controller in this regression remains idle, so arbitration under contention is not validated. Ask students to construct a separate test where controllers diverge on an address bit. Review NXP rules before implementing such a test.</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Explain that a 50 MHz core clock does not mean a 50 MHz I2C bus. The divider generates slower serial timing. Electrical rise/fall limits also constrain speed. For an illustrative one-byte register write, address, index and data consume 27 clocks before START/STOP timing. Do not claim this core passes every speed grade merely because synthesis meets its system-clock target.</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This formula follows the OpenCores five-phase bit controller and the divider reload. It is a nominal calculation, not a guarantee of wire duty cycle or electrical compliance. The physical reference targets 50 MHz, but the existing regression uses a 100 MHz testbench clock and PRER 0x00C8, giving a nominal 99.502 kHz. Keep those contexts separate. Explain the plus one by counting inclusive counter values. Program the low and high prescaler bytes while the core is disabled; obey the source register contract.</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Count nine pulses for each byte, including acknowledgement. The combined read sends write address and index, then read address and one returned byte. Only the returned byte is useful payload for that read, giving about 2778 bytes per second before additional overhead. This is different from the 100000 bits per second wire clock. Clock stretching and software polling can lower throughput further. These numbers are calculated examples, not benchmark measurements.</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Trace i2c_core into i2c_master_top, then byte_ctrl and bit_ctrl. The wrapper adds synchronized reset release and preserves the existing port contract. Explain why an internal software bus and an external serial bus are separate interfaces.</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Follow the real hierarchy rather than treating the wrapper as the whole protocol implementation. A software write becomes a command, the byte controller converts it to bit operations, and the bit controller waits for line conditions. The reset wrapper adds synchronized release. Input synchronizers/filtering do not remove the need for external electrical compliance.</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Explain each case arm using actual source. The Wishbone read returns the receive register at address three; writing there queues outgoing data. This shared address is not an error. The bus acknowledgement means the register operation completed, not that a remote I2C target acknowledged. Keep those two acknowledgements distinct when debugging.</a:t>
            </a:r>
          </a:p>
          <a:p xmlns:a="http://schemas.openxmlformats.org/drawingml/2006/main">
            <a:r>
              <a:t/>
            </a:r>
          </a:p>
          <a:p xmlns:a="http://schemas.openxmlformats.org/drawingml/2006/main">
            <a:r>
              <a:t>Actual source excerpt: hw/protocols/i2c/01_rtl/i2c_master_top.v:175</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Decode hexadecimal commands one bit at a time. Bit seven is START, bit six STOP, bit five READ, bit four WRITE, and bit three the response selection. The current bench uses these constants; verify status TIP clears before issuing the next command. A polling loop also needs a system timeout, which is separate from the bare peripheral logic.</a:t>
            </a:r>
          </a:p>
          <a:p xmlns:a="http://schemas.openxmlformats.org/drawingml/2006/main">
            <a:r>
              <a:t/>
            </a:r>
          </a:p>
          <a:p xmlns:a="http://schemas.openxmlformats.org/drawingml/2006/main">
            <a:r>
              <a:t>Actual source excerpt: hw/protocols/i2c/01_rtl/i2c_master_top.v:237</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ARST_LVL is an elaboration parameter. The default is zero, so low arst_i asserts reset. The wrapper converts polarity and passes active-low reset to the upstream controller. A two-flop release improves clock-domain reset handling but is not a metastability or reset-domain signoff report. There is also a synchronous Wishbone reset input. Pad integration still needs an actual I/O cell and electrical design.</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The XOR converts the selected external assertion level into an internal active-low reset. While asserted, both release flops clear. Once the external reset becomes inactive, ones shift through on consecutive clock edges. The controller receives the second stage. This reduces release hazards inside this clock domain; it does not provide board-level reset sequencing for every pad or external target.</a:t>
            </a:r>
          </a:p>
          <a:p xmlns:a="http://schemas.openxmlformats.org/drawingml/2006/main">
            <a:r>
              <a:t/>
            </a:r>
          </a:p>
          <a:p xmlns:a="http://schemas.openxmlformats.org/drawingml/2006/main">
            <a:r>
              <a:t>Actual source excerpt: hw/protocols/i2c/01_rtl/i2c_core.v:23</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Read the PASS line and the negative-control logs rather than treating $finish as success. List absent evidence: active arbitration, exhaustive target behaviours, full timing-spec assertions and analogue bus limits. This is directed functional verification. Unknown later reads remain visible and unclaimed. Local evidence: hw/protocols/i2c/02_sim/test.v and simulation/negative-control logs.</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This is a crop from the current positive Icarus run. A separate VCD decoder verified the first eight rising-edge samples form 0x20 and the ninth sample is zero. The x-axis is microseconds relative to the crop start. Treat it as measured digital behaviour, not an oscilloscope capture or proof of analogue rise time. Source and run-specific VCD hash are in the chart manifest. The waveform has 1071 core cycles per steady SCL period, versus a nominal divider count of 1005. The extra 66 cycles are observed, not yet attributed to individual filter or synchronizer states. Do not present the nominal rate as a measured wire rate.</a:t>
            </a:r>
          </a:p>
          <a:p xmlns:a="http://schemas.openxmlformats.org/drawingml/2006/main">
            <a:r>
              <a:t/>
            </a:r>
          </a:p>
          <a:p xmlns:a="http://schemas.openxmlformats.org/drawingml/2006/main">
            <a:r>
              <a:t>Measured waveform: hw/protocols/i2c/02_sim/i2c_core.vcd</a:t>
            </a:r>
          </a:p>
          <a:p xmlns:a="http://schemas.openxmlformats.org/drawingml/2006/main">
            <a:r>
              <a:t>VCD SHA256 (run-specific): 92a33c5d8fa011907725903c0a42a46363a0a713fcafd04ccbc1cf326bed4714</a:t>
            </a:r>
          </a:p>
          <a:p xmlns:a="http://schemas.openxmlformats.org/drawingml/2006/main">
            <a:r>
              <a:t>Address byte 0x20 = target 0x10 plus write bit 0. Ninth SCL samples ACK=0. Measured steady SCL period 10.71 us, 93.371 kHz; nominal divider estimate 10.05 us, 99.502 kHz. Extra 66 core cycles per period are observed; their exact internal attribution is not established.</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Ask students to choose the first check before rewriting the RTL. A wrong shifted address is different from a wrong register index. An output-enable polarity error can hold SDA low even with correct command bytes. Multi-controller arbitration needs an independently active second controller, which the current regression does not provide.</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Students first write the predicted answer, then locate the relevant source and logs. Use the hypothetical target 0x50 for the paper exercise and the actual target 0x10 for the baseline test. Do not silently change the supplied regression to match a classroom address. Run make sim only in the existing unit, and inspect both the normal PASS banner and deliberately failing comparison. The following slide supplies the model answer.</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The target acknowledges both selection bytes and the index. The controller acknowledges received data only when it wants more bytes; it NACKs the final byte in this one-byte read. Repeated START separates the write and read address phases without a STOP between them. Boundary timing, software latency and stretching are excluded from the 360 microsecond estimate. The actual build uses a different programmed divider, so do not compare this estimate to that trace as if the assumptions matched.</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Require students to point to an actual assertion rather than a display statement. A negative control intentionally corrupts an expected value, not the production RTL. Its nonzero exit proves the comparison can reject a mismatch. Then ask students why positive setup slack does not prove the I2C protocol is functionally correct: timing analysis checks paths and constraints, whereas the bench checks the meaning of serial transactions.</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Read the write branch in i2c_master_bit_ctrl.v. The table summarizes the actual named states and output-enable assignments, not a newly invented controller. An enable of one releases the open-drain line; it does not force a high voltage. In wr_c the implementation checks SDA for arbitration. Command acknowledgement marks completion of the bit operation, which is separate from target acknowledgement on the ninth bus pulse.</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Explain why a repository URL alone is insufficient for reproducibility: the branch can change. A commit identifies the chosen source revision. Local wrappers and benches are separate integration work. Igny records tool bindings, while the PDK revision is pinned separately. Source identity does not mean every upstream feature has been validated.</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Use the existing unit directory, not a new project folder. After initialization, unset a stale environment override so the workspace selection applies. The unit run script then selects janestreet-i2c. If tools are missing, bind or install Icarus, Verilator, Yosys, OpenROAD and klayout-stream. Lock the workspace after changing bindings. Keep the actual SG13G2 PDK available.</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Verilator lint can identify widths, unused logic and reset-related warnings. The reference retains upstream warnings instead of claiming warning-free RTL. A simulator exit code or $finish alone is not a PASS. Read the assertion banner, negative-control fatal message and waveform. A deliberately wrong expected byte must fail to demonstrate that comparisons are active.</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Yosys elaborates, optimizes and maps combinational/sequential logic using Liberty timing data. Cell counts exclude scope metadata and differ from physical counts that include fillers and buffers. The flow uses hilomap for SG13G2 tie-high and tie-low cells. A zero unresolved-cell report and no latch cells are separate checks from functional correctness.</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The die area is 90000 square micrometres, derived from DEF units and DIEAREA. This rectangle is a reference block, not a Tiny Tapeout tile allocation. CTS manages clock latency, skew and electrical loading. Hold repair may add delay cells. The UART experiment exposed a real root fanout violation, showing why successful execution alone does not establish closure.</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Explain setup as meeting a capture deadline and hold as avoiding an excessively early change. Positive slack means the analyzed constraint has margin. I/O delays and clock uncertainty are assumed reference budgets. Two passing corners do not establish all process, voltage, temperature and RC combinations. Router DRC checks a subset of geometry rules, not foundry signoff.</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klayout-stream strm2gds combines routed DEF, technology/cell LEF and actual standard-cell GDS using the PDK layer map. The independent binary reader checks valid records, resolved references and exact standard-cell placement/orientation counts. Many instances are filler cells, so this number is not the synthesized logic-cell count. Raw hashes are run-specific because GDS contains timestamps.</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Distinguish the achieved student reference from a manufacturable submission. Structural GDS comparison is not electrical equivalence. Router-rule DRC is not a foundry deck. The current fixed-function SG13G2 blocks do not satisfy the competition’s reprogrammable general-purpose emulator requirement or process/template requirement. No tapeout-ready claim is justified.</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Ask students to write a prediction before simulation. Keep changed expectations in a separate temporary exercise branch so the baseline remains reproducible. Have them explain why the negative control is evidence about the bench rather than a defect in the DUT. Then read exact startpoint, endpoint, clock path and data arrival time from the reports. Students should state the limitations of each artifact.</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docs/student_decks/I2C_Protocol_Students_Ignytion_VIDEO_v11.pptx</a:t>
            </a:r>
          </a:p>
          <a:p xmlns:a="http://schemas.openxmlformats.org/drawingml/2006/main">
            <a:r>
              <a:t>Created: 2026-10-03</a:t>
            </a:r>
          </a:p>
          <a:p xmlns:a="http://schemas.openxmlformats.org/drawingml/2006/main">
            <a:r>
              <a:t/>
            </a:r>
          </a:p>
          <a:p xmlns:a="http://schemas.openxmlformats.org/drawingml/2006/main">
            <a:r>
              <a:t>Answers depend on the protocol: I2C uses START and addressed phases, SPI uses select plus the agreed clock edges, and UART uses START plus local baud timing. Revisit each byte-order rule. Reading: NXP UM10204 Rev. 7: https://cache.nxp.com/docs/en/user-guide/UM10204.pdf</a:t>
            </a:r>
          </a:p>
          <a:p xmlns:a="http://schemas.openxmlformats.org/drawingml/2006/main">
            <a:r>
              <a:t>Upstream: freecores/i2c at 3b067f00ccced753b0502024766a51f58f3e04bc</a:t>
            </a:r>
          </a:p>
          <a:p xmlns:a="http://schemas.openxmlformats.org/drawingml/2006/main">
            <a:r>
              <a:t>Flow: OpenROAD documentation: https://openroad.readthedocs.io/en/latest/ ; local flow_config.tcl, run_flow.sh and numbered stage scripts.</a:t>
            </a:r>
          </a:p>
          <a:p xmlns:a="http://schemas.openxmlformats.org/drawingml/2006/main">
            <a:r>
              <a:t>Competition: Jane Street official requirements: https://blog.janestreet.com/protocol-emulator-asic-competition/</a:t>
            </a:r>
          </a:p>
          <a:p xmlns:a="http://schemas.openxmlformats.org/drawingml/2006/main">
            <a:r>
              <a:t/>
            </a:r>
          </a:p>
          <a:p xmlns:a="http://schemas.openxmlformats.org/drawingml/2006/main">
            <a:r>
              <a:t>Protocol reading: NXP UM10204 Rev. 7: https://cache.nxp.com/docs/en/user-guide/UM10204.pdf</a:t>
            </a:r>
          </a:p>
          <a:p xmlns:a="http://schemas.openxmlformats.org/drawingml/2006/main">
            <a:r>
              <a:t>Implementation evidence: hw/protocols/i2c/01_rtl,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f359913aca4ab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4adabfc1c7b43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a9cb36440f1486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911719f9644ee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ab97f0ce06040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6c6d461444c42b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f0bcfab133c460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15bccf07ad44c7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16ef8c21c79464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0abec3bed26410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7a8dace5f694936"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46C0DD7-8756-4D56-B676-D0168121C3F8}"/>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2370B594-5157-4D72-A9AA-374527CDDAA7}"/>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EF65CE97-3C8B-4122-A834-EB2CABF29A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61EB607-E5C9-496C-A0DE-3CE2AFB26B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608E3BE-77E7-4DF5-AB52-3F0F718608D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9023DF7-85EF-49E1-A76E-F0CF3AA2D3C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9C64FFF-8DE6-47AD-A335-1B8142C77B8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0CA0EF5-C243-4224-B9B4-319817D76C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215469F5-C3FD-482E-8154-A0A30222E4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B349579-870A-44CF-A697-6B75AE6001B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81400D9-7613-473C-8B4A-03A4896E9C9E}"/>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E017F98F-2209-492A-A015-4D91BAA4AA0D}"/>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032607CB-AB52-448B-814E-4491CED9529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B00F4D0-1451-41F6-AFBA-18EC598ECE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B07AB7E-DC9E-43B8-8C80-61441CC5525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5C981DA-D296-4493-A51A-7C2E9FFD3C5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0B481C1B-3445-4535-8EC8-6E16D9AFFD44}"/>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4EEE5BBB-A6AC-44FF-8812-8FE6F24F2D09}"/>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729428D8-6EE9-446C-A2B0-A29654594C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2734F42-8C14-420F-B7FA-D8F522C40C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896C18B-EE52-42BA-9E1D-F2BAE79216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D56ADC2-840E-4E5E-899C-D2761C55198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A13AC1A-0EEA-48DF-BE55-99E45E3CF601}"/>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16FAC88-7175-48AF-A0AD-C7196249764D}"/>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90DBF523-6487-4A32-BFBA-87A4306EA49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7EC8792C-3073-4989-830C-385DFB6EBCA3}"/>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5EC3635D-D630-4B44-A821-ACE23A740A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7B9AE70C-1A7C-4977-8414-E56409D41A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6868FE1-C8B3-4C89-A5F8-568609D707B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03F66C3-82F8-4258-BE28-C0B578C4851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52773641-0AA5-4401-826A-0CE0622614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2E7665A7-00FB-449B-AA7B-8FA52CD19BC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74FA55C7-1A1D-471D-938C-C1AF57BD57B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17F502D2-3ACF-41CF-87CD-A7D3C7F769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4CD6892D-C3BF-4A73-9F1D-E19534E6148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9276476E-7F3C-428A-90F4-791130BC040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5632AFB-6F81-441D-A784-26E3D26F4B6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D0D4747-6977-4CE4-8F01-9B165F3747F3}"/>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530AE048-1B35-4F1A-B593-AC54469487A5}"/>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AC70AAE-2DFE-48D6-9A98-C2BB336A68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1B9E71C2-A645-4334-8C7E-53D2295991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E54E905-F9A1-47D3-8A2E-10CA5BC186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EEB7845-D73D-42BC-A055-5D8A5FD9FF5A}"/>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C170D3DA-96AE-4137-BED9-64840E9D5FDA}"/>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01D80F10-F705-4662-9FA9-CAC0E3381B26}"/>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A11D68D-C66C-4985-9C34-554CE50F8C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8ED009AB-5233-4363-9604-8B59A2BD59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613CEAA-E079-4FF3-8716-00C6A24BCF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76475E-C460-468E-B7FA-DCF5965105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07FB0BF7-2BFD-4663-9084-9412430970C9}"/>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BB8FF14-A195-499F-B557-FEB3CCF11B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44765F3-94E7-4B4B-90D7-D980C30289D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B8DC8F8-59E4-454B-85C8-319B0DE573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14006CA6-6F0F-4AF7-AE8A-083039FD055F}"/>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262756AE-86FD-42AF-B235-80A1E476068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67C576A-23B0-45AF-BA4E-28A3057C810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F279B10-E2B7-42F9-901F-FDA75CD5CB5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E85E416-FA6E-41F2-82EA-5D5D0AF900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2532f2a1f94adc" /><Relationship Type="http://schemas.openxmlformats.org/officeDocument/2006/relationships/slideLayout" Target="/ppt/slideLayouts/slideLayout1.xml" Id="Rda29390329a242d1" /><Relationship Type="http://schemas.openxmlformats.org/officeDocument/2006/relationships/slideLayout" Target="/ppt/slideLayouts/slideLayout2.xml" Id="R593fa25dec934b1a" /><Relationship Type="http://schemas.openxmlformats.org/officeDocument/2006/relationships/slideLayout" Target="/ppt/slideLayouts/slideLayout3.xml" Id="Rdbecbd6e07694dbe" /><Relationship Type="http://schemas.openxmlformats.org/officeDocument/2006/relationships/slideLayout" Target="/ppt/slideLayouts/slideLayout4.xml" Id="Rfb34304f91194ced" /><Relationship Type="http://schemas.openxmlformats.org/officeDocument/2006/relationships/slideLayout" Target="/ppt/slideLayouts/slideLayout5.xml" Id="R0972dee5fe3a41c1" /><Relationship Type="http://schemas.openxmlformats.org/officeDocument/2006/relationships/slideLayout" Target="/ppt/slideLayouts/slideLayout6.xml" Id="R422079d11cae490b" /><Relationship Type="http://schemas.openxmlformats.org/officeDocument/2006/relationships/slideLayout" Target="/ppt/slideLayouts/slideLayout7.xml" Id="Racf678389ca6446f" /><Relationship Type="http://schemas.openxmlformats.org/officeDocument/2006/relationships/slideLayout" Target="/ppt/slideLayouts/slideLayout8.xml" Id="R8345724d647d46f1" /><Relationship Type="http://schemas.openxmlformats.org/officeDocument/2006/relationships/slideLayout" Target="/ppt/slideLayouts/slideLayout9.xml" Id="R16f33d29230542f0" /><Relationship Type="http://schemas.openxmlformats.org/officeDocument/2006/relationships/slideLayout" Target="/ppt/slideLayouts/slideLayout10.xml" Id="R9816277f18074cb5" /><Relationship Type="http://schemas.openxmlformats.org/officeDocument/2006/relationships/slideLayout" Target="/ppt/slideLayouts/slideLayout11.xml" Id="R7ef5b8e76c2943d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5F0038E6-5009-45DE-8CE1-5D2C5F15222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9135674-D69E-4F1C-B0E6-DE942D0022E4}"/>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8FC9D63-5A96-4F71-B4A7-2478E9B08294}"/>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A3EDED6-E946-40C3-A25C-8CC0FFF6324A}"/>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AD9F896-1751-40E2-BB5D-00B9718D77B4}"/>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29390329a242d1"/>
    <p:sldLayoutId xmlns:r="http://schemas.openxmlformats.org/officeDocument/2006/relationships" id="2147483650" r:id="R593fa25dec934b1a"/>
    <p:sldLayoutId xmlns:r="http://schemas.openxmlformats.org/officeDocument/2006/relationships" id="2147483651" r:id="Rdbecbd6e07694dbe"/>
    <p:sldLayoutId xmlns:r="http://schemas.openxmlformats.org/officeDocument/2006/relationships" id="2147483652" r:id="Rfb34304f91194ced"/>
    <p:sldLayoutId xmlns:r="http://schemas.openxmlformats.org/officeDocument/2006/relationships" id="2147483653" r:id="R0972dee5fe3a41c1"/>
    <p:sldLayoutId xmlns:r="http://schemas.openxmlformats.org/officeDocument/2006/relationships" id="2147483654" r:id="R422079d11cae490b"/>
    <p:sldLayoutId xmlns:r="http://schemas.openxmlformats.org/officeDocument/2006/relationships" id="2147483655" r:id="Racf678389ca6446f"/>
    <p:sldLayoutId xmlns:r="http://schemas.openxmlformats.org/officeDocument/2006/relationships" id="2147483656" r:id="R8345724d647d46f1"/>
    <p:sldLayoutId xmlns:r="http://schemas.openxmlformats.org/officeDocument/2006/relationships" id="2147483657" r:id="R16f33d29230542f0"/>
    <p:sldLayoutId xmlns:r="http://schemas.openxmlformats.org/officeDocument/2006/relationships" id="2147483658" r:id="R9816277f18074cb5"/>
    <p:sldLayoutId xmlns:r="http://schemas.openxmlformats.org/officeDocument/2006/relationships" id="2147483659" r:id="R7ef5b8e76c2943dd"/>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05d3102eab4861" /><Relationship Type="http://schemas.openxmlformats.org/officeDocument/2006/relationships/notesSlide" Target="/ppt/notesSlides/notesSlide1.xml" Id="R3f5257bded6840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ba1b20fd1454c27" /><Relationship Type="http://schemas.openxmlformats.org/officeDocument/2006/relationships/notesSlide" Target="/ppt/notesSlides/notesSlide2.xml" Id="R586b858e56e74a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afb6340af474fe5" /><Relationship Type="http://schemas.openxmlformats.org/officeDocument/2006/relationships/notesSlide" Target="/ppt/notesSlides/notesSlide3.xml" Id="Refaa87949b3b4f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66db2feb6de427c" /><Relationship Type="http://schemas.openxmlformats.org/officeDocument/2006/relationships/notesSlide" Target="/ppt/notesSlides/notesSlide4.xml" Id="R4259c3f49bd342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a809184095426b" /><Relationship Type="http://schemas.openxmlformats.org/officeDocument/2006/relationships/notesSlide" Target="/ppt/notesSlides/notesSlide5.xml" Id="Rd7bcd22639b54c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7a380b47d643de" /><Relationship Type="http://schemas.openxmlformats.org/officeDocument/2006/relationships/notesSlide" Target="/ppt/notesSlides/notesSlide6.xml" Id="R8f736699d48946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521933142c420f" /><Relationship Type="http://schemas.openxmlformats.org/officeDocument/2006/relationships/notesSlide" Target="/ppt/notesSlides/notesSlide7.xml" Id="Rf9082ff6121d40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2e3ba26c4834029" /><Relationship Type="http://schemas.openxmlformats.org/officeDocument/2006/relationships/chart" Target="/ppt/slides/charts/chart1.xml" Id="Rdc49d57245c84724" /><Relationship Type="http://schemas.openxmlformats.org/officeDocument/2006/relationships/chart" Target="/ppt/slides/charts/chart2.xml" Id="Rf8c1042372744d37" /><Relationship Type="http://schemas.openxmlformats.org/officeDocument/2006/relationships/notesSlide" Target="/ppt/notesSlides/notesSlide8.xml" Id="Rc27cb1d4571f4a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0bb659471214d41" /><Relationship Type="http://schemas.openxmlformats.org/officeDocument/2006/relationships/notesSlide" Target="/ppt/notesSlides/notesSlide9.xml" Id="Rbb010743634445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e4b0b5efdc0478d" /><Relationship Type="http://schemas.openxmlformats.org/officeDocument/2006/relationships/notesSlide" Target="/ppt/notesSlides/notesSlide10.xml" Id="Rfbc16062ca694c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f683f9fc4a241c5" /><Relationship Type="http://schemas.openxmlformats.org/officeDocument/2006/relationships/chart" Target="/ppt/slides/charts/chart3.xml" Id="R1e772f8729d2499f" /><Relationship Type="http://schemas.openxmlformats.org/officeDocument/2006/relationships/chart" Target="/ppt/slides/charts/chart4.xml" Id="R520d412846ec4216" /><Relationship Type="http://schemas.openxmlformats.org/officeDocument/2006/relationships/notesSlide" Target="/ppt/notesSlides/notesSlide11.xml" Id="R4edef72a0e9b41d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b3aa93c81ca45d1" /><Relationship Type="http://schemas.openxmlformats.org/officeDocument/2006/relationships/notesSlide" Target="/ppt/notesSlides/notesSlide12.xml" Id="Rae77e4c9f7fe4f9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9c88f1dde754b10" /><Relationship Type="http://schemas.openxmlformats.org/officeDocument/2006/relationships/notesSlide" Target="/ppt/notesSlides/notesSlide13.xml" Id="R1cca427183e6403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47e1912d4f1476b" /><Relationship Type="http://schemas.openxmlformats.org/officeDocument/2006/relationships/chart" Target="/ppt/slides/charts/chart5.xml" Id="Rfa7f2dde225a45ca" /><Relationship Type="http://schemas.openxmlformats.org/officeDocument/2006/relationships/chart" Target="/ppt/slides/charts/chart6.xml" Id="R1c418447e68842c4" /><Relationship Type="http://schemas.openxmlformats.org/officeDocument/2006/relationships/notesSlide" Target="/ppt/notesSlides/notesSlide14.xml" Id="R320d7c7d6e76486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1796e9d4a124c24" /><Relationship Type="http://schemas.openxmlformats.org/officeDocument/2006/relationships/notesSlide" Target="/ppt/notesSlides/notesSlide15.xml" Id="R7e9e1d319c2545b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dd2612286274788" /><Relationship Type="http://schemas.openxmlformats.org/officeDocument/2006/relationships/notesSlide" Target="/ppt/notesSlides/notesSlide16.xml" Id="R4dcd7ab111a54fc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0b1c058be9a4355" /><Relationship Type="http://schemas.openxmlformats.org/officeDocument/2006/relationships/notesSlide" Target="/ppt/notesSlides/notesSlide17.xml" Id="R92a830f24767464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6b943a36fff4c22" /><Relationship Type="http://schemas.openxmlformats.org/officeDocument/2006/relationships/notesSlide" Target="/ppt/notesSlides/notesSlide18.xml" Id="Rd2efb337d1de4af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5be60d55fb7467c" /><Relationship Type="http://schemas.openxmlformats.org/officeDocument/2006/relationships/notesSlide" Target="/ppt/notesSlides/notesSlide19.xml" Id="R44714bcd60584a4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7d42a8dfd6f4617" /><Relationship Type="http://schemas.openxmlformats.org/officeDocument/2006/relationships/notesSlide" Target="/ppt/notesSlides/notesSlide20.xml" Id="Re4ae97a31bf949a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de15e5eb4b44516" /><Relationship Type="http://schemas.openxmlformats.org/officeDocument/2006/relationships/notesSlide" Target="/ppt/notesSlides/notesSlide21.xml" Id="Re4d2cb35edef41f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aa885f9aeb74c2a" /><Relationship Type="http://schemas.openxmlformats.org/officeDocument/2006/relationships/notesSlide" Target="/ppt/notesSlides/notesSlide22.xml" Id="Rb47c842edb2443c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a91c6c09aab4cde" /><Relationship Type="http://schemas.openxmlformats.org/officeDocument/2006/relationships/notesSlide" Target="/ppt/notesSlides/notesSlide23.xml" Id="Re26ee50e9687447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f56e67b4fb44f84" /><Relationship Type="http://schemas.openxmlformats.org/officeDocument/2006/relationships/notesSlide" Target="/ppt/notesSlides/notesSlide24.xml" Id="R6a7c3577c7d54a8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c5b7934ac3742e6" /><Relationship Type="http://schemas.openxmlformats.org/officeDocument/2006/relationships/notesSlide" Target="/ppt/notesSlides/notesSlide25.xml" Id="Ra81ecd6a0367486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776757484a441d9" /><Relationship Type="http://schemas.openxmlformats.org/officeDocument/2006/relationships/notesSlide" Target="/ppt/notesSlides/notesSlide26.xml" Id="Ra8093061a036477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4452c56dc3d4dae" /><Relationship Type="http://schemas.openxmlformats.org/officeDocument/2006/relationships/notesSlide" Target="/ppt/notesSlides/notesSlide27.xml" Id="R992e475e68434bc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94df323e56f47a5" /><Relationship Type="http://schemas.openxmlformats.org/officeDocument/2006/relationships/notesSlide" Target="/ppt/notesSlides/notesSlide28.xml" Id="Rf47eecb54efb447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6134090eff44fd1" /><Relationship Type="http://schemas.openxmlformats.org/officeDocument/2006/relationships/chart" Target="/ppt/slides/charts/chart7.xml" Id="R506c817559144718" /><Relationship Type="http://schemas.openxmlformats.org/officeDocument/2006/relationships/chart" Target="/ppt/slides/charts/chart8.xml" Id="Rb54442b8b56f4f02" /><Relationship Type="http://schemas.openxmlformats.org/officeDocument/2006/relationships/notesSlide" Target="/ppt/notesSlides/notesSlide29.xml" Id="R7d2da10e337640c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d2772c1602b4c73" /><Relationship Type="http://schemas.openxmlformats.org/officeDocument/2006/relationships/notesSlide" Target="/ppt/notesSlides/notesSlide30.xml" Id="R2337b6a8cba74c7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e01195e0963049b2" /><Relationship Type="http://schemas.openxmlformats.org/officeDocument/2006/relationships/notesSlide" Target="/ppt/notesSlides/notesSlide31.xml" Id="Ra0a2f57c4a5b465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c6600fa2a6a409a" /><Relationship Type="http://schemas.openxmlformats.org/officeDocument/2006/relationships/notesSlide" Target="/ppt/notesSlides/notesSlide32.xml" Id="R023409562a624db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a5ac101b12e4d1d" /><Relationship Type="http://schemas.openxmlformats.org/officeDocument/2006/relationships/notesSlide" Target="/ppt/notesSlides/notesSlide33.xml" Id="R99944da223414fe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07506ce967240ce" /><Relationship Type="http://schemas.openxmlformats.org/officeDocument/2006/relationships/notesSlide" Target="/ppt/notesSlides/notesSlide34.xml" Id="R4586673de57f462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7a505e0f76a4778" /><Relationship Type="http://schemas.openxmlformats.org/officeDocument/2006/relationships/notesSlide" Target="/ppt/notesSlides/notesSlide35.xml" Id="R5ca9804cbcfb449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ac64d651a494609" /><Relationship Type="http://schemas.openxmlformats.org/officeDocument/2006/relationships/notesSlide" Target="/ppt/notesSlides/notesSlide36.xml" Id="R018ab36afcb1488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5894690f72b4b60" /><Relationship Type="http://schemas.openxmlformats.org/officeDocument/2006/relationships/notesSlide" Target="/ppt/notesSlides/notesSlide37.xml" Id="Rcba5f67b4eaf4fb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bd0c63e19bc435c" /><Relationship Type="http://schemas.openxmlformats.org/officeDocument/2006/relationships/notesSlide" Target="/ppt/notesSlides/notesSlide38.xml" Id="R36c1497caf54427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4457b0e5df24dd6" /><Relationship Type="http://schemas.openxmlformats.org/officeDocument/2006/relationships/notesSlide" Target="/ppt/notesSlides/notesSlide39.xml" Id="R927753197b94497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a076999632a4766" /><Relationship Type="http://schemas.openxmlformats.org/officeDocument/2006/relationships/notesSlide" Target="/ppt/notesSlides/notesSlide40.xml" Id="R3349cd739335403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895d1b596b042d3" /><Relationship Type="http://schemas.openxmlformats.org/officeDocument/2006/relationships/notesSlide" Target="/ppt/notesSlides/notesSlide41.xml" Id="R7969b5a84cd34df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72552d55db48498d" /><Relationship Type="http://schemas.openxmlformats.org/officeDocument/2006/relationships/notesSlide" Target="/ppt/notesSlides/notesSlide42.xml" Id="R5ba5495af3d6445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94db8f6f17434c77" /><Relationship Type="http://schemas.openxmlformats.org/officeDocument/2006/relationships/notesSlide" Target="/ppt/notesSlides/notesSlide43.xml" Id="R90b6f34a76c141a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a6ba5e87c6b34551" /><Relationship Type="http://schemas.openxmlformats.org/officeDocument/2006/relationships/notesSlide" Target="/ppt/notesSlides/notesSlide44.xml" Id="Racbed2b7a69a430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SCL</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SCL</c:v>
          </c:tx>
          <c:spPr>
            <a:ln xmlns:a="http://schemas.openxmlformats.org/drawingml/2006/main" w="28575">
              <a:solidFill>
                <a:srgbClr val="EF9529"/>
              </a:solidFill>
              <a:prstDash val="solid"/>
            </a:ln>
          </c:spPr>
          <c:marker>
            <c:symbol val="none"/>
          </c:marker>
          <c:xVal>
            <c:numRef>
              <c:f>'Chart Data'!$A$2:$A$23</c:f>
              <c:numCache>
                <c:formatCode>General</c:formatCode>
                <c:ptCount val="22"/>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numCache>
            </c:numRef>
          </c:xVal>
          <c:yVal>
            <c:numRef>
              <c:f>'Chart Data'!$B$2:$B$23</c:f>
              <c:numCache>
                <c:formatCode>General</c:formatCode>
                <c:ptCount val="22"/>
                <c:pt idx="0">
                  <c:v>1</c:v>
                </c:pt>
                <c:pt idx="1">
                  <c:v>1</c:v>
                </c:pt>
                <c:pt idx="2">
                  <c:v>1</c:v>
                </c:pt>
                <c:pt idx="3">
                  <c:v>1</c:v>
                </c:pt>
                <c:pt idx="4">
                  <c:v>1</c:v>
                </c:pt>
                <c:pt idx="5">
                  <c:v>1</c:v>
                </c:pt>
                <c:pt idx="6">
                  <c:v>0</c:v>
                </c:pt>
                <c:pt idx="7">
                  <c:v>0</c:v>
                </c:pt>
                <c:pt idx="8">
                  <c:v>0</c:v>
                </c:pt>
                <c:pt idx="9">
                  <c:v>0</c:v>
                </c:pt>
                <c:pt idx="10">
                  <c:v>1</c:v>
                </c:pt>
                <c:pt idx="11">
                  <c:v>1</c:v>
                </c:pt>
                <c:pt idx="12">
                  <c:v>1</c:v>
                </c:pt>
                <c:pt idx="13">
                  <c:v>1</c:v>
                </c:pt>
                <c:pt idx="14">
                  <c:v>0</c:v>
                </c:pt>
                <c:pt idx="15">
                  <c:v>0</c:v>
                </c:pt>
                <c:pt idx="16">
                  <c:v>1</c:v>
                </c:pt>
                <c:pt idx="17">
                  <c:v>1</c:v>
                </c:pt>
                <c:pt idx="18">
                  <c:v>1</c:v>
                </c:pt>
                <c:pt idx="19">
                  <c:v>1</c:v>
                </c:pt>
                <c:pt idx="20">
                  <c:v>1</c:v>
                </c:pt>
                <c:pt idx="21">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1"/>
          <c:min val="0"/>
        </c:scaling>
        <c:delete val="0"/>
        <c:axPos val="b"/>
        <c:majorGridlines>
          <c:spPr>
            <a:ln xmlns:a="http://schemas.openxmlformats.org/drawingml/2006/main" w="4763">
              <a:solidFill>
                <a:srgbClr val="35353C"/>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SDA</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SDA</c:v>
          </c:tx>
          <c:spPr>
            <a:ln xmlns:a="http://schemas.openxmlformats.org/drawingml/2006/main" w="28575">
              <a:solidFill>
                <a:srgbClr val="EDEDED"/>
              </a:solidFill>
              <a:prstDash val="solid"/>
            </a:ln>
          </c:spPr>
          <c:marker>
            <c:symbol val="none"/>
          </c:marker>
          <c:xVal>
            <c:numRef>
              <c:f>'Chart Data'!$A$2:$A$23</c:f>
              <c:numCache>
                <c:formatCode>General</c:formatCode>
                <c:ptCount val="22"/>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numCache>
            </c:numRef>
          </c:xVal>
          <c:yVal>
            <c:numRef>
              <c:f>'Chart Data'!$B$2:$B$23</c:f>
              <c:numCache>
                <c:formatCode>General</c:formatCode>
                <c:ptCount val="22"/>
                <c:pt idx="0">
                  <c:v>1</c:v>
                </c:pt>
                <c:pt idx="1">
                  <c:v>1</c:v>
                </c:pt>
                <c:pt idx="2">
                  <c:v>1</c:v>
                </c:pt>
                <c:pt idx="3">
                  <c:v>1</c:v>
                </c:pt>
                <c:pt idx="4">
                  <c:v>0</c:v>
                </c:pt>
                <c:pt idx="5">
                  <c:v>0</c:v>
                </c:pt>
                <c:pt idx="6">
                  <c:v>0</c:v>
                </c:pt>
                <c:pt idx="7">
                  <c:v>0</c:v>
                </c:pt>
                <c:pt idx="8">
                  <c:v>1</c:v>
                </c:pt>
                <c:pt idx="9">
                  <c:v>1</c:v>
                </c:pt>
                <c:pt idx="10">
                  <c:v>1</c:v>
                </c:pt>
                <c:pt idx="11">
                  <c:v>1</c:v>
                </c:pt>
                <c:pt idx="12">
                  <c:v>1</c:v>
                </c:pt>
                <c:pt idx="13">
                  <c:v>1</c:v>
                </c:pt>
                <c:pt idx="14">
                  <c:v>0</c:v>
                </c:pt>
                <c:pt idx="15">
                  <c:v>0</c:v>
                </c:pt>
                <c:pt idx="16">
                  <c:v>0</c:v>
                </c:pt>
                <c:pt idx="17">
                  <c:v>0</c:v>
                </c:pt>
                <c:pt idx="18">
                  <c:v>1</c:v>
                </c:pt>
                <c:pt idx="19">
                  <c:v>1</c:v>
                </c:pt>
                <c:pt idx="20">
                  <c:v>1</c:v>
                </c:pt>
                <c:pt idx="21">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1"/>
          <c:min val="0"/>
        </c:scaling>
        <c:delete val="0"/>
        <c:axPos val="b"/>
        <c:majorGridlines>
          <c:spPr>
            <a:ln xmlns:a="http://schemas.openxmlformats.org/drawingml/2006/main" w="4763">
              <a:solidFill>
                <a:srgbClr val="35353C"/>
              </a:solidFill>
            </a:ln>
          </c:spPr>
        </c:majorGridlines>
        <c:title>
          <c:tx>
            <c:rich>
              <a:bodyPr xmlns:a="http://schemas.openxmlformats.org/drawingml/2006/main"/>
              <a:lstStyle xmlns:a="http://schemas.openxmlformats.org/drawingml/2006/main"/>
              <a:p xmlns:a="http://schemas.openxmlformats.org/drawingml/2006/main">
                <a:r>
                  <a:rPr sz="1350">
                    <a:solidFill>
                      <a:srgbClr val="9A9AA2"/>
                    </a:solidFill>
                    <a:latin typeface="Segoe UI"/>
                    <a:ea typeface="Segoe UI"/>
                    <a:cs typeface="Segoe UI"/>
                  </a:rPr>
                  <a:t>Half-bit slots</a:t>
                </a:r>
              </a:p>
            </c:rich>
          </c:tx>
          <c:overlay val="0"/>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title>
        <c:numFmt formatCode="General"/>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SCL</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SCL</c:v>
          </c:tx>
          <c:spPr>
            <a:ln xmlns:a="http://schemas.openxmlformats.org/drawingml/2006/main" w="28575">
              <a:solidFill>
                <a:srgbClr val="EF9529"/>
              </a:solidFill>
              <a:prstDash val="solid"/>
            </a:ln>
          </c:spPr>
          <c:marker>
            <c:symbol val="none"/>
          </c:marker>
          <c:xVal>
            <c:numRef>
              <c:f>'Chart Data'!$A$2:$A$37</c:f>
              <c:numCache>
                <c:formatCode>General</c:formatCode>
                <c:ptCount val="36"/>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15</c:v>
                </c:pt>
                <c:pt idx="30">
                  <c:v>15</c:v>
                </c:pt>
                <c:pt idx="31">
                  <c:v>16</c:v>
                </c:pt>
                <c:pt idx="32">
                  <c:v>16</c:v>
                </c:pt>
                <c:pt idx="33">
                  <c:v>17</c:v>
                </c:pt>
                <c:pt idx="34">
                  <c:v>17</c:v>
                </c:pt>
                <c:pt idx="35">
                  <c:v>18</c:v>
                </c:pt>
              </c:numCache>
            </c:numRef>
          </c:xVal>
          <c:yVal>
            <c:numRef>
              <c:f>'Chart Data'!$B$2:$B$37</c:f>
              <c:numCache>
                <c:formatCode>General</c:formatCode>
                <c:ptCount val="36"/>
                <c:pt idx="0">
                  <c:v>0</c:v>
                </c:pt>
                <c:pt idx="1">
                  <c:v>0</c:v>
                </c:pt>
                <c:pt idx="2">
                  <c:v>1</c:v>
                </c:pt>
                <c:pt idx="3">
                  <c:v>1</c:v>
                </c:pt>
                <c:pt idx="4">
                  <c:v>0</c:v>
                </c:pt>
                <c:pt idx="5">
                  <c:v>0</c:v>
                </c:pt>
                <c:pt idx="6">
                  <c:v>1</c:v>
                </c:pt>
                <c:pt idx="7">
                  <c:v>1</c:v>
                </c:pt>
                <c:pt idx="8">
                  <c:v>0</c:v>
                </c:pt>
                <c:pt idx="9">
                  <c:v>0</c:v>
                </c:pt>
                <c:pt idx="10">
                  <c:v>1</c:v>
                </c:pt>
                <c:pt idx="11">
                  <c:v>1</c:v>
                </c:pt>
                <c:pt idx="12">
                  <c:v>0</c:v>
                </c:pt>
                <c:pt idx="13">
                  <c:v>0</c:v>
                </c:pt>
                <c:pt idx="14">
                  <c:v>1</c:v>
                </c:pt>
                <c:pt idx="15">
                  <c:v>1</c:v>
                </c:pt>
                <c:pt idx="16">
                  <c:v>0</c:v>
                </c:pt>
                <c:pt idx="17">
                  <c:v>0</c:v>
                </c:pt>
                <c:pt idx="18">
                  <c:v>1</c:v>
                </c:pt>
                <c:pt idx="19">
                  <c:v>1</c:v>
                </c:pt>
                <c:pt idx="20">
                  <c:v>0</c:v>
                </c:pt>
                <c:pt idx="21">
                  <c:v>0</c:v>
                </c:pt>
                <c:pt idx="22">
                  <c:v>1</c:v>
                </c:pt>
                <c:pt idx="23">
                  <c:v>1</c:v>
                </c:pt>
                <c:pt idx="24">
                  <c:v>0</c:v>
                </c:pt>
                <c:pt idx="25">
                  <c:v>0</c:v>
                </c:pt>
                <c:pt idx="26">
                  <c:v>1</c:v>
                </c:pt>
                <c:pt idx="27">
                  <c:v>1</c:v>
                </c:pt>
                <c:pt idx="28">
                  <c:v>0</c:v>
                </c:pt>
                <c:pt idx="29">
                  <c:v>0</c:v>
                </c:pt>
                <c:pt idx="30">
                  <c:v>1</c:v>
                </c:pt>
                <c:pt idx="31">
                  <c:v>1</c:v>
                </c:pt>
                <c:pt idx="32">
                  <c:v>0</c:v>
                </c:pt>
                <c:pt idx="33">
                  <c:v>0</c:v>
                </c:pt>
                <c:pt idx="34">
                  <c:v>1</c:v>
                </c:pt>
                <c:pt idx="35">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8"/>
          <c:min val="0"/>
        </c:scaling>
        <c:delete val="0"/>
        <c:axPos val="b"/>
        <c:majorGridlines>
          <c:spPr>
            <a:ln xmlns:a="http://schemas.openxmlformats.org/drawingml/2006/main" w="4763">
              <a:solidFill>
                <a:srgbClr val="35353C"/>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SDA</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SDA</c:v>
          </c:tx>
          <c:spPr>
            <a:ln xmlns:a="http://schemas.openxmlformats.org/drawingml/2006/main" w="28575">
              <a:solidFill>
                <a:srgbClr val="EDEDED"/>
              </a:solidFill>
              <a:prstDash val="solid"/>
            </a:ln>
          </c:spPr>
          <c:marker>
            <c:symbol val="none"/>
          </c:marker>
          <c:xVal>
            <c:numRef>
              <c:f>'Chart Data'!$A$2:$A$37</c:f>
              <c:numCache>
                <c:formatCode>General</c:formatCode>
                <c:ptCount val="36"/>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15</c:v>
                </c:pt>
                <c:pt idx="30">
                  <c:v>15</c:v>
                </c:pt>
                <c:pt idx="31">
                  <c:v>16</c:v>
                </c:pt>
                <c:pt idx="32">
                  <c:v>16</c:v>
                </c:pt>
                <c:pt idx="33">
                  <c:v>17</c:v>
                </c:pt>
                <c:pt idx="34">
                  <c:v>17</c:v>
                </c:pt>
                <c:pt idx="35">
                  <c:v>18</c:v>
                </c:pt>
              </c:numCache>
            </c:numRef>
          </c:xVal>
          <c:yVal>
            <c:numRef>
              <c:f>'Chart Data'!$B$2:$B$37</c:f>
              <c:numCache>
                <c:formatCode>General</c:formatCode>
                <c:ptCount val="36"/>
                <c:pt idx="0">
                  <c:v>1</c:v>
                </c:pt>
                <c:pt idx="1">
                  <c:v>1</c:v>
                </c:pt>
                <c:pt idx="2">
                  <c:v>1</c:v>
                </c:pt>
                <c:pt idx="3">
                  <c:v>1</c:v>
                </c:pt>
                <c:pt idx="4">
                  <c:v>0</c:v>
                </c:pt>
                <c:pt idx="5">
                  <c:v>0</c:v>
                </c:pt>
                <c:pt idx="6">
                  <c:v>0</c:v>
                </c:pt>
                <c:pt idx="7">
                  <c:v>0</c:v>
                </c:pt>
                <c:pt idx="8">
                  <c:v>1</c:v>
                </c:pt>
                <c:pt idx="9">
                  <c:v>1</c:v>
                </c:pt>
                <c:pt idx="10">
                  <c:v>1</c:v>
                </c:pt>
                <c:pt idx="11">
                  <c:v>1</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8"/>
          <c:min val="0"/>
        </c:scaling>
        <c:delete val="0"/>
        <c:axPos val="b"/>
        <c:majorGridlines>
          <c:spPr>
            <a:ln xmlns:a="http://schemas.openxmlformats.org/drawingml/2006/main" w="4763">
              <a:solidFill>
                <a:srgbClr val="35353C"/>
              </a:solidFill>
            </a:ln>
          </c:spPr>
        </c:majorGridlines>
        <c:title>
          <c:tx>
            <c:rich>
              <a:bodyPr xmlns:a="http://schemas.openxmlformats.org/drawingml/2006/main"/>
              <a:lstStyle xmlns:a="http://schemas.openxmlformats.org/drawingml/2006/main"/>
              <a:p xmlns:a="http://schemas.openxmlformats.org/drawingml/2006/main">
                <a:r>
                  <a:rPr sz="1350">
                    <a:solidFill>
                      <a:srgbClr val="9A9AA2"/>
                    </a:solidFill>
                    <a:latin typeface="Segoe UI"/>
                    <a:ea typeface="Segoe UI"/>
                    <a:cs typeface="Segoe UI"/>
                  </a:rPr>
                  <a:t>Half-bit slots</a:t>
                </a:r>
              </a:p>
            </c:rich>
          </c:tx>
          <c:overlay val="0"/>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title>
        <c:numFmt formatCode="General"/>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SCL</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SCL</c:v>
          </c:tx>
          <c:spPr>
            <a:ln xmlns:a="http://schemas.openxmlformats.org/drawingml/2006/main" w="28575">
              <a:solidFill>
                <a:srgbClr val="EF9529"/>
              </a:solidFill>
              <a:prstDash val="solid"/>
            </a:ln>
          </c:spPr>
          <c:marker>
            <c:symbol val="none"/>
          </c:marker>
          <c:xVal>
            <c:numRef>
              <c:f>'Chart Data'!$A$2:$A$37</c:f>
              <c:numCache>
                <c:formatCode>General</c:formatCode>
                <c:ptCount val="36"/>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15</c:v>
                </c:pt>
                <c:pt idx="30">
                  <c:v>15</c:v>
                </c:pt>
                <c:pt idx="31">
                  <c:v>16</c:v>
                </c:pt>
                <c:pt idx="32">
                  <c:v>16</c:v>
                </c:pt>
                <c:pt idx="33">
                  <c:v>17</c:v>
                </c:pt>
                <c:pt idx="34">
                  <c:v>17</c:v>
                </c:pt>
                <c:pt idx="35">
                  <c:v>18</c:v>
                </c:pt>
              </c:numCache>
            </c:numRef>
          </c:xVal>
          <c:yVal>
            <c:numRef>
              <c:f>'Chart Data'!$B$2:$B$37</c:f>
              <c:numCache>
                <c:formatCode>General</c:formatCode>
                <c:ptCount val="36"/>
                <c:pt idx="0">
                  <c:v>0</c:v>
                </c:pt>
                <c:pt idx="1">
                  <c:v>0</c:v>
                </c:pt>
                <c:pt idx="2">
                  <c:v>1</c:v>
                </c:pt>
                <c:pt idx="3">
                  <c:v>1</c:v>
                </c:pt>
                <c:pt idx="4">
                  <c:v>0</c:v>
                </c:pt>
                <c:pt idx="5">
                  <c:v>0</c:v>
                </c:pt>
                <c:pt idx="6">
                  <c:v>1</c:v>
                </c:pt>
                <c:pt idx="7">
                  <c:v>1</c:v>
                </c:pt>
                <c:pt idx="8">
                  <c:v>0</c:v>
                </c:pt>
                <c:pt idx="9">
                  <c:v>0</c:v>
                </c:pt>
                <c:pt idx="10">
                  <c:v>1</c:v>
                </c:pt>
                <c:pt idx="11">
                  <c:v>1</c:v>
                </c:pt>
                <c:pt idx="12">
                  <c:v>0</c:v>
                </c:pt>
                <c:pt idx="13">
                  <c:v>0</c:v>
                </c:pt>
                <c:pt idx="14">
                  <c:v>1</c:v>
                </c:pt>
                <c:pt idx="15">
                  <c:v>1</c:v>
                </c:pt>
                <c:pt idx="16">
                  <c:v>0</c:v>
                </c:pt>
                <c:pt idx="17">
                  <c:v>0</c:v>
                </c:pt>
                <c:pt idx="18">
                  <c:v>1</c:v>
                </c:pt>
                <c:pt idx="19">
                  <c:v>1</c:v>
                </c:pt>
                <c:pt idx="20">
                  <c:v>0</c:v>
                </c:pt>
                <c:pt idx="21">
                  <c:v>0</c:v>
                </c:pt>
                <c:pt idx="22">
                  <c:v>1</c:v>
                </c:pt>
                <c:pt idx="23">
                  <c:v>1</c:v>
                </c:pt>
                <c:pt idx="24">
                  <c:v>0</c:v>
                </c:pt>
                <c:pt idx="25">
                  <c:v>0</c:v>
                </c:pt>
                <c:pt idx="26">
                  <c:v>1</c:v>
                </c:pt>
                <c:pt idx="27">
                  <c:v>1</c:v>
                </c:pt>
                <c:pt idx="28">
                  <c:v>0</c:v>
                </c:pt>
                <c:pt idx="29">
                  <c:v>0</c:v>
                </c:pt>
                <c:pt idx="30">
                  <c:v>1</c:v>
                </c:pt>
                <c:pt idx="31">
                  <c:v>1</c:v>
                </c:pt>
                <c:pt idx="32">
                  <c:v>0</c:v>
                </c:pt>
                <c:pt idx="33">
                  <c:v>0</c:v>
                </c:pt>
                <c:pt idx="34">
                  <c:v>1</c:v>
                </c:pt>
                <c:pt idx="35">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8"/>
          <c:min val="0"/>
        </c:scaling>
        <c:delete val="0"/>
        <c:axPos val="b"/>
        <c:majorGridlines>
          <c:spPr>
            <a:ln xmlns:a="http://schemas.openxmlformats.org/drawingml/2006/main" w="4763">
              <a:solidFill>
                <a:srgbClr val="35353C"/>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SDA</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SDA</c:v>
          </c:tx>
          <c:spPr>
            <a:ln xmlns:a="http://schemas.openxmlformats.org/drawingml/2006/main" w="28575">
              <a:solidFill>
                <a:srgbClr val="EDEDED"/>
              </a:solidFill>
              <a:prstDash val="solid"/>
            </a:ln>
          </c:spPr>
          <c:marker>
            <c:symbol val="none"/>
          </c:marker>
          <c:xVal>
            <c:numRef>
              <c:f>'Chart Data'!$A$2:$A$37</c:f>
              <c:numCache>
                <c:formatCode>General</c:formatCode>
                <c:ptCount val="36"/>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15</c:v>
                </c:pt>
                <c:pt idx="30">
                  <c:v>15</c:v>
                </c:pt>
                <c:pt idx="31">
                  <c:v>16</c:v>
                </c:pt>
                <c:pt idx="32">
                  <c:v>16</c:v>
                </c:pt>
                <c:pt idx="33">
                  <c:v>17</c:v>
                </c:pt>
                <c:pt idx="34">
                  <c:v>17</c:v>
                </c:pt>
                <c:pt idx="35">
                  <c:v>18</c:v>
                </c:pt>
              </c:numCache>
            </c:numRef>
          </c:xVal>
          <c:yVal>
            <c:numRef>
              <c:f>'Chart Data'!$B$2:$B$37</c:f>
              <c:numCache>
                <c:formatCode>General</c:formatCode>
                <c:ptCount val="36"/>
                <c:pt idx="0">
                  <c:v>1</c:v>
                </c:pt>
                <c:pt idx="1">
                  <c:v>1</c:v>
                </c:pt>
                <c:pt idx="2">
                  <c:v>1</c:v>
                </c:pt>
                <c:pt idx="3">
                  <c:v>1</c:v>
                </c:pt>
                <c:pt idx="4">
                  <c:v>0</c:v>
                </c:pt>
                <c:pt idx="5">
                  <c:v>0</c:v>
                </c:pt>
                <c:pt idx="6">
                  <c:v>0</c:v>
                </c:pt>
                <c:pt idx="7">
                  <c:v>0</c:v>
                </c:pt>
                <c:pt idx="8">
                  <c:v>1</c:v>
                </c:pt>
                <c:pt idx="9">
                  <c:v>1</c:v>
                </c:pt>
                <c:pt idx="10">
                  <c:v>1</c:v>
                </c:pt>
                <c:pt idx="11">
                  <c:v>1</c:v>
                </c:pt>
                <c:pt idx="12">
                  <c:v>0</c:v>
                </c:pt>
                <c:pt idx="13">
                  <c:v>0</c:v>
                </c:pt>
                <c:pt idx="14">
                  <c:v>0</c:v>
                </c:pt>
                <c:pt idx="15">
                  <c:v>0</c:v>
                </c:pt>
                <c:pt idx="16">
                  <c:v>0</c:v>
                </c:pt>
                <c:pt idx="17">
                  <c:v>0</c:v>
                </c:pt>
                <c:pt idx="18">
                  <c:v>0</c:v>
                </c:pt>
                <c:pt idx="19">
                  <c:v>0</c:v>
                </c:pt>
                <c:pt idx="20">
                  <c:v>1</c:v>
                </c:pt>
                <c:pt idx="21">
                  <c:v>1</c:v>
                </c:pt>
                <c:pt idx="22">
                  <c:v>1</c:v>
                </c:pt>
                <c:pt idx="23">
                  <c:v>1</c:v>
                </c:pt>
                <c:pt idx="24">
                  <c:v>0</c:v>
                </c:pt>
                <c:pt idx="25">
                  <c:v>0</c:v>
                </c:pt>
                <c:pt idx="26">
                  <c:v>0</c:v>
                </c:pt>
                <c:pt idx="27">
                  <c:v>0</c:v>
                </c:pt>
                <c:pt idx="28">
                  <c:v>1</c:v>
                </c:pt>
                <c:pt idx="29">
                  <c:v>1</c:v>
                </c:pt>
                <c:pt idx="30">
                  <c:v>1</c:v>
                </c:pt>
                <c:pt idx="31">
                  <c:v>1</c:v>
                </c:pt>
                <c:pt idx="32">
                  <c:v>1</c:v>
                </c:pt>
                <c:pt idx="33">
                  <c:v>1</c:v>
                </c:pt>
                <c:pt idx="34">
                  <c:v>1</c:v>
                </c:pt>
                <c:pt idx="35">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8"/>
          <c:min val="0"/>
        </c:scaling>
        <c:delete val="0"/>
        <c:axPos val="b"/>
        <c:majorGridlines>
          <c:spPr>
            <a:ln xmlns:a="http://schemas.openxmlformats.org/drawingml/2006/main" w="4763">
              <a:solidFill>
                <a:srgbClr val="35353C"/>
              </a:solidFill>
            </a:ln>
          </c:spPr>
        </c:majorGridlines>
        <c:title>
          <c:tx>
            <c:rich>
              <a:bodyPr xmlns:a="http://schemas.openxmlformats.org/drawingml/2006/main"/>
              <a:lstStyle xmlns:a="http://schemas.openxmlformats.org/drawingml/2006/main"/>
              <a:p xmlns:a="http://schemas.openxmlformats.org/drawingml/2006/main">
                <a:r>
                  <a:rPr sz="1350">
                    <a:solidFill>
                      <a:srgbClr val="9A9AA2"/>
                    </a:solidFill>
                    <a:latin typeface="Segoe UI"/>
                    <a:ea typeface="Segoe UI"/>
                    <a:cs typeface="Segoe UI"/>
                  </a:rPr>
                  <a:t>Half-bit slots</a:t>
                </a:r>
              </a:p>
            </c:rich>
          </c:tx>
          <c:overlay val="0"/>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title>
        <c:numFmt formatCode="General"/>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SCL</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SCL</c:v>
          </c:tx>
          <c:spPr>
            <a:ln xmlns:a="http://schemas.openxmlformats.org/drawingml/2006/main" w="28575">
              <a:solidFill>
                <a:srgbClr val="EF9529"/>
              </a:solidFill>
              <a:prstDash val="solid"/>
            </a:ln>
          </c:spPr>
          <c:marker>
            <c:symbol val="none"/>
          </c:marker>
          <c:xVal>
            <c:numRef>
              <c:f>'Chart Data'!$A$2:$A$41</c:f>
              <c:numCache>
                <c:formatCode>General</c:formatCode>
                <c:ptCount val="40"/>
                <c:pt idx="0">
                  <c:v>0</c:v>
                </c:pt>
                <c:pt idx="1">
                  <c:v>9.02</c:v>
                </c:pt>
                <c:pt idx="2">
                  <c:v>9.02</c:v>
                </c:pt>
                <c:pt idx="3">
                  <c:v>15.05</c:v>
                </c:pt>
                <c:pt idx="4">
                  <c:v>15.05</c:v>
                </c:pt>
                <c:pt idx="5">
                  <c:v>19.91</c:v>
                </c:pt>
                <c:pt idx="6">
                  <c:v>19.91</c:v>
                </c:pt>
                <c:pt idx="7">
                  <c:v>25.94</c:v>
                </c:pt>
                <c:pt idx="8">
                  <c:v>25.94</c:v>
                </c:pt>
                <c:pt idx="9">
                  <c:v>30.62</c:v>
                </c:pt>
                <c:pt idx="10">
                  <c:v>30.62</c:v>
                </c:pt>
                <c:pt idx="11">
                  <c:v>36.65</c:v>
                </c:pt>
                <c:pt idx="12">
                  <c:v>36.65</c:v>
                </c:pt>
                <c:pt idx="13">
                  <c:v>41.33</c:v>
                </c:pt>
                <c:pt idx="14">
                  <c:v>41.33</c:v>
                </c:pt>
                <c:pt idx="15">
                  <c:v>47.36</c:v>
                </c:pt>
                <c:pt idx="16">
                  <c:v>47.36</c:v>
                </c:pt>
                <c:pt idx="17">
                  <c:v>52.04</c:v>
                </c:pt>
                <c:pt idx="18">
                  <c:v>52.04</c:v>
                </c:pt>
                <c:pt idx="19">
                  <c:v>58.07</c:v>
                </c:pt>
                <c:pt idx="20">
                  <c:v>58.07</c:v>
                </c:pt>
                <c:pt idx="21">
                  <c:v>62.75</c:v>
                </c:pt>
                <c:pt idx="22">
                  <c:v>62.75</c:v>
                </c:pt>
                <c:pt idx="23">
                  <c:v>68.78</c:v>
                </c:pt>
                <c:pt idx="24">
                  <c:v>68.78</c:v>
                </c:pt>
                <c:pt idx="25">
                  <c:v>73.46</c:v>
                </c:pt>
                <c:pt idx="26">
                  <c:v>73.46</c:v>
                </c:pt>
                <c:pt idx="27">
                  <c:v>79.49</c:v>
                </c:pt>
                <c:pt idx="28">
                  <c:v>79.49</c:v>
                </c:pt>
                <c:pt idx="29">
                  <c:v>84.17</c:v>
                </c:pt>
                <c:pt idx="30">
                  <c:v>84.17</c:v>
                </c:pt>
                <c:pt idx="31">
                  <c:v>90.2</c:v>
                </c:pt>
                <c:pt idx="32">
                  <c:v>90.2</c:v>
                </c:pt>
                <c:pt idx="33">
                  <c:v>94.88</c:v>
                </c:pt>
                <c:pt idx="34">
                  <c:v>94.88</c:v>
                </c:pt>
                <c:pt idx="35">
                  <c:v>100.91</c:v>
                </c:pt>
                <c:pt idx="36">
                  <c:v>100.91</c:v>
                </c:pt>
                <c:pt idx="37">
                  <c:v>105.59</c:v>
                </c:pt>
                <c:pt idx="38">
                  <c:v>105.59</c:v>
                </c:pt>
                <c:pt idx="39">
                  <c:v>106.91</c:v>
                </c:pt>
              </c:numCache>
            </c:numRef>
          </c:xVal>
          <c:yVal>
            <c:numRef>
              <c:f>'Chart Data'!$B$2:$B$41</c:f>
              <c:numCache>
                <c:formatCode>General</c:formatCode>
                <c:ptCount val="40"/>
                <c:pt idx="0">
                  <c:v>1</c:v>
                </c:pt>
                <c:pt idx="1">
                  <c:v>1</c:v>
                </c:pt>
                <c:pt idx="2">
                  <c:v>0</c:v>
                </c:pt>
                <c:pt idx="3">
                  <c:v>0</c:v>
                </c:pt>
                <c:pt idx="4">
                  <c:v>1</c:v>
                </c:pt>
                <c:pt idx="5">
                  <c:v>1</c:v>
                </c:pt>
                <c:pt idx="6">
                  <c:v>0</c:v>
                </c:pt>
                <c:pt idx="7">
                  <c:v>0</c:v>
                </c:pt>
                <c:pt idx="8">
                  <c:v>1</c:v>
                </c:pt>
                <c:pt idx="9">
                  <c:v>1</c:v>
                </c:pt>
                <c:pt idx="10">
                  <c:v>0</c:v>
                </c:pt>
                <c:pt idx="11">
                  <c:v>0</c:v>
                </c:pt>
                <c:pt idx="12">
                  <c:v>1</c:v>
                </c:pt>
                <c:pt idx="13">
                  <c:v>1</c:v>
                </c:pt>
                <c:pt idx="14">
                  <c:v>0</c:v>
                </c:pt>
                <c:pt idx="15">
                  <c:v>0</c:v>
                </c:pt>
                <c:pt idx="16">
                  <c:v>1</c:v>
                </c:pt>
                <c:pt idx="17">
                  <c:v>1</c:v>
                </c:pt>
                <c:pt idx="18">
                  <c:v>0</c:v>
                </c:pt>
                <c:pt idx="19">
                  <c:v>0</c:v>
                </c:pt>
                <c:pt idx="20">
                  <c:v>1</c:v>
                </c:pt>
                <c:pt idx="21">
                  <c:v>1</c:v>
                </c:pt>
                <c:pt idx="22">
                  <c:v>0</c:v>
                </c:pt>
                <c:pt idx="23">
                  <c:v>0</c:v>
                </c:pt>
                <c:pt idx="24">
                  <c:v>1</c:v>
                </c:pt>
                <c:pt idx="25">
                  <c:v>1</c:v>
                </c:pt>
                <c:pt idx="26">
                  <c:v>0</c:v>
                </c:pt>
                <c:pt idx="27">
                  <c:v>0</c:v>
                </c:pt>
                <c:pt idx="28">
                  <c:v>1</c:v>
                </c:pt>
                <c:pt idx="29">
                  <c:v>1</c:v>
                </c:pt>
                <c:pt idx="30">
                  <c:v>0</c:v>
                </c:pt>
                <c:pt idx="31">
                  <c:v>0</c:v>
                </c:pt>
                <c:pt idx="32">
                  <c:v>1</c:v>
                </c:pt>
                <c:pt idx="33">
                  <c:v>1</c:v>
                </c:pt>
                <c:pt idx="34">
                  <c:v>0</c:v>
                </c:pt>
                <c:pt idx="35">
                  <c:v>0</c:v>
                </c:pt>
                <c:pt idx="36">
                  <c:v>1</c:v>
                </c:pt>
                <c:pt idx="37">
                  <c:v>1</c:v>
                </c:pt>
                <c:pt idx="38">
                  <c:v>0</c:v>
                </c:pt>
                <c:pt idx="39">
                  <c:v>0</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06.91"/>
          <c:min val="0"/>
        </c:scaling>
        <c:delete val="0"/>
        <c:axPos val="b"/>
        <c:majorGridlines>
          <c:spPr>
            <a:ln xmlns:a="http://schemas.openxmlformats.org/drawingml/2006/main" w="4763">
              <a:solidFill>
                <a:srgbClr val="35353C"/>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SDA</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SDA</c:v>
          </c:tx>
          <c:spPr>
            <a:ln xmlns:a="http://schemas.openxmlformats.org/drawingml/2006/main" w="28575">
              <a:solidFill>
                <a:srgbClr val="EDEDED"/>
              </a:solidFill>
              <a:prstDash val="solid"/>
            </a:ln>
          </c:spPr>
          <c:marker>
            <c:symbol val="none"/>
          </c:marker>
          <c:xVal>
            <c:numRef>
              <c:f>'Chart Data'!$A$2:$A$15</c:f>
              <c:numCache>
                <c:formatCode>General</c:formatCode>
                <c:ptCount val="14"/>
                <c:pt idx="0">
                  <c:v>0</c:v>
                </c:pt>
                <c:pt idx="1">
                  <c:v>5</c:v>
                </c:pt>
                <c:pt idx="2">
                  <c:v>5</c:v>
                </c:pt>
                <c:pt idx="3">
                  <c:v>5.71</c:v>
                </c:pt>
                <c:pt idx="4">
                  <c:v>5.71</c:v>
                </c:pt>
                <c:pt idx="5">
                  <c:v>5.72</c:v>
                </c:pt>
                <c:pt idx="6">
                  <c:v>5.72</c:v>
                </c:pt>
                <c:pt idx="7">
                  <c:v>34.64</c:v>
                </c:pt>
                <c:pt idx="8">
                  <c:v>34.64</c:v>
                </c:pt>
                <c:pt idx="9">
                  <c:v>45.35</c:v>
                </c:pt>
                <c:pt idx="10">
                  <c:v>45.35</c:v>
                </c:pt>
                <c:pt idx="11">
                  <c:v>105.591</c:v>
                </c:pt>
                <c:pt idx="12">
                  <c:v>105.591</c:v>
                </c:pt>
                <c:pt idx="13">
                  <c:v>106.91</c:v>
                </c:pt>
              </c:numCache>
            </c:numRef>
          </c:xVal>
          <c:yVal>
            <c:numRef>
              <c:f>'Chart Data'!$B$2:$B$15</c:f>
              <c:numCache>
                <c:formatCode>General</c:formatCode>
                <c:ptCount val="14"/>
                <c:pt idx="0">
                  <c:v>1</c:v>
                </c:pt>
                <c:pt idx="1">
                  <c:v>1</c:v>
                </c:pt>
                <c:pt idx="2">
                  <c:v>0</c:v>
                </c:pt>
                <c:pt idx="3">
                  <c:v>0</c:v>
                </c:pt>
                <c:pt idx="4">
                  <c:v>1</c:v>
                </c:pt>
                <c:pt idx="5">
                  <c:v>1</c:v>
                </c:pt>
                <c:pt idx="6">
                  <c:v>0</c:v>
                </c:pt>
                <c:pt idx="7">
                  <c:v>0</c:v>
                </c:pt>
                <c:pt idx="8">
                  <c:v>1</c:v>
                </c:pt>
                <c:pt idx="9">
                  <c:v>1</c:v>
                </c:pt>
                <c:pt idx="10">
                  <c:v>0</c:v>
                </c:pt>
                <c:pt idx="11">
                  <c:v>0</c:v>
                </c:pt>
                <c:pt idx="12">
                  <c:v>1</c:v>
                </c:pt>
                <c:pt idx="13">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06.91"/>
          <c:min val="0"/>
        </c:scaling>
        <c:delete val="0"/>
        <c:axPos val="b"/>
        <c:majorGridlines>
          <c:spPr>
            <a:ln xmlns:a="http://schemas.openxmlformats.org/drawingml/2006/main" w="4763">
              <a:solidFill>
                <a:srgbClr val="35353C"/>
              </a:solidFill>
            </a:ln>
          </c:spPr>
        </c:majorGridlines>
        <c:title>
          <c:tx>
            <c:rich>
              <a:bodyPr xmlns:a="http://schemas.openxmlformats.org/drawingml/2006/main"/>
              <a:lstStyle xmlns:a="http://schemas.openxmlformats.org/drawingml/2006/main"/>
              <a:p xmlns:a="http://schemas.openxmlformats.org/drawingml/2006/main">
                <a:r>
                  <a:rPr sz="1350">
                    <a:solidFill>
                      <a:srgbClr val="9A9AA2"/>
                    </a:solidFill>
                    <a:latin typeface="Segoe UI"/>
                    <a:ea typeface="Segoe UI"/>
                    <a:cs typeface="Segoe UI"/>
                  </a:rPr>
                  <a:t>Time from crop start (us)</a:t>
                </a:r>
              </a:p>
            </c:rich>
          </c:tx>
          <c:overlay val="0"/>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title>
        <c:numFmt formatCode="General"/>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01/44</a:t>
            </a:r>
          </a:p>
        </p:txBody>
      </p:sp>
      <p:sp>
        <p:nvSpPr>
          <p:cNvPr id="7" name="lesson-title">
            <a:extLst xmlns:a="http://schemas.openxmlformats.org/drawingml/2006/main">
              <a:ext uri="{FF2B5EF4-FFF2-40B4-BE49-F238E27FC236}">
                <a16:creationId xmlns:a16="http://schemas.microsoft.com/office/drawing/2014/main" id="{766581B7-1E64-46D8-94D9-B6C25F1FBF71}"/>
              </a:ext>
            </a:extLst>
          </p:cNvPr>
          <p:cNvSpPr>
            <a:spLocks xmlns:a="http://schemas.openxmlformats.org/drawingml/2006/main" noGrp="1"/>
          </p:cNvSpPr>
          <p:nvPr/>
        </p:nvSpPr>
        <p:spPr>
          <a:xfrm xmlns:a="http://schemas.openxmlformats.org/drawingml/2006/main">
            <a:off x="609600" y="14287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EDEDED"/>
                </a:solidFill>
                <a:latin typeface="Segoe UI"/>
                <a:ea typeface="Segoe UI"/>
                <a:cs typeface="Segoe UI"/>
              </a:defRPr>
            </a:pPr>
            <a:r>
              <a:rPr sz="4050" b="1">
                <a:solidFill>
                  <a:srgbClr val="EDEDED"/>
                </a:solidFill>
                <a:latin typeface="Segoe UI"/>
                <a:ea typeface="Segoe UI"/>
                <a:cs typeface="Segoe UI"/>
              </a:rPr>
              <a:t>I2C protocol and ASIC build</a:t>
            </a:r>
          </a:p>
        </p:txBody>
      </p:sp>
      <p:sp>
        <p:nvSpPr>
          <p:cNvPr id="8" name="cover-summary-0">
            <a:extLst xmlns:a="http://schemas.openxmlformats.org/drawingml/2006/main">
              <a:ext uri="{FF2B5EF4-FFF2-40B4-BE49-F238E27FC236}">
                <a16:creationId xmlns:a16="http://schemas.microsoft.com/office/drawing/2014/main" id="{8B63E678-08AA-40CB-9611-299137726059}"/>
              </a:ext>
            </a:extLst>
          </p:cNvPr>
          <p:cNvSpPr>
            <a:spLocks xmlns:a="http://schemas.openxmlformats.org/drawingml/2006/main" noGrp="1"/>
          </p:cNvSpPr>
          <p:nvPr/>
        </p:nvSpPr>
        <p:spPr>
          <a:xfrm xmlns:a="http://schemas.openxmlformats.org/drawingml/2006/main">
            <a:off x="647700" y="27241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A student lesson on a shared two-wire bus</a:t>
            </a:r>
          </a:p>
        </p:txBody>
      </p:sp>
      <p:sp>
        <p:nvSpPr>
          <p:cNvPr id="9" name="cover-summary-1">
            <a:extLst xmlns:a="http://schemas.openxmlformats.org/drawingml/2006/main">
              <a:ext uri="{FF2B5EF4-FFF2-40B4-BE49-F238E27FC236}">
                <a16:creationId xmlns:a16="http://schemas.microsoft.com/office/drawing/2014/main" id="{E1006621-F798-4B14-94CB-E84526F175FA}"/>
              </a:ext>
            </a:extLst>
          </p:cNvPr>
          <p:cNvSpPr>
            <a:spLocks xmlns:a="http://schemas.openxmlformats.org/drawingml/2006/main" noGrp="1"/>
          </p:cNvSpPr>
          <p:nvPr/>
        </p:nvSpPr>
        <p:spPr>
          <a:xfrm xmlns:a="http://schemas.openxmlformats.org/drawingml/2006/main">
            <a:off x="647700" y="335280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9A9AA2"/>
                </a:solidFill>
                <a:latin typeface="Segoe UI"/>
                <a:ea typeface="Segoe UI"/>
                <a:cs typeface="Segoe UI"/>
              </a:defRPr>
            </a:pPr>
            <a:r>
              <a:rPr sz="2175" b="0">
                <a:solidFill>
                  <a:srgbClr val="9A9AA2"/>
                </a:solidFill>
                <a:latin typeface="Segoe UI"/>
                <a:ea typeface="Segoe UI"/>
                <a:cs typeface="Segoe UI"/>
              </a:rPr>
              <a:t>Protocol rules, RTL interfaces, verification and routed GDS</a:t>
            </a:r>
          </a:p>
        </p:txBody>
      </p:sp>
      <p:sp>
        <p:nvSpPr>
          <p:cNvPr id="10" name="author">
            <a:extLst xmlns:a="http://schemas.openxmlformats.org/drawingml/2006/main">
              <a:ext uri="{FF2B5EF4-FFF2-40B4-BE49-F238E27FC236}">
                <a16:creationId xmlns:a16="http://schemas.microsoft.com/office/drawing/2014/main" id="{27AD56FA-0658-4A38-BDF8-EA102D2C0E00}"/>
              </a:ext>
            </a:extLst>
          </p:cNvPr>
          <p:cNvSpPr>
            <a:spLocks xmlns:a="http://schemas.openxmlformats.org/drawingml/2006/main" noGrp="1"/>
          </p:cNvSpPr>
          <p:nvPr/>
        </p:nvSpPr>
        <p:spPr>
          <a:xfrm xmlns:a="http://schemas.openxmlformats.org/drawingml/2006/main">
            <a:off x="647700" y="520065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9A9AA2"/>
                </a:solidFill>
                <a:latin typeface="Segoe UI"/>
                <a:ea typeface="Segoe UI"/>
                <a:cs typeface="Segoe UI"/>
              </a:defRPr>
            </a:pPr>
            <a:r>
              <a:rPr sz="1650" b="0">
                <a:solidFill>
                  <a:srgbClr val="9A9AA2"/>
                </a:solidFill>
                <a:latin typeface="Segoe UI"/>
                <a:ea typeface="Segoe UI"/>
                <a:cs typeface="Segoe UI"/>
              </a:rPr>
              <a:t>IGNYTION_TECH    October 2026</a:t>
            </a:r>
          </a:p>
        </p:txBody>
      </p:sp>
      <p:sp>
        <p:nvSpPr>
          <p:cNvPr id="11" name="scope">
            <a:extLst xmlns:a="http://schemas.openxmlformats.org/drawingml/2006/main">
              <a:ext uri="{FF2B5EF4-FFF2-40B4-BE49-F238E27FC236}">
                <a16:creationId xmlns:a16="http://schemas.microsoft.com/office/drawing/2014/main" id="{E2573751-8CBB-4BA3-8127-A2D8F4E13622}"/>
              </a:ext>
            </a:extLst>
          </p:cNvPr>
          <p:cNvSpPr>
            <a:spLocks xmlns:a="http://schemas.openxmlformats.org/drawingml/2006/main" noGrp="1"/>
          </p:cNvSpPr>
          <p:nvPr/>
        </p:nvSpPr>
        <p:spPr>
          <a:xfrm xmlns:a="http://schemas.openxmlformats.org/drawingml/2006/main">
            <a:off x="647700" y="56578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9A9AA2"/>
                </a:solidFill>
                <a:latin typeface="Segoe UI"/>
                <a:ea typeface="Segoe UI"/>
                <a:cs typeface="Segoe UI"/>
              </a:defRPr>
            </a:pPr>
            <a:r>
              <a:rPr sz="1575" b="0">
                <a:solidFill>
                  <a:srgbClr val="9A9AA2"/>
                </a:solidFill>
                <a:latin typeface="Segoe UI"/>
                <a:ea typeface="Segoe UI"/>
                <a:cs typeface="Segoe UI"/>
              </a:rPr>
              <a:t>Reference build. Foundry DRC/LVS and full-chip signoff are unperformed.</a:t>
            </a:r>
          </a:p>
        </p:txBody>
      </p:sp>
    </p:spTree>
    <p:extLst>
      <p:ext uri="{BB962C8B-B14F-4D97-AF65-F5344CB8AC3E}">
        <p14:creationId xmlns:p14="http://schemas.microsoft.com/office/powerpoint/2010/main" val="109654273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02/44</a:t>
            </a:r>
          </a:p>
        </p:txBody>
      </p:sp>
      <p:sp>
        <p:nvSpPr>
          <p:cNvPr id="7" name="lesson-title">
            <a:extLst xmlns:a="http://schemas.openxmlformats.org/drawingml/2006/main">
              <a:ext uri="{FF2B5EF4-FFF2-40B4-BE49-F238E27FC236}">
                <a16:creationId xmlns:a16="http://schemas.microsoft.com/office/drawing/2014/main" id="{AC22534F-FFBA-477B-9951-8A6004BB8F64}"/>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What a communication protocol defines</a:t>
            </a:r>
          </a:p>
        </p:txBody>
      </p:sp>
      <p:sp>
        <p:nvSpPr>
          <p:cNvPr id="8" name="explanation-0">
            <a:extLst xmlns:a="http://schemas.openxmlformats.org/drawingml/2006/main">
              <a:ext uri="{FF2B5EF4-FFF2-40B4-BE49-F238E27FC236}">
                <a16:creationId xmlns:a16="http://schemas.microsoft.com/office/drawing/2014/main" id="{82D91354-72D9-40A9-9734-1AE3EF69AC36}"/>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Devices agree on the meaning of signals over time.</a:t>
            </a:r>
          </a:p>
        </p:txBody>
      </p:sp>
      <p:sp>
        <p:nvSpPr>
          <p:cNvPr id="9" name="explanation-1">
            <a:extLst xmlns:a="http://schemas.openxmlformats.org/drawingml/2006/main">
              <a:ext uri="{FF2B5EF4-FFF2-40B4-BE49-F238E27FC236}">
                <a16:creationId xmlns:a16="http://schemas.microsoft.com/office/drawing/2014/main" id="{166D4894-AFF7-4F38-803A-551E45AE869F}"/>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rules identify the receiver, frame the data and report acceptance.</a:t>
            </a:r>
          </a:p>
        </p:txBody>
      </p:sp>
      <p:sp>
        <p:nvSpPr>
          <p:cNvPr id="10" name="explanation-2">
            <a:extLst xmlns:a="http://schemas.openxmlformats.org/drawingml/2006/main">
              <a:ext uri="{FF2B5EF4-FFF2-40B4-BE49-F238E27FC236}">
                <a16:creationId xmlns:a16="http://schemas.microsoft.com/office/drawing/2014/main" id="{821076BD-60E9-4A0B-9890-0E2D621A8A2A}"/>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RTL implements these rules with registers, counters and state.</a:t>
            </a:r>
          </a:p>
        </p:txBody>
      </p:sp>
    </p:spTree>
    <p:extLst>
      <p:ext uri="{BB962C8B-B14F-4D97-AF65-F5344CB8AC3E}">
        <p14:creationId xmlns:p14="http://schemas.microsoft.com/office/powerpoint/2010/main" val="109654273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03/44</a:t>
            </a:r>
          </a:p>
        </p:txBody>
      </p:sp>
      <p:sp>
        <p:nvSpPr>
          <p:cNvPr id="7" name="lesson-title">
            <a:extLst xmlns:a="http://schemas.openxmlformats.org/drawingml/2006/main">
              <a:ext uri="{FF2B5EF4-FFF2-40B4-BE49-F238E27FC236}">
                <a16:creationId xmlns:a16="http://schemas.microsoft.com/office/drawing/2014/main" id="{1A6DAE18-1991-4711-B2BC-80E82E22519D}"/>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The two bus wires</a:t>
            </a:r>
          </a:p>
        </p:txBody>
      </p:sp>
      <p:sp>
        <p:nvSpPr>
          <p:cNvPr id="8" name="explanation-0">
            <a:extLst xmlns:a="http://schemas.openxmlformats.org/drawingml/2006/main">
              <a:ext uri="{FF2B5EF4-FFF2-40B4-BE49-F238E27FC236}">
                <a16:creationId xmlns:a16="http://schemas.microsoft.com/office/drawing/2014/main" id="{B4D81621-1023-4762-AAA7-4CDDF5537734}"/>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SDA carries addresses, data and acknowledgements.</a:t>
            </a:r>
          </a:p>
        </p:txBody>
      </p:sp>
      <p:sp>
        <p:nvSpPr>
          <p:cNvPr id="9" name="explanation-1">
            <a:extLst xmlns:a="http://schemas.openxmlformats.org/drawingml/2006/main">
              <a:ext uri="{FF2B5EF4-FFF2-40B4-BE49-F238E27FC236}">
                <a16:creationId xmlns:a16="http://schemas.microsoft.com/office/drawing/2014/main" id="{E84A05DE-5968-4D0B-88CE-746E496A2F10}"/>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SCL marks when each data bit is valid.</a:t>
            </a:r>
          </a:p>
        </p:txBody>
      </p:sp>
      <p:sp>
        <p:nvSpPr>
          <p:cNvPr id="10" name="explanation-2">
            <a:extLst xmlns:a="http://schemas.openxmlformats.org/drawingml/2006/main">
              <a:ext uri="{FF2B5EF4-FFF2-40B4-BE49-F238E27FC236}">
                <a16:creationId xmlns:a16="http://schemas.microsoft.com/office/drawing/2014/main" id="{8E0FC531-1D3C-4BF9-BDB4-C4C17195EA19}"/>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All devices share a reference ground and compatible voltage levels.</a:t>
            </a:r>
          </a:p>
        </p:txBody>
      </p:sp>
      <p:graphicFrame>
        <p:nvGraphicFramePr>
          <p:cNvPr id="21" name=""/>
          <p:cNvGraphicFramePr/>
          <p:nvPr/>
        </p:nvGraphicFramePr>
        <p:xfrm>
          <a:off xmlns:a="http://schemas.openxmlformats.org/drawingml/2006/main" x="609600" y="2914650"/>
          <a:ext xmlns:a="http://schemas.openxmlformats.org/drawingml/2006/main" cx="10972800" cy="19431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Signal</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Purpose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Normal idle</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SDA</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Bidirectional serial data</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High</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SCL</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Serial clock, stretching supported by protocol</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High</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09654273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04/44</a:t>
            </a:r>
          </a:p>
        </p:txBody>
      </p:sp>
      <p:sp>
        <p:nvSpPr>
          <p:cNvPr id="7" name="lesson-title">
            <a:extLst xmlns:a="http://schemas.openxmlformats.org/drawingml/2006/main">
              <a:ext uri="{FF2B5EF4-FFF2-40B4-BE49-F238E27FC236}">
                <a16:creationId xmlns:a16="http://schemas.microsoft.com/office/drawing/2014/main" id="{9215A1C1-3A68-4BDD-8380-FCF626537392}"/>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Open-drain signalling</a:t>
            </a:r>
          </a:p>
        </p:txBody>
      </p:sp>
      <p:sp>
        <p:nvSpPr>
          <p:cNvPr id="8" name="explanation-0">
            <a:extLst xmlns:a="http://schemas.openxmlformats.org/drawingml/2006/main">
              <a:ext uri="{FF2B5EF4-FFF2-40B4-BE49-F238E27FC236}">
                <a16:creationId xmlns:a16="http://schemas.microsoft.com/office/drawing/2014/main" id="{A31B27B4-C0B3-4849-89AB-02F1DAF31843}"/>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A participant pulls a line low or releases it.</a:t>
            </a:r>
          </a:p>
        </p:txBody>
      </p:sp>
      <p:sp>
        <p:nvSpPr>
          <p:cNvPr id="9" name="explanation-1">
            <a:extLst xmlns:a="http://schemas.openxmlformats.org/drawingml/2006/main">
              <a:ext uri="{FF2B5EF4-FFF2-40B4-BE49-F238E27FC236}">
                <a16:creationId xmlns:a16="http://schemas.microsoft.com/office/drawing/2014/main" id="{D15F920E-C2A0-4153-8054-28F779174D26}"/>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 pull-up resistor restores a released line to high.</a:t>
            </a:r>
          </a:p>
        </p:txBody>
      </p:sp>
      <p:sp>
        <p:nvSpPr>
          <p:cNvPr id="10" name="explanation-2">
            <a:extLst xmlns:a="http://schemas.openxmlformats.org/drawingml/2006/main">
              <a:ext uri="{FF2B5EF4-FFF2-40B4-BE49-F238E27FC236}">
                <a16:creationId xmlns:a16="http://schemas.microsoft.com/office/drawing/2014/main" id="{22750440-2334-4835-9FD1-A233DCFA3B83}"/>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 released output must still observe the actual bus input.</a:t>
            </a:r>
          </a:p>
        </p:txBody>
      </p:sp>
    </p:spTree>
    <p:extLst>
      <p:ext uri="{BB962C8B-B14F-4D97-AF65-F5344CB8AC3E}">
        <p14:creationId xmlns:p14="http://schemas.microsoft.com/office/powerpoint/2010/main" val="109654273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05/44</a:t>
            </a:r>
          </a:p>
        </p:txBody>
      </p:sp>
      <p:sp>
        <p:nvSpPr>
          <p:cNvPr id="7" name="lesson-title">
            <a:extLst xmlns:a="http://schemas.openxmlformats.org/drawingml/2006/main">
              <a:ext uri="{FF2B5EF4-FFF2-40B4-BE49-F238E27FC236}">
                <a16:creationId xmlns:a16="http://schemas.microsoft.com/office/drawing/2014/main" id="{4679CA39-34F0-40A6-B560-9535386EBBF9}"/>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Open-drain ownership truth table</a:t>
            </a:r>
          </a:p>
        </p:txBody>
      </p:sp>
      <p:sp>
        <p:nvSpPr>
          <p:cNvPr id="8" name="explanation-0">
            <a:extLst xmlns:a="http://schemas.openxmlformats.org/drawingml/2006/main">
              <a:ext uri="{FF2B5EF4-FFF2-40B4-BE49-F238E27FC236}">
                <a16:creationId xmlns:a16="http://schemas.microsoft.com/office/drawing/2014/main" id="{0CA77349-68A5-417E-BD91-D9F9A176F728}"/>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Released means high impedance, not actively driven high.</a:t>
            </a:r>
          </a:p>
        </p:txBody>
      </p:sp>
      <p:sp>
        <p:nvSpPr>
          <p:cNvPr id="9" name="explanation-1">
            <a:extLst xmlns:a="http://schemas.openxmlformats.org/drawingml/2006/main">
              <a:ext uri="{FF2B5EF4-FFF2-40B4-BE49-F238E27FC236}">
                <a16:creationId xmlns:a16="http://schemas.microsoft.com/office/drawing/2014/main" id="{FACDA2A0-47DA-4AF0-9D8A-2779544EF3CB}"/>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The actual bus value depends on every participant.</a:t>
            </a:r>
          </a:p>
        </p:txBody>
      </p:sp>
      <p:graphicFrame>
        <p:nvGraphicFramePr>
          <p:cNvPr id="19" name=""/>
          <p:cNvGraphicFramePr/>
          <p:nvPr/>
        </p:nvGraphicFramePr>
        <p:xfrm>
          <a:off xmlns:a="http://schemas.openxmlformats.org/drawingml/2006/main" x="609600" y="2914650"/>
          <a:ext xmlns:a="http://schemas.openxmlformats.org/drawingml/2006/main" cx="10972800" cy="32385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Controller</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Target</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SDA observed</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Release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Release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1, via pull-up</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Pull low</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Release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Release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Pull low</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Pull low</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Pull low</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09654273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06/44</a:t>
            </a:r>
          </a:p>
        </p:txBody>
      </p:sp>
      <p:sp>
        <p:nvSpPr>
          <p:cNvPr id="7" name="lesson-title">
            <a:extLst xmlns:a="http://schemas.openxmlformats.org/drawingml/2006/main">
              <a:ext uri="{FF2B5EF4-FFF2-40B4-BE49-F238E27FC236}">
                <a16:creationId xmlns:a16="http://schemas.microsoft.com/office/drawing/2014/main" id="{2AD94B53-7599-4D57-ABC7-04151BE419C6}"/>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Pull-up calculation: a 3.3 V bus</a:t>
            </a:r>
          </a:p>
        </p:txBody>
      </p:sp>
      <p:sp>
        <p:nvSpPr>
          <p:cNvPr id="8" name="explanation-0">
            <a:extLst xmlns:a="http://schemas.openxmlformats.org/drawingml/2006/main">
              <a:ext uri="{FF2B5EF4-FFF2-40B4-BE49-F238E27FC236}">
                <a16:creationId xmlns:a16="http://schemas.microsoft.com/office/drawing/2014/main" id="{E3D188FF-7ABE-4C45-9FF6-A4C9C80E6FCF}"/>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Assume Cbus = 100 pF, tr limit = 300 ns, VOL = 0.4 V, IOL = 3 mA.</a:t>
            </a:r>
          </a:p>
        </p:txBody>
      </p:sp>
      <p:sp>
        <p:nvSpPr>
          <p:cNvPr id="9" name="explanation-1">
            <a:extLst xmlns:a="http://schemas.openxmlformats.org/drawingml/2006/main">
              <a:ext uri="{FF2B5EF4-FFF2-40B4-BE49-F238E27FC236}">
                <a16:creationId xmlns:a16="http://schemas.microsoft.com/office/drawing/2014/main" id="{7BD9247E-B7D4-4875-8943-D5B068010CDC}"/>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Rmin = (3.3 - 0.4) / 0.003 = 967 ohm</a:t>
            </a:r>
          </a:p>
        </p:txBody>
      </p:sp>
      <p:sp>
        <p:nvSpPr>
          <p:cNvPr id="10" name="explanation-2">
            <a:extLst xmlns:a="http://schemas.openxmlformats.org/drawingml/2006/main">
              <a:ext uri="{FF2B5EF4-FFF2-40B4-BE49-F238E27FC236}">
                <a16:creationId xmlns:a16="http://schemas.microsoft.com/office/drawing/2014/main" id="{586E3C42-56E7-44BE-ACF3-3088F1E3123D}"/>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Rmax = 300 ns / (0.8473 x 100 pF) = 3.54 kohm</a:t>
            </a:r>
          </a:p>
        </p:txBody>
      </p:sp>
      <p:sp>
        <p:nvSpPr>
          <p:cNvPr id="11" name="explanation-3">
            <a:extLst xmlns:a="http://schemas.openxmlformats.org/drawingml/2006/main">
              <a:ext uri="{FF2B5EF4-FFF2-40B4-BE49-F238E27FC236}">
                <a16:creationId xmlns:a16="http://schemas.microsoft.com/office/drawing/2014/main" id="{73F9FFDE-9F35-4633-8948-C251FCE43741}"/>
              </a:ext>
            </a:extLst>
          </p:cNvPr>
          <p:cNvSpPr>
            <a:spLocks xmlns:a="http://schemas.openxmlformats.org/drawingml/2006/main" noGrp="1"/>
          </p:cNvSpPr>
          <p:nvPr/>
        </p:nvSpPr>
        <p:spPr>
          <a:xfrm xmlns:a="http://schemas.openxmlformats.org/drawingml/2006/main">
            <a:off x="609600" y="43815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2.2 kohm gives tr about 186 ns and sink current about 1.32 mA.</a:t>
            </a:r>
          </a:p>
        </p:txBody>
      </p:sp>
    </p:spTree>
    <p:extLst>
      <p:ext uri="{BB962C8B-B14F-4D97-AF65-F5344CB8AC3E}">
        <p14:creationId xmlns:p14="http://schemas.microsoft.com/office/powerpoint/2010/main" val="109654273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07/44</a:t>
            </a:r>
          </a:p>
        </p:txBody>
      </p:sp>
      <p:sp>
        <p:nvSpPr>
          <p:cNvPr id="7" name="lesson-title">
            <a:extLst xmlns:a="http://schemas.openxmlformats.org/drawingml/2006/main">
              <a:ext uri="{FF2B5EF4-FFF2-40B4-BE49-F238E27FC236}">
                <a16:creationId xmlns:a16="http://schemas.microsoft.com/office/drawing/2014/main" id="{7A79E3EA-1448-4E29-AF97-424119C2375A}"/>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START, STOP and repeated START</a:t>
            </a:r>
          </a:p>
        </p:txBody>
      </p:sp>
      <p:sp>
        <p:nvSpPr>
          <p:cNvPr id="8" name="explanation-0">
            <a:extLst xmlns:a="http://schemas.openxmlformats.org/drawingml/2006/main">
              <a:ext uri="{FF2B5EF4-FFF2-40B4-BE49-F238E27FC236}">
                <a16:creationId xmlns:a16="http://schemas.microsoft.com/office/drawing/2014/main" id="{EF389189-6802-4CA8-B74F-25F3DFB5AFA0}"/>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START: SDA falls while SCL remains high.</a:t>
            </a:r>
          </a:p>
        </p:txBody>
      </p:sp>
      <p:sp>
        <p:nvSpPr>
          <p:cNvPr id="9" name="explanation-1">
            <a:extLst xmlns:a="http://schemas.openxmlformats.org/drawingml/2006/main">
              <a:ext uri="{FF2B5EF4-FFF2-40B4-BE49-F238E27FC236}">
                <a16:creationId xmlns:a16="http://schemas.microsoft.com/office/drawing/2014/main" id="{552F1BF6-52BF-4F55-AD84-B4701F1596D4}"/>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STOP: SDA rises while SCL remains high.</a:t>
            </a:r>
          </a:p>
        </p:txBody>
      </p:sp>
      <p:sp>
        <p:nvSpPr>
          <p:cNvPr id="10" name="explanation-2">
            <a:extLst xmlns:a="http://schemas.openxmlformats.org/drawingml/2006/main">
              <a:ext uri="{FF2B5EF4-FFF2-40B4-BE49-F238E27FC236}">
                <a16:creationId xmlns:a16="http://schemas.microsoft.com/office/drawing/2014/main" id="{F3EDD5CB-E8EC-42DA-8147-A0FC2360299C}"/>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Repeated START begins another addressed phase without releasing the bus.</a:t>
            </a:r>
          </a:p>
        </p:txBody>
      </p:sp>
      <p:graphicFrame>
        <p:nvGraphicFramePr>
          <p:cNvPr id="21" name=""/>
          <p:cNvGraphicFramePr/>
          <p:nvPr/>
        </p:nvGraphicFramePr>
        <p:xfrm>
          <a:off xmlns:a="http://schemas.openxmlformats.org/drawingml/2006/main" x="609600" y="2914650"/>
          <a:ext xmlns:a="http://schemas.openxmlformats.org/drawingml/2006/main" cx="10972800" cy="32385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Phase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SCL</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SDA change</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START</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High</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High to low</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Data update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Low</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Next bit may change</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Data valid</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High</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Stable</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STOP</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High</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Low to high</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09654273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08/44</a:t>
            </a:r>
          </a:p>
        </p:txBody>
      </p:sp>
      <p:sp>
        <p:nvSpPr>
          <p:cNvPr id="7" name="lesson-title">
            <a:extLst xmlns:a="http://schemas.openxmlformats.org/drawingml/2006/main">
              <a:ext uri="{FF2B5EF4-FFF2-40B4-BE49-F238E27FC236}">
                <a16:creationId xmlns:a16="http://schemas.microsoft.com/office/drawing/2014/main" id="{450B98D7-9978-49E5-BCA2-84E7F9EAD619}"/>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START and STOP: annotated edge trace</a:t>
            </a:r>
          </a:p>
        </p:txBody>
      </p:sp>
      <p:sp>
        <p:nvSpPr>
          <p:cNvPr id="8" name="explanation-0">
            <a:extLst xmlns:a="http://schemas.openxmlformats.org/drawingml/2006/main">
              <a:ext uri="{FF2B5EF4-FFF2-40B4-BE49-F238E27FC236}">
                <a16:creationId xmlns:a16="http://schemas.microsoft.com/office/drawing/2014/main" id="{105FE625-B95C-4AA5-88E7-405ED29472DD}"/>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Slot 2: SDA falls with SCL high, creating START.</a:t>
            </a:r>
          </a:p>
        </p:txBody>
      </p:sp>
      <p:sp>
        <p:nvSpPr>
          <p:cNvPr id="9" name="explanation-1">
            <a:extLst xmlns:a="http://schemas.openxmlformats.org/drawingml/2006/main">
              <a:ext uri="{FF2B5EF4-FFF2-40B4-BE49-F238E27FC236}">
                <a16:creationId xmlns:a16="http://schemas.microsoft.com/office/drawing/2014/main" id="{EB3DBD22-40A5-4014-89B4-9363502585BD}"/>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Slots 4 and 7 change data while SCL is low. Slot 9 creates STOP.</a:t>
            </a:r>
          </a:p>
        </p:txBody>
      </p:sp>
      <p:graphicFrame>
        <p:nvGraphicFramePr>
          <p:cNvPr id="21" name="Chart"/>
          <p:cNvGraphicFramePr/>
          <p:nvPr/>
        </p:nvGraphicFramePr>
        <p:xfrm>
          <a:off xmlns:a="http://schemas.openxmlformats.org/drawingml/2006/main" x="609600" y="2381250"/>
          <a:ext xmlns:a="http://schemas.openxmlformats.org/drawingml/2006/main" cx="10972800" cy="1476375"/>
        </p:xfrm>
        <a:graphic xmlns:a="http://schemas.openxmlformats.org/drawingml/2006/main">
          <a:graphicData uri="http://schemas.openxmlformats.org/drawingml/2006/chart">
            <c:chart xmlns:r="http://schemas.openxmlformats.org/officeDocument/2006/relationships" xmlns:c="http://schemas.openxmlformats.org/drawingml/2006/chart" r:id="Rdc49d57245c84724"/>
          </a:graphicData>
        </a:graphic>
      </p:graphicFrame>
      <p:graphicFrame>
        <p:nvGraphicFramePr>
          <p:cNvPr id="22" name="Chart"/>
          <p:cNvGraphicFramePr/>
          <p:nvPr/>
        </p:nvGraphicFramePr>
        <p:xfrm>
          <a:off xmlns:a="http://schemas.openxmlformats.org/drawingml/2006/main" x="609600" y="3857625"/>
          <a:ext xmlns:a="http://schemas.openxmlformats.org/drawingml/2006/main" cx="10972800" cy="1952625"/>
        </p:xfrm>
        <a:graphic xmlns:a="http://schemas.openxmlformats.org/drawingml/2006/main">
          <a:graphicData uri="http://schemas.openxmlformats.org/drawingml/2006/chart">
            <c:chart xmlns:r="http://schemas.openxmlformats.org/officeDocument/2006/relationships" xmlns:c="http://schemas.openxmlformats.org/drawingml/2006/chart" r:id="Rf8c1042372744d37"/>
          </a:graphicData>
        </a:graphic>
      </p:graphicFrame>
      <p:sp>
        <p:nvSpPr>
          <p:cNvPr id="12" name="trace-kind">
            <a:extLst xmlns:a="http://schemas.openxmlformats.org/drawingml/2006/main">
              <a:ext uri="{FF2B5EF4-FFF2-40B4-BE49-F238E27FC236}">
                <a16:creationId xmlns:a16="http://schemas.microsoft.com/office/drawing/2014/main" id="{0E5BB1A2-235D-4B76-9B4C-FAFA7705452A}"/>
              </a:ext>
            </a:extLst>
          </p:cNvPr>
          <p:cNvSpPr>
            <a:spLocks xmlns:a="http://schemas.openxmlformats.org/drawingml/2006/main" noGrp="1"/>
          </p:cNvSpPr>
          <p:nvPr/>
        </p:nvSpPr>
        <p:spPr>
          <a:xfrm xmlns:a="http://schemas.openxmlformats.org/drawingml/2006/main">
            <a:off x="609600" y="60007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Logic levels: HIGH=1, LOW=0. IDEAL WORKED EXAMPLE: logic values, not a measured trace</a:t>
            </a:r>
          </a:p>
        </p:txBody>
      </p:sp>
    </p:spTree>
    <p:extLst>
      <p:ext uri="{BB962C8B-B14F-4D97-AF65-F5344CB8AC3E}">
        <p14:creationId xmlns:p14="http://schemas.microsoft.com/office/powerpoint/2010/main" val="109654273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09/44</a:t>
            </a:r>
          </a:p>
        </p:txBody>
      </p:sp>
      <p:sp>
        <p:nvSpPr>
          <p:cNvPr id="7" name="lesson-title">
            <a:extLst xmlns:a="http://schemas.openxmlformats.org/drawingml/2006/main">
              <a:ext uri="{FF2B5EF4-FFF2-40B4-BE49-F238E27FC236}">
                <a16:creationId xmlns:a16="http://schemas.microsoft.com/office/drawing/2014/main" id="{90FDF4BC-FD4E-4FC4-B01E-17CEF2F3C8F9}"/>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Eight data bits and a ninth response</a:t>
            </a:r>
          </a:p>
        </p:txBody>
      </p:sp>
      <p:sp>
        <p:nvSpPr>
          <p:cNvPr id="8" name="explanation-0">
            <a:extLst xmlns:a="http://schemas.openxmlformats.org/drawingml/2006/main">
              <a:ext uri="{FF2B5EF4-FFF2-40B4-BE49-F238E27FC236}">
                <a16:creationId xmlns:a16="http://schemas.microsoft.com/office/drawing/2014/main" id="{ED448503-811F-4B6E-96F8-B47B12FAFF08}"/>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A byte travels most significant bit first.</a:t>
            </a:r>
          </a:p>
        </p:txBody>
      </p:sp>
      <p:sp>
        <p:nvSpPr>
          <p:cNvPr id="9" name="explanation-1">
            <a:extLst xmlns:a="http://schemas.openxmlformats.org/drawingml/2006/main">
              <a:ext uri="{FF2B5EF4-FFF2-40B4-BE49-F238E27FC236}">
                <a16:creationId xmlns:a16="http://schemas.microsoft.com/office/drawing/2014/main" id="{79648CAF-3B48-4CA4-9E7E-338A3EC3A3E7}"/>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The transmitter releases SDA for the ninth clock.</a:t>
            </a:r>
          </a:p>
        </p:txBody>
      </p:sp>
      <p:sp>
        <p:nvSpPr>
          <p:cNvPr id="10" name="explanation-2">
            <a:extLst xmlns:a="http://schemas.openxmlformats.org/drawingml/2006/main">
              <a:ext uri="{FF2B5EF4-FFF2-40B4-BE49-F238E27FC236}">
                <a16:creationId xmlns:a16="http://schemas.microsoft.com/office/drawing/2014/main" id="{2FAADC70-AD05-4E36-A621-CA44FC5B4722}"/>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The receiver returns ACK low or leaves NACK high.</a:t>
            </a:r>
          </a:p>
        </p:txBody>
      </p:sp>
      <p:graphicFrame>
        <p:nvGraphicFramePr>
          <p:cNvPr id="21" name=""/>
          <p:cNvGraphicFramePr/>
          <p:nvPr/>
        </p:nvGraphicFramePr>
        <p:xfrm>
          <a:off xmlns:a="http://schemas.openxmlformats.org/drawingml/2006/main" x="609600" y="2914650"/>
          <a:ext xmlns:a="http://schemas.openxmlformats.org/drawingml/2006/main" cx="10972800" cy="1295400"/>
        </p:xfrm>
        <a:graphic xmlns:a="http://schemas.openxmlformats.org/drawingml/2006/main">
          <a:graphicData uri="http://schemas.openxmlformats.org/drawingml/2006/table">
            <a:tbl>
              <a:tblPr/>
              <a:tblGrid>
                <a:gridCol w="1714500"/>
                <a:gridCol w="966788"/>
                <a:gridCol w="966788"/>
                <a:gridCol w="966788"/>
                <a:gridCol w="966788"/>
                <a:gridCol w="966788"/>
                <a:gridCol w="966788"/>
                <a:gridCol w="966788"/>
                <a:gridCol w="966788"/>
                <a:gridCol w="1524000"/>
              </a:tblGrid>
              <a:tr h="647700">
                <a:tc>
                  <a:txBody>
                    <a:bodyPr>
                      <a:noAutofit/>
                    </a:bodyPr>
                    <a:lstStyle/>
                    <a:p>
                      <a:r>
                        <a:rPr sz="1500" b="1">
                          <a:solidFill>
                            <a:srgbClr val="EF9529"/>
                          </a:solidFill>
                          <a:latin typeface="Segoe UI"/>
                          <a:ea typeface="Segoe UI"/>
                          <a:cs typeface="Segoe UI"/>
                        </a:rPr>
                        <a:t>Clock</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1</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2</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3</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4</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5</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6</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7</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8</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9</a:t>
                      </a:r>
                    </a:p>
                  </a:txBody>
                  <a:tcPr marL="91440" marR="91440" marT="45720" marB="45720">
                    <a:solidFill>
                      <a:srgbClr val="24242B"/>
                    </a:solidFill>
                  </a:tcPr>
                </a:tc>
              </a:tr>
              <a:tr h="647700">
                <a:tc>
                  <a:txBody>
                    <a:bodyPr>
                      <a:noAutofit/>
                    </a:bodyPr>
                    <a:lstStyle/>
                    <a:p>
                      <a:r>
                        <a:rPr sz="1500" b="0">
                          <a:solidFill>
                            <a:srgbClr val="EDEDED"/>
                          </a:solidFill>
                          <a:latin typeface="Segoe UI"/>
                          <a:ea typeface="Segoe UI"/>
                          <a:cs typeface="Segoe UI"/>
                        </a:rPr>
                        <a:t>Meaning</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D7</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D6</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D5</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D4</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D3</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D2</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D1</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D0</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ACK/NACK</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09654273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10/44</a:t>
            </a:r>
          </a:p>
        </p:txBody>
      </p:sp>
      <p:sp>
        <p:nvSpPr>
          <p:cNvPr id="7" name="lesson-title">
            <a:extLst xmlns:a="http://schemas.openxmlformats.org/drawingml/2006/main">
              <a:ext uri="{FF2B5EF4-FFF2-40B4-BE49-F238E27FC236}">
                <a16:creationId xmlns:a16="http://schemas.microsoft.com/office/drawing/2014/main" id="{530B3F8E-BA72-4891-A4FD-EF446DAD9ADC}"/>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The address byte</a:t>
            </a:r>
          </a:p>
        </p:txBody>
      </p:sp>
      <p:sp>
        <p:nvSpPr>
          <p:cNvPr id="8" name="explanation-0">
            <a:extLst xmlns:a="http://schemas.openxmlformats.org/drawingml/2006/main">
              <a:ext uri="{FF2B5EF4-FFF2-40B4-BE49-F238E27FC236}">
                <a16:creationId xmlns:a16="http://schemas.microsoft.com/office/drawing/2014/main" id="{1180C8EB-2C0C-4ACF-A8CB-24DE93F5F4CB}"/>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The common address format uses seven address bits.</a:t>
            </a:r>
          </a:p>
        </p:txBody>
      </p:sp>
      <p:sp>
        <p:nvSpPr>
          <p:cNvPr id="9" name="explanation-1">
            <a:extLst xmlns:a="http://schemas.openxmlformats.org/drawingml/2006/main">
              <a:ext uri="{FF2B5EF4-FFF2-40B4-BE49-F238E27FC236}">
                <a16:creationId xmlns:a16="http://schemas.microsoft.com/office/drawing/2014/main" id="{97A9E3A8-EF2D-47C1-809C-A30AADB38A49}"/>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The eighth bit selects write 0 or read 1.</a:t>
            </a:r>
          </a:p>
        </p:txBody>
      </p:sp>
      <p:sp>
        <p:nvSpPr>
          <p:cNvPr id="10" name="explanation-2">
            <a:extLst xmlns:a="http://schemas.openxmlformats.org/drawingml/2006/main">
              <a:ext uri="{FF2B5EF4-FFF2-40B4-BE49-F238E27FC236}">
                <a16:creationId xmlns:a16="http://schemas.microsoft.com/office/drawing/2014/main" id="{D5D6D74E-5916-4429-B8F9-ADA07B55CEB2}"/>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A datasheet may display a seven-bit address or an already shifted byte.</a:t>
            </a:r>
          </a:p>
        </p:txBody>
      </p:sp>
      <p:graphicFrame>
        <p:nvGraphicFramePr>
          <p:cNvPr id="21" name=""/>
          <p:cNvGraphicFramePr/>
          <p:nvPr/>
        </p:nvGraphicFramePr>
        <p:xfrm>
          <a:off xmlns:a="http://schemas.openxmlformats.org/drawingml/2006/main" x="609600" y="2914650"/>
          <a:ext xmlns:a="http://schemas.openxmlformats.org/drawingml/2006/main" cx="10972800" cy="19431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Target address</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Direction</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Address byte</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0x10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Write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0x20</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0x10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Read</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0x21</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09654273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11/44</a:t>
            </a:r>
          </a:p>
        </p:txBody>
      </p:sp>
      <p:sp>
        <p:nvSpPr>
          <p:cNvPr id="7" name="lesson-title">
            <a:extLst xmlns:a="http://schemas.openxmlformats.org/drawingml/2006/main">
              <a:ext uri="{FF2B5EF4-FFF2-40B4-BE49-F238E27FC236}">
                <a16:creationId xmlns:a16="http://schemas.microsoft.com/office/drawing/2014/main" id="{7DFB8C07-7940-4141-97A3-F78DC7104382}"/>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Address 0x50: nine clock pulses</a:t>
            </a:r>
          </a:p>
        </p:txBody>
      </p:sp>
      <p:sp>
        <p:nvSpPr>
          <p:cNvPr id="8" name="explanation-0">
            <a:extLst xmlns:a="http://schemas.openxmlformats.org/drawingml/2006/main">
              <a:ext uri="{FF2B5EF4-FFF2-40B4-BE49-F238E27FC236}">
                <a16:creationId xmlns:a16="http://schemas.microsoft.com/office/drawing/2014/main" id="{85AC44C9-B20C-49BA-84BC-3724B3214FEF}"/>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Seven-bit address 1010000 plus write bit 0 gives byte 0xA0.</a:t>
            </a:r>
          </a:p>
        </p:txBody>
      </p:sp>
      <p:sp>
        <p:nvSpPr>
          <p:cNvPr id="9" name="explanation-1">
            <a:extLst xmlns:a="http://schemas.openxmlformats.org/drawingml/2006/main">
              <a:ext uri="{FF2B5EF4-FFF2-40B4-BE49-F238E27FC236}">
                <a16:creationId xmlns:a16="http://schemas.microsoft.com/office/drawing/2014/main" id="{8D90E8E4-76FE-48C9-86DC-F631FB73290C}"/>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Odd-numbered half-bit slots sample 1 0 1 0 0 0 0 0, then ACK=0.</a:t>
            </a:r>
          </a:p>
        </p:txBody>
      </p:sp>
      <p:graphicFrame>
        <p:nvGraphicFramePr>
          <p:cNvPr id="21" name="Chart"/>
          <p:cNvGraphicFramePr/>
          <p:nvPr/>
        </p:nvGraphicFramePr>
        <p:xfrm>
          <a:off xmlns:a="http://schemas.openxmlformats.org/drawingml/2006/main" x="609600" y="2381250"/>
          <a:ext xmlns:a="http://schemas.openxmlformats.org/drawingml/2006/main" cx="10972800" cy="1476375"/>
        </p:xfrm>
        <a:graphic xmlns:a="http://schemas.openxmlformats.org/drawingml/2006/main">
          <a:graphicData uri="http://schemas.openxmlformats.org/drawingml/2006/chart">
            <c:chart xmlns:r="http://schemas.openxmlformats.org/officeDocument/2006/relationships" xmlns:c="http://schemas.openxmlformats.org/drawingml/2006/chart" r:id="R1e772f8729d2499f"/>
          </a:graphicData>
        </a:graphic>
      </p:graphicFrame>
      <p:graphicFrame>
        <p:nvGraphicFramePr>
          <p:cNvPr id="22" name="Chart"/>
          <p:cNvGraphicFramePr/>
          <p:nvPr/>
        </p:nvGraphicFramePr>
        <p:xfrm>
          <a:off xmlns:a="http://schemas.openxmlformats.org/drawingml/2006/main" x="609600" y="3857625"/>
          <a:ext xmlns:a="http://schemas.openxmlformats.org/drawingml/2006/main" cx="10972800" cy="1952625"/>
        </p:xfrm>
        <a:graphic xmlns:a="http://schemas.openxmlformats.org/drawingml/2006/main">
          <a:graphicData uri="http://schemas.openxmlformats.org/drawingml/2006/chart">
            <c:chart xmlns:r="http://schemas.openxmlformats.org/officeDocument/2006/relationships" xmlns:c="http://schemas.openxmlformats.org/drawingml/2006/chart" r:id="R520d412846ec4216"/>
          </a:graphicData>
        </a:graphic>
      </p:graphicFrame>
      <p:sp>
        <p:nvSpPr>
          <p:cNvPr id="12" name="trace-kind">
            <a:extLst xmlns:a="http://schemas.openxmlformats.org/drawingml/2006/main">
              <a:ext uri="{FF2B5EF4-FFF2-40B4-BE49-F238E27FC236}">
                <a16:creationId xmlns:a16="http://schemas.microsoft.com/office/drawing/2014/main" id="{9E706882-4BF4-4BC9-B8DA-CDA8D27779C6}"/>
              </a:ext>
            </a:extLst>
          </p:cNvPr>
          <p:cNvSpPr>
            <a:spLocks xmlns:a="http://schemas.openxmlformats.org/drawingml/2006/main" noGrp="1"/>
          </p:cNvSpPr>
          <p:nvPr/>
        </p:nvSpPr>
        <p:spPr>
          <a:xfrm xmlns:a="http://schemas.openxmlformats.org/drawingml/2006/main">
            <a:off x="609600" y="60007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Logic levels: HIGH=1, LOW=0. IDEAL WORKED EXAMPLE: logic values, not a measured trace</a:t>
            </a:r>
          </a:p>
        </p:txBody>
      </p:sp>
    </p:spTree>
    <p:extLst>
      <p:ext uri="{BB962C8B-B14F-4D97-AF65-F5344CB8AC3E}">
        <p14:creationId xmlns:p14="http://schemas.microsoft.com/office/powerpoint/2010/main" val="109654273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12/44</a:t>
            </a:r>
          </a:p>
        </p:txBody>
      </p:sp>
      <p:sp>
        <p:nvSpPr>
          <p:cNvPr id="7" name="lesson-title">
            <a:extLst xmlns:a="http://schemas.openxmlformats.org/drawingml/2006/main">
              <a:ext uri="{FF2B5EF4-FFF2-40B4-BE49-F238E27FC236}">
                <a16:creationId xmlns:a16="http://schemas.microsoft.com/office/drawing/2014/main" id="{3D3BB52B-FB1C-4C95-927D-2ED087184B98}"/>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Worked register write</a:t>
            </a:r>
          </a:p>
        </p:txBody>
      </p:sp>
      <p:sp>
        <p:nvSpPr>
          <p:cNvPr id="8" name="explanation-0">
            <a:extLst xmlns:a="http://schemas.openxmlformats.org/drawingml/2006/main">
              <a:ext uri="{FF2B5EF4-FFF2-40B4-BE49-F238E27FC236}">
                <a16:creationId xmlns:a16="http://schemas.microsoft.com/office/drawing/2014/main" id="{49960690-3E83-4761-8A58-645BD7C6A462}"/>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Example: target 0x10, register 0x01, values 0xA5 and 0x5A.</a:t>
            </a:r>
          </a:p>
        </p:txBody>
      </p:sp>
      <p:sp>
        <p:nvSpPr>
          <p:cNvPr id="9" name="explanation-1">
            <a:extLst xmlns:a="http://schemas.openxmlformats.org/drawingml/2006/main">
              <a:ext uri="{FF2B5EF4-FFF2-40B4-BE49-F238E27FC236}">
                <a16:creationId xmlns:a16="http://schemas.microsoft.com/office/drawing/2014/main" id="{13857F7F-53D4-4E88-B972-1F8772414FC3}"/>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Each transmitted byte needs its own ACK.</a:t>
            </a:r>
          </a:p>
        </p:txBody>
      </p:sp>
      <p:sp>
        <p:nvSpPr>
          <p:cNvPr id="10" name="explanation-2">
            <a:extLst xmlns:a="http://schemas.openxmlformats.org/drawingml/2006/main">
              <a:ext uri="{FF2B5EF4-FFF2-40B4-BE49-F238E27FC236}">
                <a16:creationId xmlns:a16="http://schemas.microsoft.com/office/drawing/2014/main" id="{C3A884D9-2BF8-4A01-9317-118E43187902}"/>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STOP finishes the transaction.</a:t>
            </a:r>
          </a:p>
        </p:txBody>
      </p:sp>
      <p:graphicFrame>
        <p:nvGraphicFramePr>
          <p:cNvPr id="21" name=""/>
          <p:cNvGraphicFramePr/>
          <p:nvPr/>
        </p:nvGraphicFramePr>
        <p:xfrm>
          <a:off xmlns:a="http://schemas.openxmlformats.org/drawingml/2006/main" x="609600" y="2914650"/>
          <a:ext xmlns:a="http://schemas.openxmlformats.org/drawingml/2006/main" cx="10972800" cy="32385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Order</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Bus item</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Response owner</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START, 0x20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Target ACK</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2</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Register index 0x01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Target ACK</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3</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Data 0xA5</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Target ACK</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4</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Data 0x5A, STOP</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Target ACK before STOP</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09654273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13/44</a:t>
            </a:r>
          </a:p>
        </p:txBody>
      </p:sp>
      <p:sp>
        <p:nvSpPr>
          <p:cNvPr id="7" name="lesson-title">
            <a:extLst xmlns:a="http://schemas.openxmlformats.org/drawingml/2006/main">
              <a:ext uri="{FF2B5EF4-FFF2-40B4-BE49-F238E27FC236}">
                <a16:creationId xmlns:a16="http://schemas.microsoft.com/office/drawing/2014/main" id="{48469702-6C89-4685-B785-23C1F620A830}"/>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Worked register read</a:t>
            </a:r>
          </a:p>
        </p:txBody>
      </p:sp>
      <p:sp>
        <p:nvSpPr>
          <p:cNvPr id="8" name="explanation-0">
            <a:extLst xmlns:a="http://schemas.openxmlformats.org/drawingml/2006/main">
              <a:ext uri="{FF2B5EF4-FFF2-40B4-BE49-F238E27FC236}">
                <a16:creationId xmlns:a16="http://schemas.microsoft.com/office/drawing/2014/main" id="{14EE99C3-AF80-4279-82DB-55AA9C27C26E}"/>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Write the register index before the read phase.</a:t>
            </a:r>
          </a:p>
        </p:txBody>
      </p:sp>
      <p:sp>
        <p:nvSpPr>
          <p:cNvPr id="9" name="explanation-1">
            <a:extLst xmlns:a="http://schemas.openxmlformats.org/drawingml/2006/main">
              <a:ext uri="{FF2B5EF4-FFF2-40B4-BE49-F238E27FC236}">
                <a16:creationId xmlns:a16="http://schemas.microsoft.com/office/drawing/2014/main" id="{C5708FE7-2698-4E56-8EC4-D9672FCE8E5F}"/>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Repeated START carries 0x21 for read direction.</a:t>
            </a:r>
          </a:p>
        </p:txBody>
      </p:sp>
      <p:sp>
        <p:nvSpPr>
          <p:cNvPr id="10" name="explanation-2">
            <a:extLst xmlns:a="http://schemas.openxmlformats.org/drawingml/2006/main">
              <a:ext uri="{FF2B5EF4-FFF2-40B4-BE49-F238E27FC236}">
                <a16:creationId xmlns:a16="http://schemas.microsoft.com/office/drawing/2014/main" id="{AE59AED6-1544-44A7-8209-00464B134D90}"/>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The controller acknowledges more data and NACKs the final byte.</a:t>
            </a:r>
          </a:p>
        </p:txBody>
      </p:sp>
      <p:graphicFrame>
        <p:nvGraphicFramePr>
          <p:cNvPr id="21" name=""/>
          <p:cNvGraphicFramePr/>
          <p:nvPr/>
        </p:nvGraphicFramePr>
        <p:xfrm>
          <a:off xmlns:a="http://schemas.openxmlformats.org/drawingml/2006/main" x="609600" y="2914650"/>
          <a:ext xmlns:a="http://schemas.openxmlformats.org/drawingml/2006/main" cx="10972800" cy="32385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Phase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Transmitter</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Receiver response</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Address and index</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Controller</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Target ACK</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Repeated START and 0x21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Controller</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Target ACK</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First data byte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Target</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Controller ACK</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Last data byte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Target</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Controller NACK then STOP</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09654273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14/44</a:t>
            </a:r>
          </a:p>
        </p:txBody>
      </p:sp>
      <p:sp>
        <p:nvSpPr>
          <p:cNvPr id="7" name="lesson-title">
            <a:extLst xmlns:a="http://schemas.openxmlformats.org/drawingml/2006/main">
              <a:ext uri="{FF2B5EF4-FFF2-40B4-BE49-F238E27FC236}">
                <a16:creationId xmlns:a16="http://schemas.microsoft.com/office/drawing/2014/main" id="{411AC996-23C1-444D-A84F-4B8C252AE610}"/>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Final read byte: controller sends NACK</a:t>
            </a:r>
          </a:p>
        </p:txBody>
      </p:sp>
      <p:sp>
        <p:nvSpPr>
          <p:cNvPr id="8" name="explanation-0">
            <a:extLst xmlns:a="http://schemas.openxmlformats.org/drawingml/2006/main">
              <a:ext uri="{FF2B5EF4-FFF2-40B4-BE49-F238E27FC236}">
                <a16:creationId xmlns:a16="http://schemas.microsoft.com/office/drawing/2014/main" id="{470547AB-3BB6-45CB-8496-EF586914ABB5}"/>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The target transmits 0xA5 as 1 0 1 0 0 1 0 1.</a:t>
            </a:r>
          </a:p>
        </p:txBody>
      </p:sp>
      <p:sp>
        <p:nvSpPr>
          <p:cNvPr id="9" name="explanation-1">
            <a:extLst xmlns:a="http://schemas.openxmlformats.org/drawingml/2006/main">
              <a:ext uri="{FF2B5EF4-FFF2-40B4-BE49-F238E27FC236}">
                <a16:creationId xmlns:a16="http://schemas.microsoft.com/office/drawing/2014/main" id="{DF443C6C-07E9-4AF4-8190-2A00E0AE1688}"/>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The controller releases SDA for ninth-bit NACK=1, then issues STOP.</a:t>
            </a:r>
          </a:p>
        </p:txBody>
      </p:sp>
      <p:graphicFrame>
        <p:nvGraphicFramePr>
          <p:cNvPr id="21" name="Chart"/>
          <p:cNvGraphicFramePr/>
          <p:nvPr/>
        </p:nvGraphicFramePr>
        <p:xfrm>
          <a:off xmlns:a="http://schemas.openxmlformats.org/drawingml/2006/main" x="609600" y="2381250"/>
          <a:ext xmlns:a="http://schemas.openxmlformats.org/drawingml/2006/main" cx="10972800" cy="1476375"/>
        </p:xfrm>
        <a:graphic xmlns:a="http://schemas.openxmlformats.org/drawingml/2006/main">
          <a:graphicData uri="http://schemas.openxmlformats.org/drawingml/2006/chart">
            <c:chart xmlns:r="http://schemas.openxmlformats.org/officeDocument/2006/relationships" xmlns:c="http://schemas.openxmlformats.org/drawingml/2006/chart" r:id="Rfa7f2dde225a45ca"/>
          </a:graphicData>
        </a:graphic>
      </p:graphicFrame>
      <p:graphicFrame>
        <p:nvGraphicFramePr>
          <p:cNvPr id="22" name="Chart"/>
          <p:cNvGraphicFramePr/>
          <p:nvPr/>
        </p:nvGraphicFramePr>
        <p:xfrm>
          <a:off xmlns:a="http://schemas.openxmlformats.org/drawingml/2006/main" x="609600" y="3857625"/>
          <a:ext xmlns:a="http://schemas.openxmlformats.org/drawingml/2006/main" cx="10972800" cy="1952625"/>
        </p:xfrm>
        <a:graphic xmlns:a="http://schemas.openxmlformats.org/drawingml/2006/main">
          <a:graphicData uri="http://schemas.openxmlformats.org/drawingml/2006/chart">
            <c:chart xmlns:r="http://schemas.openxmlformats.org/officeDocument/2006/relationships" xmlns:c="http://schemas.openxmlformats.org/drawingml/2006/chart" r:id="R1c418447e68842c4"/>
          </a:graphicData>
        </a:graphic>
      </p:graphicFrame>
      <p:sp>
        <p:nvSpPr>
          <p:cNvPr id="12" name="trace-kind">
            <a:extLst xmlns:a="http://schemas.openxmlformats.org/drawingml/2006/main">
              <a:ext uri="{FF2B5EF4-FFF2-40B4-BE49-F238E27FC236}">
                <a16:creationId xmlns:a16="http://schemas.microsoft.com/office/drawing/2014/main" id="{1A43E0F7-96E5-44C1-B443-4113C6C71BC4}"/>
              </a:ext>
            </a:extLst>
          </p:cNvPr>
          <p:cNvSpPr>
            <a:spLocks xmlns:a="http://schemas.openxmlformats.org/drawingml/2006/main" noGrp="1"/>
          </p:cNvSpPr>
          <p:nvPr/>
        </p:nvSpPr>
        <p:spPr>
          <a:xfrm xmlns:a="http://schemas.openxmlformats.org/drawingml/2006/main">
            <a:off x="609600" y="60007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Logic levels: HIGH=1, LOW=0. IDEAL WORKED EXAMPLE: logic values, not a measured trace</a:t>
            </a:r>
          </a:p>
        </p:txBody>
      </p:sp>
    </p:spTree>
    <p:extLst>
      <p:ext uri="{BB962C8B-B14F-4D97-AF65-F5344CB8AC3E}">
        <p14:creationId xmlns:p14="http://schemas.microsoft.com/office/powerpoint/2010/main" val="109654273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15/44</a:t>
            </a:r>
          </a:p>
        </p:txBody>
      </p:sp>
      <p:sp>
        <p:nvSpPr>
          <p:cNvPr id="7" name="lesson-title">
            <a:extLst xmlns:a="http://schemas.openxmlformats.org/drawingml/2006/main">
              <a:ext uri="{FF2B5EF4-FFF2-40B4-BE49-F238E27FC236}">
                <a16:creationId xmlns:a16="http://schemas.microsoft.com/office/drawing/2014/main" id="{7659A1FF-0BF1-4957-BC03-997381E9F265}"/>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Register read: ownership by phase</a:t>
            </a:r>
          </a:p>
        </p:txBody>
      </p:sp>
      <p:sp>
        <p:nvSpPr>
          <p:cNvPr id="8" name="explanation-0">
            <a:extLst xmlns:a="http://schemas.openxmlformats.org/drawingml/2006/main">
              <a:ext uri="{FF2B5EF4-FFF2-40B4-BE49-F238E27FC236}">
                <a16:creationId xmlns:a16="http://schemas.microsoft.com/office/drawing/2014/main" id="{F271E234-F40C-422F-ADC8-970DC6309C08}"/>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Example target 0x50, register 0x01, result 0xA5.</a:t>
            </a:r>
          </a:p>
        </p:txBody>
      </p:sp>
      <p:sp>
        <p:nvSpPr>
          <p:cNvPr id="9" name="explanation-1">
            <a:extLst xmlns:a="http://schemas.openxmlformats.org/drawingml/2006/main">
              <a:ext uri="{FF2B5EF4-FFF2-40B4-BE49-F238E27FC236}">
                <a16:creationId xmlns:a16="http://schemas.microsoft.com/office/drawing/2014/main" id="{59AF2D09-CD5B-4752-AD6B-6B65F5729442}"/>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The register index is a device convention, separate from the bus address.</a:t>
            </a:r>
          </a:p>
        </p:txBody>
      </p:sp>
      <p:graphicFrame>
        <p:nvGraphicFramePr>
          <p:cNvPr id="19" name=""/>
          <p:cNvGraphicFramePr/>
          <p:nvPr/>
        </p:nvGraphicFramePr>
        <p:xfrm>
          <a:off xmlns:a="http://schemas.openxmlformats.org/drawingml/2006/main" x="609600" y="2914650"/>
          <a:ext xmlns:a="http://schemas.openxmlformats.org/drawingml/2006/main" cx="10972800" cy="3429000"/>
        </p:xfrm>
        <a:graphic xmlns:a="http://schemas.openxmlformats.org/drawingml/2006/main">
          <a:graphicData uri="http://schemas.openxmlformats.org/drawingml/2006/table">
            <a:tbl>
              <a:tblPr/>
              <a:tblGrid>
                <a:gridCol w="3657600"/>
                <a:gridCol w="3657600"/>
                <a:gridCol w="3657600"/>
              </a:tblGrid>
              <a:tr h="571500">
                <a:tc>
                  <a:txBody>
                    <a:bodyPr>
                      <a:noAutofit/>
                    </a:bodyPr>
                    <a:lstStyle/>
                    <a:p>
                      <a:r>
                        <a:rPr sz="1650" b="1">
                          <a:solidFill>
                            <a:srgbClr val="EF9529"/>
                          </a:solidFill>
                          <a:latin typeface="Segoe UI"/>
                          <a:ea typeface="Segoe UI"/>
                          <a:cs typeface="Segoe UI"/>
                        </a:rPr>
                        <a:t>Phase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Wire byte/event</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SDA sender</a:t>
                      </a:r>
                    </a:p>
                  </a:txBody>
                  <a:tcPr marL="91440" marR="91440" marT="45720" marB="45720">
                    <a:solidFill>
                      <a:srgbClr val="24242B"/>
                    </a:solidFill>
                  </a:tcPr>
                </a:tc>
              </a:tr>
              <a:tr h="571500">
                <a:tc>
                  <a:txBody>
                    <a:bodyPr>
                      <a:noAutofit/>
                    </a:bodyPr>
                    <a:lstStyle/>
                    <a:p>
                      <a:r>
                        <a:rPr sz="1650" b="0">
                          <a:solidFill>
                            <a:srgbClr val="EDEDED"/>
                          </a:solidFill>
                          <a:latin typeface="Segoe UI"/>
                          <a:ea typeface="Segoe UI"/>
                          <a:cs typeface="Segoe UI"/>
                        </a:rPr>
                        <a:t>Select for write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START, A0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Controller</a:t>
                      </a:r>
                    </a:p>
                  </a:txBody>
                  <a:tcPr marL="91440" marR="91440" marT="45720" marB="45720">
                    <a:solidFill>
                      <a:srgbClr val="16161A"/>
                    </a:solidFill>
                  </a:tcPr>
                </a:tc>
              </a:tr>
              <a:tr h="571500">
                <a:tc>
                  <a:txBody>
                    <a:bodyPr>
                      <a:noAutofit/>
                    </a:bodyPr>
                    <a:lstStyle/>
                    <a:p>
                      <a:r>
                        <a:rPr sz="1650" b="0">
                          <a:solidFill>
                            <a:srgbClr val="EDEDED"/>
                          </a:solidFill>
                          <a:latin typeface="Segoe UI"/>
                          <a:ea typeface="Segoe UI"/>
                          <a:cs typeface="Segoe UI"/>
                        </a:rPr>
                        <a:t>Choose register</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01, with target ACK</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Controller</a:t>
                      </a:r>
                    </a:p>
                  </a:txBody>
                  <a:tcPr marL="91440" marR="91440" marT="45720" marB="45720">
                    <a:solidFill>
                      <a:srgbClr val="16161A"/>
                    </a:solidFill>
                  </a:tcPr>
                </a:tc>
              </a:tr>
              <a:tr h="571500">
                <a:tc>
                  <a:txBody>
                    <a:bodyPr>
                      <a:noAutofit/>
                    </a:bodyPr>
                    <a:lstStyle/>
                    <a:p>
                      <a:r>
                        <a:rPr sz="1650" b="0">
                          <a:solidFill>
                            <a:srgbClr val="EDEDED"/>
                          </a:solidFill>
                          <a:latin typeface="Segoe UI"/>
                          <a:ea typeface="Segoe UI"/>
                          <a:cs typeface="Segoe UI"/>
                        </a:rPr>
                        <a:t>Select for read</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Repeated START, A1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Controller</a:t>
                      </a:r>
                    </a:p>
                  </a:txBody>
                  <a:tcPr marL="91440" marR="91440" marT="45720" marB="45720">
                    <a:solidFill>
                      <a:srgbClr val="16161A"/>
                    </a:solidFill>
                  </a:tcPr>
                </a:tc>
              </a:tr>
              <a:tr h="571500">
                <a:tc>
                  <a:txBody>
                    <a:bodyPr>
                      <a:noAutofit/>
                    </a:bodyPr>
                    <a:lstStyle/>
                    <a:p>
                      <a:r>
                        <a:rPr sz="1650" b="0">
                          <a:solidFill>
                            <a:srgbClr val="EDEDED"/>
                          </a:solidFill>
                          <a:latin typeface="Segoe UI"/>
                          <a:ea typeface="Segoe UI"/>
                          <a:cs typeface="Segoe UI"/>
                        </a:rPr>
                        <a:t>Read result</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A5</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Target</a:t>
                      </a:r>
                    </a:p>
                  </a:txBody>
                  <a:tcPr marL="91440" marR="91440" marT="45720" marB="45720">
                    <a:solidFill>
                      <a:srgbClr val="16161A"/>
                    </a:solidFill>
                  </a:tcPr>
                </a:tc>
              </a:tr>
              <a:tr h="571500">
                <a:tc>
                  <a:txBody>
                    <a:bodyPr>
                      <a:noAutofit/>
                    </a:bodyPr>
                    <a:lstStyle/>
                    <a:p>
                      <a:r>
                        <a:rPr sz="1650" b="0">
                          <a:solidFill>
                            <a:srgbClr val="EDEDED"/>
                          </a:solidFill>
                          <a:latin typeface="Segoe UI"/>
                          <a:ea typeface="Segoe UI"/>
                          <a:cs typeface="Segoe UI"/>
                        </a:rPr>
                        <a:t>Finish</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NACK, STOP</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Controller</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09654273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16/44</a:t>
            </a:r>
          </a:p>
        </p:txBody>
      </p:sp>
      <p:sp>
        <p:nvSpPr>
          <p:cNvPr id="7" name="lesson-title">
            <a:extLst xmlns:a="http://schemas.openxmlformats.org/drawingml/2006/main">
              <a:ext uri="{FF2B5EF4-FFF2-40B4-BE49-F238E27FC236}">
                <a16:creationId xmlns:a16="http://schemas.microsoft.com/office/drawing/2014/main" id="{9FDEB8ED-4A17-4BFA-9D92-4BC81238AE7D}"/>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Acknowledgement and error handling</a:t>
            </a:r>
          </a:p>
        </p:txBody>
      </p:sp>
      <p:sp>
        <p:nvSpPr>
          <p:cNvPr id="8" name="explanation-0">
            <a:extLst xmlns:a="http://schemas.openxmlformats.org/drawingml/2006/main">
              <a:ext uri="{FF2B5EF4-FFF2-40B4-BE49-F238E27FC236}">
                <a16:creationId xmlns:a16="http://schemas.microsoft.com/office/drawing/2014/main" id="{F9EB014E-53DE-4662-9E4B-29569966B764}"/>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NACK can mean no addressed target or rejected data.</a:t>
            </a:r>
          </a:p>
        </p:txBody>
      </p:sp>
      <p:sp>
        <p:nvSpPr>
          <p:cNvPr id="9" name="explanation-1">
            <a:extLst xmlns:a="http://schemas.openxmlformats.org/drawingml/2006/main">
              <a:ext uri="{FF2B5EF4-FFF2-40B4-BE49-F238E27FC236}">
                <a16:creationId xmlns:a16="http://schemas.microsoft.com/office/drawing/2014/main" id="{FB2EA951-4376-4CD6-BBC3-7CE3B8F44856}"/>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Software must inspect status instead of assuming success.</a:t>
            </a:r>
          </a:p>
        </p:txBody>
      </p:sp>
      <p:sp>
        <p:nvSpPr>
          <p:cNvPr id="10" name="explanation-2">
            <a:extLst xmlns:a="http://schemas.openxmlformats.org/drawingml/2006/main">
              <a:ext uri="{FF2B5EF4-FFF2-40B4-BE49-F238E27FC236}">
                <a16:creationId xmlns:a16="http://schemas.microsoft.com/office/drawing/2014/main" id="{1FED8A10-A4D7-4363-B860-488739562394}"/>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 transfer timeout protects software from a stuck bus.</a:t>
            </a:r>
          </a:p>
        </p:txBody>
      </p:sp>
    </p:spTree>
    <p:extLst>
      <p:ext uri="{BB962C8B-B14F-4D97-AF65-F5344CB8AC3E}">
        <p14:creationId xmlns:p14="http://schemas.microsoft.com/office/powerpoint/2010/main" val="1096542737"/>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17/44</a:t>
            </a:r>
          </a:p>
        </p:txBody>
      </p:sp>
      <p:sp>
        <p:nvSpPr>
          <p:cNvPr id="7" name="lesson-title">
            <a:extLst xmlns:a="http://schemas.openxmlformats.org/drawingml/2006/main">
              <a:ext uri="{FF2B5EF4-FFF2-40B4-BE49-F238E27FC236}">
                <a16:creationId xmlns:a16="http://schemas.microsoft.com/office/drawing/2014/main" id="{73BC6ADC-CFAA-4C32-B5EB-4CEF95ACE9AC}"/>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Clock stretching</a:t>
            </a:r>
          </a:p>
        </p:txBody>
      </p:sp>
      <p:sp>
        <p:nvSpPr>
          <p:cNvPr id="8" name="explanation-0">
            <a:extLst xmlns:a="http://schemas.openxmlformats.org/drawingml/2006/main">
              <a:ext uri="{FF2B5EF4-FFF2-40B4-BE49-F238E27FC236}">
                <a16:creationId xmlns:a16="http://schemas.microsoft.com/office/drawing/2014/main" id="{B7F00AB6-07B7-4159-BF4E-2E1713FC4D91}"/>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A target can hold SCL low to delay progress.</a:t>
            </a:r>
          </a:p>
        </p:txBody>
      </p:sp>
      <p:sp>
        <p:nvSpPr>
          <p:cNvPr id="9" name="explanation-1">
            <a:extLst xmlns:a="http://schemas.openxmlformats.org/drawingml/2006/main">
              <a:ext uri="{FF2B5EF4-FFF2-40B4-BE49-F238E27FC236}">
                <a16:creationId xmlns:a16="http://schemas.microsoft.com/office/drawing/2014/main" id="{A86C5F35-476D-4080-AD2B-0A55D8D9CE92}"/>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controller must wait for the observed line to rise.</a:t>
            </a:r>
          </a:p>
        </p:txBody>
      </p:sp>
      <p:sp>
        <p:nvSpPr>
          <p:cNvPr id="10" name="explanation-2">
            <a:extLst xmlns:a="http://schemas.openxmlformats.org/drawingml/2006/main">
              <a:ext uri="{FF2B5EF4-FFF2-40B4-BE49-F238E27FC236}">
                <a16:creationId xmlns:a16="http://schemas.microsoft.com/office/drawing/2014/main" id="{059E9D01-19C0-4F22-9B88-D0584C954646}"/>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model exercises stretching indirectly.</a:t>
            </a:r>
          </a:p>
        </p:txBody>
      </p:sp>
    </p:spTree>
    <p:extLst>
      <p:ext uri="{BB962C8B-B14F-4D97-AF65-F5344CB8AC3E}">
        <p14:creationId xmlns:p14="http://schemas.microsoft.com/office/powerpoint/2010/main" val="109654273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18/44</a:t>
            </a:r>
          </a:p>
        </p:txBody>
      </p:sp>
      <p:sp>
        <p:nvSpPr>
          <p:cNvPr id="7" name="lesson-title">
            <a:extLst xmlns:a="http://schemas.openxmlformats.org/drawingml/2006/main">
              <a:ext uri="{FF2B5EF4-FFF2-40B4-BE49-F238E27FC236}">
                <a16:creationId xmlns:a16="http://schemas.microsoft.com/office/drawing/2014/main" id="{DB9EF3C4-417B-48BC-987B-124AFE2E3DAC}"/>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Multiple-controller arbitration</a:t>
            </a:r>
          </a:p>
        </p:txBody>
      </p:sp>
      <p:sp>
        <p:nvSpPr>
          <p:cNvPr id="8" name="explanation-0">
            <a:extLst xmlns:a="http://schemas.openxmlformats.org/drawingml/2006/main">
              <a:ext uri="{FF2B5EF4-FFF2-40B4-BE49-F238E27FC236}">
                <a16:creationId xmlns:a16="http://schemas.microsoft.com/office/drawing/2014/main" id="{BC605E60-BCBA-493B-B95C-7C02E93C3A56}"/>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Two controllers may begin while the bus is idle.</a:t>
            </a:r>
          </a:p>
        </p:txBody>
      </p:sp>
      <p:sp>
        <p:nvSpPr>
          <p:cNvPr id="9" name="explanation-1">
            <a:extLst xmlns:a="http://schemas.openxmlformats.org/drawingml/2006/main">
              <a:ext uri="{FF2B5EF4-FFF2-40B4-BE49-F238E27FC236}">
                <a16:creationId xmlns:a16="http://schemas.microsoft.com/office/drawing/2014/main" id="{99189B6E-BE86-4F93-99FB-1064111A3A20}"/>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 controller that sends a released 1 but observes 0 loses arbitration.</a:t>
            </a:r>
          </a:p>
        </p:txBody>
      </p:sp>
      <p:sp>
        <p:nvSpPr>
          <p:cNvPr id="10" name="explanation-2">
            <a:extLst xmlns:a="http://schemas.openxmlformats.org/drawingml/2006/main">
              <a:ext uri="{FF2B5EF4-FFF2-40B4-BE49-F238E27FC236}">
                <a16:creationId xmlns:a16="http://schemas.microsoft.com/office/drawing/2014/main" id="{10E75E1B-2E31-46CE-82DB-FF6D905E5D0F}"/>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 losing controller stops driving the contested transfer.</a:t>
            </a:r>
          </a:p>
        </p:txBody>
      </p:sp>
    </p:spTree>
    <p:extLst>
      <p:ext uri="{BB962C8B-B14F-4D97-AF65-F5344CB8AC3E}">
        <p14:creationId xmlns:p14="http://schemas.microsoft.com/office/powerpoint/2010/main" val="109654273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19/44</a:t>
            </a:r>
          </a:p>
        </p:txBody>
      </p:sp>
      <p:sp>
        <p:nvSpPr>
          <p:cNvPr id="7" name="lesson-title">
            <a:extLst xmlns:a="http://schemas.openxmlformats.org/drawingml/2006/main">
              <a:ext uri="{FF2B5EF4-FFF2-40B4-BE49-F238E27FC236}">
                <a16:creationId xmlns:a16="http://schemas.microsoft.com/office/drawing/2014/main" id="{8A4ECC8D-779E-4736-99B1-278EA229B399}"/>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Bus rate and throughput</a:t>
            </a:r>
          </a:p>
        </p:txBody>
      </p:sp>
      <p:sp>
        <p:nvSpPr>
          <p:cNvPr id="8" name="explanation-0">
            <a:extLst xmlns:a="http://schemas.openxmlformats.org/drawingml/2006/main">
              <a:ext uri="{FF2B5EF4-FFF2-40B4-BE49-F238E27FC236}">
                <a16:creationId xmlns:a16="http://schemas.microsoft.com/office/drawing/2014/main" id="{553F1266-6B19-4A74-8EC8-1B73BD3CA746}"/>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Standard-mode commonly runs up to 100 kbit/s.</a:t>
            </a:r>
          </a:p>
        </p:txBody>
      </p:sp>
      <p:sp>
        <p:nvSpPr>
          <p:cNvPr id="9" name="explanation-1">
            <a:extLst xmlns:a="http://schemas.openxmlformats.org/drawingml/2006/main">
              <a:ext uri="{FF2B5EF4-FFF2-40B4-BE49-F238E27FC236}">
                <a16:creationId xmlns:a16="http://schemas.microsoft.com/office/drawing/2014/main" id="{5E99A7AE-1C8E-4480-969A-0B748B1EED61}"/>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Fast-mode commonly runs up to 400 kbit/s.</a:t>
            </a:r>
          </a:p>
        </p:txBody>
      </p:sp>
      <p:sp>
        <p:nvSpPr>
          <p:cNvPr id="10" name="explanation-2">
            <a:extLst xmlns:a="http://schemas.openxmlformats.org/drawingml/2006/main">
              <a:ext uri="{FF2B5EF4-FFF2-40B4-BE49-F238E27FC236}">
                <a16:creationId xmlns:a16="http://schemas.microsoft.com/office/drawing/2014/main" id="{8BD7CE64-8E31-48AF-BAE3-776559E57CEF}"/>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Address and ACK overhead reduce useful payload throughput.</a:t>
            </a:r>
          </a:p>
        </p:txBody>
      </p:sp>
    </p:spTree>
    <p:extLst>
      <p:ext uri="{BB962C8B-B14F-4D97-AF65-F5344CB8AC3E}">
        <p14:creationId xmlns:p14="http://schemas.microsoft.com/office/powerpoint/2010/main" val="109654273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20/44</a:t>
            </a:r>
          </a:p>
        </p:txBody>
      </p:sp>
      <p:sp>
        <p:nvSpPr>
          <p:cNvPr id="7" name="lesson-title">
            <a:extLst xmlns:a="http://schemas.openxmlformats.org/drawingml/2006/main">
              <a:ext uri="{FF2B5EF4-FFF2-40B4-BE49-F238E27FC236}">
                <a16:creationId xmlns:a16="http://schemas.microsoft.com/office/drawing/2014/main" id="{37A6183A-6C00-4560-A564-D894FA03D19C}"/>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Prescaler calculation for this RTL</a:t>
            </a:r>
          </a:p>
        </p:txBody>
      </p:sp>
      <p:sp>
        <p:nvSpPr>
          <p:cNvPr id="8" name="explanation-0">
            <a:extLst xmlns:a="http://schemas.openxmlformats.org/drawingml/2006/main">
              <a:ext uri="{FF2B5EF4-FFF2-40B4-BE49-F238E27FC236}">
                <a16:creationId xmlns:a16="http://schemas.microsoft.com/office/drawing/2014/main" id="{B0B2A137-A58D-464C-AEE9-FC7E92E41131}"/>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Nominal SCL = fwb / (5 x (PRER + 1)).</a:t>
            </a:r>
          </a:p>
        </p:txBody>
      </p:sp>
      <p:sp>
        <p:nvSpPr>
          <p:cNvPr id="9" name="explanation-1">
            <a:extLst xmlns:a="http://schemas.openxmlformats.org/drawingml/2006/main">
              <a:ext uri="{FF2B5EF4-FFF2-40B4-BE49-F238E27FC236}">
                <a16:creationId xmlns:a16="http://schemas.microsoft.com/office/drawing/2014/main" id="{CACB3C79-34FD-4A1A-B9F1-04DB890B97B1}"/>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At 50 MHz and PRER=99: SCL = 100 kHz.</a:t>
            </a:r>
          </a:p>
        </p:txBody>
      </p:sp>
      <p:sp>
        <p:nvSpPr>
          <p:cNvPr id="10" name="explanation-2">
            <a:extLst xmlns:a="http://schemas.openxmlformats.org/drawingml/2006/main">
              <a:ext uri="{FF2B5EF4-FFF2-40B4-BE49-F238E27FC236}">
                <a16:creationId xmlns:a16="http://schemas.microsoft.com/office/drawing/2014/main" id="{CE47E467-523A-474D-A6EA-90B4A383D38B}"/>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At PRER=24: SCL = 400 kHz before stretching and input filtering.</a:t>
            </a:r>
          </a:p>
        </p:txBody>
      </p:sp>
      <p:graphicFrame>
        <p:nvGraphicFramePr>
          <p:cNvPr id="21" name=""/>
          <p:cNvGraphicFramePr/>
          <p:nvPr/>
        </p:nvGraphicFramePr>
        <p:xfrm>
          <a:off xmlns:a="http://schemas.openxmlformats.org/drawingml/2006/main" x="609600" y="2914650"/>
          <a:ext xmlns:a="http://schemas.openxmlformats.org/drawingml/2006/main" cx="10972800" cy="25908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Context</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PRER expression</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Nominal result</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50 MHz, 100 kHz</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50e6 / (5 x 100e3) - 1 = 99</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100 kHz</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50 MHz, 400 kHz</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50e6 / (5 x 400e3) - 1 = 24</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400 kHz</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Test at 100 MHz</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0x00C8 = 200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99.502 kHz</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096542737"/>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21/44</a:t>
            </a:r>
          </a:p>
        </p:txBody>
      </p:sp>
      <p:sp>
        <p:nvSpPr>
          <p:cNvPr id="7" name="lesson-title">
            <a:extLst xmlns:a="http://schemas.openxmlformats.org/drawingml/2006/main">
              <a:ext uri="{FF2B5EF4-FFF2-40B4-BE49-F238E27FC236}">
                <a16:creationId xmlns:a16="http://schemas.microsoft.com/office/drawing/2014/main" id="{40CF55B6-2FED-4D93-8FFA-5C7FFCA16B81}"/>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Useful throughput: the ACK overhead</a:t>
            </a:r>
          </a:p>
        </p:txBody>
      </p:sp>
      <p:sp>
        <p:nvSpPr>
          <p:cNvPr id="8" name="explanation-0">
            <a:extLst xmlns:a="http://schemas.openxmlformats.org/drawingml/2006/main">
              <a:ext uri="{FF2B5EF4-FFF2-40B4-BE49-F238E27FC236}">
                <a16:creationId xmlns:a16="http://schemas.microsoft.com/office/drawing/2014/main" id="{09BE3BA3-BE32-4479-8AB1-80037EF49793}"/>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A 1-byte register write needs address, index and data: 27 SCL pulses.</a:t>
            </a:r>
          </a:p>
        </p:txBody>
      </p:sp>
      <p:sp>
        <p:nvSpPr>
          <p:cNvPr id="9" name="explanation-1">
            <a:extLst xmlns:a="http://schemas.openxmlformats.org/drawingml/2006/main">
              <a:ext uri="{FF2B5EF4-FFF2-40B4-BE49-F238E27FC236}">
                <a16:creationId xmlns:a16="http://schemas.microsoft.com/office/drawing/2014/main" id="{281F28A2-A064-4120-ADD5-128946A2B64B}"/>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At 100 kHz, those pulses take 270 us before boundary and software delays.</a:t>
            </a:r>
          </a:p>
        </p:txBody>
      </p:sp>
      <p:sp>
        <p:nvSpPr>
          <p:cNvPr id="10" name="explanation-2">
            <a:extLst xmlns:a="http://schemas.openxmlformats.org/drawingml/2006/main">
              <a:ext uri="{FF2B5EF4-FFF2-40B4-BE49-F238E27FC236}">
                <a16:creationId xmlns:a16="http://schemas.microsoft.com/office/drawing/2014/main" id="{3D5C2E63-9F17-41D5-81C7-4A59EC1BCA74}"/>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 1-byte combined read needs 36 pulses, or 360 us before other delays.</a:t>
            </a:r>
          </a:p>
        </p:txBody>
      </p:sp>
    </p:spTree>
    <p:extLst>
      <p:ext uri="{BB962C8B-B14F-4D97-AF65-F5344CB8AC3E}">
        <p14:creationId xmlns:p14="http://schemas.microsoft.com/office/powerpoint/2010/main" val="109654273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22/44</a:t>
            </a:r>
          </a:p>
        </p:txBody>
      </p:sp>
      <p:sp>
        <p:nvSpPr>
          <p:cNvPr id="7" name="lesson-title">
            <a:extLst xmlns:a="http://schemas.openxmlformats.org/drawingml/2006/main">
              <a:ext uri="{FF2B5EF4-FFF2-40B4-BE49-F238E27FC236}">
                <a16:creationId xmlns:a16="http://schemas.microsoft.com/office/drawing/2014/main" id="{72149793-F13E-47DA-A189-FD3883C3CDFE}"/>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The local register interface</a:t>
            </a:r>
          </a:p>
        </p:txBody>
      </p:sp>
      <p:sp>
        <p:nvSpPr>
          <p:cNvPr id="8" name="explanation-0">
            <a:extLst xmlns:a="http://schemas.openxmlformats.org/drawingml/2006/main">
              <a:ext uri="{FF2B5EF4-FFF2-40B4-BE49-F238E27FC236}">
                <a16:creationId xmlns:a16="http://schemas.microsoft.com/office/drawing/2014/main" id="{6B9A2554-F587-41F4-A5A8-31D5C37C3BA7}"/>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Wishbone selects a register and reads or writes one byte.</a:t>
            </a:r>
          </a:p>
        </p:txBody>
      </p:sp>
      <p:sp>
        <p:nvSpPr>
          <p:cNvPr id="9" name="explanation-1">
            <a:extLst xmlns:a="http://schemas.openxmlformats.org/drawingml/2006/main">
              <a:ext uri="{FF2B5EF4-FFF2-40B4-BE49-F238E27FC236}">
                <a16:creationId xmlns:a16="http://schemas.microsoft.com/office/drawing/2014/main" id="{63D84021-F709-4D08-AEB4-B101EE5513D6}"/>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The controller separates register, byte and bit-level work.</a:t>
            </a:r>
          </a:p>
        </p:txBody>
      </p:sp>
      <p:sp>
        <p:nvSpPr>
          <p:cNvPr id="10" name="explanation-2">
            <a:extLst xmlns:a="http://schemas.openxmlformats.org/drawingml/2006/main">
              <a:ext uri="{FF2B5EF4-FFF2-40B4-BE49-F238E27FC236}">
                <a16:creationId xmlns:a16="http://schemas.microsoft.com/office/drawing/2014/main" id="{F0B698E2-D53C-46FF-8996-F64EFC7BDC5B}"/>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Interrupt and status outputs report progress.</a:t>
            </a:r>
          </a:p>
        </p:txBody>
      </p:sp>
      <p:graphicFrame>
        <p:nvGraphicFramePr>
          <p:cNvPr id="21" name=""/>
          <p:cNvGraphicFramePr/>
          <p:nvPr/>
        </p:nvGraphicFramePr>
        <p:xfrm>
          <a:off xmlns:a="http://schemas.openxmlformats.org/drawingml/2006/main" x="609600" y="2914650"/>
          <a:ext xmlns:a="http://schemas.openxmlformats.org/drawingml/2006/main" cx="10972800" cy="32385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Offset</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Read</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Write</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0 / 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Prescaler low / high</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Prescaler low / high</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2</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Control</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Control</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3</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Receive byte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Transmit byte</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4</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Status</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Command</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09654273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23/44</a:t>
            </a:r>
          </a:p>
        </p:txBody>
      </p:sp>
      <p:sp>
        <p:nvSpPr>
          <p:cNvPr id="7" name="lesson-title">
            <a:extLst xmlns:a="http://schemas.openxmlformats.org/drawingml/2006/main">
              <a:ext uri="{FF2B5EF4-FFF2-40B4-BE49-F238E27FC236}">
                <a16:creationId xmlns:a16="http://schemas.microsoft.com/office/drawing/2014/main" id="{A5D8525D-2EC3-4B21-822A-FF55EB0C7687}"/>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I2C implementation responsibilities</a:t>
            </a:r>
          </a:p>
        </p:txBody>
      </p:sp>
      <p:sp>
        <p:nvSpPr>
          <p:cNvPr id="8" name="explanation-0">
            <a:extLst xmlns:a="http://schemas.openxmlformats.org/drawingml/2006/main">
              <a:ext uri="{FF2B5EF4-FFF2-40B4-BE49-F238E27FC236}">
                <a16:creationId xmlns:a16="http://schemas.microsoft.com/office/drawing/2014/main" id="{258EFF0A-CE96-4C32-8DD8-F33DD1AFBEE7}"/>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The register block stores configuration and commands.</a:t>
            </a:r>
          </a:p>
        </p:txBody>
      </p:sp>
      <p:sp>
        <p:nvSpPr>
          <p:cNvPr id="9" name="explanation-1">
            <a:extLst xmlns:a="http://schemas.openxmlformats.org/drawingml/2006/main">
              <a:ext uri="{FF2B5EF4-FFF2-40B4-BE49-F238E27FC236}">
                <a16:creationId xmlns:a16="http://schemas.microsoft.com/office/drawing/2014/main" id="{72F48B79-E4C1-4E81-A13F-58001CB7F75E}"/>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The byte controller shifts eight bits and handles the ninth bit.</a:t>
            </a:r>
          </a:p>
        </p:txBody>
      </p:sp>
      <p:sp>
        <p:nvSpPr>
          <p:cNvPr id="10" name="explanation-2">
            <a:extLst xmlns:a="http://schemas.openxmlformats.org/drawingml/2006/main">
              <a:ext uri="{FF2B5EF4-FFF2-40B4-BE49-F238E27FC236}">
                <a16:creationId xmlns:a16="http://schemas.microsoft.com/office/drawing/2014/main" id="{8369865A-5178-4738-A614-4D14EF3D1A06}"/>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The bit controller sequences SCL/SDA and observes the bus.</a:t>
            </a:r>
          </a:p>
        </p:txBody>
      </p:sp>
      <p:graphicFrame>
        <p:nvGraphicFramePr>
          <p:cNvPr id="21" name=""/>
          <p:cNvGraphicFramePr/>
          <p:nvPr/>
        </p:nvGraphicFramePr>
        <p:xfrm>
          <a:off xmlns:a="http://schemas.openxmlformats.org/drawingml/2006/main" x="609600" y="2914650"/>
          <a:ext xmlns:a="http://schemas.openxmlformats.org/drawingml/2006/main" cx="10972800" cy="3238500"/>
        </p:xfrm>
        <a:graphic xmlns:a="http://schemas.openxmlformats.org/drawingml/2006/main">
          <a:graphicData uri="http://schemas.openxmlformats.org/drawingml/2006/table">
            <a:tbl>
              <a:tblPr/>
              <a:tblGrid>
                <a:gridCol w="3333750"/>
                <a:gridCol w="7639050"/>
              </a:tblGrid>
              <a:tr h="647700">
                <a:tc>
                  <a:txBody>
                    <a:bodyPr>
                      <a:noAutofit/>
                    </a:bodyPr>
                    <a:lstStyle/>
                    <a:p>
                      <a:r>
                        <a:rPr sz="1650" b="1">
                          <a:solidFill>
                            <a:srgbClr val="EF9529"/>
                          </a:solidFill>
                          <a:latin typeface="Segoe UI"/>
                          <a:ea typeface="Segoe UI"/>
                          <a:cs typeface="Segoe UI"/>
                        </a:rPr>
                        <a:t>Module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Responsibility</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i2c_core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Ports and reset release</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i2c_master_top</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Wishbone registers and status</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i2c_master_byte_ctrl</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Byte shifting and ACK/NACK</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i2c_master_bit_ctrl</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Bit phases, synchronization and stretching</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096542737"/>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24/44</a:t>
            </a:r>
          </a:p>
        </p:txBody>
      </p:sp>
      <p:sp>
        <p:nvSpPr>
          <p:cNvPr id="7" name="lesson-title">
            <a:extLst xmlns:a="http://schemas.openxmlformats.org/drawingml/2006/main">
              <a:ext uri="{FF2B5EF4-FFF2-40B4-BE49-F238E27FC236}">
                <a16:creationId xmlns:a16="http://schemas.microsoft.com/office/drawing/2014/main" id="{1469421D-22DA-4FD9-8EAC-E8367B3F3204}"/>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RTL walkthrough: register reads</a:t>
            </a:r>
          </a:p>
        </p:txBody>
      </p:sp>
      <p:sp>
        <p:nvSpPr>
          <p:cNvPr id="8" name="explanation-0">
            <a:extLst xmlns:a="http://schemas.openxmlformats.org/drawingml/2006/main">
              <a:ext uri="{FF2B5EF4-FFF2-40B4-BE49-F238E27FC236}">
                <a16:creationId xmlns:a16="http://schemas.microsoft.com/office/drawing/2014/main" id="{DFF8ECD5-C5F6-405D-8621-CB949B846AAA}"/>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The same address can name different read and write registers.</a:t>
            </a:r>
          </a:p>
        </p:txBody>
      </p:sp>
      <p:sp>
        <p:nvSpPr>
          <p:cNvPr id="9" name="explanation-1">
            <a:extLst xmlns:a="http://schemas.openxmlformats.org/drawingml/2006/main">
              <a:ext uri="{FF2B5EF4-FFF2-40B4-BE49-F238E27FC236}">
                <a16:creationId xmlns:a16="http://schemas.microsoft.com/office/drawing/2014/main" id="{289CE47C-DB5E-4117-93C7-50CC0B83F328}"/>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Address 3 reads RXR but writes TXR. Address 4 reads status but writes commands.</a:t>
            </a:r>
          </a:p>
        </p:txBody>
      </p:sp>
      <p:sp>
        <p:nvSpPr>
          <p:cNvPr id="10" name="rtl-excerpt">
            <a:extLst xmlns:a="http://schemas.openxmlformats.org/drawingml/2006/main">
              <a:ext uri="{FF2B5EF4-FFF2-40B4-BE49-F238E27FC236}">
                <a16:creationId xmlns:a16="http://schemas.microsoft.com/office/drawing/2014/main" id="{2C2DF435-D921-447B-AFCA-700DDA4FA15E}"/>
              </a:ext>
            </a:extLst>
          </p:cNvPr>
          <p:cNvSpPr>
            <a:spLocks xmlns:a="http://schemas.openxmlformats.org/drawingml/2006/main" noGrp="1"/>
          </p:cNvSpPr>
          <p:nvPr/>
        </p:nvSpPr>
        <p:spPr>
          <a:xfrm xmlns:a="http://schemas.openxmlformats.org/drawingml/2006/main">
            <a:off x="609600" y="2809875"/>
            <a:ext cx="109728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case (wb_adr_i) // synopsys parallel_case</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3'b000: wb_dat_o &lt;= prer[ 7:0];</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3'b001: wb_dat_o &lt;= prer[15:8];</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3'b010: wb_dat_o &lt;= ctr;</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3'b011: wb_dat_o &lt;= rxr; // write is transmit register (txr)</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3'b100: wb_dat_o &lt;= sr;  // write is command register (cr)</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3'b101: wb_dat_o &lt;= txr; // Debug out of TXR</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3'b110: wb_dat_o &lt;= cr;  // Debug out control reg</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3'b111: wb_dat_o &lt;= {1'b0,sladr};   // slave address register</a:t>
            </a:r>
          </a:p>
        </p:txBody>
      </p:sp>
      <p:sp>
        <p:nvSpPr>
          <p:cNvPr id="11" name="rtl-source">
            <a:extLst xmlns:a="http://schemas.openxmlformats.org/drawingml/2006/main">
              <a:ext uri="{FF2B5EF4-FFF2-40B4-BE49-F238E27FC236}">
                <a16:creationId xmlns:a16="http://schemas.microsoft.com/office/drawing/2014/main" id="{1CBBD356-5DDF-4781-962F-B040EB9FAC10}"/>
              </a:ext>
            </a:extLst>
          </p:cNvPr>
          <p:cNvSpPr>
            <a:spLocks xmlns:a="http://schemas.openxmlformats.org/drawingml/2006/main" noGrp="1"/>
          </p:cNvSpPr>
          <p:nvPr/>
        </p:nvSpPr>
        <p:spPr>
          <a:xfrm xmlns:a="http://schemas.openxmlformats.org/drawingml/2006/main">
            <a:off x="609600" y="59531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hw/protocols/i2c/01_rtl/i2c_master_top.v:175</a:t>
            </a:r>
          </a:p>
        </p:txBody>
      </p:sp>
    </p:spTree>
    <p:extLst>
      <p:ext uri="{BB962C8B-B14F-4D97-AF65-F5344CB8AC3E}">
        <p14:creationId xmlns:p14="http://schemas.microsoft.com/office/powerpoint/2010/main" val="109654273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25/44</a:t>
            </a:r>
          </a:p>
        </p:txBody>
      </p:sp>
      <p:sp>
        <p:nvSpPr>
          <p:cNvPr id="7" name="lesson-title">
            <a:extLst xmlns:a="http://schemas.openxmlformats.org/drawingml/2006/main">
              <a:ext uri="{FF2B5EF4-FFF2-40B4-BE49-F238E27FC236}">
                <a16:creationId xmlns:a16="http://schemas.microsoft.com/office/drawing/2014/main" id="{160605A9-2D3D-4BAB-948C-A0489CACA187}"/>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RTL walkthrough: command bits</a:t>
            </a:r>
          </a:p>
        </p:txBody>
      </p:sp>
      <p:sp>
        <p:nvSpPr>
          <p:cNvPr id="8" name="explanation-0">
            <a:extLst xmlns:a="http://schemas.openxmlformats.org/drawingml/2006/main">
              <a:ext uri="{FF2B5EF4-FFF2-40B4-BE49-F238E27FC236}">
                <a16:creationId xmlns:a16="http://schemas.microsoft.com/office/drawing/2014/main" id="{8051F94E-D041-4D11-904E-4762BCD26632}"/>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0x90 requests START plus write. 0x10 requests another write byte.</a:t>
            </a:r>
          </a:p>
        </p:txBody>
      </p:sp>
      <p:sp>
        <p:nvSpPr>
          <p:cNvPr id="9" name="explanation-1">
            <a:extLst xmlns:a="http://schemas.openxmlformats.org/drawingml/2006/main">
              <a:ext uri="{FF2B5EF4-FFF2-40B4-BE49-F238E27FC236}">
                <a16:creationId xmlns:a16="http://schemas.microsoft.com/office/drawing/2014/main" id="{6CF2E5F3-60B0-4D74-A424-09ADBFA58382}"/>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Read commands choose ACK/NACK separately from data direction.</a:t>
            </a:r>
          </a:p>
        </p:txBody>
      </p:sp>
      <p:sp>
        <p:nvSpPr>
          <p:cNvPr id="10" name="rtl-excerpt">
            <a:extLst xmlns:a="http://schemas.openxmlformats.org/drawingml/2006/main">
              <a:ext uri="{FF2B5EF4-FFF2-40B4-BE49-F238E27FC236}">
                <a16:creationId xmlns:a16="http://schemas.microsoft.com/office/drawing/2014/main" id="{14EF748A-DA88-453F-A239-E5193F05B46D}"/>
              </a:ext>
            </a:extLst>
          </p:cNvPr>
          <p:cNvSpPr>
            <a:spLocks xmlns:a="http://schemas.openxmlformats.org/drawingml/2006/main" noGrp="1"/>
          </p:cNvSpPr>
          <p:nvPr/>
        </p:nvSpPr>
        <p:spPr>
          <a:xfrm xmlns:a="http://schemas.openxmlformats.org/drawingml/2006/main">
            <a:off x="609600" y="2809875"/>
            <a:ext cx="109728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wire sta  = cr[7];</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wire sto  = cr[6];</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wire rd   = cr[5];</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wire wr   = cr[4];</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wire ack  = cr[3];</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wire sl_cont = cr[1];</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wire iack = cr[0];</a:t>
            </a:r>
          </a:p>
        </p:txBody>
      </p:sp>
      <p:sp>
        <p:nvSpPr>
          <p:cNvPr id="11" name="rtl-source">
            <a:extLst xmlns:a="http://schemas.openxmlformats.org/drawingml/2006/main">
              <a:ext uri="{FF2B5EF4-FFF2-40B4-BE49-F238E27FC236}">
                <a16:creationId xmlns:a16="http://schemas.microsoft.com/office/drawing/2014/main" id="{44BDD39E-55DE-4FB3-8DAB-C7EAB682A760}"/>
              </a:ext>
            </a:extLst>
          </p:cNvPr>
          <p:cNvSpPr>
            <a:spLocks xmlns:a="http://schemas.openxmlformats.org/drawingml/2006/main" noGrp="1"/>
          </p:cNvSpPr>
          <p:nvPr/>
        </p:nvSpPr>
        <p:spPr>
          <a:xfrm xmlns:a="http://schemas.openxmlformats.org/drawingml/2006/main">
            <a:off x="609600" y="59531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hw/protocols/i2c/01_rtl/i2c_master_top.v:237</a:t>
            </a:r>
          </a:p>
        </p:txBody>
      </p:sp>
    </p:spTree>
    <p:extLst>
      <p:ext uri="{BB962C8B-B14F-4D97-AF65-F5344CB8AC3E}">
        <p14:creationId xmlns:p14="http://schemas.microsoft.com/office/powerpoint/2010/main" val="109654273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26/44</a:t>
            </a:r>
          </a:p>
        </p:txBody>
      </p:sp>
      <p:sp>
        <p:nvSpPr>
          <p:cNvPr id="7" name="lesson-title">
            <a:extLst xmlns:a="http://schemas.openxmlformats.org/drawingml/2006/main">
              <a:ext uri="{FF2B5EF4-FFF2-40B4-BE49-F238E27FC236}">
                <a16:creationId xmlns:a16="http://schemas.microsoft.com/office/drawing/2014/main" id="{BC476E5A-A2EB-4F83-BF83-652B53844E9A}"/>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Reset and pad integration</a:t>
            </a:r>
          </a:p>
        </p:txBody>
      </p:sp>
      <p:sp>
        <p:nvSpPr>
          <p:cNvPr id="8" name="explanation-0">
            <a:extLst xmlns:a="http://schemas.openxmlformats.org/drawingml/2006/main">
              <a:ext uri="{FF2B5EF4-FFF2-40B4-BE49-F238E27FC236}">
                <a16:creationId xmlns:a16="http://schemas.microsoft.com/office/drawing/2014/main" id="{B70815DF-7F60-47D9-8F44-686ECB0815FE}"/>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Default external asynchronous reset is active low.</a:t>
            </a:r>
          </a:p>
        </p:txBody>
      </p:sp>
      <p:sp>
        <p:nvSpPr>
          <p:cNvPr id="9" name="explanation-1">
            <a:extLst xmlns:a="http://schemas.openxmlformats.org/drawingml/2006/main">
              <a:ext uri="{FF2B5EF4-FFF2-40B4-BE49-F238E27FC236}">
                <a16:creationId xmlns:a16="http://schemas.microsoft.com/office/drawing/2014/main" id="{F1F5F6ED-C6BD-4657-81F8-F4CBEB3E4E9B}"/>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wrapper asserts reset asynchronously and releases it through two flops.</a:t>
            </a:r>
          </a:p>
        </p:txBody>
      </p:sp>
      <p:sp>
        <p:nvSpPr>
          <p:cNvPr id="10" name="explanation-2">
            <a:extLst xmlns:a="http://schemas.openxmlformats.org/drawingml/2006/main">
              <a:ext uri="{FF2B5EF4-FFF2-40B4-BE49-F238E27FC236}">
                <a16:creationId xmlns:a16="http://schemas.microsoft.com/office/drawing/2014/main" id="{0B4177B4-BABC-4CD9-B458-9C74EAE255A2}"/>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Separate pad inputs and enables preserve shared-bus behaviour.</a:t>
            </a:r>
          </a:p>
        </p:txBody>
      </p:sp>
    </p:spTree>
    <p:extLst>
      <p:ext uri="{BB962C8B-B14F-4D97-AF65-F5344CB8AC3E}">
        <p14:creationId xmlns:p14="http://schemas.microsoft.com/office/powerpoint/2010/main" val="1096542737"/>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27/44</a:t>
            </a:r>
          </a:p>
        </p:txBody>
      </p:sp>
      <p:sp>
        <p:nvSpPr>
          <p:cNvPr id="7" name="lesson-title">
            <a:extLst xmlns:a="http://schemas.openxmlformats.org/drawingml/2006/main">
              <a:ext uri="{FF2B5EF4-FFF2-40B4-BE49-F238E27FC236}">
                <a16:creationId xmlns:a16="http://schemas.microsoft.com/office/drawing/2014/main" id="{EF5916EC-AD0A-4CF8-A241-5C9E87417A62}"/>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RTL walkthrough: reset release</a:t>
            </a:r>
          </a:p>
        </p:txBody>
      </p:sp>
      <p:sp>
        <p:nvSpPr>
          <p:cNvPr id="8" name="explanation-0">
            <a:extLst xmlns:a="http://schemas.openxmlformats.org/drawingml/2006/main">
              <a:ext uri="{FF2B5EF4-FFF2-40B4-BE49-F238E27FC236}">
                <a16:creationId xmlns:a16="http://schemas.microsoft.com/office/drawing/2014/main" id="{236665B8-4814-4CF6-9FF0-5FA666284D72}"/>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Assertion is asynchronous. Release requires two wb_clk_i edges.</a:t>
            </a:r>
          </a:p>
        </p:txBody>
      </p:sp>
      <p:sp>
        <p:nvSpPr>
          <p:cNvPr id="9" name="explanation-1">
            <a:extLst xmlns:a="http://schemas.openxmlformats.org/drawingml/2006/main">
              <a:ext uri="{FF2B5EF4-FFF2-40B4-BE49-F238E27FC236}">
                <a16:creationId xmlns:a16="http://schemas.microsoft.com/office/drawing/2014/main" id="{B6099CF3-5903-4410-8563-DE37277B7142}"/>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Default ARST_LVL=0 means arst_i is active low.</a:t>
            </a:r>
          </a:p>
        </p:txBody>
      </p:sp>
      <p:sp>
        <p:nvSpPr>
          <p:cNvPr id="10" name="rtl-excerpt">
            <a:extLst xmlns:a="http://schemas.openxmlformats.org/drawingml/2006/main">
              <a:ext uri="{FF2B5EF4-FFF2-40B4-BE49-F238E27FC236}">
                <a16:creationId xmlns:a16="http://schemas.microsoft.com/office/drawing/2014/main" id="{0F970B7A-B867-4D1B-A204-A87862FE1625}"/>
              </a:ext>
            </a:extLst>
          </p:cNvPr>
          <p:cNvSpPr>
            <a:spLocks xmlns:a="http://schemas.openxmlformats.org/drawingml/2006/main" noGrp="1"/>
          </p:cNvSpPr>
          <p:nvPr/>
        </p:nvSpPr>
        <p:spPr>
          <a:xfrm xmlns:a="http://schemas.openxmlformats.org/drawingml/2006/main">
            <a:off x="609600" y="2809875"/>
            <a:ext cx="109728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wire reset_n = arst_i ^ ARST_LVL;</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async_reg = "true" *) reg [1:0] reset_release;</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always @(posedge wb_clk_i or negedge reset_n)</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if (!reset_n) reset_release &lt;= 2'b00;</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else reset_release &lt;= {reset_release[0], 1'b1};</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i2c_master_top #(.ARST_LVL(1'b0)) controller (</a:t>
            </a:r>
          </a:p>
        </p:txBody>
      </p:sp>
      <p:sp>
        <p:nvSpPr>
          <p:cNvPr id="11" name="rtl-source">
            <a:extLst xmlns:a="http://schemas.openxmlformats.org/drawingml/2006/main">
              <a:ext uri="{FF2B5EF4-FFF2-40B4-BE49-F238E27FC236}">
                <a16:creationId xmlns:a16="http://schemas.microsoft.com/office/drawing/2014/main" id="{056018EC-3518-4A43-8DD4-5E6E6CE58F14}"/>
              </a:ext>
            </a:extLst>
          </p:cNvPr>
          <p:cNvSpPr>
            <a:spLocks xmlns:a="http://schemas.openxmlformats.org/drawingml/2006/main" noGrp="1"/>
          </p:cNvSpPr>
          <p:nvPr/>
        </p:nvSpPr>
        <p:spPr>
          <a:xfrm xmlns:a="http://schemas.openxmlformats.org/drawingml/2006/main">
            <a:off x="609600" y="59531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hw/protocols/i2c/01_rtl/i2c_core.v:23</a:t>
            </a:r>
          </a:p>
        </p:txBody>
      </p:sp>
    </p:spTree>
    <p:extLst>
      <p:ext uri="{BB962C8B-B14F-4D97-AF65-F5344CB8AC3E}">
        <p14:creationId xmlns:p14="http://schemas.microsoft.com/office/powerpoint/2010/main" val="109654273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28/44</a:t>
            </a:r>
          </a:p>
        </p:txBody>
      </p:sp>
      <p:sp>
        <p:nvSpPr>
          <p:cNvPr id="7" name="lesson-title">
            <a:extLst xmlns:a="http://schemas.openxmlformats.org/drawingml/2006/main">
              <a:ext uri="{FF2B5EF4-FFF2-40B4-BE49-F238E27FC236}">
                <a16:creationId xmlns:a16="http://schemas.microsoft.com/office/drawing/2014/main" id="{A1D46F12-5140-4288-ABC5-994E6BE91FA7}"/>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What the I2C regression proves</a:t>
            </a:r>
          </a:p>
        </p:txBody>
      </p:sp>
      <p:sp>
        <p:nvSpPr>
          <p:cNvPr id="8" name="explanation-0">
            <a:extLst xmlns:a="http://schemas.openxmlformats.org/drawingml/2006/main">
              <a:ext uri="{FF2B5EF4-FFF2-40B4-BE49-F238E27FC236}">
                <a16:creationId xmlns:a16="http://schemas.microsoft.com/office/drawing/2014/main" id="{B70DD23E-B990-452A-8758-CA9FD0F5FB67}"/>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Register access and checked A5/5A write/read results pass.</a:t>
            </a:r>
          </a:p>
        </p:txBody>
      </p:sp>
      <p:sp>
        <p:nvSpPr>
          <p:cNvPr id="9" name="explanation-1">
            <a:extLst xmlns:a="http://schemas.openxmlformats.org/drawingml/2006/main">
              <a:ext uri="{FF2B5EF4-FFF2-40B4-BE49-F238E27FC236}">
                <a16:creationId xmlns:a16="http://schemas.microsoft.com/office/drawing/2014/main" id="{BD09BCBE-6205-472D-9A3B-77D872AEF120}"/>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An invalid address produces the expected NACK.</a:t>
            </a:r>
          </a:p>
        </p:txBody>
      </p:sp>
      <p:sp>
        <p:nvSpPr>
          <p:cNvPr id="10" name="explanation-2">
            <a:extLst xmlns:a="http://schemas.openxmlformats.org/drawingml/2006/main">
              <a:ext uri="{FF2B5EF4-FFF2-40B4-BE49-F238E27FC236}">
                <a16:creationId xmlns:a16="http://schemas.microsoft.com/office/drawing/2014/main" id="{CCDBD50C-419A-4312-B09A-0BA8C8CC80D7}"/>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Independent injected A5 and 5A mismatches both fail.</a:t>
            </a:r>
          </a:p>
        </p:txBody>
      </p:sp>
    </p:spTree>
    <p:extLst>
      <p:ext uri="{BB962C8B-B14F-4D97-AF65-F5344CB8AC3E}">
        <p14:creationId xmlns:p14="http://schemas.microsoft.com/office/powerpoint/2010/main" val="1096542737"/>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29/44</a:t>
            </a:r>
          </a:p>
        </p:txBody>
      </p:sp>
      <p:sp>
        <p:nvSpPr>
          <p:cNvPr id="7" name="lesson-title">
            <a:extLst xmlns:a="http://schemas.openxmlformats.org/drawingml/2006/main">
              <a:ext uri="{FF2B5EF4-FFF2-40B4-BE49-F238E27FC236}">
                <a16:creationId xmlns:a16="http://schemas.microsoft.com/office/drawing/2014/main" id="{2D7060F0-CE2C-4BB3-A03D-396CCD0B961F}"/>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Measured I2C trace: address and ACK</a:t>
            </a:r>
          </a:p>
        </p:txBody>
      </p:sp>
      <p:sp>
        <p:nvSpPr>
          <p:cNvPr id="8" name="explanation-0">
            <a:extLst xmlns:a="http://schemas.openxmlformats.org/drawingml/2006/main">
              <a:ext uri="{FF2B5EF4-FFF2-40B4-BE49-F238E27FC236}">
                <a16:creationId xmlns:a16="http://schemas.microsoft.com/office/drawing/2014/main" id="{060BCF41-D85C-42E1-AF20-39BC09513319}"/>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Actual positive regression, target 0x10, write address byte 0x20.</a:t>
            </a:r>
          </a:p>
        </p:txBody>
      </p:sp>
      <p:sp>
        <p:nvSpPr>
          <p:cNvPr id="9" name="explanation-1">
            <a:extLst xmlns:a="http://schemas.openxmlformats.org/drawingml/2006/main">
              <a:ext uri="{FF2B5EF4-FFF2-40B4-BE49-F238E27FC236}">
                <a16:creationId xmlns:a16="http://schemas.microsoft.com/office/drawing/2014/main" id="{68B343C2-1E72-439B-A51A-9D63536F3E74}"/>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Measured period 10.71 us (93.371 kHz); nominal divider gives 10.05 us.</a:t>
            </a:r>
          </a:p>
        </p:txBody>
      </p:sp>
      <p:graphicFrame>
        <p:nvGraphicFramePr>
          <p:cNvPr id="21" name="Chart"/>
          <p:cNvGraphicFramePr/>
          <p:nvPr/>
        </p:nvGraphicFramePr>
        <p:xfrm>
          <a:off xmlns:a="http://schemas.openxmlformats.org/drawingml/2006/main" x="609600" y="2381250"/>
          <a:ext xmlns:a="http://schemas.openxmlformats.org/drawingml/2006/main" cx="10972800" cy="1476375"/>
        </p:xfrm>
        <a:graphic xmlns:a="http://schemas.openxmlformats.org/drawingml/2006/main">
          <a:graphicData uri="http://schemas.openxmlformats.org/drawingml/2006/chart">
            <c:chart xmlns:r="http://schemas.openxmlformats.org/officeDocument/2006/relationships" xmlns:c="http://schemas.openxmlformats.org/drawingml/2006/chart" r:id="R506c817559144718"/>
          </a:graphicData>
        </a:graphic>
      </p:graphicFrame>
      <p:graphicFrame>
        <p:nvGraphicFramePr>
          <p:cNvPr id="22" name="Chart"/>
          <p:cNvGraphicFramePr/>
          <p:nvPr/>
        </p:nvGraphicFramePr>
        <p:xfrm>
          <a:off xmlns:a="http://schemas.openxmlformats.org/drawingml/2006/main" x="609600" y="3857625"/>
          <a:ext xmlns:a="http://schemas.openxmlformats.org/drawingml/2006/main" cx="10972800" cy="1952625"/>
        </p:xfrm>
        <a:graphic xmlns:a="http://schemas.openxmlformats.org/drawingml/2006/main">
          <a:graphicData uri="http://schemas.openxmlformats.org/drawingml/2006/chart">
            <c:chart xmlns:r="http://schemas.openxmlformats.org/officeDocument/2006/relationships" xmlns:c="http://schemas.openxmlformats.org/drawingml/2006/chart" r:id="Rb54442b8b56f4f02"/>
          </a:graphicData>
        </a:graphic>
      </p:graphicFrame>
      <p:sp>
        <p:nvSpPr>
          <p:cNvPr id="12" name="trace-kind">
            <a:extLst xmlns:a="http://schemas.openxmlformats.org/drawingml/2006/main">
              <a:ext uri="{FF2B5EF4-FFF2-40B4-BE49-F238E27FC236}">
                <a16:creationId xmlns:a16="http://schemas.microsoft.com/office/drawing/2014/main" id="{7E65145E-A321-4DC5-AC08-19E29F6F9703}"/>
              </a:ext>
            </a:extLst>
          </p:cNvPr>
          <p:cNvSpPr>
            <a:spLocks xmlns:a="http://schemas.openxmlformats.org/drawingml/2006/main" noGrp="1"/>
          </p:cNvSpPr>
          <p:nvPr/>
        </p:nvSpPr>
        <p:spPr>
          <a:xfrm xmlns:a="http://schemas.openxmlformats.org/drawingml/2006/main">
            <a:off x="609600" y="60007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Logic levels: HIGH=1, LOW=0. MEASURED: positive Icarus regression</a:t>
            </a:r>
          </a:p>
        </p:txBody>
      </p:sp>
    </p:spTree>
    <p:extLst>
      <p:ext uri="{BB962C8B-B14F-4D97-AF65-F5344CB8AC3E}">
        <p14:creationId xmlns:p14="http://schemas.microsoft.com/office/powerpoint/2010/main" val="1096542737"/>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30/44</a:t>
            </a:r>
          </a:p>
        </p:txBody>
      </p:sp>
      <p:sp>
        <p:nvSpPr>
          <p:cNvPr id="7" name="lesson-title">
            <a:extLst xmlns:a="http://schemas.openxmlformats.org/drawingml/2006/main">
              <a:ext uri="{FF2B5EF4-FFF2-40B4-BE49-F238E27FC236}">
                <a16:creationId xmlns:a16="http://schemas.microsoft.com/office/drawing/2014/main" id="{46A89646-E3D5-41A7-B6B4-94F84D5EDD26}"/>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Fault diagnosis: observations first</a:t>
            </a:r>
          </a:p>
        </p:txBody>
      </p:sp>
      <p:sp>
        <p:nvSpPr>
          <p:cNvPr id="8" name="explanation-0">
            <a:extLst xmlns:a="http://schemas.openxmlformats.org/drawingml/2006/main">
              <a:ext uri="{FF2B5EF4-FFF2-40B4-BE49-F238E27FC236}">
                <a16:creationId xmlns:a16="http://schemas.microsoft.com/office/drawing/2014/main" id="{F162396C-2ED6-42E5-B95A-3C60B184C8FF}"/>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An ACK failure and a stuck bus have different causes.</a:t>
            </a:r>
          </a:p>
        </p:txBody>
      </p:sp>
      <p:sp>
        <p:nvSpPr>
          <p:cNvPr id="9" name="explanation-1">
            <a:extLst xmlns:a="http://schemas.openxmlformats.org/drawingml/2006/main">
              <a:ext uri="{FF2B5EF4-FFF2-40B4-BE49-F238E27FC236}">
                <a16:creationId xmlns:a16="http://schemas.microsoft.com/office/drawing/2014/main" id="{D90E5A5C-363D-401B-A479-756B88138C9F}"/>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The current test proves selected functional cases, not every recovery policy.</a:t>
            </a:r>
          </a:p>
        </p:txBody>
      </p:sp>
      <p:graphicFrame>
        <p:nvGraphicFramePr>
          <p:cNvPr id="19" name=""/>
          <p:cNvGraphicFramePr/>
          <p:nvPr/>
        </p:nvGraphicFramePr>
        <p:xfrm>
          <a:off xmlns:a="http://schemas.openxmlformats.org/drawingml/2006/main" x="609600" y="2914650"/>
          <a:ext xmlns:a="http://schemas.openxmlformats.org/drawingml/2006/main" cx="10972800" cy="3238500"/>
        </p:xfrm>
        <a:graphic xmlns:a="http://schemas.openxmlformats.org/drawingml/2006/main">
          <a:graphicData uri="http://schemas.openxmlformats.org/drawingml/2006/table">
            <a:tbl>
              <a:tblPr/>
              <a:tblGrid>
                <a:gridCol w="3333750"/>
                <a:gridCol w="7639050"/>
              </a:tblGrid>
              <a:tr h="647700">
                <a:tc>
                  <a:txBody>
                    <a:bodyPr>
                      <a:noAutofit/>
                    </a:bodyPr>
                    <a:lstStyle/>
                    <a:p>
                      <a:r>
                        <a:rPr sz="1650" b="1">
                          <a:solidFill>
                            <a:srgbClr val="EF9529"/>
                          </a:solidFill>
                          <a:latin typeface="Segoe UI"/>
                          <a:ea typeface="Segoe UI"/>
                          <a:cs typeface="Segoe UI"/>
                        </a:rPr>
                        <a:t>Observation</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First checks</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Address NACK</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7-bit address, shifted byte, target reset/power</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SDA stuck low</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Pad enable polarity, wiring, target state</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SCL never rises</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Stretching target, pull-up, output enable</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Wrong data at ACK bit</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SDA ownership changes too late</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096542737"/>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31/44</a:t>
            </a:r>
          </a:p>
        </p:txBody>
      </p:sp>
      <p:sp>
        <p:nvSpPr>
          <p:cNvPr id="7" name="lesson-title">
            <a:extLst xmlns:a="http://schemas.openxmlformats.org/drawingml/2006/main">
              <a:ext uri="{FF2B5EF4-FFF2-40B4-BE49-F238E27FC236}">
                <a16:creationId xmlns:a16="http://schemas.microsoft.com/office/drawing/2014/main" id="{D91AEB8D-688E-45FD-ACDC-EB0E2351DE3F}"/>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Guided lab: register-read prediction</a:t>
            </a:r>
          </a:p>
        </p:txBody>
      </p:sp>
      <p:sp>
        <p:nvSpPr>
          <p:cNvPr id="8" name="explanation-0">
            <a:extLst xmlns:a="http://schemas.openxmlformats.org/drawingml/2006/main">
              <a:ext uri="{FF2B5EF4-FFF2-40B4-BE49-F238E27FC236}">
                <a16:creationId xmlns:a16="http://schemas.microsoft.com/office/drawing/2014/main" id="{B7A0818C-B69C-4441-A829-097702613026}"/>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Before running: decode A0, 01, A1, A5 and their senders.</a:t>
            </a:r>
          </a:p>
        </p:txBody>
      </p:sp>
      <p:sp>
        <p:nvSpPr>
          <p:cNvPr id="9" name="explanation-1">
            <a:extLst xmlns:a="http://schemas.openxmlformats.org/drawingml/2006/main">
              <a:ext uri="{FF2B5EF4-FFF2-40B4-BE49-F238E27FC236}">
                <a16:creationId xmlns:a16="http://schemas.microsoft.com/office/drawing/2014/main" id="{0C5A7470-1DB3-44FA-9991-43F77BBE1276}"/>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At 100 kHz, predict the minimum byte-clock time.</a:t>
            </a:r>
          </a:p>
        </p:txBody>
      </p:sp>
      <p:sp>
        <p:nvSpPr>
          <p:cNvPr id="10" name="explanation-2">
            <a:extLst xmlns:a="http://schemas.openxmlformats.org/drawingml/2006/main">
              <a:ext uri="{FF2B5EF4-FFF2-40B4-BE49-F238E27FC236}">
                <a16:creationId xmlns:a16="http://schemas.microsoft.com/office/drawing/2014/main" id="{0AADEC8E-66E2-4395-82A8-E0E5DB64997B}"/>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In the real test, locate PRER=0x00C8 and the fatal negative controls.</a:t>
            </a:r>
          </a:p>
        </p:txBody>
      </p:sp>
    </p:spTree>
    <p:extLst>
      <p:ext uri="{BB962C8B-B14F-4D97-AF65-F5344CB8AC3E}">
        <p14:creationId xmlns:p14="http://schemas.microsoft.com/office/powerpoint/2010/main" val="1096542737"/>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32/44</a:t>
            </a:r>
          </a:p>
        </p:txBody>
      </p:sp>
      <p:sp>
        <p:nvSpPr>
          <p:cNvPr id="7" name="lesson-title">
            <a:extLst xmlns:a="http://schemas.openxmlformats.org/drawingml/2006/main">
              <a:ext uri="{FF2B5EF4-FFF2-40B4-BE49-F238E27FC236}">
                <a16:creationId xmlns:a16="http://schemas.microsoft.com/office/drawing/2014/main" id="{E5FB6A51-1160-4292-A6F3-F7DFDF1DB1DF}"/>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Lab solution: read sequence and timing</a:t>
            </a:r>
          </a:p>
        </p:txBody>
      </p:sp>
      <p:sp>
        <p:nvSpPr>
          <p:cNvPr id="8" name="explanation-0">
            <a:extLst xmlns:a="http://schemas.openxmlformats.org/drawingml/2006/main">
              <a:ext uri="{FF2B5EF4-FFF2-40B4-BE49-F238E27FC236}">
                <a16:creationId xmlns:a16="http://schemas.microsoft.com/office/drawing/2014/main" id="{B5EB7AE4-65E6-401D-9BE2-5AE94CECDEBD}"/>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A0 selects target 0x50 for write. 01 selects its register.</a:t>
            </a:r>
          </a:p>
        </p:txBody>
      </p:sp>
      <p:sp>
        <p:nvSpPr>
          <p:cNvPr id="9" name="explanation-1">
            <a:extLst xmlns:a="http://schemas.openxmlformats.org/drawingml/2006/main">
              <a:ext uri="{FF2B5EF4-FFF2-40B4-BE49-F238E27FC236}">
                <a16:creationId xmlns:a16="http://schemas.microsoft.com/office/drawing/2014/main" id="{27A9A9CA-1D68-461F-A6BC-B099A5689A0A}"/>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A1 selects that target for read. Target sends A5, controller sends NACK.</a:t>
            </a:r>
          </a:p>
        </p:txBody>
      </p:sp>
      <p:sp>
        <p:nvSpPr>
          <p:cNvPr id="10" name="explanation-2">
            <a:extLst xmlns:a="http://schemas.openxmlformats.org/drawingml/2006/main">
              <a:ext uri="{FF2B5EF4-FFF2-40B4-BE49-F238E27FC236}">
                <a16:creationId xmlns:a16="http://schemas.microsoft.com/office/drawing/2014/main" id="{354D91A2-F7E0-442C-8D49-8921E4A7AB0B}"/>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4 bytes x 9 pulses = 36 pulses, or 360 us at 100 kHz.</a:t>
            </a:r>
          </a:p>
        </p:txBody>
      </p:sp>
    </p:spTree>
    <p:extLst>
      <p:ext uri="{BB962C8B-B14F-4D97-AF65-F5344CB8AC3E}">
        <p14:creationId xmlns:p14="http://schemas.microsoft.com/office/powerpoint/2010/main" val="1096542737"/>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33/44</a:t>
            </a:r>
          </a:p>
        </p:txBody>
      </p:sp>
      <p:sp>
        <p:nvSpPr>
          <p:cNvPr id="7" name="lesson-title">
            <a:extLst xmlns:a="http://schemas.openxmlformats.org/drawingml/2006/main">
              <a:ext uri="{FF2B5EF4-FFF2-40B4-BE49-F238E27FC236}">
                <a16:creationId xmlns:a16="http://schemas.microsoft.com/office/drawing/2014/main" id="{82B2CAEA-1311-4B32-B73E-59719C2668FA}"/>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Lab solution: evidence navigation</a:t>
            </a:r>
          </a:p>
        </p:txBody>
      </p:sp>
      <p:sp>
        <p:nvSpPr>
          <p:cNvPr id="8" name="explanation-0">
            <a:extLst xmlns:a="http://schemas.openxmlformats.org/drawingml/2006/main">
              <a:ext uri="{FF2B5EF4-FFF2-40B4-BE49-F238E27FC236}">
                <a16:creationId xmlns:a16="http://schemas.microsoft.com/office/drawing/2014/main" id="{B980BFAB-4F42-474A-8C54-E6F626C5DF1B}"/>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02_sim/test.v defines the transaction and checks A5/5A.</a:t>
            </a:r>
          </a:p>
        </p:txBody>
      </p:sp>
      <p:sp>
        <p:nvSpPr>
          <p:cNvPr id="9" name="explanation-1">
            <a:extLst xmlns:a="http://schemas.openxmlformats.org/drawingml/2006/main">
              <a:ext uri="{FF2B5EF4-FFF2-40B4-BE49-F238E27FC236}">
                <a16:creationId xmlns:a16="http://schemas.microsoft.com/office/drawing/2014/main" id="{3151AE05-94B1-4D6C-80F4-D41DD196044F}"/>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negative_control.log and negative_control_5a.log must contain FATAL.</a:t>
            </a:r>
          </a:p>
        </p:txBody>
      </p:sp>
      <p:sp>
        <p:nvSpPr>
          <p:cNvPr id="10" name="explanation-2">
            <a:extLst xmlns:a="http://schemas.openxmlformats.org/drawingml/2006/main">
              <a:ext uri="{FF2B5EF4-FFF2-40B4-BE49-F238E27FC236}">
                <a16:creationId xmlns:a16="http://schemas.microsoft.com/office/drawing/2014/main" id="{7593AC20-910D-4A4B-8ED9-415D73D33DC9}"/>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08_sta separates setup/hold evidence from the protocol-level test.</a:t>
            </a:r>
          </a:p>
        </p:txBody>
      </p:sp>
    </p:spTree>
    <p:extLst>
      <p:ext uri="{BB962C8B-B14F-4D97-AF65-F5344CB8AC3E}">
        <p14:creationId xmlns:p14="http://schemas.microsoft.com/office/powerpoint/2010/main" val="1096542737"/>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34/44</a:t>
            </a:r>
          </a:p>
        </p:txBody>
      </p:sp>
      <p:sp>
        <p:nvSpPr>
          <p:cNvPr id="7" name="lesson-title">
            <a:extLst xmlns:a="http://schemas.openxmlformats.org/drawingml/2006/main">
              <a:ext uri="{FF2B5EF4-FFF2-40B4-BE49-F238E27FC236}">
                <a16:creationId xmlns:a16="http://schemas.microsoft.com/office/drawing/2014/main" id="{91739A86-D251-4346-A4C7-A98C99EB1FCB}"/>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Bit-controller FSM: a write-bit operation</a:t>
            </a:r>
          </a:p>
        </p:txBody>
      </p:sp>
      <p:sp>
        <p:nvSpPr>
          <p:cNvPr id="8" name="explanation-0">
            <a:extLst xmlns:a="http://schemas.openxmlformats.org/drawingml/2006/main">
              <a:ext uri="{FF2B5EF4-FFF2-40B4-BE49-F238E27FC236}">
                <a16:creationId xmlns:a16="http://schemas.microsoft.com/office/drawing/2014/main" id="{3DF17726-B6FD-4AFB-A9BD-CEF001E1EA91}"/>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Actual c_state sequence: wr_a, wr_b, wr_c, wr_d, then idle.</a:t>
            </a:r>
          </a:p>
        </p:txBody>
      </p:sp>
      <p:sp>
        <p:nvSpPr>
          <p:cNvPr id="9" name="explanation-1">
            <a:extLst xmlns:a="http://schemas.openxmlformats.org/drawingml/2006/main">
              <a:ext uri="{FF2B5EF4-FFF2-40B4-BE49-F238E27FC236}">
                <a16:creationId xmlns:a16="http://schemas.microsoft.com/office/drawing/2014/main" id="{A2AD24AF-AB64-419F-9B18-059CC3E7788E}"/>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A released SCL output still depends on the observed bus, allowing stretching.</a:t>
            </a:r>
          </a:p>
        </p:txBody>
      </p:sp>
      <p:graphicFrame>
        <p:nvGraphicFramePr>
          <p:cNvPr id="19" name=""/>
          <p:cNvGraphicFramePr/>
          <p:nvPr/>
        </p:nvGraphicFramePr>
        <p:xfrm>
          <a:off xmlns:a="http://schemas.openxmlformats.org/drawingml/2006/main" x="609600" y="2914650"/>
          <a:ext xmlns:a="http://schemas.openxmlformats.org/drawingml/2006/main" cx="10972800" cy="3429000"/>
        </p:xfrm>
        <a:graphic xmlns:a="http://schemas.openxmlformats.org/drawingml/2006/main">
          <a:graphicData uri="http://schemas.openxmlformats.org/drawingml/2006/table">
            <a:tbl>
              <a:tblPr/>
              <a:tblGrid>
                <a:gridCol w="3657600"/>
                <a:gridCol w="3657600"/>
                <a:gridCol w="3657600"/>
              </a:tblGrid>
              <a:tr h="571500">
                <a:tc>
                  <a:txBody>
                    <a:bodyPr>
                      <a:noAutofit/>
                    </a:bodyPr>
                    <a:lstStyle/>
                    <a:p>
                      <a:r>
                        <a:rPr sz="1650" b="1">
                          <a:solidFill>
                            <a:srgbClr val="EF9529"/>
                          </a:solidFill>
                          <a:latin typeface="Segoe UI"/>
                          <a:ea typeface="Segoe UI"/>
                          <a:cs typeface="Segoe UI"/>
                        </a:rPr>
                        <a:t>State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SCL action</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SDA action</a:t>
                      </a:r>
                    </a:p>
                  </a:txBody>
                  <a:tcPr marL="91440" marR="91440" marT="45720" marB="45720">
                    <a:solidFill>
                      <a:srgbClr val="24242B"/>
                    </a:solidFill>
                  </a:tcPr>
                </a:tc>
              </a:tr>
              <a:tr h="571500">
                <a:tc>
                  <a:txBody>
                    <a:bodyPr>
                      <a:noAutofit/>
                    </a:bodyPr>
                    <a:lstStyle/>
                    <a:p>
                      <a:r>
                        <a:rPr sz="1650" b="0">
                          <a:solidFill>
                            <a:srgbClr val="EDEDED"/>
                          </a:solidFill>
                          <a:latin typeface="Segoe UI"/>
                          <a:ea typeface="Segoe UI"/>
                          <a:cs typeface="Segoe UI"/>
                        </a:rPr>
                        <a:t>wr_a</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Pull low</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Set current data bit</a:t>
                      </a:r>
                    </a:p>
                  </a:txBody>
                  <a:tcPr marL="91440" marR="91440" marT="45720" marB="45720">
                    <a:solidFill>
                      <a:srgbClr val="16161A"/>
                    </a:solidFill>
                  </a:tcPr>
                </a:tc>
              </a:tr>
              <a:tr h="571500">
                <a:tc>
                  <a:txBody>
                    <a:bodyPr>
                      <a:noAutofit/>
                    </a:bodyPr>
                    <a:lstStyle/>
                    <a:p>
                      <a:r>
                        <a:rPr sz="1650" b="0">
                          <a:solidFill>
                            <a:srgbClr val="EDEDED"/>
                          </a:solidFill>
                          <a:latin typeface="Segoe UI"/>
                          <a:ea typeface="Segoe UI"/>
                          <a:cs typeface="Segoe UI"/>
                        </a:rPr>
                        <a:t>wr_b</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Release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Keep data, allow settling</a:t>
                      </a:r>
                    </a:p>
                  </a:txBody>
                  <a:tcPr marL="91440" marR="91440" marT="45720" marB="45720">
                    <a:solidFill>
                      <a:srgbClr val="16161A"/>
                    </a:solidFill>
                  </a:tcPr>
                </a:tc>
              </a:tr>
              <a:tr h="571500">
                <a:tc>
                  <a:txBody>
                    <a:bodyPr>
                      <a:noAutofit/>
                    </a:bodyPr>
                    <a:lstStyle/>
                    <a:p>
                      <a:r>
                        <a:rPr sz="1650" b="0">
                          <a:solidFill>
                            <a:srgbClr val="EDEDED"/>
                          </a:solidFill>
                          <a:latin typeface="Segoe UI"/>
                          <a:ea typeface="Segoe UI"/>
                          <a:cs typeface="Segoe UI"/>
                        </a:rPr>
                        <a:t>wr_c</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Remain released</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Keep data, enable bus check</a:t>
                      </a:r>
                    </a:p>
                  </a:txBody>
                  <a:tcPr marL="91440" marR="91440" marT="45720" marB="45720">
                    <a:solidFill>
                      <a:srgbClr val="16161A"/>
                    </a:solidFill>
                  </a:tcPr>
                </a:tc>
              </a:tr>
              <a:tr h="571500">
                <a:tc>
                  <a:txBody>
                    <a:bodyPr>
                      <a:noAutofit/>
                    </a:bodyPr>
                    <a:lstStyle/>
                    <a:p>
                      <a:r>
                        <a:rPr sz="1650" b="0">
                          <a:solidFill>
                            <a:srgbClr val="EDEDED"/>
                          </a:solidFill>
                          <a:latin typeface="Segoe UI"/>
                          <a:ea typeface="Segoe UI"/>
                          <a:cs typeface="Segoe UI"/>
                        </a:rPr>
                        <a:t>wr_d</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Pull low</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Keep data, acknowledge bit command</a:t>
                      </a:r>
                    </a:p>
                  </a:txBody>
                  <a:tcPr marL="91440" marR="91440" marT="45720" marB="45720">
                    <a:solidFill>
                      <a:srgbClr val="16161A"/>
                    </a:solidFill>
                  </a:tcPr>
                </a:tc>
              </a:tr>
              <a:tr h="571500">
                <a:tc>
                  <a:txBody>
                    <a:bodyPr>
                      <a:noAutofit/>
                    </a:bodyPr>
                    <a:lstStyle/>
                    <a:p>
                      <a:r>
                        <a:rPr sz="1650" b="0">
                          <a:solidFill>
                            <a:srgbClr val="EDEDED"/>
                          </a:solidFill>
                          <a:latin typeface="Segoe UI"/>
                          <a:ea typeface="Segoe UI"/>
                          <a:cs typeface="Segoe UI"/>
                        </a:rPr>
                        <a:t>idle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Await next command</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Hold current drive policy</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096542737"/>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35/44</a:t>
            </a:r>
          </a:p>
        </p:txBody>
      </p:sp>
      <p:sp>
        <p:nvSpPr>
          <p:cNvPr id="7" name="lesson-title">
            <a:extLst xmlns:a="http://schemas.openxmlformats.org/drawingml/2006/main">
              <a:ext uri="{FF2B5EF4-FFF2-40B4-BE49-F238E27FC236}">
                <a16:creationId xmlns:a16="http://schemas.microsoft.com/office/drawing/2014/main" id="{6E404EC0-9CDE-4CF4-AFE6-66817ADF8FA2}"/>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Source and reproducible workspace</a:t>
            </a:r>
          </a:p>
        </p:txBody>
      </p:sp>
      <p:sp>
        <p:nvSpPr>
          <p:cNvPr id="8" name="explanation-0">
            <a:extLst xmlns:a="http://schemas.openxmlformats.org/drawingml/2006/main">
              <a:ext uri="{FF2B5EF4-FFF2-40B4-BE49-F238E27FC236}">
                <a16:creationId xmlns:a16="http://schemas.microsoft.com/office/drawing/2014/main" id="{15C2136F-7CBA-4BDF-B9EF-C6DC745256C3}"/>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freecores/i2c at 3b067f00ccced753b0502024766a51f58f3e04bc</a:t>
            </a:r>
          </a:p>
        </p:txBody>
      </p:sp>
      <p:sp>
        <p:nvSpPr>
          <p:cNvPr id="9" name="explanation-1">
            <a:extLst xmlns:a="http://schemas.openxmlformats.org/drawingml/2006/main">
              <a:ext uri="{FF2B5EF4-FFF2-40B4-BE49-F238E27FC236}">
                <a16:creationId xmlns:a16="http://schemas.microsoft.com/office/drawing/2014/main" id="{32619622-B745-499B-8656-7D3401E22ADD}"/>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Original upstream notices and licences remain in the repository.</a:t>
            </a:r>
          </a:p>
        </p:txBody>
      </p:sp>
      <p:sp>
        <p:nvSpPr>
          <p:cNvPr id="10" name="explanation-2">
            <a:extLst xmlns:a="http://schemas.openxmlformats.org/drawingml/2006/main">
              <a:ext uri="{FF2B5EF4-FFF2-40B4-BE49-F238E27FC236}">
                <a16:creationId xmlns:a16="http://schemas.microsoft.com/office/drawing/2014/main" id="{0FC2DB0A-2B2E-4D7F-B74A-993ED181795F}"/>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crucible.toml selects the protocol environment and crucible.lock pins its tools.</a:t>
            </a:r>
          </a:p>
        </p:txBody>
      </p:sp>
    </p:spTree>
    <p:extLst>
      <p:ext uri="{BB962C8B-B14F-4D97-AF65-F5344CB8AC3E}">
        <p14:creationId xmlns:p14="http://schemas.microsoft.com/office/powerpoint/2010/main" val="1096542737"/>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36/44</a:t>
            </a:r>
          </a:p>
        </p:txBody>
      </p:sp>
      <p:sp>
        <p:nvSpPr>
          <p:cNvPr id="7" name="lesson-title">
            <a:extLst xmlns:a="http://schemas.openxmlformats.org/drawingml/2006/main">
              <a:ext uri="{FF2B5EF4-FFF2-40B4-BE49-F238E27FC236}">
                <a16:creationId xmlns:a16="http://schemas.microsoft.com/office/drawing/2014/main" id="{EFC0EAD4-E02D-4133-B77D-4A90A953B712}"/>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WSL Igny laboratory commands</a:t>
            </a:r>
          </a:p>
        </p:txBody>
      </p:sp>
      <p:sp>
        <p:nvSpPr>
          <p:cNvPr id="8" name="explanation-0">
            <a:extLst xmlns:a="http://schemas.openxmlformats.org/drawingml/2006/main">
              <a:ext uri="{FF2B5EF4-FFF2-40B4-BE49-F238E27FC236}">
                <a16:creationId xmlns:a16="http://schemas.microsoft.com/office/drawing/2014/main" id="{D3DF0E14-6BBD-4420-A991-277D4DEB79ED}"/>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F9529"/>
                </a:solidFill>
                <a:latin typeface="Consolas"/>
                <a:ea typeface="Consolas"/>
                <a:cs typeface="Consolas"/>
              </a:defRPr>
            </a:pPr>
            <a:r>
              <a:rPr sz="2100" b="0">
                <a:solidFill>
                  <a:srgbClr val="EF9529"/>
                </a:solidFill>
                <a:latin typeface="Consolas"/>
                <a:ea typeface="Consolas"/>
                <a:cs typeface="Consolas"/>
              </a:rPr>
              <a:t>igny init</a:t>
            </a:r>
          </a:p>
        </p:txBody>
      </p:sp>
      <p:sp>
        <p:nvSpPr>
          <p:cNvPr id="9" name="explanation-1">
            <a:extLst xmlns:a="http://schemas.openxmlformats.org/drawingml/2006/main">
              <a:ext uri="{FF2B5EF4-FFF2-40B4-BE49-F238E27FC236}">
                <a16:creationId xmlns:a16="http://schemas.microsoft.com/office/drawing/2014/main" id="{36BA9F33-FEF4-49AC-B182-38D705FF0BAC}"/>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DEDED"/>
                </a:solidFill>
                <a:latin typeface="Consolas"/>
                <a:ea typeface="Consolas"/>
                <a:cs typeface="Consolas"/>
              </a:defRPr>
            </a:pPr>
            <a:r>
              <a:rPr sz="2100" b="0">
                <a:solidFill>
                  <a:srgbClr val="EDEDED"/>
                </a:solidFill>
                <a:latin typeface="Consolas"/>
                <a:ea typeface="Consolas"/>
                <a:cs typeface="Consolas"/>
              </a:rPr>
              <a:t>unset CRUCIBLE_ENV</a:t>
            </a:r>
          </a:p>
        </p:txBody>
      </p:sp>
      <p:sp>
        <p:nvSpPr>
          <p:cNvPr id="10" name="explanation-2">
            <a:extLst xmlns:a="http://schemas.openxmlformats.org/drawingml/2006/main">
              <a:ext uri="{FF2B5EF4-FFF2-40B4-BE49-F238E27FC236}">
                <a16:creationId xmlns:a16="http://schemas.microsoft.com/office/drawing/2014/main" id="{633D9D94-F72E-4826-AF28-687EAAD9E235}"/>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DEDED"/>
                </a:solidFill>
                <a:latin typeface="Consolas"/>
                <a:ea typeface="Consolas"/>
                <a:cs typeface="Consolas"/>
              </a:defRPr>
            </a:pPr>
            <a:r>
              <a:rPr sz="2100" b="0">
                <a:solidFill>
                  <a:srgbClr val="EDEDED"/>
                </a:solidFill>
                <a:latin typeface="Consolas"/>
                <a:ea typeface="Consolas"/>
                <a:cs typeface="Consolas"/>
              </a:rPr>
              <a:t>cd &lt;repository&gt;/hw/protocols/i2c</a:t>
            </a:r>
          </a:p>
        </p:txBody>
      </p:sp>
      <p:sp>
        <p:nvSpPr>
          <p:cNvPr id="11" name="explanation-3">
            <a:extLst xmlns:a="http://schemas.openxmlformats.org/drawingml/2006/main">
              <a:ext uri="{FF2B5EF4-FFF2-40B4-BE49-F238E27FC236}">
                <a16:creationId xmlns:a16="http://schemas.microsoft.com/office/drawing/2014/main" id="{61A86C01-A9D1-4DE4-A4DF-DBB83FC63D92}"/>
              </a:ext>
            </a:extLst>
          </p:cNvPr>
          <p:cNvSpPr>
            <a:spLocks xmlns:a="http://schemas.openxmlformats.org/drawingml/2006/main" noGrp="1"/>
          </p:cNvSpPr>
          <p:nvPr/>
        </p:nvSpPr>
        <p:spPr>
          <a:xfrm xmlns:a="http://schemas.openxmlformats.org/drawingml/2006/main">
            <a:off x="609600" y="43815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DEDED"/>
                </a:solidFill>
                <a:latin typeface="Consolas"/>
                <a:ea typeface="Consolas"/>
                <a:cs typeface="Consolas"/>
              </a:defRPr>
            </a:pPr>
            <a:r>
              <a:rPr sz="2100" b="0">
                <a:solidFill>
                  <a:srgbClr val="EDEDED"/>
                </a:solidFill>
                <a:latin typeface="Consolas"/>
                <a:ea typeface="Consolas"/>
                <a:cs typeface="Consolas"/>
              </a:rPr>
              <a:t>make flow</a:t>
            </a:r>
          </a:p>
        </p:txBody>
      </p:sp>
    </p:spTree>
    <p:extLst>
      <p:ext uri="{BB962C8B-B14F-4D97-AF65-F5344CB8AC3E}">
        <p14:creationId xmlns:p14="http://schemas.microsoft.com/office/powerpoint/2010/main" val="1096542737"/>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37/44</a:t>
            </a:r>
          </a:p>
        </p:txBody>
      </p:sp>
      <p:sp>
        <p:nvSpPr>
          <p:cNvPr id="7" name="lesson-title">
            <a:extLst xmlns:a="http://schemas.openxmlformats.org/drawingml/2006/main">
              <a:ext uri="{FF2B5EF4-FFF2-40B4-BE49-F238E27FC236}">
                <a16:creationId xmlns:a16="http://schemas.microsoft.com/office/drawing/2014/main" id="{41F717C0-BE81-412A-B8CC-8DC4C50231B7}"/>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Lint and functional verification</a:t>
            </a:r>
          </a:p>
        </p:txBody>
      </p:sp>
      <p:sp>
        <p:nvSpPr>
          <p:cNvPr id="8" name="explanation-0">
            <a:extLst xmlns:a="http://schemas.openxmlformats.org/drawingml/2006/main">
              <a:ext uri="{FF2B5EF4-FFF2-40B4-BE49-F238E27FC236}">
                <a16:creationId xmlns:a16="http://schemas.microsoft.com/office/drawing/2014/main" id="{076E2C79-0925-4743-8D02-605D06F86BE3}"/>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make lint elaborates every RTL source for the selected top.</a:t>
            </a:r>
          </a:p>
        </p:txBody>
      </p:sp>
      <p:sp>
        <p:nvSpPr>
          <p:cNvPr id="9" name="explanation-1">
            <a:extLst xmlns:a="http://schemas.openxmlformats.org/drawingml/2006/main">
              <a:ext uri="{FF2B5EF4-FFF2-40B4-BE49-F238E27FC236}">
                <a16:creationId xmlns:a16="http://schemas.microsoft.com/office/drawing/2014/main" id="{9C3DF51B-E877-4B57-9175-BC64DCBCF869}"/>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make sim runs assertions and deliberate negative controls.</a:t>
            </a:r>
          </a:p>
        </p:txBody>
      </p:sp>
      <p:sp>
        <p:nvSpPr>
          <p:cNvPr id="10" name="explanation-2">
            <a:extLst xmlns:a="http://schemas.openxmlformats.org/drawingml/2006/main">
              <a:ext uri="{FF2B5EF4-FFF2-40B4-BE49-F238E27FC236}">
                <a16:creationId xmlns:a16="http://schemas.microsoft.com/office/drawing/2014/main" id="{274B9CF4-C47C-42BB-859D-714B2C1E2B7B}"/>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Warnings remain visible and need review.</a:t>
            </a:r>
          </a:p>
        </p:txBody>
      </p:sp>
    </p:spTree>
    <p:extLst>
      <p:ext uri="{BB962C8B-B14F-4D97-AF65-F5344CB8AC3E}">
        <p14:creationId xmlns:p14="http://schemas.microsoft.com/office/powerpoint/2010/main" val="1096542737"/>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38/44</a:t>
            </a:r>
          </a:p>
        </p:txBody>
      </p:sp>
      <p:sp>
        <p:nvSpPr>
          <p:cNvPr id="7" name="lesson-title">
            <a:extLst xmlns:a="http://schemas.openxmlformats.org/drawingml/2006/main">
              <a:ext uri="{FF2B5EF4-FFF2-40B4-BE49-F238E27FC236}">
                <a16:creationId xmlns:a16="http://schemas.microsoft.com/office/drawing/2014/main" id="{E0068661-3362-4343-A82D-AD6070FC8E8B}"/>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Technology-mapped synthesis</a:t>
            </a:r>
          </a:p>
        </p:txBody>
      </p:sp>
      <p:sp>
        <p:nvSpPr>
          <p:cNvPr id="8" name="explanation-0">
            <a:extLst xmlns:a="http://schemas.openxmlformats.org/drawingml/2006/main">
              <a:ext uri="{FF2B5EF4-FFF2-40B4-BE49-F238E27FC236}">
                <a16:creationId xmlns:a16="http://schemas.microsoft.com/office/drawing/2014/main" id="{E54AE04B-22F1-4D07-B1DC-EF11645DCF11}"/>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make synth maps i2c_core to SG13G2 standard cells.</a:t>
            </a:r>
          </a:p>
        </p:txBody>
      </p:sp>
      <p:sp>
        <p:nvSpPr>
          <p:cNvPr id="9" name="explanation-1">
            <a:extLst xmlns:a="http://schemas.openxmlformats.org/drawingml/2006/main">
              <a:ext uri="{FF2B5EF4-FFF2-40B4-BE49-F238E27FC236}">
                <a16:creationId xmlns:a16="http://schemas.microsoft.com/office/drawing/2014/main" id="{A1F7BEA0-BA0A-43B3-AF0B-4EFFEFC44ACE}"/>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mapped design contains 1007 functional cells.</a:t>
            </a:r>
          </a:p>
        </p:txBody>
      </p:sp>
      <p:sp>
        <p:nvSpPr>
          <p:cNvPr id="10" name="explanation-2">
            <a:extLst xmlns:a="http://schemas.openxmlformats.org/drawingml/2006/main">
              <a:ext uri="{FF2B5EF4-FFF2-40B4-BE49-F238E27FC236}">
                <a16:creationId xmlns:a16="http://schemas.microsoft.com/office/drawing/2014/main" id="{6249644A-6B64-4F78-950D-0AB0806D4BE5}"/>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build inserts technology tie cells for constant nets.</a:t>
            </a:r>
          </a:p>
        </p:txBody>
      </p:sp>
    </p:spTree>
    <p:extLst>
      <p:ext uri="{BB962C8B-B14F-4D97-AF65-F5344CB8AC3E}">
        <p14:creationId xmlns:p14="http://schemas.microsoft.com/office/powerpoint/2010/main" val="1096542737"/>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39/44</a:t>
            </a:r>
          </a:p>
        </p:txBody>
      </p:sp>
      <p:sp>
        <p:nvSpPr>
          <p:cNvPr id="7" name="lesson-title">
            <a:extLst xmlns:a="http://schemas.openxmlformats.org/drawingml/2006/main">
              <a:ext uri="{FF2B5EF4-FFF2-40B4-BE49-F238E27FC236}">
                <a16:creationId xmlns:a16="http://schemas.microsoft.com/office/drawing/2014/main" id="{446F6B8A-2346-44BE-882D-BCFF457584FF}"/>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Floorplan, placement and clock tree</a:t>
            </a:r>
          </a:p>
        </p:txBody>
      </p:sp>
      <p:sp>
        <p:nvSpPr>
          <p:cNvPr id="8" name="explanation-0">
            <a:extLst xmlns:a="http://schemas.openxmlformats.org/drawingml/2006/main">
              <a:ext uri="{FF2B5EF4-FFF2-40B4-BE49-F238E27FC236}">
                <a16:creationId xmlns:a16="http://schemas.microsoft.com/office/drawing/2014/main" id="{0F276D04-FB09-4CCA-8315-FD18A9676A45}"/>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Reference die is 300 by 300 micrometres.</a:t>
            </a:r>
          </a:p>
        </p:txBody>
      </p:sp>
      <p:sp>
        <p:nvSpPr>
          <p:cNvPr id="9" name="explanation-1">
            <a:extLst xmlns:a="http://schemas.openxmlformats.org/drawingml/2006/main">
              <a:ext uri="{FF2B5EF4-FFF2-40B4-BE49-F238E27FC236}">
                <a16:creationId xmlns:a16="http://schemas.microsoft.com/office/drawing/2014/main" id="{ACA83883-FEB5-4B31-BE4C-E6985CA8F4FC}"/>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Placement chooses legal cell locations and builds the power grid.</a:t>
            </a:r>
          </a:p>
        </p:txBody>
      </p:sp>
      <p:sp>
        <p:nvSpPr>
          <p:cNvPr id="10" name="explanation-2">
            <a:extLst xmlns:a="http://schemas.openxmlformats.org/drawingml/2006/main">
              <a:ext uri="{FF2B5EF4-FFF2-40B4-BE49-F238E27FC236}">
                <a16:creationId xmlns:a16="http://schemas.microsoft.com/office/drawing/2014/main" id="{8750BFCE-A2E6-4365-B879-093F23B894AA}"/>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Clock-tree synthesis buffers the clock before detailed routing.</a:t>
            </a:r>
          </a:p>
        </p:txBody>
      </p:sp>
    </p:spTree>
    <p:extLst>
      <p:ext uri="{BB962C8B-B14F-4D97-AF65-F5344CB8AC3E}">
        <p14:creationId xmlns:p14="http://schemas.microsoft.com/office/powerpoint/2010/main" val="1096542737"/>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40/44</a:t>
            </a:r>
          </a:p>
        </p:txBody>
      </p:sp>
      <p:sp>
        <p:nvSpPr>
          <p:cNvPr id="7" name="lesson-title">
            <a:extLst xmlns:a="http://schemas.openxmlformats.org/drawingml/2006/main">
              <a:ext uri="{FF2B5EF4-FFF2-40B4-BE49-F238E27FC236}">
                <a16:creationId xmlns:a16="http://schemas.microsoft.com/office/drawing/2014/main" id="{3167F102-B0D6-478F-AC58-8191D95811C0}"/>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Routing and extracted timing</a:t>
            </a:r>
          </a:p>
        </p:txBody>
      </p:sp>
      <p:sp>
        <p:nvSpPr>
          <p:cNvPr id="8" name="explanation-0">
            <a:extLst xmlns:a="http://schemas.openxmlformats.org/drawingml/2006/main">
              <a:ext uri="{FF2B5EF4-FFF2-40B4-BE49-F238E27FC236}">
                <a16:creationId xmlns:a16="http://schemas.microsoft.com/office/drawing/2014/main" id="{AF8ACF2A-DDB0-4031-A2D5-4E5C3BA0043F}"/>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Detailed routing connects placed cells using allowed layers.</a:t>
            </a:r>
          </a:p>
        </p:txBody>
      </p:sp>
      <p:sp>
        <p:nvSpPr>
          <p:cNvPr id="9" name="explanation-1">
            <a:extLst xmlns:a="http://schemas.openxmlformats.org/drawingml/2006/main">
              <a:ext uri="{FF2B5EF4-FFF2-40B4-BE49-F238E27FC236}">
                <a16:creationId xmlns:a16="http://schemas.microsoft.com/office/drawing/2014/main" id="{CCE24178-FAF0-4260-9488-15EEF5A7B0BD}"/>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Extraction provides routed parasitic resistance and capacitance.</a:t>
            </a:r>
          </a:p>
        </p:txBody>
      </p:sp>
      <p:sp>
        <p:nvSpPr>
          <p:cNvPr id="10" name="explanation-2">
            <a:extLst xmlns:a="http://schemas.openxmlformats.org/drawingml/2006/main">
              <a:ext uri="{FF2B5EF4-FFF2-40B4-BE49-F238E27FC236}">
                <a16:creationId xmlns:a16="http://schemas.microsoft.com/office/drawing/2014/main" id="{C56E8DBF-46E5-4A90-AEE5-29161EE90E2E}"/>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STA checks both typical and slow Liberty corners at 20 ns.</a:t>
            </a:r>
          </a:p>
        </p:txBody>
      </p:sp>
      <p:graphicFrame>
        <p:nvGraphicFramePr>
          <p:cNvPr id="21" name=""/>
          <p:cNvGraphicFramePr/>
          <p:nvPr/>
        </p:nvGraphicFramePr>
        <p:xfrm>
          <a:off xmlns:a="http://schemas.openxmlformats.org/drawingml/2006/main" x="609600" y="2914650"/>
          <a:ext xmlns:a="http://schemas.openxmlformats.org/drawingml/2006/main" cx="10972800" cy="19431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Corner</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Setup slack ns</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Hold slack ns</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Typical</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15.81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0.17</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Slow</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14.55</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0.21</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096542737"/>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41/44</a:t>
            </a:r>
          </a:p>
        </p:txBody>
      </p:sp>
      <p:sp>
        <p:nvSpPr>
          <p:cNvPr id="7" name="lesson-title">
            <a:extLst xmlns:a="http://schemas.openxmlformats.org/drawingml/2006/main">
              <a:ext uri="{FF2B5EF4-FFF2-40B4-BE49-F238E27FC236}">
                <a16:creationId xmlns:a16="http://schemas.microsoft.com/office/drawing/2014/main" id="{1D933D80-5CA5-4370-8694-F682D8F0E396}"/>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The routed GDS result</a:t>
            </a:r>
          </a:p>
        </p:txBody>
      </p:sp>
      <p:sp>
        <p:nvSpPr>
          <p:cNvPr id="8" name="explanation-0">
            <a:extLst xmlns:a="http://schemas.openxmlformats.org/drawingml/2006/main">
              <a:ext uri="{FF2B5EF4-FFF2-40B4-BE49-F238E27FC236}">
                <a16:creationId xmlns:a16="http://schemas.microsoft.com/office/drawing/2014/main" id="{A3FD1BEC-955A-4F3E-9923-72B978B58408}"/>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10_gds/i2c_core.gds contains 1,583,844 bytes.</a:t>
            </a:r>
          </a:p>
        </p:txBody>
      </p:sp>
      <p:sp>
        <p:nvSpPr>
          <p:cNvPr id="9" name="explanation-1">
            <a:extLst xmlns:a="http://schemas.openxmlformats.org/drawingml/2006/main">
              <a:ext uri="{FF2B5EF4-FFF2-40B4-BE49-F238E27FC236}">
                <a16:creationId xmlns:a16="http://schemas.microsoft.com/office/drawing/2014/main" id="{2CF9CD08-2DF1-422E-BEC7-4126C2BA33B4}"/>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decoder resolves 48 structures and compares 14,546 placed cell instances.</a:t>
            </a:r>
          </a:p>
        </p:txBody>
      </p:sp>
      <p:sp>
        <p:nvSpPr>
          <p:cNvPr id="10" name="explanation-2">
            <a:extLst xmlns:a="http://schemas.openxmlformats.org/drawingml/2006/main">
              <a:ext uri="{FF2B5EF4-FFF2-40B4-BE49-F238E27FC236}">
                <a16:creationId xmlns:a16="http://schemas.microsoft.com/office/drawing/2014/main" id="{B6B4F0F3-5530-4AD0-B144-6E2E8BC2C6CB}"/>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Coordinates, orientations and referenced cell identities agree with DEF.</a:t>
            </a:r>
          </a:p>
        </p:txBody>
      </p:sp>
    </p:spTree>
    <p:extLst>
      <p:ext uri="{BB962C8B-B14F-4D97-AF65-F5344CB8AC3E}">
        <p14:creationId xmlns:p14="http://schemas.microsoft.com/office/powerpoint/2010/main" val="1096542737"/>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42/44</a:t>
            </a:r>
          </a:p>
        </p:txBody>
      </p:sp>
      <p:sp>
        <p:nvSpPr>
          <p:cNvPr id="7" name="lesson-title">
            <a:extLst xmlns:a="http://schemas.openxmlformats.org/drawingml/2006/main">
              <a:ext uri="{FF2B5EF4-FFF2-40B4-BE49-F238E27FC236}">
                <a16:creationId xmlns:a16="http://schemas.microsoft.com/office/drawing/2014/main" id="{A535CF50-BD80-4663-AC52-1A880214A2C0}"/>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Evidence and signoff boundaries</a:t>
            </a:r>
          </a:p>
        </p:txBody>
      </p:sp>
      <p:sp>
        <p:nvSpPr>
          <p:cNvPr id="8" name="explanation-0">
            <a:extLst xmlns:a="http://schemas.openxmlformats.org/drawingml/2006/main">
              <a:ext uri="{FF2B5EF4-FFF2-40B4-BE49-F238E27FC236}">
                <a16:creationId xmlns:a16="http://schemas.microsoft.com/office/drawing/2014/main" id="{BD3066C6-E48D-4CC0-BB5C-63EB945948AC}"/>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Functional tests, mapped synthesis and routed export have evidence.</a:t>
            </a:r>
          </a:p>
        </p:txBody>
      </p:sp>
      <p:sp>
        <p:nvSpPr>
          <p:cNvPr id="9" name="explanation-1">
            <a:extLst xmlns:a="http://schemas.openxmlformats.org/drawingml/2006/main">
              <a:ext uri="{FF2B5EF4-FFF2-40B4-BE49-F238E27FC236}">
                <a16:creationId xmlns:a16="http://schemas.microsoft.com/office/drawing/2014/main" id="{D81167CC-C01C-4644-BF19-ACC345C45220}"/>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Foundry DRC, LVS, antenna and full-chip signoff have not run.</a:t>
            </a:r>
          </a:p>
        </p:txBody>
      </p:sp>
      <p:sp>
        <p:nvSpPr>
          <p:cNvPr id="10" name="explanation-2">
            <a:extLst xmlns:a="http://schemas.openxmlformats.org/drawingml/2006/main">
              <a:ext uri="{FF2B5EF4-FFF2-40B4-BE49-F238E27FC236}">
                <a16:creationId xmlns:a16="http://schemas.microsoft.com/office/drawing/2014/main" id="{72D1B6EF-DEB0-4380-9693-9437F6CCFD1F}"/>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Jane Street still requires a programmable emulator on its CMOS5L template.</a:t>
            </a:r>
          </a:p>
        </p:txBody>
      </p:sp>
    </p:spTree>
    <p:extLst>
      <p:ext uri="{BB962C8B-B14F-4D97-AF65-F5344CB8AC3E}">
        <p14:creationId xmlns:p14="http://schemas.microsoft.com/office/powerpoint/2010/main" val="1096542737"/>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43/44</a:t>
            </a:r>
          </a:p>
        </p:txBody>
      </p:sp>
      <p:sp>
        <p:nvSpPr>
          <p:cNvPr id="7" name="lesson-title">
            <a:extLst xmlns:a="http://schemas.openxmlformats.org/drawingml/2006/main">
              <a:ext uri="{FF2B5EF4-FFF2-40B4-BE49-F238E27FC236}">
                <a16:creationId xmlns:a16="http://schemas.microsoft.com/office/drawing/2014/main" id="{DEE7859B-6749-4B7A-8750-3740A1C1560E}"/>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I2C laboratory exercises</a:t>
            </a:r>
          </a:p>
        </p:txBody>
      </p:sp>
      <p:sp>
        <p:nvSpPr>
          <p:cNvPr id="8" name="explanation-0">
            <a:extLst xmlns:a="http://schemas.openxmlformats.org/drawingml/2006/main">
              <a:ext uri="{FF2B5EF4-FFF2-40B4-BE49-F238E27FC236}">
                <a16:creationId xmlns:a16="http://schemas.microsoft.com/office/drawing/2014/main" id="{D44C3426-9318-4D3A-9484-6412283DB4EB}"/>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Decode a byte using the protocol rules covered in this lesson.</a:t>
            </a:r>
          </a:p>
        </p:txBody>
      </p:sp>
      <p:sp>
        <p:nvSpPr>
          <p:cNvPr id="9" name="explanation-1">
            <a:extLst xmlns:a="http://schemas.openxmlformats.org/drawingml/2006/main">
              <a:ext uri="{FF2B5EF4-FFF2-40B4-BE49-F238E27FC236}">
                <a16:creationId xmlns:a16="http://schemas.microsoft.com/office/drawing/2014/main" id="{8751D630-A54C-4E60-B43B-DFDBD2FD41A2}"/>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Change one expected result and observe a fatal test failure.</a:t>
            </a:r>
          </a:p>
        </p:txBody>
      </p:sp>
      <p:sp>
        <p:nvSpPr>
          <p:cNvPr id="10" name="explanation-2">
            <a:extLst xmlns:a="http://schemas.openxmlformats.org/drawingml/2006/main">
              <a:ext uri="{FF2B5EF4-FFF2-40B4-BE49-F238E27FC236}">
                <a16:creationId xmlns:a16="http://schemas.microsoft.com/office/drawing/2014/main" id="{7680A8A4-4DAB-400C-AE99-C2E8B82FF6EA}"/>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Compare functional cell count with physical filler/buffer counts.</a:t>
            </a:r>
          </a:p>
        </p:txBody>
      </p:sp>
      <p:sp>
        <p:nvSpPr>
          <p:cNvPr id="11" name="explanation-3">
            <a:extLst xmlns:a="http://schemas.openxmlformats.org/drawingml/2006/main">
              <a:ext uri="{FF2B5EF4-FFF2-40B4-BE49-F238E27FC236}">
                <a16:creationId xmlns:a16="http://schemas.microsoft.com/office/drawing/2014/main" id="{A704ECBB-5254-4073-8CF3-E04C2387CA6F}"/>
              </a:ext>
            </a:extLst>
          </p:cNvPr>
          <p:cNvSpPr>
            <a:spLocks xmlns:a="http://schemas.openxmlformats.org/drawingml/2006/main" noGrp="1"/>
          </p:cNvSpPr>
          <p:nvPr/>
        </p:nvSpPr>
        <p:spPr>
          <a:xfrm xmlns:a="http://schemas.openxmlformats.org/drawingml/2006/main">
            <a:off x="609600" y="43815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Locate the worst setup and hold paths in both timing reports.</a:t>
            </a:r>
          </a:p>
        </p:txBody>
      </p:sp>
    </p:spTree>
    <p:extLst>
      <p:ext uri="{BB962C8B-B14F-4D97-AF65-F5344CB8AC3E}">
        <p14:creationId xmlns:p14="http://schemas.microsoft.com/office/powerpoint/2010/main" val="1096542737"/>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ABE043D2-F579-4475-A959-743BAE048A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E2D5519F-4189-41D9-B2E1-62CBC662954C}"/>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5651105-48F0-4112-B109-06739986AE53}"/>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I2C STUDENT LAB</a:t>
            </a:r>
          </a:p>
        </p:txBody>
      </p:sp>
      <p:sp>
        <p:nvSpPr>
          <p:cNvPr id="5" name="t5">
            <a:extLst xmlns:a="http://schemas.openxmlformats.org/drawingml/2006/main">
              <a:ext uri="{FF2B5EF4-FFF2-40B4-BE49-F238E27FC236}">
                <a16:creationId xmlns:a16="http://schemas.microsoft.com/office/drawing/2014/main" id="{7971B30C-6D89-4908-9DF6-966973298918}"/>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69B49F57-43A8-426A-9DE4-0D58DB9B0802}"/>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44/44</a:t>
            </a:r>
          </a:p>
        </p:txBody>
      </p:sp>
      <p:sp>
        <p:nvSpPr>
          <p:cNvPr id="7" name="lesson-title">
            <a:extLst xmlns:a="http://schemas.openxmlformats.org/drawingml/2006/main">
              <a:ext uri="{FF2B5EF4-FFF2-40B4-BE49-F238E27FC236}">
                <a16:creationId xmlns:a16="http://schemas.microsoft.com/office/drawing/2014/main" id="{A0487C30-7E69-47C1-95BC-131884829253}"/>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Review questions and reading</a:t>
            </a:r>
          </a:p>
        </p:txBody>
      </p:sp>
      <p:sp>
        <p:nvSpPr>
          <p:cNvPr id="8" name="explanation-0">
            <a:extLst xmlns:a="http://schemas.openxmlformats.org/drawingml/2006/main">
              <a:ext uri="{FF2B5EF4-FFF2-40B4-BE49-F238E27FC236}">
                <a16:creationId xmlns:a16="http://schemas.microsoft.com/office/drawing/2014/main" id="{102EC96F-EC6B-4D89-A22E-C564BC84433B}"/>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Which event establishes the first bit of a transfer?</a:t>
            </a:r>
          </a:p>
        </p:txBody>
      </p:sp>
      <p:sp>
        <p:nvSpPr>
          <p:cNvPr id="9" name="explanation-1">
            <a:extLst xmlns:a="http://schemas.openxmlformats.org/drawingml/2006/main">
              <a:ext uri="{FF2B5EF4-FFF2-40B4-BE49-F238E27FC236}">
                <a16:creationId xmlns:a16="http://schemas.microsoft.com/office/drawing/2014/main" id="{4561462C-9FB4-4139-BFD6-63A73FA9E612}"/>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Who owns the data wire at each stage?</a:t>
            </a:r>
          </a:p>
        </p:txBody>
      </p:sp>
      <p:sp>
        <p:nvSpPr>
          <p:cNvPr id="10" name="explanation-2">
            <a:extLst xmlns:a="http://schemas.openxmlformats.org/drawingml/2006/main">
              <a:ext uri="{FF2B5EF4-FFF2-40B4-BE49-F238E27FC236}">
                <a16:creationId xmlns:a16="http://schemas.microsoft.com/office/drawing/2014/main" id="{35BEC839-914B-423A-A72B-0C148040AEB1}"/>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What does the current regression leave untested?</a:t>
            </a:r>
          </a:p>
        </p:txBody>
      </p:sp>
      <p:sp>
        <p:nvSpPr>
          <p:cNvPr id="11" name="explanation-3">
            <a:extLst xmlns:a="http://schemas.openxmlformats.org/drawingml/2006/main">
              <a:ext uri="{FF2B5EF4-FFF2-40B4-BE49-F238E27FC236}">
                <a16:creationId xmlns:a16="http://schemas.microsoft.com/office/drawing/2014/main" id="{343F28C8-C54E-4707-B372-50474DF856D1}"/>
              </a:ext>
            </a:extLst>
          </p:cNvPr>
          <p:cNvSpPr>
            <a:spLocks xmlns:a="http://schemas.openxmlformats.org/drawingml/2006/main" noGrp="1"/>
          </p:cNvSpPr>
          <p:nvPr/>
        </p:nvSpPr>
        <p:spPr>
          <a:xfrm xmlns:a="http://schemas.openxmlformats.org/drawingml/2006/main">
            <a:off x="609600" y="43815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Why does an exported GDS not prove signoff?</a:t>
            </a:r>
          </a:p>
        </p:txBody>
      </p:sp>
    </p:spTree>
    <p:extLst>
      <p:ext uri="{BB962C8B-B14F-4D97-AF65-F5344CB8AC3E}">
        <p14:creationId xmlns:p14="http://schemas.microsoft.com/office/powerpoint/2010/main" val="109654273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2026-10-03T09:12:54.5610000Z</dcterms:created>
  <dcterms:modified xsi:type="dcterms:W3CDTF">2026-10-03T09:12:54.5610000Z</dcterms:modified>
</coreProperties>
</file>