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6f2e08295694d9e" /><Relationship Type="http://schemas.openxmlformats.org/officeDocument/2006/relationships/extended-properties" Target="/docProps/app.xml" Id="R4b6dfd4308334b54" /><Relationship Type="http://schemas.openxmlformats.org/officeDocument/2006/relationships/officeDocument" Target="/ppt/presentation.xml" Id="R81d4141ffdf642ae" /></Relationships>
</file>

<file path=ppt/presentation.xml><?xml version="1.0" encoding="utf-8"?>
<p:presentation xmlns:p="http://schemas.openxmlformats.org/presentationml/2006/main">
  <p:sldMasterIdLst>
    <p:sldMasterId xmlns:r="http://schemas.openxmlformats.org/officeDocument/2006/relationships" id="2147483648" r:id="R7325e95c6a314092"/>
  </p:sldMasterIdLst>
  <p:notesMasterIdLst>
    <p:notesMasterId xmlns:r="http://schemas.openxmlformats.org/officeDocument/2006/relationships" r:id="R9b41947601b047c8"/>
  </p:notesMasterIdLst>
  <p:sldIdLst>
    <p:sldId xmlns:r="http://schemas.openxmlformats.org/officeDocument/2006/relationships" id="256" r:id="R725ec266dc2a4404"/>
    <p:sldId xmlns:r="http://schemas.openxmlformats.org/officeDocument/2006/relationships" id="257" r:id="R67ba618d55604139"/>
    <p:sldId xmlns:r="http://schemas.openxmlformats.org/officeDocument/2006/relationships" id="258" r:id="R16468d9dc5e542fc"/>
    <p:sldId xmlns:r="http://schemas.openxmlformats.org/officeDocument/2006/relationships" id="259" r:id="Ra5b4af7706d0448e"/>
    <p:sldId xmlns:r="http://schemas.openxmlformats.org/officeDocument/2006/relationships" id="260" r:id="R30ad726d2c294f21"/>
    <p:sldId xmlns:r="http://schemas.openxmlformats.org/officeDocument/2006/relationships" id="261" r:id="Rece6ec56094b476b"/>
    <p:sldId xmlns:r="http://schemas.openxmlformats.org/officeDocument/2006/relationships" id="262" r:id="R142224e208714b74"/>
    <p:sldId xmlns:r="http://schemas.openxmlformats.org/officeDocument/2006/relationships" id="263" r:id="R0ec413aae0064e95"/>
    <p:sldId xmlns:r="http://schemas.openxmlformats.org/officeDocument/2006/relationships" id="264" r:id="R9e2e152ade0742f3"/>
    <p:sldId xmlns:r="http://schemas.openxmlformats.org/officeDocument/2006/relationships" id="265" r:id="R17f0a7eaf48a4644"/>
    <p:sldId xmlns:r="http://schemas.openxmlformats.org/officeDocument/2006/relationships" id="266" r:id="Rb51a9e8b229d4bae"/>
    <p:sldId xmlns:r="http://schemas.openxmlformats.org/officeDocument/2006/relationships" id="267" r:id="R041409f11cc74b02"/>
    <p:sldId xmlns:r="http://schemas.openxmlformats.org/officeDocument/2006/relationships" id="268" r:id="Rda679a83518e4715"/>
    <p:sldId xmlns:r="http://schemas.openxmlformats.org/officeDocument/2006/relationships" id="269" r:id="R96a2cb0bc6b3489c"/>
    <p:sldId xmlns:r="http://schemas.openxmlformats.org/officeDocument/2006/relationships" id="270" r:id="Rd66cad0af06949c4"/>
    <p:sldId xmlns:r="http://schemas.openxmlformats.org/officeDocument/2006/relationships" id="271" r:id="R833e404f027f4dac"/>
    <p:sldId xmlns:r="http://schemas.openxmlformats.org/officeDocument/2006/relationships" id="272" r:id="Ree527d7d833e49cf"/>
    <p:sldId xmlns:r="http://schemas.openxmlformats.org/officeDocument/2006/relationships" id="273" r:id="R9fe7f511b5a74eff"/>
    <p:sldId xmlns:r="http://schemas.openxmlformats.org/officeDocument/2006/relationships" id="274" r:id="Rea273f25bab84c25"/>
    <p:sldId xmlns:r="http://schemas.openxmlformats.org/officeDocument/2006/relationships" id="275" r:id="R8ba83743473444b7"/>
    <p:sldId xmlns:r="http://schemas.openxmlformats.org/officeDocument/2006/relationships" id="276" r:id="Re4581640e7fe4348"/>
    <p:sldId xmlns:r="http://schemas.openxmlformats.org/officeDocument/2006/relationships" id="277" r:id="R96c0da7c0ce7409d"/>
    <p:sldId xmlns:r="http://schemas.openxmlformats.org/officeDocument/2006/relationships" id="278" r:id="R2bb4e2f12b704f55"/>
    <p:sldId xmlns:r="http://schemas.openxmlformats.org/officeDocument/2006/relationships" id="279" r:id="R3950a7241d014754"/>
  </p:sldIdLst>
  <p:sldSz cx="7562850" cy="10688638"/>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0cea472f1a84285" /><Relationship Type="http://schemas.openxmlformats.org/officeDocument/2006/relationships/slideMaster" Target="/ppt/slideMasters/slideMaster1.xml" Id="R7325e95c6a314092" /><Relationship Type="http://schemas.openxmlformats.org/officeDocument/2006/relationships/notesMaster" Target="/ppt/notesMasters/notesMaster1.xml" Id="R9b41947601b047c8" /><Relationship Type="http://schemas.openxmlformats.org/officeDocument/2006/relationships/presProps" Target="/ppt/presProps.xml" Id="R16e1756628174bc5" /><Relationship Type="http://schemas.openxmlformats.org/officeDocument/2006/relationships/viewProps" Target="/ppt/viewProps.xml" Id="Rc532f31543254272" /><Relationship Type="http://schemas.openxmlformats.org/officeDocument/2006/relationships/tableStyles" Target="/ppt/tableStyles.xml" Id="R9d0035b7655a479a" /><Relationship Type="http://schemas.openxmlformats.org/officeDocument/2006/relationships/slide" Target="/ppt/slides/slide1.xml" Id="R725ec266dc2a4404" /><Relationship Type="http://schemas.openxmlformats.org/officeDocument/2006/relationships/slide" Target="/ppt/slides/slide2.xml" Id="R67ba618d55604139" /><Relationship Type="http://schemas.openxmlformats.org/officeDocument/2006/relationships/slide" Target="/ppt/slides/slide3.xml" Id="R16468d9dc5e542fc" /><Relationship Type="http://schemas.openxmlformats.org/officeDocument/2006/relationships/slide" Target="/ppt/slides/slide4.xml" Id="Ra5b4af7706d0448e" /><Relationship Type="http://schemas.openxmlformats.org/officeDocument/2006/relationships/slide" Target="/ppt/slides/slide5.xml" Id="R30ad726d2c294f21" /><Relationship Type="http://schemas.openxmlformats.org/officeDocument/2006/relationships/slide" Target="/ppt/slides/slide6.xml" Id="Rece6ec56094b476b" /><Relationship Type="http://schemas.openxmlformats.org/officeDocument/2006/relationships/slide" Target="/ppt/slides/slide7.xml" Id="R142224e208714b74" /><Relationship Type="http://schemas.openxmlformats.org/officeDocument/2006/relationships/slide" Target="/ppt/slides/slide8.xml" Id="R0ec413aae0064e95" /><Relationship Type="http://schemas.openxmlformats.org/officeDocument/2006/relationships/slide" Target="/ppt/slides/slide9.xml" Id="R9e2e152ade0742f3" /><Relationship Type="http://schemas.openxmlformats.org/officeDocument/2006/relationships/slide" Target="/ppt/slides/slide10.xml" Id="R17f0a7eaf48a4644" /><Relationship Type="http://schemas.openxmlformats.org/officeDocument/2006/relationships/slide" Target="/ppt/slides/slide11.xml" Id="Rb51a9e8b229d4bae" /><Relationship Type="http://schemas.openxmlformats.org/officeDocument/2006/relationships/slide" Target="/ppt/slides/slide12.xml" Id="R041409f11cc74b02" /><Relationship Type="http://schemas.openxmlformats.org/officeDocument/2006/relationships/slide" Target="/ppt/slides/slide13.xml" Id="Rda679a83518e4715" /><Relationship Type="http://schemas.openxmlformats.org/officeDocument/2006/relationships/slide" Target="/ppt/slides/slide14.xml" Id="R96a2cb0bc6b3489c" /><Relationship Type="http://schemas.openxmlformats.org/officeDocument/2006/relationships/slide" Target="/ppt/slides/slide15.xml" Id="Rd66cad0af06949c4" /><Relationship Type="http://schemas.openxmlformats.org/officeDocument/2006/relationships/slide" Target="/ppt/slides/slide16.xml" Id="R833e404f027f4dac" /><Relationship Type="http://schemas.openxmlformats.org/officeDocument/2006/relationships/slide" Target="/ppt/slides/slide17.xml" Id="Ree527d7d833e49cf" /><Relationship Type="http://schemas.openxmlformats.org/officeDocument/2006/relationships/slide" Target="/ppt/slides/slide18.xml" Id="R9fe7f511b5a74eff" /><Relationship Type="http://schemas.openxmlformats.org/officeDocument/2006/relationships/slide" Target="/ppt/slides/slide19.xml" Id="Rea273f25bab84c25" /><Relationship Type="http://schemas.openxmlformats.org/officeDocument/2006/relationships/slide" Target="/ppt/slides/slide20.xml" Id="R8ba83743473444b7" /><Relationship Type="http://schemas.openxmlformats.org/officeDocument/2006/relationships/slide" Target="/ppt/slides/slide21.xml" Id="Re4581640e7fe4348" /><Relationship Type="http://schemas.openxmlformats.org/officeDocument/2006/relationships/slide" Target="/ppt/slides/slide22.xml" Id="R96c0da7c0ce7409d" /><Relationship Type="http://schemas.openxmlformats.org/officeDocument/2006/relationships/slide" Target="/ppt/slides/slide23.xml" Id="R2bb4e2f12b704f55" /><Relationship Type="http://schemas.openxmlformats.org/officeDocument/2006/relationships/slide" Target="/ppt/slides/slide24.xml" Id="R3950a7241d0147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b609c090dd4f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bb9493d08d4e7d" /><Relationship Type="http://schemas.openxmlformats.org/officeDocument/2006/relationships/notesMaster" Target="/ppt/notesMasters/notesMaster1.xml" Id="R327499e7a71141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0e3aa5da0e4898" /><Relationship Type="http://schemas.openxmlformats.org/officeDocument/2006/relationships/notesMaster" Target="/ppt/notesMasters/notesMaster1.xml" Id="R43a0deb1b9bc48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574aa73bad40a1" /><Relationship Type="http://schemas.openxmlformats.org/officeDocument/2006/relationships/notesMaster" Target="/ppt/notesMasters/notesMaster1.xml" Id="R7d1e617db61e47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bb4831036b451b" /><Relationship Type="http://schemas.openxmlformats.org/officeDocument/2006/relationships/notesMaster" Target="/ppt/notesMasters/notesMaster1.xml" Id="R27bba3e8cc0847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d4a3057a164fd1" /><Relationship Type="http://schemas.openxmlformats.org/officeDocument/2006/relationships/notesMaster" Target="/ppt/notesMasters/notesMaster1.xml" Id="R45c58d6ae3d84d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00963e12154714" /><Relationship Type="http://schemas.openxmlformats.org/officeDocument/2006/relationships/notesMaster" Target="/ppt/notesMasters/notesMaster1.xml" Id="Rb4cbb1c4b5eb4a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3617838ffd464d" /><Relationship Type="http://schemas.openxmlformats.org/officeDocument/2006/relationships/notesMaster" Target="/ppt/notesMasters/notesMaster1.xml" Id="R5b2c0d714d364c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46aac226f94bac" /><Relationship Type="http://schemas.openxmlformats.org/officeDocument/2006/relationships/notesMaster" Target="/ppt/notesMasters/notesMaster1.xml" Id="R3abfc761ebfc4a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3f20984a244710" /><Relationship Type="http://schemas.openxmlformats.org/officeDocument/2006/relationships/notesMaster" Target="/ppt/notesMasters/notesMaster1.xml" Id="Reb05976837974f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359d7564254ab3" /><Relationship Type="http://schemas.openxmlformats.org/officeDocument/2006/relationships/notesMaster" Target="/ppt/notesMasters/notesMaster1.xml" Id="Rf93b5f1f10bf4d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a0bcf8880e46af" /><Relationship Type="http://schemas.openxmlformats.org/officeDocument/2006/relationships/notesMaster" Target="/ppt/notesMasters/notesMaster1.xml" Id="Rd92bb32351384b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898be663f24732" /><Relationship Type="http://schemas.openxmlformats.org/officeDocument/2006/relationships/notesMaster" Target="/ppt/notesMasters/notesMaster1.xml" Id="R0153159e517c45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36df3099ce4a32" /><Relationship Type="http://schemas.openxmlformats.org/officeDocument/2006/relationships/notesMaster" Target="/ppt/notesMasters/notesMaster1.xml" Id="Rbe05cbbcc6224ab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997455f1de47c3" /><Relationship Type="http://schemas.openxmlformats.org/officeDocument/2006/relationships/notesMaster" Target="/ppt/notesMasters/notesMaster1.xml" Id="Rb152b995333747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d1de339b3394ac3" /><Relationship Type="http://schemas.openxmlformats.org/officeDocument/2006/relationships/notesMaster" Target="/ppt/notesMasters/notesMaster1.xml" Id="Rbf3f80dcf4e7410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0fe408170a4806" /><Relationship Type="http://schemas.openxmlformats.org/officeDocument/2006/relationships/notesMaster" Target="/ppt/notesMasters/notesMaster1.xml" Id="Red036a4ecc2b46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b9f69e843a94074" /><Relationship Type="http://schemas.openxmlformats.org/officeDocument/2006/relationships/notesMaster" Target="/ppt/notesMasters/notesMaster1.xml" Id="R2c5e5970d13941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e39002f1684aba" /><Relationship Type="http://schemas.openxmlformats.org/officeDocument/2006/relationships/notesMaster" Target="/ppt/notesMasters/notesMaster1.xml" Id="Rd84def99d77f43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5706f7578c94f4f" /><Relationship Type="http://schemas.openxmlformats.org/officeDocument/2006/relationships/notesMaster" Target="/ppt/notesMasters/notesMaster1.xml" Id="Ra7057a14d63c4a7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06bbbf8feb4fa3" /><Relationship Type="http://schemas.openxmlformats.org/officeDocument/2006/relationships/notesMaster" Target="/ppt/notesMasters/notesMaster1.xml" Id="Rc7fd5d9b50bc457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73274934164576" /><Relationship Type="http://schemas.openxmlformats.org/officeDocument/2006/relationships/notesMaster" Target="/ppt/notesMasters/notesMaster1.xml" Id="R1b0eb51faa2f4e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1b90a25c0e4611" /><Relationship Type="http://schemas.openxmlformats.org/officeDocument/2006/relationships/notesMaster" Target="/ppt/notesMasters/notesMaster1.xml" Id="R47dfd0db609644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c2c648ed1141a5" /><Relationship Type="http://schemas.openxmlformats.org/officeDocument/2006/relationships/notesMaster" Target="/ppt/notesMasters/notesMaster1.xml" Id="R650156d0de62478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e6ddac615934b43" /><Relationship Type="http://schemas.openxmlformats.org/officeDocument/2006/relationships/notesMaster" Target="/ppt/notesMasters/notesMaster1.xml" Id="R251e837ad41045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Follow uart_core from its communication rules and Verilog source to a routed IHP SG13G2 layout. Worked calculations, measured digital traces and tool results are identified separately. This is an educational block, not a manufactured chip or a signoff-ready design.</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A Verilog description represents circuits, not software instructions running one after another. Registers remember values; combinational logic calculates the next values. A clock advances the registered state. The next pages first explain this protocol at its wires, then connect those rules to the actual reference RTL.</a:t>
            </a:r>
          </a:p>
          <a:p xmlns:a="http://schemas.openxmlformats.org/drawingml/2006/main">
            <a:r>
              <a:t/>
            </a:r>
          </a:p>
          <a:p xmlns:a="http://schemas.openxmlformats.org/drawingml/2006/main">
            <a:r>
              <a:t>The implemented unit is uart_core in hw/protocols/uart. It is a fixed reference block, not the Jane Street programmable combined emulator or a Tiny Tapeout submission top. No new competition architecture, instruction set, pin map or authority decision is implied by these documents.</a:t>
            </a:r>
          </a:p>
          <a:p xmlns:a="http://schemas.openxmlformats.org/drawingml/2006/main">
            <a:r>
              <a:t/>
            </a:r>
          </a:p>
          <a:p xmlns:a="http://schemas.openxmlformats.org/drawingml/2006/main">
            <a:r>
              <a:t>All 256 bytes are tested at prescale 4 only. The 2..7 sweep uses fixed TX 0x96 and RX 0x69. No parity or hardware flow control. Later pages give the exact stimulus and the implementation evidence rather than using a broad protocol-compliant label. A successful mapped netlist, routed DEF and decoded GDS establish concrete implementation/export results, not readiness to manufacture.</a:t>
            </a:r>
          </a:p>
          <a:p xmlns:a="http://schemas.openxmlformats.org/drawingml/2006/main">
            <a:r>
              <a:t/>
            </a:r>
          </a:p>
          <a:p xmlns:a="http://schemas.openxmlformats.org/drawingml/2006/main">
            <a:r>
              <a:t>The reading path starts with chip-design vocabulary, then develops the protocol, calculations, local interface and failure cases. Separate sections explain lint, simulation, synthesis, placement, routing, timing and GDS. The last two pages define design and physical terms. No prior ASIC-flow experience is assumed.</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RTL states what hardware should do. A simulator checks selected input sequences before any silicon exists. Synthesis replaces that description with gates from a process library. Physical tools choose positions and metal routes. Timing analysis checks the resulting delays; stream-out writes the mask-layout geometry.</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The local rxd and txd pins carry logic-level signals. RS-232 uses different voltage levels and polarity and cannot safely connect directly to ordinary digital pins. Full duplex uses independent wires in each direction. Flow-control pins such as RTS/CTS are optional system features absent from this wrapper.</a:t>
            </a:r>
          </a:p>
          <a:p xmlns:a="http://schemas.openxmlformats.org/drawingml/2006/main">
            <a:r>
              <a:t/>
            </a:r>
          </a:p>
          <a:p xmlns:a="http://schemas.openxmlformats.org/drawingml/2006/main">
            <a:r>
              <a:t>A UART is a framing and timing function, not a promise about connector voltages. Never connect an RS-232 voltage directly to a low-voltage ASIC input. An external transceiver can convert levels and polarity. RS-485 uses differential signalling and may require driver-enable timing for a shared half-duplex link. Those electrical functions are not in uart_core.</a:t>
            </a:r>
          </a:p>
          <a:p xmlns:a="http://schemas.openxmlformats.org/drawingml/2006/main">
            <a:r>
              <a:t/>
            </a:r>
          </a:p>
          <a:p xmlns:a="http://schemas.openxmlformats.org/drawingml/2006/main">
            <a:r>
              <a:t>UART tells us where a byte begins and ends. An application still needs to define how many bytes make a message and what the message means.</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8N1 means eight data bits, no parity and one stop bit. It consumes ten bit periods per byte. There is no runtime parity setting.</a:t>
            </a:r>
          </a:p>
          <a:p xmlns:a="http://schemas.openxmlformats.org/drawingml/2006/main">
            <a:r>
              <a:t/>
            </a:r>
          </a:p>
          <a:p xmlns:a="http://schemas.openxmlformats.org/drawingml/2006/main">
            <a:r>
              <a:t>Writing a number on paper usually puts the most significant bit on the left, while UART sends D0 first. The editable table shows temporal order.</a:t>
            </a:r>
          </a:p>
          <a:p xmlns:a="http://schemas.openxmlformats.org/drawingml/2006/main">
            <a:r>
              <a:t/>
            </a:r>
          </a:p>
          <a:p xmlns:a="http://schemas.openxmlformats.org/drawingml/2006/main">
            <a:r>
              <a:t>For binary UART signalling, baud equals serial bit rate here. It does not equal useful payload bits per second because framing consumes two intervals per byte. The 32-byte calculation excludes idle gaps, scheduling delays and packet headers. If an application sends each value as ASCII digits, its useful measurement rate can be lower still. These are arithmetic examples for 8N1, not a measured link benchmark.</a:t>
            </a:r>
          </a:p>
          <a:p xmlns:a="http://schemas.openxmlformats.org/drawingml/2006/main">
            <a:r>
              <a:t/>
            </a:r>
          </a:p>
          <a:p xmlns:a="http://schemas.openxmlformats.org/drawingml/2006/main">
            <a:r>
              <a:t>For 32 payload bytes in 8N1, the minimum is 32 x 10 = 320 wire bits. At 115200 baud this takes 320 / 115200 = 2.778 ms before gaps. The useful byte ceiling is 115200 / 10 = 11,520 bytes/s, even though the serial bit rate is 115200 bit/s.</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Nominal baud = fclk / (8P). At 50 MHz and a desired 115200 baud, the ideal integer divisor is 50,000,000 / (8 x 115200) = 54.253. Choosing P54 gives 115740.74 baud, +0.4694 percent error; P55 gives 113636.36 baud, -1.3573 percent. These are calculated examples. The full byte-space test runs at P4, and the separate fixed-byte sweep covers P2 through P7.</a:t>
            </a:r>
          </a:p>
          <a:p xmlns:a="http://schemas.openxmlformats.org/drawingml/2006/main">
            <a:r>
              <a:t/>
            </a:r>
          </a:p>
          <a:p xmlns:a="http://schemas.openxmlformats.org/drawingml/2006/main">
            <a:r>
              <a:t>This simplified drift example is a timing model, not a universal two-percent acceptance rule. The receiver re-synchronizes on a new START, but not on every data bit. Long runs without data transitions still need correct local timing. The ideal half-bit margin is reduced by start detection, synchronisation, clock error and line distortion. Check a specific receiver data sheet or implementation before declaring an allowed total clock mismatch.</a:t>
            </a:r>
          </a:p>
          <a:p xmlns:a="http://schemas.openxmlformats.org/drawingml/2006/main">
            <a:r>
              <a:t/>
            </a:r>
          </a:p>
          <a:p xmlns:a="http://schemas.openxmlformats.org/drawingml/2006/main">
            <a:r>
              <a:t>An ideal receiver checks START near its half-bit point, then samples data at 1.5, 2.5 through 8.5 bit intervals from the detected start and STOP at 9.5. At the P4 regression setting a bit is 0.64 us; nominal data-centre offsets are therefore 0.96, 1.60 through 5.44 us. The actual local RX counter waits half a bit to confirm START, then full-bit intervals for later samples. Its input synchroniser and detection delay must also be accounted for.</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Ready-valid allows a producer to hold a request until accepted. The selected transmitter does not provide an unbounded queue. Inspect upstream RTL to understand when it can accept another byte.</a:t>
            </a:r>
          </a:p>
          <a:p xmlns:a="http://schemas.openxmlformats.org/drawingml/2006/main">
            <a:r>
              <a:t/>
            </a:r>
          </a:p>
          <a:p xmlns:a="http://schemas.openxmlformats.org/drawingml/2006/main">
            <a:r>
              <a:t>The source has a one-byte output register rather than an arbitrarily deep FIFO. Backpressure protects a byte only until another frame completes. A larger FIFO or external flow control would be another design. The current test exercises a limited ready stall and an isolated overrun; it does not promise lossless indefinite stalls.</a:t>
            </a:r>
          </a:p>
          <a:p xmlns:a="http://schemas.openxmlformats.org/drawingml/2006/main">
            <a:r>
              <a:t/>
            </a:r>
          </a:p>
          <a:p xmlns:a="http://schemas.openxmlformats.org/drawingml/2006/main">
            <a:r>
              <a:t>The two-stage chain reduces propagation of metastability into the logic, but it cannot mathematically guarantee no failures. Its delay affects the start detection and must be considered with the baud interval. The marker guides implementation tools; it does not itself prove CDC correctness. The physical flow still needs proper placement and system integration checks before a reliability claim. A separate counter stage in upstream uart_rx samples this synchronised signal.</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When the initial candidate START does not remain low until the confirmation point, the receiver clears its bit counter and timer. If the line is still low, it advances to the data phase and loads a full-bit wait. This is a specific digital false-start check, not proof of immunity to every glitch width or analogue noise pattern.</a:t>
            </a:r>
          </a:p>
          <a:p xmlns:a="http://schemas.openxmlformats.org/drawingml/2006/main">
            <a:r>
              <a:t/>
            </a:r>
          </a:p>
          <a:p xmlns:a="http://schemas.openxmlformats.org/drawingml/2006/main">
            <a:r>
              <a:t>The table corresponds to the counter-based uart_rx.v control sequence. A pending timer prevents a new sample until the proper interval expires. At count ten the receiver confirms START; at nine through two it shifts in the eight data bits; at one it evaluates STOP. It returns to zero after the frame. START detection initialises a half-bit delay and later data stages initialize full-bit delays. Output buffering and error flags are separate from this serial phase counter.</a:t>
            </a:r>
          </a:p>
          <a:p xmlns:a="http://schemas.openxmlformats.org/drawingml/2006/main">
            <a:r>
              <a:t/>
            </a:r>
          </a:p>
          <a:p xmlns:a="http://schemas.openxmlformats.org/drawingml/2006/main">
            <a:r>
              <a:t>The data register includes a high bit for the STOP phase alongside the payload. txd becomes low for START while busy becomes high. Later timer expirations shift data bits into the output. No parity generation or alternative word length is enabled by this wrapper.</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A framing error checks the expected STOP level; it is not a checksum across the data. A wrong data bit with a valid STOP may go undetected by an 8N1 receiver. Sustained low after malformed STOP can resemble another START in this core, producing later recovery activity. The test drains that recovery before isolating the overrun check.</a:t>
            </a:r>
          </a:p>
          <a:p xmlns:a="http://schemas.openxmlformats.org/drawingml/2006/main">
            <a:r>
              <a:t/>
            </a:r>
          </a:p>
          <a:p xmlns:a="http://schemas.openxmlformats.org/drawingml/2006/main">
            <a:r>
              <a:t>This source branch belongs to the STOP-sampling stage. A valid STOP writes the newly assembled data register and marks it available. The prior valid state becomes the overrun flag. This means the error reports loss/overwrite risk; it does not automatically queue another byte.</a:t>
            </a:r>
          </a:p>
          <a:p xmlns:a="http://schemas.openxmlformats.org/drawingml/2006/main">
            <a:r>
              <a:t/>
            </a:r>
          </a:p>
          <a:p xmlns:a="http://schemas.openxmlformats.org/drawingml/2006/main">
            <a:r>
              <a:t>Synchronous reset requires a running clock to take effect. Reset polarity differs from the default I2C and SPI wrappers. Declaration initializers in upstream code are visible lint warnings. The actual reset path and mapped flops still require inspection.</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At the actual 50 MHz simulation clock, prescale 4 produces 32 core clocks per bit, or 0.64 us. An 8N1 frame occupies ten bit intervals and therefore 6.4 us, before any idle gaps. Sampling TX at the eight data centres reconstructs 53; sampling the separately aligned RX centres reconstructs AC. Both STOP samples are high.</a:t>
            </a:r>
          </a:p>
          <a:p xmlns:a="http://schemas.openxmlformats.org/drawingml/2006/main">
            <a:r>
              <a:t/>
            </a:r>
          </a:p>
          <a:p xmlns:a="http://schemas.openxmlformats.org/drawingml/2006/main">
            <a:r>
              <a:t>The received byte is the complement of the transmitted byte, so the plot demonstrates independent stimulus rather than TX-to-RX loopback. This is a fast directed digital regression at 1.5625 Mbaud, not a measured 115200-baud board capture. The illustrative prescale-54 configuration elsewhere is a calculation, not one of the tested sweep points.</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TX data 0x53 and independent RX data 0xAC, LSB first, STOP high. Prescale 4, bit time 0.64 us.</a:t>
            </a:r>
          </a:p>
          <a:p xmlns:a="http://schemas.openxmlformats.org/drawingml/2006/main">
            <a:r>
              <a:t>Source VCD hw/protocols/uart/02_sim/uart_core.vcd</a:t>
            </a:r>
          </a:p>
          <a:p xmlns:a="http://schemas.openxmlformats.org/drawingml/2006/main">
            <a:r>
              <a:t>SHA256 adbfeb21e2f40fc1017325b344bd8b465fc06fbea7b51137b15223519d00fcec</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The retained report contains 20 warning messages and 0 error messages. Categories present: PROCASSINIT, WIDTHEXPAND. These figures count report message headers; repeated warnings are not necessarily independent defects. The report is hashed in this document evidence manifest.</a:t>
            </a:r>
          </a:p>
          <a:p xmlns:a="http://schemas.openxmlformats.org/drawingml/2006/main">
            <a:r>
              <a:t/>
            </a:r>
          </a:p>
          <a:p xmlns:a="http://schemas.openxmlformats.org/drawingml/2006/main">
            <a:r>
              <a:t>The invocation deliberately uses -Wno-fatal so warnings remain visible while lint execution can complete. A successful command therefore does not mean every warning was resolved. Width changes, incomplete cases, reset use and unconnected ports need review against the wrapper contract and directed tests.</a:t>
            </a:r>
          </a:p>
          <a:p xmlns:a="http://schemas.openxmlformats.org/drawingml/2006/main">
            <a:r>
              <a:t/>
            </a:r>
          </a:p>
          <a:p xmlns:a="http://schemas.openxmlformats.org/drawingml/2006/main">
            <a:r>
              <a:t>Lint cannot show that a receive byte is correct, that a transaction finishes, or that an external electrical interface is safe. Those questions require a checking testbench, implementation evidence and separate board or signoff work.</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The full-duplex run tests all 256 byte values at prescale 4. A separate sweep uses prescales 2 through 7 with fixed TX 96 and RX 69. Combining those descriptions into all bytes at all prescalers would overstate the evidence. Neither test establishes arbitrary baud mismatch tolerance.</a:t>
            </a:r>
          </a:p>
          <a:p xmlns:a="http://schemas.openxmlformats.org/drawingml/2006/main">
            <a:r>
              <a:t/>
            </a:r>
          </a:p>
          <a:p xmlns:a="http://schemas.openxmlformats.org/drawingml/2006/main">
            <a:r>
              <a:t>Directed checks include receive backpressure, malformed STOP and framing error, receive-buffer overrun, reset abort and a successful later transfer. The malformed-STOP source can remain low long enough to resemble another START. The bench drains the resulting recovery word before isolating the subsequent overrun check.</a:t>
            </a:r>
          </a:p>
          <a:p xmlns:a="http://schemas.openxmlformats.org/drawingml/2006/main">
            <a:r>
              <a:t/>
            </a:r>
          </a:p>
          <a:p xmlns:a="http://schemas.openxmlformats.org/drawingml/2006/main">
            <a:r>
              <a:t>An injected wrong receive-byte expectation must fail fatally. The wrapper remains fixed to 8N1 with no parity, CTS/RTS or alternative word length. The two-stage receive synchroniser reduces metastability propagation, but these digital tests are not a CDC reliability or reset signoff result.</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A process design kit, or PDK, contains the process-specific files used by implementation tools. This reference uses IHP SG13G2, not the SKY130 library used by the golden APB primer. Standard cells are predesigned gates and storage elements with characterised timing and physical views.</a:t>
            </a:r>
          </a:p>
          <a:p xmlns:a="http://schemas.openxmlformats.org/drawingml/2006/main">
            <a:r>
              <a:t/>
            </a:r>
          </a:p>
          <a:p xmlns:a="http://schemas.openxmlformats.org/drawingml/2006/main">
            <a:r>
              <a:t>The source is compiled and checked under the unit workspace before synthesis. Yosys maps the functional logic into the pinned IHP SG13G2 standard-cell library. The current netlist contains 543 functional cells, excluding $scopeinfo metadata. The structural checker rejects remaining generic logic, latches or unresolved instances.</a:t>
            </a:r>
          </a:p>
          <a:p xmlns:a="http://schemas.openxmlformats.org/drawingml/2006/main">
            <a:r>
              <a:t/>
            </a:r>
          </a:p>
          <a:p xmlns:a="http://schemas.openxmlformats.org/drawingml/2006/main">
            <a:r>
              <a:t>The mapped count excludes $scopeinfo metadata. It is not the count of every placed instance after clock buffers, repair cells and fillers are added. It also does not mean that the original protocol has been independently proven for all possible transactions.</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The die outline for this standalone block is 300 x 300 um. The floorplan establishes rows and reference power/pin geometry. The placer must fit cells legally without overlaps and with room for routing. This is a block-level educational layout, not a complete padframe or package design.</a:t>
            </a:r>
          </a:p>
          <a:p xmlns:a="http://schemas.openxmlformats.org/drawingml/2006/main">
            <a:r>
              <a:t/>
            </a:r>
          </a:p>
          <a:p xmlns:a="http://schemas.openxmlformats.org/drawingml/2006/main">
            <a:r>
              <a:t>Mapped functional logic has 543 cells. After physical additions and fillers, the routed DEF contains 16,512 placed standard-cell instances. A filler occupies empty row sites; it is not another functional logic gate. That distinction explains why the two counts differ so much.</a:t>
            </a:r>
          </a:p>
          <a:p xmlns:a="http://schemas.openxmlformats.org/drawingml/2006/main">
            <a:r>
              <a:t/>
            </a:r>
          </a:p>
          <a:p xmlns:a="http://schemas.openxmlformats.org/drawingml/2006/main">
            <a:r>
              <a:t>Utilisation is the fraction of core area occupied by placed cell area. It is not simply functional-cell count divided by die size, and it changes between stages. This note does not substitute APB utilisation, row count or I/O count for unavailable protocol-specific measurements.</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A register samples its input at a clock edge. Clock buffers distribute that edge across the block; the difference in arrival times is called skew. The reference is constrained at 50 MHz / 20 ns.</a:t>
            </a:r>
          </a:p>
          <a:p xmlns:a="http://schemas.openxmlformats.org/drawingml/2006/main">
            <a:r>
              <a:t/>
            </a:r>
          </a:p>
          <a:p xmlns:a="http://schemas.openxmlformats.org/drawingml/2006/main">
            <a:r>
              <a:t>OpenROAD completes the staged physical flow. The reference die is 300 x 300 um. DEF records routed design geometry and cell placement; SPEF captures extracted parasitics used by the timing analysis. The scripts retain stage-specific output so the result can be investigated instead of relying on a final banner.</a:t>
            </a:r>
          </a:p>
          <a:p xmlns:a="http://schemas.openxmlformats.org/drawingml/2006/main">
            <a:r>
              <a:t/>
            </a:r>
          </a:p>
          <a:p xmlns:a="http://schemas.openxmlformats.org/drawingml/2006/main">
            <a:r>
              <a:t>Real interconnect has resistance and capacitance, called parasitics. Extraction writes these in SPEF for post-route timing. The retained router-rule DRC file is empty. That checks the router view of its work; it is not a full foundry-deck check of the exported polygons.</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The physical clock constraint is 50 MHz / 20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a:p xmlns:a="http://schemas.openxmlformats.org/drawingml/2006/main">
            <a:r>
              <a:t/>
            </a:r>
          </a:p>
          <a:p xmlns:a="http://schemas.openxmlformats.org/drawingml/2006/main">
            <a:r>
              <a:t>Current TT setup/hold slack is +15.75 / +0.17 ns. The slow-corner values are +14.45 / +0.24 ns. Both reports contain no VIOLATED marker. These numbers are taken directly from the local report files at document build time; the evidence manifest retains their hashes.</a:t>
            </a:r>
          </a:p>
          <a:p xmlns:a="http://schemas.openxmlformats.org/drawingml/2006/main">
            <a:r>
              <a:t/>
            </a:r>
          </a:p>
          <a:p xmlns:a="http://schemas.openxmlformats.org/drawingml/2006/main">
            <a:r>
              <a:t>I/O delays are reference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The GDS file contains 1,284,780 bytes and 45 structures. The independent decoder finds 16,512 placed standard-cell instances including fillers. That placement count is intentionally much larger than the 543 mapped functional cells: filler instances occupy unused placement sites and structures are unique hierarchy definitions.</a:t>
            </a:r>
          </a:p>
          <a:p xmlns:a="http://schemas.openxmlformats.org/drawingml/2006/main">
            <a:r>
              <a:t/>
            </a:r>
          </a:p>
          <a:p xmlns:a="http://schemas.openxmlformats.org/drawingml/2006/main">
            <a:r>
              <a:t>The decoder compares exported cell identities, coordinates and orientations against the routed DEF. A deliberately altered placement/export expectation fails, including under Python optimisation, so acceptance is not implemented with removable assert-only checks. Raw file SHA256 is a run-specific fingerprint because stream-out timestamps can change.</a:t>
            </a:r>
          </a:p>
          <a:p xmlns:a="http://schemas.openxmlformats.org/drawingml/2006/main">
            <a:r>
              <a:t/>
            </a:r>
          </a:p>
          <a:p xmlns:a="http://schemas.openxmlformats.org/drawingml/2006/main">
            <a:r>
              <a:t>The OpenROAD router-rule DRC report is empty. It is not a foundry-deck DRC result. LVS, antenna, scan/DFT, power integrity, padframe, tap/endcap strategy and manufacturing signoff remain unperformed. No empty routing report is promoted into a DRC-clean tapeout claim.</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Foundry DRC requires the applicable, qualified rule deck and an inspected report on the final polygons. Typical checks include minimum widths, spacing and enclosure. No foundry-deck DRC result has been accepted for this protocol reference. The router report is narrower evidence.</a:t>
            </a:r>
          </a:p>
          <a:p xmlns:a="http://schemas.openxmlformats.org/drawingml/2006/main">
            <a:r>
              <a:t/>
            </a:r>
          </a:p>
          <a:p xmlns:a="http://schemas.openxmlformats.org/drawingml/2006/main">
            <a:r>
              <a:t>LVS requires extracting a circuit from the layout and comparing devices and connectivity with the intended circuit. A structural GDS decoder checking cell references, coordinates and orientations does not perform that extraction or connectivity comparison. No accepted LVS match is available.</a:t>
            </a:r>
          </a:p>
          <a:p xmlns:a="http://schemas.openxmlformats.org/drawingml/2006/main">
            <a:r>
              <a:t/>
            </a:r>
          </a:p>
          <a:p xmlns:a="http://schemas.openxmlformats.org/drawingml/2006/main">
            <a:r>
              <a:t>Antenna, scan/DFT, power integrity, padframe, tap/endcap strategy and manufacturing release remain unperformed. The golden APB primer reports its own separate checks; those results do not transfer to SG13G2 or to this design.</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The directed functional result and the physical export result are both useful, but they prove different things. The physical build uses the fixed wrapper configuration and reference constraints. Additional modes, external peripherals, arbitrary clock relationships and board operation require their own evidence.</a:t>
            </a:r>
          </a:p>
          <a:p xmlns:a="http://schemas.openxmlformats.org/drawingml/2006/main">
            <a:r>
              <a:t/>
            </a:r>
          </a:p>
          <a:p xmlns:a="http://schemas.openxmlformats.org/drawingml/2006/main">
            <a:r>
              <a:t>Important protocol boundary: All 256 bytes are tested at prescale 4 only. The 2..7 sweep uses fixed TX 0x96 and RX 0x69. No parity or hardware flow control.</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The proven entry point is a WSL login Bash shell. igny init prepares the packaging runtime. Unsetting CRUCIBLE_ENV after initialisation allows the unit crucible.toml workspace selection to control tool resolution rather than an inherited environment override. This is the observed workflow, not a change to Crucible internals.</a:t>
            </a:r>
          </a:p>
          <a:p xmlns:a="http://schemas.openxmlformats.org/drawingml/2006/main">
            <a:r>
              <a:t/>
            </a:r>
          </a:p>
          <a:p xmlns:a="http://schemas.openxmlformats.org/drawingml/2006/main">
            <a:r>
              <a:t>Each unit has its existing environment and lock. The common tool set includes Icarus, Verilator, Yosys, OpenROAD and klayout-stream. The separate PDK checkout is IHP SG13G2 revision 22f43352dd8219f9007eb659e422e0d5fe28c5fb. A tool lock does not pin that external PDK by itself; IHP_PDK_ROOT must point to the matching installation.</a:t>
            </a:r>
          </a:p>
          <a:p xmlns:a="http://schemas.openxmlformats.org/drawingml/2006/main">
            <a:r>
              <a:t/>
            </a:r>
          </a:p>
          <a:p xmlns:a="http://schemas.openxmlformats.org/drawingml/2006/main">
            <a:r>
              <a:t>The documented machine could not use the pip klayout package as the expected stream-out executable; igny tool install klayout-stream supplies the proven converter. make lint sim checks functional behaviour, make flow executes the staged implementation, and node verify_build.mjs all inspects artifacts. Review normal and intentionally failing logs before accepting the result.</a:t>
            </a:r>
          </a:p>
          <a:p xmlns:a="http://schemas.openxmlformats.org/drawingml/2006/main">
            <a:r>
              <a:t/>
            </a:r>
          </a:p>
          <a:p xmlns:a="http://schemas.openxmlformats.org/drawingml/2006/main">
            <a:r>
              <a:t>Re-running a simulation can replace its VCD and invalidate an earlier document trace hash. Retain a document evidence manifest or regenerate the measured figures after the positive run. Do not silently preserve an old chart while claiming it is the newly generated waveform.</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Upstream: https://github.com/alexforencich/verilog-uart</a:t>
            </a:r>
          </a:p>
          <a:p xmlns:a="http://schemas.openxmlformats.org/drawingml/2006/main">
            <a:r>
              <a:t>Pinned commit: 1b867e53af738e4a8bc7c839ca2f1c07f40382dc</a:t>
            </a:r>
          </a:p>
          <a:p xmlns:a="http://schemas.openxmlformats.org/drawingml/2006/main">
            <a:r>
              <a:t>Licence: MIT, Alex Forencich, 2014-2017. Original source notices remain in the RTL. The document is authored by Ignytion; this does not transfer ownership of upstream code or remove its licence obligations.</a:t>
            </a:r>
          </a:p>
          <a:p xmlns:a="http://schemas.openxmlformats.org/drawingml/2006/main">
            <a:r>
              <a:t/>
            </a:r>
          </a:p>
          <a:p xmlns:a="http://schemas.openxmlformats.org/drawingml/2006/main">
            <a:r>
              <a:t>Local modifications, directed test stimulus and source boundaries are recorded in hw/protocols/uart/README.md and the repository append-only .context.md. The first three protocol lessons have separate editable 16:9 student decks; this A4 technical note is a reading and evidence document, not a replacement for their instructor notes.</a:t>
            </a:r>
          </a:p>
          <a:p xmlns:a="http://schemas.openxmlformats.org/drawingml/2006/main">
            <a:r>
              <a:t/>
            </a:r>
          </a:p>
          <a:p xmlns:a="http://schemas.openxmlformats.org/drawingml/2006/main">
            <a:r>
              <a:t>Primary reading: Microchip EUSART/AUSART framing reference, plus the pinned verilog-uart counters and handshake.</a:t>
            </a:r>
          </a:p>
          <a:p xmlns:a="http://schemas.openxmlformats.org/drawingml/2006/main">
            <a:r>
              <a:t>Primary framing reference: https://developerhelp.microchip.com/xwiki/bin/view/products/mcu-mpu/8bit-pic/peripherals/eusart-ausart/</a:t>
            </a:r>
          </a:p>
          <a:p xmlns:a="http://schemas.openxmlformats.org/drawingml/2006/main">
            <a:r>
              <a:t/>
            </a:r>
          </a:p>
          <a:p xmlns:a="http://schemas.openxmlformats.org/drawingml/2006/main">
            <a:r>
              <a:t>Open work remains explicit: All 256 bytes are tested at prescale 4 only. The 2..7 sweep uses fixed TX 0x96 and RX 0x69. No parity or hardware flow control. Full-chip integration, manufacturing checks and board validation are not closed by the standalone reference flow. The reader can reproduce the listed evidence without assuming those larger obligations have already been completed.</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docs/UART_Protocol_RTL_to_GDS_Ignytion_A4.pptx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hw/protocols/uart</a:t>
            </a:r>
          </a:p>
          <a:p xmlns:a="http://schemas.openxmlformats.org/drawingml/2006/main">
            <a:r>
              <a:t>https://github.com/alexforencich/verilog-uart</a:t>
            </a:r>
          </a:p>
          <a:p xmlns:a="http://schemas.openxmlformats.org/drawingml/2006/main">
            <a:r>
              <a:t>Pinned commit 1b867e53af738e4a8bc7c839ca2f1c07f40382dc</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hw/protocols/uart/01_rtl/LICENSE.forencich</a:t>
            </a:r>
          </a:p>
          <a:p xmlns:a="http://schemas.openxmlformats.org/drawingml/2006/main">
            <a:r>
              <a:t># Created     : 2026-10-03</a:t>
            </a:r>
          </a:p>
          <a:p xmlns:a="http://schemas.openxmlformats.org/drawingml/2006/main">
            <a:r>
              <a:t># Description : Protocol reference integration and teaching build.</a:t>
            </a:r>
          </a:p>
          <a:p xmlns:a="http://schemas.openxmlformats.org/drawingml/2006/main">
            <a:r>
              <a:t># Upstream copyright and licence notices below remain applicable.</a:t>
            </a:r>
          </a:p>
          <a:p xmlns:a="http://schemas.openxmlformats.org/drawingml/2006/main">
            <a:r>
              <a:t># ===============================================================================</a:t>
            </a:r>
          </a:p>
          <a:p xmlns:a="http://schemas.openxmlformats.org/drawingml/2006/main">
            <a:r>
              <a:t>Copyright (c) 2014-2017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0c4f4c209442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6aa0d1a7f045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469fb895fb41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846fc263864f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ae1ba06e1047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625bed807c43b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72f95aea36a433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0e14ab98edb4c4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98ae286aeb249e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2162cac6a4c4e0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e87ce480a044c9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380910-5F7C-4058-9339-EC2CEEAC8A9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32D15AF-1F83-4B4D-AF5C-63AD43F78F69}"/>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2C6CAB90-B1CD-4A94-AEC0-80E9DD4550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8A5B183A-D02C-4FC1-B41F-02382C8773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B08AD5E-1E66-42F9-9D0F-EBCCDDD706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7E7881-06E0-4575-A318-BB1BD8F593B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A9B4107-0784-4D3C-BC9D-244EB033C1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26FF39E-633B-457C-8421-32E04568D9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5D9A5205-31AE-4697-B7F1-1FBDE4D190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4E76BBF-7270-4451-B7FE-7AFF3C2D4A4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9BA78C-1771-418A-B91B-1652BD59FCCE}"/>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2213F26-B78D-4DD5-9DCC-9F02913EB883}"/>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73511E5-8CFD-4C65-B11E-D589A682C5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33BB0150-C9E5-4D61-A9C5-A3B04BA22B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E105D96-D22C-49AD-AACC-964A46924E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94F545-8BB4-4A6B-B996-E9E01B038B9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4F6DEDB-F3F7-4BE0-8657-0A32953D618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CDFE0C11-F261-4E90-9151-1FD450FFBD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7D43CDD-9AE5-460A-83F8-5730E7097F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A86888C8-72A8-4ACE-81D9-5B38D2E76A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029BFCE-9255-4D94-B35E-61DCBC3994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C0CC65-ADC6-4BF6-94DE-E460F96002F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FC665E-F733-4D86-BFC1-50B32714C2D8}"/>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C3FFE18-F6E6-43BF-9F3D-92AF1834857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AAB2E378-CEAC-4A38-8E91-2BDC8CA35418}"/>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B9FF2FC-F9D8-42BA-B9EF-42B945DBE16F}"/>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26B90929-FE44-432C-BCC2-3E507DDCF5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8" name="Footer Placeholder 7">
            <a:extLst xmlns:a="http://schemas.openxmlformats.org/drawingml/2006/main">
              <a:ext uri="{FF2B5EF4-FFF2-40B4-BE49-F238E27FC236}">
                <a16:creationId xmlns:a16="http://schemas.microsoft.com/office/drawing/2014/main" id="{C103A234-B192-4C62-BB5F-FCFB9DAF8E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882B4B13-702D-4A68-B55E-6A2DBC6E87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1632416-7262-4745-9509-ACCD7E88D7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3C13194-A93A-4ACD-A0B4-FCB3B3C05D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4" name="Footer Placeholder 3">
            <a:extLst xmlns:a="http://schemas.openxmlformats.org/drawingml/2006/main">
              <a:ext uri="{FF2B5EF4-FFF2-40B4-BE49-F238E27FC236}">
                <a16:creationId xmlns:a16="http://schemas.microsoft.com/office/drawing/2014/main" id="{B8DF9EE0-C8F5-4A34-99AB-5A40E2B017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7E8B503-EEF9-4106-8B16-6D47E29A00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701C8FE-7976-47E1-8125-120197AAF7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3" name="Footer Placeholder 2">
            <a:extLst xmlns:a="http://schemas.openxmlformats.org/drawingml/2006/main">
              <a:ext uri="{FF2B5EF4-FFF2-40B4-BE49-F238E27FC236}">
                <a16:creationId xmlns:a16="http://schemas.microsoft.com/office/drawing/2014/main" id="{DCA3BBC9-5E4D-4E64-A4C7-2A0439C2EA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EB8D478-D826-400D-8C7F-5AA49755A6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76F7F59-BC11-4992-A05E-F75481108A0A}"/>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587495C-729E-4CA0-83F8-F357BF9BB6BC}"/>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5C8EC5B9-8265-4029-93A5-CC929939AB09}"/>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00B4FCB-BAC1-4329-B8A3-21204A8D83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63993294-783D-4275-A478-7296830B41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59F023A-1FCD-4510-A147-6A77D2B1B8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F1330F-64EF-4521-950C-60D84371A56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7F50038C-7C71-4358-9981-7DEC64D18B2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217F1F7-FDCD-4693-976E-DE0900D0902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764E51-413E-4B0F-8B80-E0C7BC74FE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046FED6D-4CE2-4B72-ACCA-0C980DE3A4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AAA5CF4-E8F8-4CDB-9C04-5010F2281E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710E45E-E08F-4D7B-9383-C115EE6B0A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1D44E35-6806-4F75-9F7F-E248A729921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757CF29-7F83-452B-872A-73113B2B24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7333B69A-ED59-4367-8E9A-07D1D92AC3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6C5FEFE-28D4-47A0-BA27-F9AF23D75E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0AA50B0-1750-4BD7-86B2-BB5627A4ABE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51A81DFD-2A44-4B9B-8483-589BFF8DA87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C318F69-25FD-4621-9D7A-A055909408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88777959-F80A-4939-BD8F-C2DA48016E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A43FFE8-3513-4006-B552-EC4D2D8B90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cc4342336f4b82" /><Relationship Type="http://schemas.openxmlformats.org/officeDocument/2006/relationships/slideLayout" Target="/ppt/slideLayouts/slideLayout1.xml" Id="Ree6cad979fe04534" /><Relationship Type="http://schemas.openxmlformats.org/officeDocument/2006/relationships/slideLayout" Target="/ppt/slideLayouts/slideLayout2.xml" Id="Rd0b8b0789d4d4ac3" /><Relationship Type="http://schemas.openxmlformats.org/officeDocument/2006/relationships/slideLayout" Target="/ppt/slideLayouts/slideLayout3.xml" Id="R993c1355939a4524" /><Relationship Type="http://schemas.openxmlformats.org/officeDocument/2006/relationships/slideLayout" Target="/ppt/slideLayouts/slideLayout4.xml" Id="Rcf402186329d4b3f" /><Relationship Type="http://schemas.openxmlformats.org/officeDocument/2006/relationships/slideLayout" Target="/ppt/slideLayouts/slideLayout5.xml" Id="Rb9bb892416ef456e" /><Relationship Type="http://schemas.openxmlformats.org/officeDocument/2006/relationships/slideLayout" Target="/ppt/slideLayouts/slideLayout6.xml" Id="R4f568922d900425e" /><Relationship Type="http://schemas.openxmlformats.org/officeDocument/2006/relationships/slideLayout" Target="/ppt/slideLayouts/slideLayout7.xml" Id="R9298bd408e6f42c1" /><Relationship Type="http://schemas.openxmlformats.org/officeDocument/2006/relationships/slideLayout" Target="/ppt/slideLayouts/slideLayout8.xml" Id="R320ca82733c9482f" /><Relationship Type="http://schemas.openxmlformats.org/officeDocument/2006/relationships/slideLayout" Target="/ppt/slideLayouts/slideLayout9.xml" Id="R55e868095df5473b" /><Relationship Type="http://schemas.openxmlformats.org/officeDocument/2006/relationships/slideLayout" Target="/ppt/slideLayouts/slideLayout10.xml" Id="Redcd81e871484724" /><Relationship Type="http://schemas.openxmlformats.org/officeDocument/2006/relationships/slideLayout" Target="/ppt/slideLayouts/slideLayout11.xml" Id="Raebe38d2222840c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531AAC6-8150-4C23-A36A-599254804E2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A115ABC-F2D7-4A21-BAD4-EFA31DD4EF37}"/>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8E76BE8-85ED-4FC2-B2A8-079337930AC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3F0598E0-E222-44CD-98E9-F27E7499EFA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5D4E315-1D56-4401-A6C2-66A6CD3FC6A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6cad979fe04534"/>
    <p:sldLayoutId xmlns:r="http://schemas.openxmlformats.org/officeDocument/2006/relationships" id="2147483650" r:id="Rd0b8b0789d4d4ac3"/>
    <p:sldLayoutId xmlns:r="http://schemas.openxmlformats.org/officeDocument/2006/relationships" id="2147483651" r:id="R993c1355939a4524"/>
    <p:sldLayoutId xmlns:r="http://schemas.openxmlformats.org/officeDocument/2006/relationships" id="2147483652" r:id="Rcf402186329d4b3f"/>
    <p:sldLayoutId xmlns:r="http://schemas.openxmlformats.org/officeDocument/2006/relationships" id="2147483653" r:id="Rb9bb892416ef456e"/>
    <p:sldLayoutId xmlns:r="http://schemas.openxmlformats.org/officeDocument/2006/relationships" id="2147483654" r:id="R4f568922d900425e"/>
    <p:sldLayoutId xmlns:r="http://schemas.openxmlformats.org/officeDocument/2006/relationships" id="2147483655" r:id="R9298bd408e6f42c1"/>
    <p:sldLayoutId xmlns:r="http://schemas.openxmlformats.org/officeDocument/2006/relationships" id="2147483656" r:id="R320ca82733c9482f"/>
    <p:sldLayoutId xmlns:r="http://schemas.openxmlformats.org/officeDocument/2006/relationships" id="2147483657" r:id="R55e868095df5473b"/>
    <p:sldLayoutId xmlns:r="http://schemas.openxmlformats.org/officeDocument/2006/relationships" id="2147483658" r:id="Redcd81e871484724"/>
    <p:sldLayoutId xmlns:r="http://schemas.openxmlformats.org/officeDocument/2006/relationships" id="2147483659" r:id="Raebe38d2222840c9"/>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b0b06d01391487d" /><Relationship Type="http://schemas.openxmlformats.org/officeDocument/2006/relationships/image" Target="/ppt/media/image.png" Id="R593d2d58a4194902" /><Relationship Type="http://schemas.openxmlformats.org/officeDocument/2006/relationships/notesSlide" Target="/ppt/notesSlides/notesSlide1.xml" Id="Re875c7f3dc7f42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f9203eb7f314744" /><Relationship Type="http://schemas.openxmlformats.org/officeDocument/2006/relationships/image" Target="/ppt/media/image.png" Id="R87f32edb95e5418b" /><Relationship Type="http://schemas.openxmlformats.org/officeDocument/2006/relationships/notesSlide" Target="/ppt/notesSlides/notesSlide2.xml" Id="R625210c2ee654e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cbc121dd6a8485a" /><Relationship Type="http://schemas.openxmlformats.org/officeDocument/2006/relationships/image" Target="/ppt/media/image.png" Id="R6ba19b7df81540c6" /><Relationship Type="http://schemas.openxmlformats.org/officeDocument/2006/relationships/notesSlide" Target="/ppt/notesSlides/notesSlide3.xml" Id="R3fb58d47f4a54c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e28dd5eb0bb4f2a" /><Relationship Type="http://schemas.openxmlformats.org/officeDocument/2006/relationships/image" Target="/ppt/media/image.png" Id="R9b5f4613a4404226" /><Relationship Type="http://schemas.openxmlformats.org/officeDocument/2006/relationships/notesSlide" Target="/ppt/notesSlides/notesSlide4.xml" Id="R573f0e0fdcb04f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a0bcd3ec3e404737" /><Relationship Type="http://schemas.openxmlformats.org/officeDocument/2006/relationships/image" Target="/ppt/media/image.png" Id="R8ba46c2c88ce4d0c" /><Relationship Type="http://schemas.openxmlformats.org/officeDocument/2006/relationships/notesSlide" Target="/ppt/notesSlides/notesSlide5.xml" Id="R5ade6e75dce14b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06912644c1c44598" /><Relationship Type="http://schemas.openxmlformats.org/officeDocument/2006/relationships/image" Target="/ppt/media/image.png" Id="R3f99f99a00474bee" /><Relationship Type="http://schemas.openxmlformats.org/officeDocument/2006/relationships/notesSlide" Target="/ppt/notesSlides/notesSlide6.xml" Id="R8b01bd29053a4f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2337841fccca411b" /><Relationship Type="http://schemas.openxmlformats.org/officeDocument/2006/relationships/image" Target="/ppt/media/image.png" Id="Rac8b304f1b754cf8" /><Relationship Type="http://schemas.openxmlformats.org/officeDocument/2006/relationships/notesSlide" Target="/ppt/notesSlides/notesSlide7.xml" Id="R6056128eade349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bd4c9510f4b4fa3" /><Relationship Type="http://schemas.openxmlformats.org/officeDocument/2006/relationships/image" Target="/ppt/media/image.png" Id="R429ded8629c24ca3" /><Relationship Type="http://schemas.openxmlformats.org/officeDocument/2006/relationships/notesSlide" Target="/ppt/notesSlides/notesSlide8.xml" Id="R9a3afd68c7da44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e39442ec58e47fd" /><Relationship Type="http://schemas.openxmlformats.org/officeDocument/2006/relationships/image" Target="/ppt/media/image.png" Id="R9322bfb79e904d46" /><Relationship Type="http://schemas.openxmlformats.org/officeDocument/2006/relationships/notesSlide" Target="/ppt/notesSlides/notesSlide9.xml" Id="R0f63116e599b49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a0bcf657e83e4aa8" /><Relationship Type="http://schemas.openxmlformats.org/officeDocument/2006/relationships/image" Target="/ppt/media/image.png" Id="R3380bdc5c0d5470d" /><Relationship Type="http://schemas.openxmlformats.org/officeDocument/2006/relationships/notesSlide" Target="/ppt/notesSlides/notesSlide10.xml" Id="R47edc5670dd64c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70132e1968ae4bbb" /><Relationship Type="http://schemas.openxmlformats.org/officeDocument/2006/relationships/image" Target="/ppt/media/image.png" Id="R39e792546a504cd4" /><Relationship Type="http://schemas.openxmlformats.org/officeDocument/2006/relationships/chart" Target="/ppt/slides/charts/chart1.xml" Id="Rd954808db1394a59" /><Relationship Type="http://schemas.openxmlformats.org/officeDocument/2006/relationships/chart" Target="/ppt/slides/charts/chart2.xml" Id="R4385a26a2d9c4402" /><Relationship Type="http://schemas.openxmlformats.org/officeDocument/2006/relationships/notesSlide" Target="/ppt/notesSlides/notesSlide11.xml" Id="R14a6417a76f242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26a3317458074397" /><Relationship Type="http://schemas.openxmlformats.org/officeDocument/2006/relationships/image" Target="/ppt/media/image.png" Id="Rdd9831189b6b40ce" /><Relationship Type="http://schemas.openxmlformats.org/officeDocument/2006/relationships/notesSlide" Target="/ppt/notesSlides/notesSlide12.xml" Id="R464e65c22c8441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55f61f1747994206" /><Relationship Type="http://schemas.openxmlformats.org/officeDocument/2006/relationships/image" Target="/ppt/media/image.png" Id="R29844fb7527a4376" /><Relationship Type="http://schemas.openxmlformats.org/officeDocument/2006/relationships/notesSlide" Target="/ppt/notesSlides/notesSlide13.xml" Id="R5460a702710e48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abf4c7a290894aa8" /><Relationship Type="http://schemas.openxmlformats.org/officeDocument/2006/relationships/image" Target="/ppt/media/image.png" Id="R68e9f0c876d34047" /><Relationship Type="http://schemas.openxmlformats.org/officeDocument/2006/relationships/notesSlide" Target="/ppt/notesSlides/notesSlide14.xml" Id="R93778febde7c43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21564d0f8efa4fc5" /><Relationship Type="http://schemas.openxmlformats.org/officeDocument/2006/relationships/image" Target="/ppt/media/image.png" Id="Rfba004606bed4f8d" /><Relationship Type="http://schemas.openxmlformats.org/officeDocument/2006/relationships/notesSlide" Target="/ppt/notesSlides/notesSlide15.xml" Id="R0f32a7583ea547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c42089a2bf63459f" /><Relationship Type="http://schemas.openxmlformats.org/officeDocument/2006/relationships/image" Target="/ppt/media/image.png" Id="Ra80033797b084013" /><Relationship Type="http://schemas.openxmlformats.org/officeDocument/2006/relationships/notesSlide" Target="/ppt/notesSlides/notesSlide16.xml" Id="R5aae307fe76b4e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55d62ee5e21b4ced" /><Relationship Type="http://schemas.openxmlformats.org/officeDocument/2006/relationships/image" Target="/ppt/media/image.png" Id="R0f85a1b4b1af4143" /><Relationship Type="http://schemas.openxmlformats.org/officeDocument/2006/relationships/notesSlide" Target="/ppt/notesSlides/notesSlide17.xml" Id="R407e49f384b746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ce9c79ea525e4d97" /><Relationship Type="http://schemas.openxmlformats.org/officeDocument/2006/relationships/image" Target="/ppt/media/image.png" Id="R6f8c62577d76469d" /><Relationship Type="http://schemas.openxmlformats.org/officeDocument/2006/relationships/notesSlide" Target="/ppt/notesSlides/notesSlide18.xml" Id="Rb575155177a548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84b5601d5f3643c6" /><Relationship Type="http://schemas.openxmlformats.org/officeDocument/2006/relationships/image" Target="/ppt/media/image.png" Id="R08ecd571a1384823" /><Relationship Type="http://schemas.openxmlformats.org/officeDocument/2006/relationships/notesSlide" Target="/ppt/notesSlides/notesSlide19.xml" Id="R80afb5ec919943f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6a5191e4b3da4e7c" /><Relationship Type="http://schemas.openxmlformats.org/officeDocument/2006/relationships/image" Target="/ppt/media/image.png" Id="Rf31e73d2af784ce7" /><Relationship Type="http://schemas.openxmlformats.org/officeDocument/2006/relationships/notesSlide" Target="/ppt/notesSlides/notesSlide20.xml" Id="R8e0ef761cd704a6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11de07fac7834749" /><Relationship Type="http://schemas.openxmlformats.org/officeDocument/2006/relationships/image" Target="/ppt/media/image.png" Id="Ra404ca6235644b51" /><Relationship Type="http://schemas.openxmlformats.org/officeDocument/2006/relationships/notesSlide" Target="/ppt/notesSlides/notesSlide21.xml" Id="R027e7333f11f4c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f6c2f8f82513453b" /><Relationship Type="http://schemas.openxmlformats.org/officeDocument/2006/relationships/image" Target="/ppt/media/image.png" Id="R8fb2fc98a7bb4afa" /><Relationship Type="http://schemas.openxmlformats.org/officeDocument/2006/relationships/notesSlide" Target="/ppt/notesSlides/notesSlide22.xml" Id="Re19b56c2c44046c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89ed0caecf524b03" /><Relationship Type="http://schemas.openxmlformats.org/officeDocument/2006/relationships/image" Target="/ppt/media/image.png" Id="R439c0bd59be34d5b" /><Relationship Type="http://schemas.openxmlformats.org/officeDocument/2006/relationships/notesSlide" Target="/ppt/notesSlides/notesSlide23.xml" Id="R197720cfa8d149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6e3499bef5d343fc" /><Relationship Type="http://schemas.openxmlformats.org/officeDocument/2006/relationships/image" Target="/ppt/media/image.png" Id="R1d612449f0a34d2f" /><Relationship Type="http://schemas.openxmlformats.org/officeDocument/2006/relationships/notesSlide" Target="/ppt/notesSlides/notesSlide24.xml" Id="R2ac9e48c097f45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a:solidFill>
                  <a:srgbClr val="111111"/>
                </a:solidFill>
                <a:latin typeface="Consolas"/>
                <a:ea typeface="Consolas"/>
                <a:cs typeface="Consolas"/>
              </a:rPr>
              <a:t>TX</a:t>
            </a:r>
          </a:p>
        </c:rich>
      </c:tx>
      <c:overlay val="0"/>
      <c:txPr>
        <a:bodyPr xmlns:a="http://schemas.openxmlformats.org/drawingml/2006/main" anchorCtr="1"/>
        <a:lstStyle xmlns:a="http://schemas.openxmlformats.org/drawingml/2006/main"/>
        <a:p xmlns:a="http://schemas.openxmlformats.org/drawingml/2006/main">
          <a:pPr>
            <a:defRPr sz="975">
              <a:solidFill>
                <a:srgbClr val="111111"/>
              </a:solidFill>
              <a:latin typeface="Consolas"/>
              <a:ea typeface="Consolas"/>
              <a:cs typeface="Consolas"/>
            </a:defRPr>
          </a:pPr>
        </a:p>
      </c:txPr>
    </c:title>
    <c:plotArea>
      <c:scatterChart>
        <c:scatterStyle val="line"/>
        <c:ser>
          <c:idx val="0"/>
          <c:order val="0"/>
          <c:tx>
            <c:v>TX</c:v>
          </c:tx>
          <c:spPr>
            <a:ln xmlns:a="http://schemas.openxmlformats.org/drawingml/2006/main" w="19050">
              <a:solidFill>
                <a:srgbClr val="EF9529"/>
              </a:solidFill>
            </a:ln>
          </c:spPr>
          <c:marker>
            <c:symbol val="none"/>
          </c:marker>
          <c:xVal>
            <c:numRef>
              <c:f>'Chart Data'!$A$2:$A$19</c:f>
              <c:numCache>
                <c:formatCode>General</c:formatCode>
                <c:ptCount val="18"/>
                <c:pt idx="0">
                  <c:v>0</c:v>
                </c:pt>
                <c:pt idx="1">
                  <c:v>0.32</c:v>
                </c:pt>
                <c:pt idx="2">
                  <c:v>0.32</c:v>
                </c:pt>
                <c:pt idx="3">
                  <c:v>0.96</c:v>
                </c:pt>
                <c:pt idx="4">
                  <c:v>0.96</c:v>
                </c:pt>
                <c:pt idx="5">
                  <c:v>2.24</c:v>
                </c:pt>
                <c:pt idx="6">
                  <c:v>2.24</c:v>
                </c:pt>
                <c:pt idx="7">
                  <c:v>3.52</c:v>
                </c:pt>
                <c:pt idx="8">
                  <c:v>3.52</c:v>
                </c:pt>
                <c:pt idx="9">
                  <c:v>4.16</c:v>
                </c:pt>
                <c:pt idx="10">
                  <c:v>4.16</c:v>
                </c:pt>
                <c:pt idx="11">
                  <c:v>4.8</c:v>
                </c:pt>
                <c:pt idx="12">
                  <c:v>4.8</c:v>
                </c:pt>
                <c:pt idx="13">
                  <c:v>5.44</c:v>
                </c:pt>
                <c:pt idx="14">
                  <c:v>5.44</c:v>
                </c:pt>
                <c:pt idx="15">
                  <c:v>6.08</c:v>
                </c:pt>
                <c:pt idx="16">
                  <c:v>6.08</c:v>
                </c:pt>
                <c:pt idx="17">
                  <c:v>7.04</c:v>
                </c:pt>
              </c:numCache>
            </c:numRef>
          </c:xVal>
          <c:yVal>
            <c:numRef>
              <c:f>'Chart Data'!$B$2:$B$19</c:f>
              <c:numCache>
                <c:formatCode>General</c:formatCode>
                <c:ptCount val="18"/>
                <c:pt idx="0">
                  <c:v>1</c:v>
                </c:pt>
                <c:pt idx="1">
                  <c:v>1</c:v>
                </c:pt>
                <c:pt idx="2">
                  <c:v>0</c:v>
                </c:pt>
                <c:pt idx="3">
                  <c:v>0</c:v>
                </c:pt>
                <c:pt idx="4">
                  <c:v>1</c:v>
                </c:pt>
                <c:pt idx="5">
                  <c:v>1</c:v>
                </c:pt>
                <c:pt idx="6">
                  <c:v>0</c:v>
                </c:pt>
                <c:pt idx="7">
                  <c:v>0</c:v>
                </c:pt>
                <c:pt idx="8">
                  <c:v>1</c:v>
                </c:pt>
                <c:pt idx="9">
                  <c:v>1</c:v>
                </c:pt>
                <c:pt idx="10">
                  <c:v>0</c:v>
                </c:pt>
                <c:pt idx="11">
                  <c:v>0</c:v>
                </c:pt>
                <c:pt idx="12">
                  <c:v>1</c:v>
                </c:pt>
                <c:pt idx="13">
                  <c:v>1</c:v>
                </c:pt>
                <c:pt idx="14">
                  <c:v>0</c:v>
                </c:pt>
                <c:pt idx="15">
                  <c:v>0</c:v>
                </c:pt>
                <c:pt idx="16">
                  <c:v>1</c:v>
                </c:pt>
                <c:pt idx="17">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50112"/>
        <c:majorUnit val="1"/>
      </c:valAx>
      <c:valAx>
        <c:axId val="48650112"/>
        <c:scaling>
          <c:orientation val="minMax"/>
          <c:max val="7.04"/>
          <c:min val="0"/>
        </c:scaling>
        <c:delete val="0"/>
        <c:axPos val="b"/>
        <c:majorGridlines>
          <c:spPr>
            <a:ln xmlns:a="http://schemas.openxmlformats.org/drawingml/2006/main" w="4763">
              <a:solidFill>
                <a:srgbClr val="EAEAEA"/>
              </a:solidFill>
            </a:ln>
          </c:spPr>
        </c:majorGridlines>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975">
                <a:solidFill>
                  <a:srgbClr val="111111"/>
                </a:solidFill>
                <a:latin typeface="Consolas"/>
                <a:ea typeface="Consolas"/>
                <a:cs typeface="Consolas"/>
              </a:rPr>
              <a:t>RX</a:t>
            </a:r>
          </a:p>
        </c:rich>
      </c:tx>
      <c:overlay val="0"/>
      <c:txPr>
        <a:bodyPr xmlns:a="http://schemas.openxmlformats.org/drawingml/2006/main" anchorCtr="1"/>
        <a:lstStyle xmlns:a="http://schemas.openxmlformats.org/drawingml/2006/main"/>
        <a:p xmlns:a="http://schemas.openxmlformats.org/drawingml/2006/main">
          <a:pPr>
            <a:defRPr sz="975">
              <a:solidFill>
                <a:srgbClr val="111111"/>
              </a:solidFill>
              <a:latin typeface="Consolas"/>
              <a:ea typeface="Consolas"/>
              <a:cs typeface="Consolas"/>
            </a:defRPr>
          </a:pPr>
        </a:p>
      </c:txPr>
    </c:title>
    <c:plotArea>
      <c:scatterChart>
        <c:scatterStyle val="line"/>
        <c:ser>
          <c:idx val="0"/>
          <c:order val="0"/>
          <c:tx>
            <c:v>RX</c:v>
          </c:tx>
          <c:spPr>
            <a:ln xmlns:a="http://schemas.openxmlformats.org/drawingml/2006/main" w="19050">
              <a:solidFill>
                <a:srgbClr val="444444"/>
              </a:solidFill>
            </a:ln>
          </c:spPr>
          <c:marker>
            <c:symbol val="none"/>
          </c:marker>
          <c:xVal>
            <c:numRef>
              <c:f>'Chart Data'!$A$2:$A$15</c:f>
              <c:numCache>
                <c:formatCode>General</c:formatCode>
                <c:ptCount val="14"/>
                <c:pt idx="0">
                  <c:v>0</c:v>
                </c:pt>
                <c:pt idx="1">
                  <c:v>0.31</c:v>
                </c:pt>
                <c:pt idx="2">
                  <c:v>0.31</c:v>
                </c:pt>
                <c:pt idx="3">
                  <c:v>2.23</c:v>
                </c:pt>
                <c:pt idx="4">
                  <c:v>2.23</c:v>
                </c:pt>
                <c:pt idx="5">
                  <c:v>3.51</c:v>
                </c:pt>
                <c:pt idx="6">
                  <c:v>3.51</c:v>
                </c:pt>
                <c:pt idx="7">
                  <c:v>4.15</c:v>
                </c:pt>
                <c:pt idx="8">
                  <c:v>4.15</c:v>
                </c:pt>
                <c:pt idx="9">
                  <c:v>4.79</c:v>
                </c:pt>
                <c:pt idx="10">
                  <c:v>4.79</c:v>
                </c:pt>
                <c:pt idx="11">
                  <c:v>5.43</c:v>
                </c:pt>
                <c:pt idx="12">
                  <c:v>5.43</c:v>
                </c:pt>
                <c:pt idx="13">
                  <c:v>7.04</c:v>
                </c:pt>
              </c:numCache>
            </c:numRef>
          </c:xVal>
          <c:yVal>
            <c:numRef>
              <c:f>'Chart Data'!$B$2:$B$15</c:f>
              <c:numCache>
                <c:formatCode>General</c:formatCode>
                <c:ptCount val="14"/>
                <c:pt idx="0">
                  <c:v>1</c:v>
                </c:pt>
                <c:pt idx="1">
                  <c:v>1</c:v>
                </c:pt>
                <c:pt idx="2">
                  <c:v>0</c:v>
                </c:pt>
                <c:pt idx="3">
                  <c:v>0</c:v>
                </c:pt>
                <c:pt idx="4">
                  <c:v>1</c:v>
                </c:pt>
                <c:pt idx="5">
                  <c:v>1</c:v>
                </c:pt>
                <c:pt idx="6">
                  <c:v>0</c:v>
                </c:pt>
                <c:pt idx="7">
                  <c:v>0</c:v>
                </c:pt>
                <c:pt idx="8">
                  <c:v>1</c:v>
                </c:pt>
                <c:pt idx="9">
                  <c:v>1</c:v>
                </c:pt>
                <c:pt idx="10">
                  <c:v>0</c:v>
                </c:pt>
                <c:pt idx="11">
                  <c:v>0</c:v>
                </c:pt>
                <c:pt idx="12">
                  <c:v>1</c:v>
                </c:pt>
                <c:pt idx="13">
                  <c:v>1</c:v>
                </c:pt>
              </c:numCache>
            </c:numRef>
          </c:yVal>
          <c:smooth val="0"/>
        </c:ser>
        <c:axId val="48650112"/>
        <c:axId val="48672768"/>
      </c:scatterChart>
      <c:valAx>
        <c:axId val="48672768"/>
        <c:scaling>
          <c:orientation val="minMax"/>
          <c:max val="1"/>
          <c:min val="0"/>
        </c:scaling>
        <c:delete val="0"/>
        <c:axPos val="l"/>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50112"/>
        <c:majorUnit val="1"/>
      </c:valAx>
      <c:valAx>
        <c:axId val="48650112"/>
        <c:scaling>
          <c:orientation val="minMax"/>
          <c:max val="7.04"/>
          <c:min val="0"/>
        </c:scaling>
        <c:delete val="0"/>
        <c:axPos val="b"/>
        <c:majorGridlines>
          <c:spPr>
            <a:ln xmlns:a="http://schemas.openxmlformats.org/drawingml/2006/main" w="4763">
              <a:solidFill>
                <a:srgbClr val="EAEAEA"/>
              </a:solidFill>
            </a:ln>
          </c:spPr>
        </c:majorGridlines>
        <c:title>
          <c:tx>
            <c:rich>
              <a:bodyPr xmlns:a="http://schemas.openxmlformats.org/drawingml/2006/main"/>
              <a:lstStyle xmlns:a="http://schemas.openxmlformats.org/drawingml/2006/main"/>
              <a:p xmlns:a="http://schemas.openxmlformats.org/drawingml/2006/main">
                <a:r>
                  <a:rPr sz="900">
                    <a:solidFill>
                      <a:srgbClr val="777777"/>
                    </a:solidFill>
                    <a:latin typeface="Segoe UI"/>
                    <a:ea typeface="Segoe UI"/>
                    <a:cs typeface="Segoe UI"/>
                  </a:rPr>
                  <a:t>Time from crop start (us)</a:t>
                </a:r>
              </a:p>
            </c:rich>
          </c:tx>
          <c:overlay val="0"/>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title>
        <c:numFmt formatCode="General"/>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777777"/>
                </a:solidFill>
                <a:latin typeface="Segoe UI"/>
                <a:ea typeface="Segoe UI"/>
                <a:cs typeface="Segoe U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5817538-536C-4006-89D5-7EC091371D8D}"/>
              </a:ext>
            </a:extLst>
          </p:cNvPr>
          <p:cNvSpPr>
            <a:spLocks xmlns:a="http://schemas.openxmlformats.org/drawingml/2006/main" noGrp="1"/>
          </p:cNvSpPr>
          <p:nvPr/>
        </p:nvSpPr>
        <p:spPr>
          <a:xfrm xmlns:a="http://schemas.openxmlformats.org/drawingml/2006/main">
            <a:off x="0" y="0"/>
            <a:ext cx="7562088" cy="73152"/>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5" name="Picture 2"/>
          <p:cNvPicPr>
            <a:picLocks xmlns:a="http://schemas.openxmlformats.org/drawingml/2006/main" noChangeAspect="1"/>
          </p:cNvPicPr>
          <p:nvPr/>
        </p:nvPicPr>
        <p:blipFill>
          <a:blip xmlns:r="http://schemas.openxmlformats.org/officeDocument/2006/relationships" xmlns:a="http://schemas.openxmlformats.org/drawingml/2006/main" r:embed="R593d2d58a4194902"/>
          <a:stretch xmlns:a="http://schemas.openxmlformats.org/drawingml/2006/main">
            <a:fillRect l="0" t="0" r="0" b="0"/>
          </a:stretch>
        </p:blipFill>
        <p:spPr>
          <a:xfrm xmlns:a="http://schemas.openxmlformats.org/drawingml/2006/main">
            <a:off x="395935" y="425196"/>
            <a:ext cx="701344" cy="88699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525E4802-0004-46E6-8282-35071719BEC0}"/>
              </a:ext>
            </a:extLst>
          </p:cNvPr>
          <p:cNvSpPr>
            <a:spLocks xmlns:a="http://schemas.openxmlformats.org/drawingml/2006/main" noGrp="1"/>
          </p:cNvSpPr>
          <p:nvPr/>
        </p:nvSpPr>
        <p:spPr>
          <a:xfrm xmlns:a="http://schemas.openxmlformats.org/drawingml/2006/main">
            <a:off x="1188720" y="813816"/>
            <a:ext cx="1801368"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2400" b="1">
                <a:solidFill>
                  <a:srgbClr val="111111"/>
                </a:solidFill>
                <a:latin typeface="Segoe UI"/>
                <a:ea typeface="Segoe UI"/>
                <a:cs typeface="Segoe UI"/>
              </a:rPr>
              <a:t>Ignytion </a:t>
            </a:r>
            <a:r>
              <a:rPr sz="2400" b="1">
                <a:solidFill>
                  <a:srgbClr val="EF9529"/>
                </a:solidFill>
                <a:latin typeface="Segoe UI"/>
                <a:ea typeface="Segoe UI"/>
                <a:cs typeface="Segoe UI"/>
              </a:rPr>
              <a:t>io</a:t>
            </a:r>
          </a:p>
        </p:txBody>
      </p:sp>
      <p:sp>
        <p:nvSpPr>
          <p:cNvPr id="35" name="Rectangle 34">
            <a:extLst xmlns:a="http://schemas.openxmlformats.org/drawingml/2006/main">
              <a:ext uri="{FF2B5EF4-FFF2-40B4-BE49-F238E27FC236}">
                <a16:creationId xmlns:a16="http://schemas.microsoft.com/office/drawing/2014/main" id="{E45DE149-A4DC-4265-8600-1A88C64769A8}"/>
              </a:ext>
            </a:extLst>
          </p:cNvPr>
          <p:cNvSpPr>
            <a:spLocks xmlns:a="http://schemas.openxmlformats.org/drawingml/2006/main" noGrp="1"/>
          </p:cNvSpPr>
          <p:nvPr/>
        </p:nvSpPr>
        <p:spPr>
          <a:xfrm xmlns:a="http://schemas.openxmlformats.org/drawingml/2006/main">
            <a:off x="502920" y="99669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6495BA0A-CABB-4587-A38C-1ED8E331F76B}"/>
              </a:ext>
            </a:extLst>
          </p:cNvPr>
          <p:cNvSpPr>
            <a:spLocks xmlns:a="http://schemas.openxmlformats.org/drawingml/2006/main" noGrp="1"/>
          </p:cNvSpPr>
          <p:nvPr/>
        </p:nvSpPr>
        <p:spPr>
          <a:xfrm xmlns:a="http://schemas.openxmlformats.org/drawingml/2006/main">
            <a:off x="502920"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Ignytion IO · ignytion.io</a:t>
            </a:r>
          </a:p>
        </p:txBody>
      </p:sp>
      <p:sp>
        <p:nvSpPr>
          <p:cNvPr id="37" name="TextBox 36">
            <a:extLst xmlns:a="http://schemas.openxmlformats.org/drawingml/2006/main">
              <a:ext uri="{FF2B5EF4-FFF2-40B4-BE49-F238E27FC236}">
                <a16:creationId xmlns:a16="http://schemas.microsoft.com/office/drawing/2014/main" id="{B0A8A49E-C153-49D0-967A-FBCB0E1586F0}"/>
              </a:ext>
            </a:extLst>
          </p:cNvPr>
          <p:cNvSpPr>
            <a:spLocks xmlns:a="http://schemas.openxmlformats.org/drawingml/2006/main" noGrp="1"/>
          </p:cNvSpPr>
          <p:nvPr/>
        </p:nvSpPr>
        <p:spPr>
          <a:xfrm xmlns:a="http://schemas.openxmlformats.org/drawingml/2006/main">
            <a:off x="4315968"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UART PROTOCOL SERIES · OCTOBER 2026</a:t>
            </a:r>
          </a:p>
        </p:txBody>
      </p:sp>
      <p:sp>
        <p:nvSpPr>
          <p:cNvPr id="39" name="eyebrow">
            <a:extLst xmlns:a="http://schemas.openxmlformats.org/drawingml/2006/main">
              <a:ext uri="{FF2B5EF4-FFF2-40B4-BE49-F238E27FC236}">
                <a16:creationId xmlns:a16="http://schemas.microsoft.com/office/drawing/2014/main" id="{93E220DC-F36A-4420-8AF5-4F0C05154A97}"/>
              </a:ext>
            </a:extLst>
          </p:cNvPr>
          <p:cNvSpPr>
            <a:spLocks xmlns:a="http://schemas.openxmlformats.org/drawingml/2006/main" noGrp="1"/>
          </p:cNvSpPr>
          <p:nvPr/>
        </p:nvSpPr>
        <p:spPr>
          <a:xfrm xmlns:a="http://schemas.openxmlformats.org/drawingml/2006/main">
            <a:off x="502920" y="1920240"/>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00" b="1">
                <a:solidFill>
                  <a:srgbClr val="EF9529"/>
                </a:solidFill>
                <a:latin typeface="Segoe UI"/>
                <a:ea typeface="Segoe UI"/>
                <a:cs typeface="Segoe UI"/>
              </a:defRPr>
            </a:pPr>
            <a:r>
              <a:rPr sz="1100" b="1">
                <a:solidFill>
                  <a:srgbClr val="EF9529"/>
                </a:solidFill>
                <a:latin typeface="Segoe UI"/>
                <a:ea typeface="Segoe UI"/>
                <a:cs typeface="Segoe UI"/>
              </a:rPr>
              <a:t>IGNYTION IO · TECHNICAL LAB NOTE</a:t>
            </a:r>
          </a:p>
        </p:txBody>
      </p:sp>
      <p:sp>
        <p:nvSpPr>
          <p:cNvPr id="40" name="cover-title">
            <a:extLst xmlns:a="http://schemas.openxmlformats.org/drawingml/2006/main">
              <a:ext uri="{FF2B5EF4-FFF2-40B4-BE49-F238E27FC236}">
                <a16:creationId xmlns:a16="http://schemas.microsoft.com/office/drawing/2014/main" id="{37F05956-689F-4080-AEA6-CE6B1970C9D6}"/>
              </a:ext>
            </a:extLst>
          </p:cNvPr>
          <p:cNvSpPr>
            <a:spLocks xmlns:a="http://schemas.openxmlformats.org/drawingml/2006/main" noGrp="1"/>
          </p:cNvSpPr>
          <p:nvPr/>
        </p:nvSpPr>
        <p:spPr>
          <a:xfrm xmlns:a="http://schemas.openxmlformats.org/drawingml/2006/main">
            <a:off x="502920" y="2468880"/>
            <a:ext cx="6556248" cy="2011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UART protocol:</a:t>
            </a:r>
          </a:p>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From RTL to routed GDS</a:t>
            </a:r>
          </a:p>
        </p:txBody>
      </p:sp>
      <p:sp>
        <p:nvSpPr>
          <p:cNvPr id="41" name="intro">
            <a:extLst xmlns:a="http://schemas.openxmlformats.org/drawingml/2006/main">
              <a:ext uri="{FF2B5EF4-FFF2-40B4-BE49-F238E27FC236}">
                <a16:creationId xmlns:a16="http://schemas.microsoft.com/office/drawing/2014/main" id="{EC094470-FBE8-4CDE-AD26-1FBFCAE2D2D4}"/>
              </a:ext>
            </a:extLst>
          </p:cNvPr>
          <p:cNvSpPr>
            <a:spLocks xmlns:a="http://schemas.openxmlformats.org/drawingml/2006/main" noGrp="1"/>
          </p:cNvSpPr>
          <p:nvPr/>
        </p:nvSpPr>
        <p:spPr>
          <a:xfrm xmlns:a="http://schemas.openxmlformats.org/drawingml/2006/main">
            <a:off x="502920" y="4754880"/>
            <a:ext cx="655624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00" b="0">
                <a:solidFill>
                  <a:srgbClr val="EF9529"/>
                </a:solidFill>
                <a:latin typeface="Segoe UI"/>
                <a:ea typeface="Segoe UI"/>
                <a:cs typeface="Segoe UI"/>
              </a:defRPr>
            </a:pPr>
            <a:r>
              <a:rPr sz="1400" b="0">
                <a:solidFill>
                  <a:srgbClr val="EF9529"/>
                </a:solidFill>
                <a:latin typeface="Segoe UI"/>
                <a:ea typeface="Segoe UI"/>
                <a:cs typeface="Segoe UI"/>
              </a:rPr>
              <a:t>A beginner's walkthrough of a checked open-source reference build</a:t>
            </a:r>
          </a:p>
        </p:txBody>
      </p:sp>
      <p:sp>
        <p:nvSpPr>
          <p:cNvPr id="42" name="body-0">
            <a:extLst xmlns:a="http://schemas.openxmlformats.org/drawingml/2006/main">
              <a:ext uri="{FF2B5EF4-FFF2-40B4-BE49-F238E27FC236}">
                <a16:creationId xmlns:a16="http://schemas.microsoft.com/office/drawing/2014/main" id="{476108C4-62A0-4BE8-8CEB-D81A996D738D}"/>
              </a:ext>
            </a:extLst>
          </p:cNvPr>
          <p:cNvSpPr>
            <a:spLocks xmlns:a="http://schemas.openxmlformats.org/drawingml/2006/main" noGrp="1"/>
          </p:cNvSpPr>
          <p:nvPr/>
        </p:nvSpPr>
        <p:spPr>
          <a:xfrm xmlns:a="http://schemas.openxmlformats.org/drawingml/2006/main">
            <a:off x="502920" y="5486400"/>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Follow uart_core from its communication rules and Verilog </a:t>
            </a:r>
            <a:r>
              <a:rPr b="1"/>
              <a:t>source</a:t>
            </a:r>
            <a:r>
              <a:t> to a routed IHP SG13G2 layout.
Worked calculations, measured digital traces and tool results are identified separately. This is an
educational block, not a manufactured chip or a signoff-ready design.</a:t>
            </a:r>
          </a:p>
        </p:txBody>
      </p:sp>
      <p:graphicFrame>
        <p:nvGraphicFramePr>
          <p:cNvPr id="54" name=""/>
          <p:cNvGraphicFramePr/>
          <p:nvPr/>
        </p:nvGraphicFramePr>
        <p:xfrm>
          <a:off xmlns:a="http://schemas.openxmlformats.org/drawingml/2006/main" x="502920" y="6492240"/>
          <a:ext xmlns:a="http://schemas.openxmlformats.org/drawingml/2006/main" cx="6556248" cy="2122488"/>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PRODUCED</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directed checks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543 mapped functional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Routed DEF and extracted SPEF</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Decoded placement agreement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result</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7892128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87f32edb95e5418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AD926A1C-9CFC-4756-98C0-69025588FDC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CONTENTS</a:t>
            </a:r>
          </a:p>
        </p:txBody>
      </p:sp>
      <p:sp>
        <p:nvSpPr>
          <p:cNvPr id="51" name="page-title">
            <a:extLst xmlns:a="http://schemas.openxmlformats.org/drawingml/2006/main">
              <a:ext uri="{FF2B5EF4-FFF2-40B4-BE49-F238E27FC236}">
                <a16:creationId xmlns:a16="http://schemas.microsoft.com/office/drawing/2014/main" id="{2502B029-A405-4FF3-8072-F963DEB49894}"/>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What is in this document</a:t>
            </a:r>
          </a:p>
        </p:txBody>
      </p:sp>
      <p:sp>
        <p:nvSpPr>
          <p:cNvPr id="52" name="intro">
            <a:extLst xmlns:a="http://schemas.openxmlformats.org/drawingml/2006/main">
              <a:ext uri="{FF2B5EF4-FFF2-40B4-BE49-F238E27FC236}">
                <a16:creationId xmlns:a16="http://schemas.microsoft.com/office/drawing/2014/main" id="{C2C3895D-B9E1-46CD-BEA8-42E28A12CAA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Start with the wire-level rules, then follow the same circuit through the tools. Each section has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specific evidence boundary.</a:t>
            </a:r>
          </a:p>
        </p:txBody>
      </p:sp>
      <p:sp>
        <p:nvSpPr>
          <p:cNvPr id="53" name="component-label-246.26666666666665">
            <a:extLst xmlns:a="http://schemas.openxmlformats.org/drawingml/2006/main">
              <a:ext uri="{FF2B5EF4-FFF2-40B4-BE49-F238E27FC236}">
                <a16:creationId xmlns:a16="http://schemas.microsoft.com/office/drawing/2014/main" id="{85DFA2D6-105C-404B-9350-460E52547595}"/>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I N G   M A P</a:t>
            </a:r>
          </a:p>
        </p:txBody>
      </p:sp>
      <p:graphicFrame>
        <p:nvGraphicFramePr>
          <p:cNvPr id="68" name=""/>
          <p:cNvGraphicFramePr/>
          <p:nvPr/>
        </p:nvGraphicFramePr>
        <p:xfrm>
          <a:off xmlns:a="http://schemas.openxmlformats.org/drawingml/2006/main" x="502920" y="2610866"/>
          <a:ext xmlns:a="http://schemas.openxmlformats.org/drawingml/2006/main" cx="6556248" cy="6670675"/>
        </p:xfrm>
        <a:graphic xmlns:a="http://schemas.openxmlformats.org/drawingml/2006/main">
          <a:graphicData uri="http://schemas.openxmlformats.org/drawingml/2006/table">
            <a:tbl>
              <a:tblPr/>
              <a:tblGrid>
                <a:gridCol w="5507248"/>
                <a:gridCol w="1049000"/>
              </a:tblGrid>
              <a:tr h="303213">
                <a:tc>
                  <a:txBody>
                    <a:bodyPr lIns="76200" tIns="57150" rIns="76200" bIns="57150">
                      <a:noAutofit/>
                    </a:bodyPr>
                    <a:lstStyle/>
                    <a:p>
                      <a:r>
                        <a:rPr sz="950" b="1">
                          <a:solidFill>
                            <a:srgbClr val="EDEDED"/>
                          </a:solidFill>
                          <a:latin typeface="Segoe UI"/>
                          <a:ea typeface="Segoe UI"/>
                          <a:cs typeface="Segoe UI"/>
                        </a:rPr>
                        <a:t>SECTION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PAGE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Start here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Chip design in ten minutes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UART logic is not RS-232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Send bit zero first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Integer prescale and sample drift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Backpressure ends at the byte buffer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Qualify START, then sample centres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Framing and overrun are different faults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Two different full-duplex bytes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Lint: read code before running it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Exhaustive bytes at one prescale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 a description becomes gates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and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Clock tree and routing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Two measured reference corners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Count the right objects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 and LVS: what is still missing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Everything at a glance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Run it yourself in WSL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Sources, ownership and remaining work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Design and physical glossary</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23–24</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3395924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6ba19b7df81540c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F180B34-E0DB-4744-B5C5-A387915F874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 · START HERE</a:t>
            </a:r>
          </a:p>
        </p:txBody>
      </p:sp>
      <p:sp>
        <p:nvSpPr>
          <p:cNvPr id="51" name="page-title">
            <a:extLst xmlns:a="http://schemas.openxmlformats.org/drawingml/2006/main">
              <a:ext uri="{FF2B5EF4-FFF2-40B4-BE49-F238E27FC236}">
                <a16:creationId xmlns:a16="http://schemas.microsoft.com/office/drawing/2014/main" id="{C5B0FD58-DD81-4AFE-B254-410AED53D4F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Start here</a:t>
            </a:r>
          </a:p>
        </p:txBody>
      </p:sp>
      <p:sp>
        <p:nvSpPr>
          <p:cNvPr id="52" name="intro">
            <a:extLst xmlns:a="http://schemas.openxmlformats.org/drawingml/2006/main">
              <a:ext uri="{FF2B5EF4-FFF2-40B4-BE49-F238E27FC236}">
                <a16:creationId xmlns:a16="http://schemas.microsoft.com/office/drawing/2014/main" id="{5014DC5F-7FE5-41D4-9A10-FAD266BA888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protocol is an agreement about how connected devices exchange information: which wire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carries each bit, when to sample it, and how to recognise a complete transfer.</a:t>
            </a:r>
          </a:p>
        </p:txBody>
      </p:sp>
      <p:sp>
        <p:nvSpPr>
          <p:cNvPr id="53" name="component-label-246.26666666666665">
            <a:extLst xmlns:a="http://schemas.openxmlformats.org/drawingml/2006/main">
              <a:ext uri="{FF2B5EF4-FFF2-40B4-BE49-F238E27FC236}">
                <a16:creationId xmlns:a16="http://schemas.microsoft.com/office/drawing/2014/main" id="{5C256872-D8DF-4FCC-851E-44C2F54D6C48}"/>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H A T   W E   B U I L T   A N D   W H A T   I T   P R O V E S</a:t>
            </a:r>
          </a:p>
        </p:txBody>
      </p:sp>
      <p:sp>
        <p:nvSpPr>
          <p:cNvPr id="54" name="body-0">
            <a:extLst xmlns:a="http://schemas.openxmlformats.org/drawingml/2006/main">
              <a:ext uri="{FF2B5EF4-FFF2-40B4-BE49-F238E27FC236}">
                <a16:creationId xmlns:a16="http://schemas.microsoft.com/office/drawing/2014/main" id="{71C9E7DE-4A3F-4E6F-8667-96ACBC29BA7E}"/>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Verilog description represents circuits, not software instructions running one after another.
Registers remember values; combinational logic calculates the next values. A </a:t>
            </a:r>
            <a:r>
              <a:rPr b="1"/>
              <a:t>clock</a:t>
            </a:r>
            <a:r>
              <a:t> advances the
registered state. The next pages first explain this protocol at its wires, then connect those rules to
the actual reference RTL.</a:t>
            </a:r>
          </a:p>
        </p:txBody>
      </p:sp>
      <p:sp>
        <p:nvSpPr>
          <p:cNvPr id="55" name="body-1">
            <a:extLst xmlns:a="http://schemas.openxmlformats.org/drawingml/2006/main">
              <a:ext uri="{FF2B5EF4-FFF2-40B4-BE49-F238E27FC236}">
                <a16:creationId xmlns:a16="http://schemas.microsoft.com/office/drawing/2014/main" id="{ACDB7A9E-A95B-45E9-9C1B-33B96EE805C9}"/>
              </a:ext>
            </a:extLst>
          </p:cNvPr>
          <p:cNvSpPr>
            <a:spLocks xmlns:a="http://schemas.openxmlformats.org/drawingml/2006/main" noGrp="1"/>
          </p:cNvSpPr>
          <p:nvPr/>
        </p:nvSpPr>
        <p:spPr>
          <a:xfrm xmlns:a="http://schemas.openxmlformats.org/drawingml/2006/main">
            <a:off x="502920" y="350875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implemented unit is uart_core in hw/protocols/uart. It is a fixed </a:t>
            </a:r>
            <a:r>
              <a:rPr b="1"/>
              <a:t>reference</a:t>
            </a:r>
            <a:r>
              <a:t> block, not the Jane
Street programmable combined emulator or a Tiny Tapeout submission top. No new competition
architecture, instruction set, pin map or authority decision is implied by these documents.</a:t>
            </a:r>
          </a:p>
        </p:txBody>
      </p:sp>
      <p:sp>
        <p:nvSpPr>
          <p:cNvPr id="56" name="body-2">
            <a:extLst xmlns:a="http://schemas.openxmlformats.org/drawingml/2006/main">
              <a:ext uri="{FF2B5EF4-FFF2-40B4-BE49-F238E27FC236}">
                <a16:creationId xmlns:a16="http://schemas.microsoft.com/office/drawing/2014/main" id="{C8EDD342-4C04-46DA-8EB8-47B0A9B4B8DE}"/>
              </a:ext>
            </a:extLst>
          </p:cNvPr>
          <p:cNvSpPr>
            <a:spLocks xmlns:a="http://schemas.openxmlformats.org/drawingml/2006/main" noGrp="1"/>
          </p:cNvSpPr>
          <p:nvPr/>
        </p:nvSpPr>
        <p:spPr>
          <a:xfrm xmlns:a="http://schemas.openxmlformats.org/drawingml/2006/main">
            <a:off x="502920" y="4228465"/>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All 256 bytes are tested at prescale 4 only. The 2..7 sweep uses fixed TX 0x96 and RX 0x69. No
parity or hardware flow control. Later pages give the exact stimulus and the implementation
evidence rather than using a broad protocol-compliant label. A successful mapped netlist, routed
DEF and decoded </a:t>
            </a:r>
            <a:r>
              <a:rPr b="1"/>
              <a:t>GDS</a:t>
            </a:r>
            <a:r>
              <a:t> establish concrete implementation/export results, not readiness to
manufacture.</a:t>
            </a:r>
          </a:p>
        </p:txBody>
      </p:sp>
      <p:sp>
        <p:nvSpPr>
          <p:cNvPr id="57" name="body-3">
            <a:extLst xmlns:a="http://schemas.openxmlformats.org/drawingml/2006/main">
              <a:ext uri="{FF2B5EF4-FFF2-40B4-BE49-F238E27FC236}">
                <a16:creationId xmlns:a16="http://schemas.microsoft.com/office/drawing/2014/main" id="{6890CA10-3EE6-4896-ADA9-B04286A5709D}"/>
              </a:ext>
            </a:extLst>
          </p:cNvPr>
          <p:cNvSpPr>
            <a:spLocks xmlns:a="http://schemas.openxmlformats.org/drawingml/2006/main" noGrp="1"/>
          </p:cNvSpPr>
          <p:nvPr/>
        </p:nvSpPr>
        <p:spPr>
          <a:xfrm xmlns:a="http://schemas.openxmlformats.org/drawingml/2006/main">
            <a:off x="502920" y="530453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reading path starts with chip-design vocabulary, then develops the protocol, calculations,
local interface and failure cases. Separate sections explain lint, simulation, synthesis, placement,
routing, timing and </a:t>
            </a:r>
            <a:r>
              <a:rPr b="1"/>
              <a:t>GDS</a:t>
            </a:r>
            <a:r>
              <a:t>. The last two pages define design and physical terms. No prior ASIC-flow
experience is assumed.</a:t>
            </a:r>
          </a:p>
        </p:txBody>
      </p:sp>
      <p:sp>
        <p:nvSpPr>
          <p:cNvPr id="58" name="component-label-651.1733333333334">
            <a:extLst xmlns:a="http://schemas.openxmlformats.org/drawingml/2006/main">
              <a:ext uri="{FF2B5EF4-FFF2-40B4-BE49-F238E27FC236}">
                <a16:creationId xmlns:a16="http://schemas.microsoft.com/office/drawing/2014/main" id="{696AC42E-874B-4887-AA65-B70193B3AEA6}"/>
              </a:ext>
            </a:extLst>
          </p:cNvPr>
          <p:cNvSpPr>
            <a:spLocks xmlns:a="http://schemas.openxmlformats.org/drawingml/2006/main" noGrp="1"/>
          </p:cNvSpPr>
          <p:nvPr/>
        </p:nvSpPr>
        <p:spPr>
          <a:xfrm xmlns:a="http://schemas.openxmlformats.org/drawingml/2006/main">
            <a:off x="502920" y="620242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E V I D E N C E   V O C A B U L A R Y</a:t>
            </a:r>
          </a:p>
        </p:txBody>
      </p:sp>
      <p:graphicFrame>
        <p:nvGraphicFramePr>
          <p:cNvPr id="78" name=""/>
          <p:cNvGraphicFramePr/>
          <p:nvPr/>
        </p:nvGraphicFramePr>
        <p:xfrm>
          <a:off xmlns:a="http://schemas.openxmlformats.org/drawingml/2006/main" x="502920" y="6467602"/>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Label</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Meaning in this document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Worked example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Explicit assumptions; independently calculated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Measured trace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Positive digital regression VCD, where present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Directed PASS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assertions and negative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Routed / decoded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export and structural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performed or claimed</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33959247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8" name="Picture 2"/>
          <p:cNvPicPr>
            <a:picLocks xmlns:a="http://schemas.openxmlformats.org/drawingml/2006/main" noChangeAspect="1"/>
          </p:cNvPicPr>
          <p:nvPr/>
        </p:nvPicPr>
        <p:blipFill>
          <a:blip xmlns:r="http://schemas.openxmlformats.org/officeDocument/2006/relationships" xmlns:a="http://schemas.openxmlformats.org/drawingml/2006/main" r:embed="R9b5f4613a440422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28B478D7-98B3-443F-A1BE-34811610244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 · CHIP DESIGN</a:t>
            </a:r>
          </a:p>
        </p:txBody>
      </p:sp>
      <p:sp>
        <p:nvSpPr>
          <p:cNvPr id="51" name="page-title">
            <a:extLst xmlns:a="http://schemas.openxmlformats.org/drawingml/2006/main">
              <a:ext uri="{FF2B5EF4-FFF2-40B4-BE49-F238E27FC236}">
                <a16:creationId xmlns:a16="http://schemas.microsoft.com/office/drawing/2014/main" id="{CB2C5214-239B-4B2C-AF19-366CC5CCDE5F}"/>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Chip design in ten minutes</a:t>
            </a:r>
          </a:p>
        </p:txBody>
      </p:sp>
      <p:sp>
        <p:nvSpPr>
          <p:cNvPr id="52" name="intro">
            <a:extLst xmlns:a="http://schemas.openxmlformats.org/drawingml/2006/main">
              <a:ext uri="{FF2B5EF4-FFF2-40B4-BE49-F238E27FC236}">
                <a16:creationId xmlns:a16="http://schemas.microsoft.com/office/drawing/2014/main" id="{056510B4-6472-4BF3-9683-BFDD60A190CA}"/>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Each stage makes the same circuit more concrete. The folders below are the actual unit</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layout, not a copied APB command list.</a:t>
            </a:r>
          </a:p>
        </p:txBody>
      </p:sp>
      <p:sp>
        <p:nvSpPr>
          <p:cNvPr id="53" name="component-label-246.26666666666665">
            <a:extLst xmlns:a="http://schemas.openxmlformats.org/drawingml/2006/main">
              <a:ext uri="{FF2B5EF4-FFF2-40B4-BE49-F238E27FC236}">
                <a16:creationId xmlns:a16="http://schemas.microsoft.com/office/drawing/2014/main" id="{E94D0481-3EC6-4B5D-ACE4-94D6E4C0478F}"/>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H I P   D E S I G N</a:t>
            </a:r>
          </a:p>
        </p:txBody>
      </p:sp>
      <p:sp>
        <p:nvSpPr>
          <p:cNvPr id="54" name="body-0">
            <a:extLst xmlns:a="http://schemas.openxmlformats.org/drawingml/2006/main">
              <a:ext uri="{FF2B5EF4-FFF2-40B4-BE49-F238E27FC236}">
                <a16:creationId xmlns:a16="http://schemas.microsoft.com/office/drawing/2014/main" id="{8052BE9F-621C-4F01-9AEF-88E7514FE5BD}"/>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RTL states what hardware should do. A simulator checks selected input sequences before any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silicon exists. Synthesis replaces that description with gates from a process library. Physical tools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choose positions and metal routes. Timing analysis checks the resulting delays; stream-out writes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mask-layout geometry.</a:t>
            </a:r>
          </a:p>
        </p:txBody>
      </p:sp>
      <p:sp>
        <p:nvSpPr>
          <p:cNvPr id="55" name="component-label-368.3733333333333">
            <a:extLst xmlns:a="http://schemas.openxmlformats.org/drawingml/2006/main">
              <a:ext uri="{FF2B5EF4-FFF2-40B4-BE49-F238E27FC236}">
                <a16:creationId xmlns:a16="http://schemas.microsoft.com/office/drawing/2014/main" id="{A80B93E5-A0E5-432A-8C3D-AA7CE72BA152}"/>
              </a:ext>
            </a:extLst>
          </p:cNvPr>
          <p:cNvSpPr>
            <a:spLocks xmlns:a="http://schemas.openxmlformats.org/drawingml/2006/main" noGrp="1"/>
          </p:cNvSpPr>
          <p:nvPr/>
        </p:nvSpPr>
        <p:spPr>
          <a:xfrm xmlns:a="http://schemas.openxmlformats.org/drawingml/2006/main">
            <a:off x="502920" y="350875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H E   P I P E L I N E ,   S T A G E   B Y   S T A G E</a:t>
            </a:r>
          </a:p>
        </p:txBody>
      </p:sp>
      <p:graphicFrame>
        <p:nvGraphicFramePr>
          <p:cNvPr id="72" name=""/>
          <p:cNvGraphicFramePr/>
          <p:nvPr/>
        </p:nvGraphicFramePr>
        <p:xfrm>
          <a:off xmlns:a="http://schemas.openxmlformats.org/drawingml/2006/main" x="502920" y="3773932"/>
          <a:ext xmlns:a="http://schemas.openxmlformats.org/drawingml/2006/main" cx="6556248" cy="3941762"/>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FOLDER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HAPPENS HERE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00_lint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Read code for risky patterns; retained warnings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01_rtl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Pinned source and the local wrapper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02_sim</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Independent stimulus, comparisons and fatal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03_verification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Supplemental checks; not a universal UVM PASS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04_synthesis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Map functional logic to SG13G2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05_dft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Manufacturing test work remains 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06_floorplanning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Die outline, rows, power and pin locations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07_placement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Choose legal positions for mapped cells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09_place_and_route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tree, routing and SPEF extraction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Read post-route TT and slow timing reports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10_gds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Stream-out and independent placement decoder</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11_physical_verification</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Foundry DRC / LVS remain 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33959247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8ba46c2c88ce4d0c"/>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AD2642C1-FB9F-490A-91AA-6C9ABB75E36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3 · ELECTRICAL BOUNDARY</a:t>
            </a:r>
          </a:p>
        </p:txBody>
      </p:sp>
      <p:sp>
        <p:nvSpPr>
          <p:cNvPr id="51" name="page-title">
            <a:extLst xmlns:a="http://schemas.openxmlformats.org/drawingml/2006/main">
              <a:ext uri="{FF2B5EF4-FFF2-40B4-BE49-F238E27FC236}">
                <a16:creationId xmlns:a16="http://schemas.microsoft.com/office/drawing/2014/main" id="{7DDDE5EF-EF8D-4F22-913E-1D208C23CEE3}"/>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UART logic is not RS-232</a:t>
            </a:r>
          </a:p>
        </p:txBody>
      </p:sp>
      <p:sp>
        <p:nvSpPr>
          <p:cNvPr id="52" name="intro">
            <a:extLst xmlns:a="http://schemas.openxmlformats.org/drawingml/2006/main">
              <a:ext uri="{FF2B5EF4-FFF2-40B4-BE49-F238E27FC236}">
                <a16:creationId xmlns:a16="http://schemas.microsoft.com/office/drawing/2014/main" id="{2AC41DB5-1667-45B2-AB7C-D6661EFF6269}"/>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asynchronous framing convention does not specify the board-level voltage interface.</a:t>
            </a:r>
          </a:p>
        </p:txBody>
      </p:sp>
      <p:sp>
        <p:nvSpPr>
          <p:cNvPr id="53" name="component-label-225.93333333333334">
            <a:extLst xmlns:a="http://schemas.openxmlformats.org/drawingml/2006/main">
              <a:ext uri="{FF2B5EF4-FFF2-40B4-BE49-F238E27FC236}">
                <a16:creationId xmlns:a16="http://schemas.microsoft.com/office/drawing/2014/main" id="{B89D3E51-87C6-4489-8217-FBDCBC034F89}"/>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E L E C T R I C A L   B O U N D A R Y</a:t>
            </a:r>
          </a:p>
        </p:txBody>
      </p:sp>
      <p:sp>
        <p:nvSpPr>
          <p:cNvPr id="54" name="body-0">
            <a:extLst xmlns:a="http://schemas.openxmlformats.org/drawingml/2006/main">
              <a:ext uri="{FF2B5EF4-FFF2-40B4-BE49-F238E27FC236}">
                <a16:creationId xmlns:a16="http://schemas.microsoft.com/office/drawing/2014/main" id="{6AA365F6-B364-42CB-8B71-535186D22703}"/>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local rxd and txd pins carry logic-level signals. RS-232 uses different voltage levels and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polarity and cannot safely connect directly to ordinary digital pins. Full duplex uses independent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wires in each direction. Flow-control pins such as RTS/CTS are optional system features absent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from this wrapper.</a:t>
            </a:r>
          </a:p>
        </p:txBody>
      </p:sp>
      <p:sp>
        <p:nvSpPr>
          <p:cNvPr id="55" name="body-1">
            <a:extLst xmlns:a="http://schemas.openxmlformats.org/drawingml/2006/main">
              <a:ext uri="{FF2B5EF4-FFF2-40B4-BE49-F238E27FC236}">
                <a16:creationId xmlns:a16="http://schemas.microsoft.com/office/drawing/2014/main" id="{BE238BB1-C48F-4497-A743-957EFE712D10}"/>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UART is a framing and timing function, not a promise about connector voltages. Never connect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 RS-232 voltage directly to a low-voltage ASIC input. An external transceiver can convert levels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and polarity. RS-485 uses differential signalling and may require driver-enable timing for a shared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half-duplex link. Those electrical functions are not in uart_core.</a:t>
            </a:r>
          </a:p>
        </p:txBody>
      </p:sp>
      <p:sp>
        <p:nvSpPr>
          <p:cNvPr id="56" name="body-2">
            <a:extLst xmlns:a="http://schemas.openxmlformats.org/drawingml/2006/main">
              <a:ext uri="{FF2B5EF4-FFF2-40B4-BE49-F238E27FC236}">
                <a16:creationId xmlns:a16="http://schemas.microsoft.com/office/drawing/2014/main" id="{5798DAE4-5DF0-4C0A-801A-A0EFE2F14333}"/>
              </a:ext>
            </a:extLst>
          </p:cNvPr>
          <p:cNvSpPr>
            <a:spLocks xmlns:a="http://schemas.openxmlformats.org/drawingml/2006/main" noGrp="1"/>
          </p:cNvSpPr>
          <p:nvPr/>
        </p:nvSpPr>
        <p:spPr>
          <a:xfrm xmlns:a="http://schemas.openxmlformats.org/drawingml/2006/main">
            <a:off x="502920" y="4212971"/>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UART tells us where a byte begins and ends. An application still needs to define how many bytes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make a message and what the message means.</a:t>
            </a:r>
          </a:p>
        </p:txBody>
      </p:sp>
      <p:sp>
        <p:nvSpPr>
          <p:cNvPr id="57" name="component-label-499.16">
            <a:extLst xmlns:a="http://schemas.openxmlformats.org/drawingml/2006/main">
              <a:ext uri="{FF2B5EF4-FFF2-40B4-BE49-F238E27FC236}">
                <a16:creationId xmlns:a16="http://schemas.microsoft.com/office/drawing/2014/main" id="{D4257C35-3826-4187-A30D-1CF58F11AC41}"/>
              </a:ext>
            </a:extLst>
          </p:cNvPr>
          <p:cNvSpPr>
            <a:spLocks xmlns:a="http://schemas.openxmlformats.org/drawingml/2006/main" noGrp="1"/>
          </p:cNvSpPr>
          <p:nvPr/>
        </p:nvSpPr>
        <p:spPr>
          <a:xfrm xmlns:a="http://schemas.openxmlformats.org/drawingml/2006/main">
            <a:off x="502920" y="4754499"/>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E P A R A T E   L O G I C   F R O M   T R A N S P O R T</a:t>
            </a:r>
          </a:p>
        </p:txBody>
      </p:sp>
      <p:graphicFrame>
        <p:nvGraphicFramePr>
          <p:cNvPr id="76" name=""/>
          <p:cNvGraphicFramePr/>
          <p:nvPr/>
        </p:nvGraphicFramePr>
        <p:xfrm>
          <a:off xmlns:a="http://schemas.openxmlformats.org/drawingml/2006/main" x="502920" y="5019675"/>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Element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Meaning</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txd / rxd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Digital core-level serial signals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3.3 V / 5 V compatibility</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Requires compatible pads or translation</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RS-232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Requires an appropriate level-shifting transceiver</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USB-to-UART bridge</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Separate USB function; not supplied by this core</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3395924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3f99f99a00474bee"/>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60C3CC3-4C1A-4766-8396-0F39C8126E0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4 · FRAME RULES</a:t>
            </a:r>
          </a:p>
        </p:txBody>
      </p:sp>
      <p:sp>
        <p:nvSpPr>
          <p:cNvPr id="51" name="page-title">
            <a:extLst xmlns:a="http://schemas.openxmlformats.org/drawingml/2006/main">
              <a:ext uri="{FF2B5EF4-FFF2-40B4-BE49-F238E27FC236}">
                <a16:creationId xmlns:a16="http://schemas.microsoft.com/office/drawing/2014/main" id="{01D437F1-9036-4A87-9DEE-D011F295F85D}"/>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Send bit zero first</a:t>
            </a:r>
          </a:p>
        </p:txBody>
      </p:sp>
      <p:sp>
        <p:nvSpPr>
          <p:cNvPr id="52" name="intro">
            <a:extLst xmlns:a="http://schemas.openxmlformats.org/drawingml/2006/main">
              <a:ext uri="{FF2B5EF4-FFF2-40B4-BE49-F238E27FC236}">
                <a16:creationId xmlns:a16="http://schemas.microsoft.com/office/drawing/2014/main" id="{9FB173A5-B813-40AD-9666-01EAFD73DD01}"/>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fixed wrapper format is 8N1: START, eight data bits and one high STOP.</a:t>
            </a:r>
          </a:p>
        </p:txBody>
      </p:sp>
      <p:sp>
        <p:nvSpPr>
          <p:cNvPr id="53" name="component-label-225.93333333333334">
            <a:extLst xmlns:a="http://schemas.openxmlformats.org/drawingml/2006/main">
              <a:ext uri="{FF2B5EF4-FFF2-40B4-BE49-F238E27FC236}">
                <a16:creationId xmlns:a16="http://schemas.microsoft.com/office/drawing/2014/main" id="{CE22E363-6797-40AA-AAE1-914DA365FD2F}"/>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R A M E   R U L E S</a:t>
            </a:r>
          </a:p>
        </p:txBody>
      </p:sp>
      <p:sp>
        <p:nvSpPr>
          <p:cNvPr id="54" name="body-0">
            <a:extLst xmlns:a="http://schemas.openxmlformats.org/drawingml/2006/main">
              <a:ext uri="{FF2B5EF4-FFF2-40B4-BE49-F238E27FC236}">
                <a16:creationId xmlns:a16="http://schemas.microsoft.com/office/drawing/2014/main" id="{2775CD57-FBC0-4AB2-A8A4-86129A64723A}"/>
              </a:ext>
            </a:extLst>
          </p:cNvPr>
          <p:cNvSpPr>
            <a:spLocks xmlns:a="http://schemas.openxmlformats.org/drawingml/2006/main" noGrp="1"/>
          </p:cNvSpPr>
          <p:nvPr/>
        </p:nvSpPr>
        <p:spPr>
          <a:xfrm xmlns:a="http://schemas.openxmlformats.org/drawingml/2006/main">
            <a:off x="502920" y="2417191"/>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
            </a:r>
            <a:r>
              <a:rPr b="1"/>
              <a:t>8N1</a:t>
            </a:r>
            <a:r>
              <a:t> means eight data bits, no parity and one stop bit. It consumes ten bit periods per byte. There
is no runtime parity setting.</a:t>
            </a:r>
          </a:p>
        </p:txBody>
      </p:sp>
      <p:sp>
        <p:nvSpPr>
          <p:cNvPr id="55" name="body-1">
            <a:extLst xmlns:a="http://schemas.openxmlformats.org/drawingml/2006/main">
              <a:ext uri="{FF2B5EF4-FFF2-40B4-BE49-F238E27FC236}">
                <a16:creationId xmlns:a16="http://schemas.microsoft.com/office/drawing/2014/main" id="{69658B89-09B0-4730-9AA1-BB46673C35E8}"/>
              </a:ext>
            </a:extLst>
          </p:cNvPr>
          <p:cNvSpPr>
            <a:spLocks xmlns:a="http://schemas.openxmlformats.org/drawingml/2006/main" noGrp="1"/>
          </p:cNvSpPr>
          <p:nvPr/>
        </p:nvSpPr>
        <p:spPr>
          <a:xfrm xmlns:a="http://schemas.openxmlformats.org/drawingml/2006/main">
            <a:off x="502920" y="2958719"/>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Writing a number on paper usually puts the most significant bit on the left, while UART sends D0</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first. The editable table shows temporal order.</a:t>
            </a:r>
          </a:p>
        </p:txBody>
      </p:sp>
      <p:sp>
        <p:nvSpPr>
          <p:cNvPr id="56" name="body-2">
            <a:extLst xmlns:a="http://schemas.openxmlformats.org/drawingml/2006/main">
              <a:ext uri="{FF2B5EF4-FFF2-40B4-BE49-F238E27FC236}">
                <a16:creationId xmlns:a16="http://schemas.microsoft.com/office/drawing/2014/main" id="{ACEDF0A7-175A-4B1A-B761-E2A622E9F5BE}"/>
              </a:ext>
            </a:extLst>
          </p:cNvPr>
          <p:cNvSpPr>
            <a:spLocks xmlns:a="http://schemas.openxmlformats.org/drawingml/2006/main" noGrp="1"/>
          </p:cNvSpPr>
          <p:nvPr/>
        </p:nvSpPr>
        <p:spPr>
          <a:xfrm xmlns:a="http://schemas.openxmlformats.org/drawingml/2006/main">
            <a:off x="502920" y="3500247"/>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For binary UART signalling, baud equals serial bit rate here. It does not equal useful </a:t>
            </a:r>
            <a:r>
              <a:rPr b="1"/>
              <a:t>payload</a:t>
            </a:r>
            <a:r>
              <a:t> bits
per second because framing consumes two intervals per byte. The 32-byte calculation excludes
idle gaps, scheduling delays and packet headers. If an application sends each value as ASCII digits,
its useful measurement rate can be lower still. These are arithmetic examples for 8N1, not a
measured link benchmark.</a:t>
            </a:r>
          </a:p>
        </p:txBody>
      </p:sp>
      <p:sp>
        <p:nvSpPr>
          <p:cNvPr id="57" name="body-3">
            <a:extLst xmlns:a="http://schemas.openxmlformats.org/drawingml/2006/main">
              <a:ext uri="{FF2B5EF4-FFF2-40B4-BE49-F238E27FC236}">
                <a16:creationId xmlns:a16="http://schemas.microsoft.com/office/drawing/2014/main" id="{A720AC1C-BCED-4D6D-84AB-6DD533F478B5}"/>
              </a:ext>
            </a:extLst>
          </p:cNvPr>
          <p:cNvSpPr>
            <a:spLocks xmlns:a="http://schemas.openxmlformats.org/drawingml/2006/main" noGrp="1"/>
          </p:cNvSpPr>
          <p:nvPr/>
        </p:nvSpPr>
        <p:spPr>
          <a:xfrm xmlns:a="http://schemas.openxmlformats.org/drawingml/2006/main">
            <a:off x="502920" y="4576318"/>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For 32 </a:t>
            </a:r>
            <a:r>
              <a:rPr b="1"/>
              <a:t>payload</a:t>
            </a:r>
            <a:r>
              <a:t> bytes in 8N1, the minimum is 32 x 10 = 320 wire bits. At 115200 baud this takes
320 / 115200 = 2.778 ms before gaps. The useful byte ceiling is 115200 / 10 = 11,520 bytes/s,
even though the serial bit rate is 115200 bit/s.</a:t>
            </a:r>
          </a:p>
        </p:txBody>
      </p:sp>
      <p:sp>
        <p:nvSpPr>
          <p:cNvPr id="58" name="component-label-556.0133333333333">
            <a:extLst xmlns:a="http://schemas.openxmlformats.org/drawingml/2006/main">
              <a:ext uri="{FF2B5EF4-FFF2-40B4-BE49-F238E27FC236}">
                <a16:creationId xmlns:a16="http://schemas.microsoft.com/office/drawing/2014/main" id="{4EDA5329-AFA2-4FE6-ACC0-3D9E2236ED8D}"/>
              </a:ext>
            </a:extLst>
          </p:cNvPr>
          <p:cNvSpPr>
            <a:spLocks xmlns:a="http://schemas.openxmlformats.org/drawingml/2006/main" noGrp="1"/>
          </p:cNvSpPr>
          <p:nvPr/>
        </p:nvSpPr>
        <p:spPr>
          <a:xfrm xmlns:a="http://schemas.openxmlformats.org/drawingml/2006/main">
            <a:off x="502920" y="5296027"/>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O R K E D   B Y T E   0 X 5 3</a:t>
            </a:r>
          </a:p>
        </p:txBody>
      </p:sp>
      <p:graphicFrame>
        <p:nvGraphicFramePr>
          <p:cNvPr id="78" name=""/>
          <p:cNvGraphicFramePr/>
          <p:nvPr/>
        </p:nvGraphicFramePr>
        <p:xfrm>
          <a:off xmlns:a="http://schemas.openxmlformats.org/drawingml/2006/main" x="502920" y="5561203"/>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Field</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Serial 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START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b0..b7</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1 1 0 0 1 0 1 0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STOP</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115200 baud useful byte ceiling</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11,520 bytes/s before gaps</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33959247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ac8b304f1b754cf8"/>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DF5D30CC-E190-4E67-A52C-22AA94A01DC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5 · TIMING CALCULATION</a:t>
            </a:r>
          </a:p>
        </p:txBody>
      </p:sp>
      <p:sp>
        <p:nvSpPr>
          <p:cNvPr id="51" name="page-title">
            <a:extLst xmlns:a="http://schemas.openxmlformats.org/drawingml/2006/main">
              <a:ext uri="{FF2B5EF4-FFF2-40B4-BE49-F238E27FC236}">
                <a16:creationId xmlns:a16="http://schemas.microsoft.com/office/drawing/2014/main" id="{B476B670-2B9D-45D2-BCFB-1945A831E48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Integer prescale and sample drift</a:t>
            </a:r>
          </a:p>
        </p:txBody>
      </p:sp>
      <p:sp>
        <p:nvSpPr>
          <p:cNvPr id="52" name="intro">
            <a:extLst xmlns:a="http://schemas.openxmlformats.org/drawingml/2006/main">
              <a:ext uri="{FF2B5EF4-FFF2-40B4-BE49-F238E27FC236}">
                <a16:creationId xmlns:a16="http://schemas.microsoft.com/office/drawing/2014/main" id="{55C71764-4790-4ED6-A1C3-BBC04EE0C09E}"/>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prescaler controls eight core-clock groups per data-bit interval.</a:t>
            </a:r>
          </a:p>
        </p:txBody>
      </p:sp>
      <p:sp>
        <p:nvSpPr>
          <p:cNvPr id="53" name="component-label-225.93333333333334">
            <a:extLst xmlns:a="http://schemas.openxmlformats.org/drawingml/2006/main">
              <a:ext uri="{FF2B5EF4-FFF2-40B4-BE49-F238E27FC236}">
                <a16:creationId xmlns:a16="http://schemas.microsoft.com/office/drawing/2014/main" id="{89344215-76A3-4FC6-9C34-5FAF82F8A290}"/>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I M I N G   C A L C U L A T I O N</a:t>
            </a:r>
          </a:p>
        </p:txBody>
      </p:sp>
      <p:sp>
        <p:nvSpPr>
          <p:cNvPr id="54" name="body-0">
            <a:extLst xmlns:a="http://schemas.openxmlformats.org/drawingml/2006/main">
              <a:ext uri="{FF2B5EF4-FFF2-40B4-BE49-F238E27FC236}">
                <a16:creationId xmlns:a16="http://schemas.microsoft.com/office/drawing/2014/main" id="{F37926E6-D385-4A30-9F0F-3AF8D28CE2C2}"/>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Nominal baud = fclk / (8P). At 50 MHz and a desired 115200 baud, the ideal integer divisor is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50,000,000 / (8 x 115200) = 54.253. Choosing P54 gives 115740.74 baud, +0.4694 percent error;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P55 gives 113636.36 baud, -1.3573 percent. These are calculated examples. The full byte-space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test runs at P4, and the separate fixed-byte sweep covers P2 through P7.</a:t>
            </a:r>
          </a:p>
        </p:txBody>
      </p:sp>
      <p:sp>
        <p:nvSpPr>
          <p:cNvPr id="55" name="body-1">
            <a:extLst xmlns:a="http://schemas.openxmlformats.org/drawingml/2006/main">
              <a:ext uri="{FF2B5EF4-FFF2-40B4-BE49-F238E27FC236}">
                <a16:creationId xmlns:a16="http://schemas.microsoft.com/office/drawing/2014/main" id="{661D1C8B-8C13-4CBF-AF7E-52EB28FAA1C2}"/>
              </a:ext>
            </a:extLst>
          </p:cNvPr>
          <p:cNvSpPr>
            <a:spLocks xmlns:a="http://schemas.openxmlformats.org/drawingml/2006/main" noGrp="1"/>
          </p:cNvSpPr>
          <p:nvPr/>
        </p:nvSpPr>
        <p:spPr>
          <a:xfrm xmlns:a="http://schemas.openxmlformats.org/drawingml/2006/main">
            <a:off x="502920" y="331508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This simplified drift example is a timing model, not a universal two-percent acceptance rule. The
receiver re-synchronizes on a new </a:t>
            </a:r>
            <a:r>
              <a:rPr b="1"/>
              <a:t>START</a:t>
            </a:r>
            <a:r>
              <a:t>, but not on every data bit. Long runs without data
transitions still need correct local timing. The ideal half-bit margin is reduced by start detection,
synchronisation, clock error and line distortion. Check a specific receiver data sheet or
implementation before declaring an allowed total clock mismatch.</a:t>
            </a:r>
          </a:p>
        </p:txBody>
      </p:sp>
      <p:sp>
        <p:nvSpPr>
          <p:cNvPr id="56" name="body-2">
            <a:extLst xmlns:a="http://schemas.openxmlformats.org/drawingml/2006/main">
              <a:ext uri="{FF2B5EF4-FFF2-40B4-BE49-F238E27FC236}">
                <a16:creationId xmlns:a16="http://schemas.microsoft.com/office/drawing/2014/main" id="{011001A5-A6DA-42A3-B239-C4A16B208697}"/>
              </a:ext>
            </a:extLst>
          </p:cNvPr>
          <p:cNvSpPr>
            <a:spLocks xmlns:a="http://schemas.openxmlformats.org/drawingml/2006/main" noGrp="1"/>
          </p:cNvSpPr>
          <p:nvPr/>
        </p:nvSpPr>
        <p:spPr>
          <a:xfrm xmlns:a="http://schemas.openxmlformats.org/drawingml/2006/main">
            <a:off x="502920" y="4391152"/>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An ideal receiver checks </a:t>
            </a:r>
            <a:r>
              <a:rPr b="1"/>
              <a:t>START</a:t>
            </a:r>
            <a:r>
              <a:t> near its half-bit point, then samples data at 1.5, 2.5 through 8.5 bit
intervals from the detected start and STOP at 9.5. At the P4 regression setting a bit is 0.64 us;
nominal data-centre offsets are therefore 0.96, 1.60 through 5.44 us. The actual local RX counter
waits half a bit to confirm START, then full-bit intervals for later samples. Its input synchroniser and
detection delay must also be accounted for.</a:t>
            </a:r>
          </a:p>
        </p:txBody>
      </p:sp>
      <p:sp>
        <p:nvSpPr>
          <p:cNvPr id="57" name="component-label-573.9866666666668">
            <a:extLst xmlns:a="http://schemas.openxmlformats.org/drawingml/2006/main">
              <a:ext uri="{FF2B5EF4-FFF2-40B4-BE49-F238E27FC236}">
                <a16:creationId xmlns:a16="http://schemas.microsoft.com/office/drawing/2014/main" id="{F21F1E83-BD5E-4932-A756-6EAA09771D76}"/>
              </a:ext>
            </a:extLst>
          </p:cNvPr>
          <p:cNvSpPr>
            <a:spLocks xmlns:a="http://schemas.openxmlformats.org/drawingml/2006/main" noGrp="1"/>
          </p:cNvSpPr>
          <p:nvPr/>
        </p:nvSpPr>
        <p:spPr>
          <a:xfrm xmlns:a="http://schemas.openxmlformats.org/drawingml/2006/main">
            <a:off x="502920" y="546722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A L C U L A T E D   5 0   M H Z   E X A M P L E S</a:t>
            </a:r>
          </a:p>
        </p:txBody>
      </p:sp>
      <p:graphicFrame>
        <p:nvGraphicFramePr>
          <p:cNvPr id="76" name=""/>
          <p:cNvGraphicFramePr/>
          <p:nvPr/>
        </p:nvGraphicFramePr>
        <p:xfrm>
          <a:off xmlns:a="http://schemas.openxmlformats.org/drawingml/2006/main" x="502920" y="5732399"/>
          <a:ext xmlns:a="http://schemas.openxmlformats.org/drawingml/2006/main" cx="6556248" cy="1212850"/>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Prescale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Baud</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Error vs 115200</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54</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115740.74</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+0.4694%</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55</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113636.36</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-1.3573%</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4, actual regression</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1,562,500</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a 115200-baud test</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33959247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Picture 2"/>
          <p:cNvPicPr>
            <a:picLocks xmlns:a="http://schemas.openxmlformats.org/drawingml/2006/main" noChangeAspect="1"/>
          </p:cNvPicPr>
          <p:nvPr/>
        </p:nvPicPr>
        <p:blipFill>
          <a:blip xmlns:r="http://schemas.openxmlformats.org/officeDocument/2006/relationships" xmlns:a="http://schemas.openxmlformats.org/drawingml/2006/main" r:embed="R429ded8629c24ca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768055A4-C58C-4007-A409-D4E17209715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6 · RTL INTERFACE</a:t>
            </a:r>
          </a:p>
        </p:txBody>
      </p:sp>
      <p:sp>
        <p:nvSpPr>
          <p:cNvPr id="51" name="page-title">
            <a:extLst xmlns:a="http://schemas.openxmlformats.org/drawingml/2006/main">
              <a:ext uri="{FF2B5EF4-FFF2-40B4-BE49-F238E27FC236}">
                <a16:creationId xmlns:a16="http://schemas.microsoft.com/office/drawing/2014/main" id="{F4AA3A94-7A02-41E2-BD12-FFFF7EE76648}"/>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Backpressure ends at the byte buffer</a:t>
            </a:r>
          </a:p>
        </p:txBody>
      </p:sp>
      <p:sp>
        <p:nvSpPr>
          <p:cNvPr id="52" name="intro">
            <a:extLst xmlns:a="http://schemas.openxmlformats.org/drawingml/2006/main">
              <a:ext uri="{FF2B5EF4-FFF2-40B4-BE49-F238E27FC236}">
                <a16:creationId xmlns:a16="http://schemas.microsoft.com/office/drawing/2014/main" id="{9D7B3817-AB28-447A-8249-F2F945EF49FC}"/>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Ready-valid can stop a local producer. It cannot pause bits already arriving on rxd.</a:t>
            </a:r>
          </a:p>
        </p:txBody>
      </p:sp>
      <p:sp>
        <p:nvSpPr>
          <p:cNvPr id="53" name="component-label-225.93333333333334">
            <a:extLst xmlns:a="http://schemas.openxmlformats.org/drawingml/2006/main">
              <a:ext uri="{FF2B5EF4-FFF2-40B4-BE49-F238E27FC236}">
                <a16:creationId xmlns:a16="http://schemas.microsoft.com/office/drawing/2014/main" id="{0DB435FA-D1F3-4A69-84C6-812399571153}"/>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T L   I N T E R F A C E</a:t>
            </a:r>
          </a:p>
        </p:txBody>
      </p:sp>
      <p:sp>
        <p:nvSpPr>
          <p:cNvPr id="54" name="body-0">
            <a:extLst xmlns:a="http://schemas.openxmlformats.org/drawingml/2006/main">
              <a:ext uri="{FF2B5EF4-FFF2-40B4-BE49-F238E27FC236}">
                <a16:creationId xmlns:a16="http://schemas.microsoft.com/office/drawing/2014/main" id="{06545F22-C547-4EC0-BCEE-FA7969AE3E19}"/>
              </a:ext>
            </a:extLst>
          </p:cNvPr>
          <p:cNvSpPr>
            <a:spLocks xmlns:a="http://schemas.openxmlformats.org/drawingml/2006/main" noGrp="1"/>
          </p:cNvSpPr>
          <p:nvPr/>
        </p:nvSpPr>
        <p:spPr>
          <a:xfrm xmlns:a="http://schemas.openxmlformats.org/drawingml/2006/main">
            <a:off x="502920" y="241719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Ready-valid allows a producer to hold a request until accepted. The selected transmitter does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provide an unbounded queue. Inspect upstream RTL to understand when it can accept another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byte.</a:t>
            </a:r>
          </a:p>
        </p:txBody>
      </p:sp>
      <p:sp>
        <p:nvSpPr>
          <p:cNvPr id="55" name="body-1">
            <a:extLst xmlns:a="http://schemas.openxmlformats.org/drawingml/2006/main">
              <a:ext uri="{FF2B5EF4-FFF2-40B4-BE49-F238E27FC236}">
                <a16:creationId xmlns:a16="http://schemas.microsoft.com/office/drawing/2014/main" id="{0BC3EF82-2C90-4A5E-A751-1C51895F214B}"/>
              </a:ext>
            </a:extLst>
          </p:cNvPr>
          <p:cNvSpPr>
            <a:spLocks xmlns:a="http://schemas.openxmlformats.org/drawingml/2006/main" noGrp="1"/>
          </p:cNvSpPr>
          <p:nvPr/>
        </p:nvSpPr>
        <p:spPr>
          <a:xfrm xmlns:a="http://schemas.openxmlformats.org/drawingml/2006/main">
            <a:off x="502920" y="3136900"/>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source</a:t>
            </a:r>
            <a:r>
              <a:t> has a one-byte output register rather than an arbitrarily deep FIFO. Backpressure
protects a byte only until another frame completes. A larger FIFO or external flow control would
be another design. The current test exercises a limited ready stall and an isolated overrun; it does
not promise lossless indefinite stalls.</a:t>
            </a:r>
          </a:p>
        </p:txBody>
      </p:sp>
      <p:sp>
        <p:nvSpPr>
          <p:cNvPr id="56" name="body-2">
            <a:extLst xmlns:a="http://schemas.openxmlformats.org/drawingml/2006/main">
              <a:ext uri="{FF2B5EF4-FFF2-40B4-BE49-F238E27FC236}">
                <a16:creationId xmlns:a16="http://schemas.microsoft.com/office/drawing/2014/main" id="{353B7A29-8E88-4BF3-A86B-3230BC62C77B}"/>
              </a:ext>
            </a:extLst>
          </p:cNvPr>
          <p:cNvSpPr>
            <a:spLocks xmlns:a="http://schemas.openxmlformats.org/drawingml/2006/main" noGrp="1"/>
          </p:cNvSpPr>
          <p:nvPr/>
        </p:nvSpPr>
        <p:spPr>
          <a:xfrm xmlns:a="http://schemas.openxmlformats.org/drawingml/2006/main">
            <a:off x="502920" y="4034790"/>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two-stage chain reduces propagation of metastability into the logic, but it cannot
mathematically guarantee no failures. Its delay affects the </a:t>
            </a:r>
            <a:r>
              <a:rPr b="1"/>
              <a:t>start</a:t>
            </a:r>
            <a:r>
              <a:t> detection and must be considered
with the baud interval. The marker guides implementation tools; it does not itself prove CDC
correctness. The physical flow still needs proper placement and system integration checks before
a reliability claim. A separate counter stage in upstream uart_rx samples this synchronised signal.</a:t>
            </a:r>
          </a:p>
        </p:txBody>
      </p:sp>
      <p:sp>
        <p:nvSpPr>
          <p:cNvPr id="57" name="component-label-536.5733333333334">
            <a:extLst xmlns:a="http://schemas.openxmlformats.org/drawingml/2006/main">
              <a:ext uri="{FF2B5EF4-FFF2-40B4-BE49-F238E27FC236}">
                <a16:creationId xmlns:a16="http://schemas.microsoft.com/office/drawing/2014/main" id="{DAE933EC-0926-4817-9DEA-C3916CBC94E7}"/>
              </a:ext>
            </a:extLst>
          </p:cNvPr>
          <p:cNvSpPr>
            <a:spLocks xmlns:a="http://schemas.openxmlformats.org/drawingml/2006/main" noGrp="1"/>
          </p:cNvSpPr>
          <p:nvPr/>
        </p:nvSpPr>
        <p:spPr>
          <a:xfrm xmlns:a="http://schemas.openxmlformats.org/drawingml/2006/main">
            <a:off x="502920" y="511086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8" name="code-panel">
            <a:extLst xmlns:a="http://schemas.openxmlformats.org/drawingml/2006/main">
              <a:ext uri="{FF2B5EF4-FFF2-40B4-BE49-F238E27FC236}">
                <a16:creationId xmlns:a16="http://schemas.microsoft.com/office/drawing/2014/main" id="{87B871C5-2EA4-4B64-9D41-BBDC1CE8C248}"/>
              </a:ext>
            </a:extLst>
          </p:cNvPr>
          <p:cNvSpPr>
            <a:spLocks xmlns:a="http://schemas.openxmlformats.org/drawingml/2006/main" noGrp="1"/>
          </p:cNvSpPr>
          <p:nvPr/>
        </p:nvSpPr>
        <p:spPr>
          <a:xfrm xmlns:a="http://schemas.openxmlformats.org/drawingml/2006/main">
            <a:off x="502920" y="5376037"/>
            <a:ext cx="6556248" cy="100330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59" name="code">
            <a:extLst xmlns:a="http://schemas.openxmlformats.org/drawingml/2006/main">
              <a:ext uri="{FF2B5EF4-FFF2-40B4-BE49-F238E27FC236}">
                <a16:creationId xmlns:a16="http://schemas.microsoft.com/office/drawing/2014/main" id="{5E0BEA72-8A37-4853-9D8E-294DF279787B}"/>
              </a:ext>
            </a:extLst>
          </p:cNvPr>
          <p:cNvSpPr>
            <a:spLocks xmlns:a="http://schemas.openxmlformats.org/drawingml/2006/main" noGrp="1"/>
          </p:cNvSpPr>
          <p:nvPr/>
        </p:nvSpPr>
        <p:spPr>
          <a:xfrm xmlns:a="http://schemas.openxmlformats.org/drawingml/2006/main">
            <a:off x="617220" y="5471287"/>
            <a:ext cx="6327648" cy="85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DEDED"/>
                </a:solidFill>
              </a:rPr>
              <a:t>(* async_reg = "true" *) reg [1:0] rx_sync;</a:t>
            </a:r>
            <a:r>
              <a:rPr>
                <a:solidFill>
                  <a:srgbClr val="EDEDED"/>
                </a:solidFill>
              </a:rPr>
              <a:t>
always @(posedge clk)</a:t>
            </a:r>
            <a:r>
              <a:rPr>
                <a:solidFill>
                  <a:srgbClr val="EDEDED"/>
                </a:solidFill>
              </a:rPr>
              <a:t>
if (rst) rx_sync &lt;= 2'b11;</a:t>
            </a:r>
            <a:r>
              <a:rPr>
                <a:solidFill>
                  <a:srgbClr val="EDEDED"/>
                </a:solidFill>
              </a:rPr>
              <a:t>
else rx_sync &lt;= {rx_sync[0],rxd};</a:t>
            </a:r>
            <a:r>
              <a:rPr>
                <a:solidFill>
                  <a:srgbClr val="EDEDED"/>
                </a:solidFill>
              </a:rPr>
              <a:t>
uart controller (</a:t>
            </a:r>
          </a:p>
        </p:txBody>
      </p:sp>
      <p:sp>
        <p:nvSpPr>
          <p:cNvPr id="60" name="code-source">
            <a:extLst xmlns:a="http://schemas.openxmlformats.org/drawingml/2006/main">
              <a:ext uri="{FF2B5EF4-FFF2-40B4-BE49-F238E27FC236}">
                <a16:creationId xmlns:a16="http://schemas.microsoft.com/office/drawing/2014/main" id="{2EDF9927-F809-4664-AE6C-C640724B7990}"/>
              </a:ext>
            </a:extLst>
          </p:cNvPr>
          <p:cNvSpPr>
            <a:spLocks xmlns:a="http://schemas.openxmlformats.org/drawingml/2006/main" noGrp="1"/>
          </p:cNvSpPr>
          <p:nvPr/>
        </p:nvSpPr>
        <p:spPr>
          <a:xfrm xmlns:a="http://schemas.openxmlformats.org/drawingml/2006/main">
            <a:off x="502920" y="6436487"/>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hw/protocols/uart/01_rtl/uart_core.v:24</a:t>
            </a:r>
          </a:p>
        </p:txBody>
      </p:sp>
    </p:spTree>
    <p:extLst>
      <p:ext uri="{BB962C8B-B14F-4D97-AF65-F5344CB8AC3E}">
        <p14:creationId xmlns:p14="http://schemas.microsoft.com/office/powerpoint/2010/main" val="133959247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9322bfb79e904d4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BD52083-1800-49D8-9FF4-DB5293119605}"/>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7 · CONTROL SEQUENCE</a:t>
            </a:r>
          </a:p>
        </p:txBody>
      </p:sp>
      <p:sp>
        <p:nvSpPr>
          <p:cNvPr id="51" name="page-title">
            <a:extLst xmlns:a="http://schemas.openxmlformats.org/drawingml/2006/main">
              <a:ext uri="{FF2B5EF4-FFF2-40B4-BE49-F238E27FC236}">
                <a16:creationId xmlns:a16="http://schemas.microsoft.com/office/drawing/2014/main" id="{02A17CF1-D110-4634-84BB-5DF50243E03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Qualify START, then sample centres</a:t>
            </a:r>
          </a:p>
        </p:txBody>
      </p:sp>
      <p:sp>
        <p:nvSpPr>
          <p:cNvPr id="52" name="intro">
            <a:extLst xmlns:a="http://schemas.openxmlformats.org/drawingml/2006/main">
              <a:ext uri="{FF2B5EF4-FFF2-40B4-BE49-F238E27FC236}">
                <a16:creationId xmlns:a16="http://schemas.microsoft.com/office/drawing/2014/main" id="{CCB6809D-837A-43F4-9B3A-3A2237D5DC82}"/>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receiver rejects short starts before committing to a full frame.</a:t>
            </a:r>
          </a:p>
        </p:txBody>
      </p:sp>
      <p:sp>
        <p:nvSpPr>
          <p:cNvPr id="53" name="component-label-225.93333333333334">
            <a:extLst xmlns:a="http://schemas.openxmlformats.org/drawingml/2006/main">
              <a:ext uri="{FF2B5EF4-FFF2-40B4-BE49-F238E27FC236}">
                <a16:creationId xmlns:a16="http://schemas.microsoft.com/office/drawing/2014/main" id="{422F2430-0528-4C5E-BCAC-F03CF3BF1A79}"/>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O N T R O L   S E Q U E N C E</a:t>
            </a:r>
          </a:p>
        </p:txBody>
      </p:sp>
      <p:sp>
        <p:nvSpPr>
          <p:cNvPr id="54" name="body-0">
            <a:extLst xmlns:a="http://schemas.openxmlformats.org/drawingml/2006/main">
              <a:ext uri="{FF2B5EF4-FFF2-40B4-BE49-F238E27FC236}">
                <a16:creationId xmlns:a16="http://schemas.microsoft.com/office/drawing/2014/main" id="{A0182008-8F1E-4243-BF6E-810C2CD1DE59}"/>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When the initial candidate </a:t>
            </a:r>
            <a:r>
              <a:rPr b="1"/>
              <a:t>START</a:t>
            </a:r>
            <a:r>
              <a:t> does not remain low until the confirmation point, the receiver
clears its bit counter and timer. If the line is still low, it advances to the data phase and loads a
full-bit wait. This is a specific digital false-start check, not proof of immunity to every glitch width
or analogue noise pattern.</a:t>
            </a:r>
          </a:p>
        </p:txBody>
      </p:sp>
      <p:sp>
        <p:nvSpPr>
          <p:cNvPr id="55" name="body-1">
            <a:extLst xmlns:a="http://schemas.openxmlformats.org/drawingml/2006/main">
              <a:ext uri="{FF2B5EF4-FFF2-40B4-BE49-F238E27FC236}">
                <a16:creationId xmlns:a16="http://schemas.microsoft.com/office/drawing/2014/main" id="{C0CE9D68-C5E1-48EC-BDEA-5673D21D7428}"/>
              </a:ext>
            </a:extLst>
          </p:cNvPr>
          <p:cNvSpPr>
            <a:spLocks xmlns:a="http://schemas.openxmlformats.org/drawingml/2006/main" noGrp="1"/>
          </p:cNvSpPr>
          <p:nvPr/>
        </p:nvSpPr>
        <p:spPr>
          <a:xfrm xmlns:a="http://schemas.openxmlformats.org/drawingml/2006/main">
            <a:off x="502920" y="331508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table corresponds to the counter-based uart_rx.v control sequence. A pending timer prevents
a new sample until the proper interval expires. At count ten the receiver confirms </a:t>
            </a:r>
            <a:r>
              <a:rPr b="1"/>
              <a:t>START</a:t>
            </a:r>
            <a:r>
              <a:t>; at nine
through two it shifts in the eight data bits; at one it evaluates STOP. It returns to zero after the
frame. START detection initialises a half-bit delay and later data stages initialize full-bit delays.
Output buffering and error flags are separate from this serial phase counter.</a:t>
            </a:r>
          </a:p>
        </p:txBody>
      </p:sp>
      <p:sp>
        <p:nvSpPr>
          <p:cNvPr id="56" name="body-2">
            <a:extLst xmlns:a="http://schemas.openxmlformats.org/drawingml/2006/main">
              <a:ext uri="{FF2B5EF4-FFF2-40B4-BE49-F238E27FC236}">
                <a16:creationId xmlns:a16="http://schemas.microsoft.com/office/drawing/2014/main" id="{D0D7629C-74A0-4B8F-BF44-DACE4C419B59}"/>
              </a:ext>
            </a:extLst>
          </p:cNvPr>
          <p:cNvSpPr>
            <a:spLocks xmlns:a="http://schemas.openxmlformats.org/drawingml/2006/main" noGrp="1"/>
          </p:cNvSpPr>
          <p:nvPr/>
        </p:nvSpPr>
        <p:spPr>
          <a:xfrm xmlns:a="http://schemas.openxmlformats.org/drawingml/2006/main">
            <a:off x="502920" y="4391152"/>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data register includes a high bit for the </a:t>
            </a:r>
            <a:r>
              <a:rPr b="1"/>
              <a:t>STOP</a:t>
            </a:r>
            <a:r>
              <a:t> phase alongside the payload. txd becomes low
for START while busy becomes high. Later timer expirations shift data bits into the output. No
parity generation or alternative word length is enabled by this wrapper.</a:t>
            </a:r>
          </a:p>
        </p:txBody>
      </p:sp>
      <p:sp>
        <p:nvSpPr>
          <p:cNvPr id="57" name="component-label-536.5733333333334">
            <a:extLst xmlns:a="http://schemas.openxmlformats.org/drawingml/2006/main">
              <a:ext uri="{FF2B5EF4-FFF2-40B4-BE49-F238E27FC236}">
                <a16:creationId xmlns:a16="http://schemas.microsoft.com/office/drawing/2014/main" id="{31B02A79-9E77-4569-BE8D-EDFB3BA41653}"/>
              </a:ext>
            </a:extLst>
          </p:cNvPr>
          <p:cNvSpPr>
            <a:spLocks xmlns:a="http://schemas.openxmlformats.org/drawingml/2006/main" noGrp="1"/>
          </p:cNvSpPr>
          <p:nvPr/>
        </p:nvSpPr>
        <p:spPr>
          <a:xfrm xmlns:a="http://schemas.openxmlformats.org/drawingml/2006/main">
            <a:off x="502920" y="511086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D E R I V E D   R E C E I V E   S E Q U E N C E</a:t>
            </a:r>
          </a:p>
        </p:txBody>
      </p:sp>
      <p:graphicFrame>
        <p:nvGraphicFramePr>
          <p:cNvPr id="76" name=""/>
          <p:cNvGraphicFramePr/>
          <p:nvPr/>
        </p:nvGraphicFramePr>
        <p:xfrm>
          <a:off xmlns:a="http://schemas.openxmlformats.org/drawingml/2006/main" x="502920" y="5376037"/>
          <a:ext xmlns:a="http://schemas.openxmlformats.org/drawingml/2006/main" cx="6556248" cy="2422525"/>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bit_cnt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Phase</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Action when timer expires</a:t>
                      </a:r>
                    </a:p>
                  </a:txBody>
                  <a:tcPr marL="91440" marR="91440" marT="45720" marB="45720">
                    <a:lnR w="0">
                      <a:noFill/>
                    </a:lnR>
                    <a:lnT w="0">
                      <a:noFill/>
                    </a:lnT>
                    <a:lnB w="4763">
                      <a:solidFill>
                        <a:srgbClr val="EAEAEA"/>
                      </a:solidFill>
                      <a:prstDash val="solid"/>
                    </a:lnB>
                    <a:solidFill>
                      <a:srgbClr val="0B0B0C"/>
                    </a:solidFill>
                  </a:tcPr>
                </a:tc>
              </a:tr>
              <a:tr h="454025">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Idle</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Observe low candidate</a:t>
                      </a:r>
                    </a:p>
                    <a:p>
                      <a:r>
                        <a:rPr sz="950" b="0">
                          <a:solidFill>
                            <a:srgbClr val="444444"/>
                          </a:solidFill>
                          <a:latin typeface="Segoe UI"/>
                          <a:ea typeface="Segoe UI"/>
                          <a:cs typeface="Segoe UI"/>
                        </a:rPr>
                        <a:t>START</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10</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Confirm START</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Continue only if line stays</a:t>
                      </a:r>
                    </a:p>
                    <a:p>
                      <a:r>
                        <a:rPr sz="950" b="0">
                          <a:solidFill>
                            <a:srgbClr val="444444"/>
                          </a:solidFill>
                          <a:latin typeface="Segoe UI"/>
                          <a:ea typeface="Segoe UI"/>
                          <a:cs typeface="Segoe UI"/>
                        </a:rPr>
                        <a:t>low</a:t>
                      </a:r>
                    </a:p>
                  </a:txBody>
                  <a:tcPr marL="91440" marR="91440" marT="45720" marB="45720">
                    <a:lnR w="0">
                      <a:noFill/>
                    </a:lnR>
                    <a:lnB w="4763">
                      <a:solidFill>
                        <a:srgbClr val="EAEAEA"/>
                      </a:solidFill>
                      <a:prstDash val="solid"/>
                    </a:lnB>
                    <a:solidFill>
                      <a:srgbClr val="FAFAFA"/>
                    </a:solidFill>
                  </a:tcPr>
                </a:tc>
              </a:tr>
              <a:tr h="454025">
                <a:tc>
                  <a:txBody>
                    <a:bodyPr lIns="76200" tIns="57150" rIns="76200" bIns="57150">
                      <a:noAutofit/>
                    </a:bodyPr>
                    <a:lstStyle/>
                    <a:p>
                      <a:r>
                        <a:rPr sz="950" b="0">
                          <a:solidFill>
                            <a:srgbClr val="444444"/>
                          </a:solidFill>
                          <a:latin typeface="Segoe UI"/>
                          <a:ea typeface="Segoe UI"/>
                          <a:cs typeface="Segoe UI"/>
                        </a:rPr>
                        <a:t>9 through 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Data b0 through b7</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Shift sampled RX into data</a:t>
                      </a:r>
                    </a:p>
                    <a:p>
                      <a:r>
                        <a:rPr sz="950" b="0">
                          <a:solidFill>
                            <a:srgbClr val="444444"/>
                          </a:solidFill>
                          <a:latin typeface="Segoe UI"/>
                          <a:ea typeface="Segoe UI"/>
                          <a:cs typeface="Segoe UI"/>
                        </a:rPr>
                        <a:t>register</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1</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STOP</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Accept data or flag framing</a:t>
                      </a:r>
                    </a:p>
                    <a:p>
                      <a:r>
                        <a:rPr sz="950" b="0">
                          <a:solidFill>
                            <a:srgbClr val="444444"/>
                          </a:solidFill>
                          <a:latin typeface="Segoe UI"/>
                          <a:ea typeface="Segoe UI"/>
                          <a:cs typeface="Segoe UI"/>
                        </a:rPr>
                        <a:t>error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 again</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Finish</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Return to idle detection</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33959247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3380bdc5c0d5470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77D398B-EE8F-4ABD-9192-65D5B3A7AF0C}"/>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8 · FAILURE ANALYSIS</a:t>
            </a:r>
          </a:p>
        </p:txBody>
      </p:sp>
      <p:sp>
        <p:nvSpPr>
          <p:cNvPr id="51" name="page-title">
            <a:extLst xmlns:a="http://schemas.openxmlformats.org/drawingml/2006/main">
              <a:ext uri="{FF2B5EF4-FFF2-40B4-BE49-F238E27FC236}">
                <a16:creationId xmlns:a16="http://schemas.microsoft.com/office/drawing/2014/main" id="{00CF891F-8E0C-45ED-AE4D-8C47FF6DB6A8}"/>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Framing and overrun are different faults</a:t>
            </a:r>
          </a:p>
        </p:txBody>
      </p:sp>
      <p:sp>
        <p:nvSpPr>
          <p:cNvPr id="52" name="intro">
            <a:extLst xmlns:a="http://schemas.openxmlformats.org/drawingml/2006/main">
              <a:ext uri="{FF2B5EF4-FFF2-40B4-BE49-F238E27FC236}">
                <a16:creationId xmlns:a16="http://schemas.microsoft.com/office/drawing/2014/main" id="{CE5B0F0D-61E8-4B47-A6D7-156E370F35BC}"/>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low STOP is a wire-framing failure; a full output buffer is a consumer-capacity failure.</a:t>
            </a:r>
          </a:p>
        </p:txBody>
      </p:sp>
      <p:sp>
        <p:nvSpPr>
          <p:cNvPr id="53" name="component-label-225.93333333333334">
            <a:extLst xmlns:a="http://schemas.openxmlformats.org/drawingml/2006/main">
              <a:ext uri="{FF2B5EF4-FFF2-40B4-BE49-F238E27FC236}">
                <a16:creationId xmlns:a16="http://schemas.microsoft.com/office/drawing/2014/main" id="{EAA30082-7D00-4E25-98A6-850386CEF203}"/>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A I L U R E   A N A L Y S I S</a:t>
            </a:r>
          </a:p>
        </p:txBody>
      </p:sp>
      <p:sp>
        <p:nvSpPr>
          <p:cNvPr id="54" name="body-0">
            <a:extLst xmlns:a="http://schemas.openxmlformats.org/drawingml/2006/main">
              <a:ext uri="{FF2B5EF4-FFF2-40B4-BE49-F238E27FC236}">
                <a16:creationId xmlns:a16="http://schemas.microsoft.com/office/drawing/2014/main" id="{3A6B783E-7A4D-4600-AFD1-41C237C46C07}"/>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framing error checks the expected </a:t>
            </a:r>
            <a:r>
              <a:rPr b="1"/>
              <a:t>STOP</a:t>
            </a:r>
            <a:r>
              <a:t> level; it is not a checksum across the data. A wrong
data bit with a valid STOP may go undetected by an 8N1 receiver. Sustained low after malformed
STOP can resemble another START in this core, producing later recovery activity. The test drains
that recovery before isolating the overrun check.</a:t>
            </a:r>
          </a:p>
        </p:txBody>
      </p:sp>
      <p:sp>
        <p:nvSpPr>
          <p:cNvPr id="55" name="body-1">
            <a:extLst xmlns:a="http://schemas.openxmlformats.org/drawingml/2006/main">
              <a:ext uri="{FF2B5EF4-FFF2-40B4-BE49-F238E27FC236}">
                <a16:creationId xmlns:a16="http://schemas.microsoft.com/office/drawing/2014/main" id="{5C9797F6-7DAD-4F6E-959E-6293A039A311}"/>
              </a:ext>
            </a:extLst>
          </p:cNvPr>
          <p:cNvSpPr>
            <a:spLocks xmlns:a="http://schemas.openxmlformats.org/drawingml/2006/main" noGrp="1"/>
          </p:cNvSpPr>
          <p:nvPr/>
        </p:nvSpPr>
        <p:spPr>
          <a:xfrm xmlns:a="http://schemas.openxmlformats.org/drawingml/2006/main">
            <a:off x="502920" y="331508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This </a:t>
            </a:r>
            <a:r>
              <a:rPr b="1"/>
              <a:t>source</a:t>
            </a:r>
            <a:r>
              <a:t> branch belongs to the STOP-sampling stage. A valid STOP writes the newly assembled
data register and marks it available. The prior valid state becomes the overrun flag. This means the
error reports loss/overwrite risk; it does not automatically queue another byte.</a:t>
            </a:r>
          </a:p>
        </p:txBody>
      </p:sp>
      <p:sp>
        <p:nvSpPr>
          <p:cNvPr id="56" name="body-2">
            <a:extLst xmlns:a="http://schemas.openxmlformats.org/drawingml/2006/main">
              <a:ext uri="{FF2B5EF4-FFF2-40B4-BE49-F238E27FC236}">
                <a16:creationId xmlns:a16="http://schemas.microsoft.com/office/drawing/2014/main" id="{095B712E-E722-4B16-BC92-22D1E41E6A95}"/>
              </a:ext>
            </a:extLst>
          </p:cNvPr>
          <p:cNvSpPr>
            <a:spLocks xmlns:a="http://schemas.openxmlformats.org/drawingml/2006/main" noGrp="1"/>
          </p:cNvSpPr>
          <p:nvPr/>
        </p:nvSpPr>
        <p:spPr>
          <a:xfrm xmlns:a="http://schemas.openxmlformats.org/drawingml/2006/main">
            <a:off x="502920" y="4034790"/>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Synchronous </a:t>
            </a:r>
            <a:r>
              <a:rPr b="1"/>
              <a:t>reset</a:t>
            </a:r>
            <a:r>
              <a:t> requires a running clock to take effect. Reset polarity differs from the default
I2C and SPI wrappers. Declaration initializers in upstream code are visible lint warnings. The actual
reset path and mapped flops still require inspection.</a:t>
            </a:r>
          </a:p>
        </p:txBody>
      </p:sp>
      <p:sp>
        <p:nvSpPr>
          <p:cNvPr id="57" name="component-label-499.16">
            <a:extLst xmlns:a="http://schemas.openxmlformats.org/drawingml/2006/main">
              <a:ext uri="{FF2B5EF4-FFF2-40B4-BE49-F238E27FC236}">
                <a16:creationId xmlns:a16="http://schemas.microsoft.com/office/drawing/2014/main" id="{C0D76349-2739-40EC-87BF-3844FCD768EA}"/>
              </a:ext>
            </a:extLst>
          </p:cNvPr>
          <p:cNvSpPr>
            <a:spLocks xmlns:a="http://schemas.openxmlformats.org/drawingml/2006/main" noGrp="1"/>
          </p:cNvSpPr>
          <p:nvPr/>
        </p:nvSpPr>
        <p:spPr>
          <a:xfrm xmlns:a="http://schemas.openxmlformats.org/drawingml/2006/main">
            <a:off x="502920" y="4754499"/>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A U L T   A N D   C O N S E Q U E N C E</a:t>
            </a:r>
          </a:p>
        </p:txBody>
      </p:sp>
      <p:graphicFrame>
        <p:nvGraphicFramePr>
          <p:cNvPr id="76" name=""/>
          <p:cNvGraphicFramePr/>
          <p:nvPr/>
        </p:nvGraphicFramePr>
        <p:xfrm>
          <a:off xmlns:a="http://schemas.openxmlformats.org/drawingml/2006/main" x="502920" y="5019675"/>
          <a:ext xmlns:a="http://schemas.openxmlformats.org/drawingml/2006/main" cx="6556248" cy="16668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Condition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Expected interpretation</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STOP sampled low</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frame_error</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Completed byte with pending</a:t>
                      </a:r>
                    </a:p>
                    <a:p>
                      <a:r>
                        <a:rPr sz="950" b="0">
                          <a:solidFill>
                            <a:srgbClr val="444444"/>
                          </a:solidFill>
                          <a:latin typeface="Segoe UI"/>
                          <a:ea typeface="Segoe UI"/>
                          <a:cs typeface="Segoe UI"/>
                        </a:rPr>
                        <a:t>output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overrun / data-loss risk</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Long low recovery stimulus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May resemble a new START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Data changed with valid STOP</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May require application checksum to detect</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33959247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39e792546a504cd4"/>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E34818D-49AD-448E-B235-AA55A2B7932F}"/>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9 · MEASURED TRACE</a:t>
            </a:r>
          </a:p>
        </p:txBody>
      </p:sp>
      <p:sp>
        <p:nvSpPr>
          <p:cNvPr id="51" name="page-title">
            <a:extLst xmlns:a="http://schemas.openxmlformats.org/drawingml/2006/main">
              <a:ext uri="{FF2B5EF4-FFF2-40B4-BE49-F238E27FC236}">
                <a16:creationId xmlns:a16="http://schemas.microsoft.com/office/drawing/2014/main" id="{41FC765C-C3E9-4C90-8F2C-29A4C7A46D4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Two different full-duplex bytes</a:t>
            </a:r>
          </a:p>
        </p:txBody>
      </p:sp>
      <p:sp>
        <p:nvSpPr>
          <p:cNvPr id="52" name="intro">
            <a:extLst xmlns:a="http://schemas.openxmlformats.org/drawingml/2006/main">
              <a:ext uri="{FF2B5EF4-FFF2-40B4-BE49-F238E27FC236}">
                <a16:creationId xmlns:a16="http://schemas.microsoft.com/office/drawing/2014/main" id="{AF962B7C-9A91-46C5-BC84-41C20B5E1382}"/>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waveform contains TX 0x53 and independently driven RX 0xAC.</a:t>
            </a:r>
          </a:p>
        </p:txBody>
      </p:sp>
      <p:sp>
        <p:nvSpPr>
          <p:cNvPr id="53" name="component-label-225.93333333333334">
            <a:extLst xmlns:a="http://schemas.openxmlformats.org/drawingml/2006/main">
              <a:ext uri="{FF2B5EF4-FFF2-40B4-BE49-F238E27FC236}">
                <a16:creationId xmlns:a16="http://schemas.microsoft.com/office/drawing/2014/main" id="{94C3C9DC-16CD-4C21-B770-2A9852B43F6A}"/>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E A S U R E D   T R A C E</a:t>
            </a:r>
          </a:p>
        </p:txBody>
      </p:sp>
      <p:sp>
        <p:nvSpPr>
          <p:cNvPr id="54" name="body-0">
            <a:extLst xmlns:a="http://schemas.openxmlformats.org/drawingml/2006/main">
              <a:ext uri="{FF2B5EF4-FFF2-40B4-BE49-F238E27FC236}">
                <a16:creationId xmlns:a16="http://schemas.microsoft.com/office/drawing/2014/main" id="{0E84B354-F089-4D15-AF7A-C063B92DD9B1}"/>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At the actual 50 MHz simulation </a:t>
            </a:r>
            <a:r>
              <a:rPr b="1"/>
              <a:t>clock</a:t>
            </a:r>
            <a:r>
              <a:t>, prescale 4 produces 32 core clocks per bit, or 0.64 us. An
8N1 frame occupies ten bit intervals and therefore 6.4 us, before any idle gaps. Sampling TX at the
eight data centres reconstructs 53; sampling the separately aligned RX centres reconstructs AC.
Both STOP samples are high.</a:t>
            </a:r>
          </a:p>
        </p:txBody>
      </p:sp>
      <p:sp>
        <p:nvSpPr>
          <p:cNvPr id="55" name="body-1">
            <a:extLst xmlns:a="http://schemas.openxmlformats.org/drawingml/2006/main">
              <a:ext uri="{FF2B5EF4-FFF2-40B4-BE49-F238E27FC236}">
                <a16:creationId xmlns:a16="http://schemas.microsoft.com/office/drawing/2014/main" id="{D669F2E9-A750-4711-9EAB-E9F2FD835C4D}"/>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received byte is the complement of the transmitted byte, so the plot demonstrates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independent stimulus rather than TX-to-RX loopback. This is a fast directed digital regression at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1.5625 Mbaud, not a measured 115200-baud board capture. The illustrative prescale-54</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configuration elsewhere is a calculation, not one of the tested sweep points.</a:t>
            </a:r>
          </a:p>
        </p:txBody>
      </p:sp>
      <p:sp>
        <p:nvSpPr>
          <p:cNvPr id="56" name="component-label-442.3066666666667">
            <a:extLst xmlns:a="http://schemas.openxmlformats.org/drawingml/2006/main">
              <a:ext uri="{FF2B5EF4-FFF2-40B4-BE49-F238E27FC236}">
                <a16:creationId xmlns:a16="http://schemas.microsoft.com/office/drawing/2014/main" id="{F2AFC7ED-ED1B-43F2-A2C9-8F7805C66881}"/>
              </a:ext>
            </a:extLst>
          </p:cNvPr>
          <p:cNvSpPr>
            <a:spLocks xmlns:a="http://schemas.openxmlformats.org/drawingml/2006/main" noGrp="1"/>
          </p:cNvSpPr>
          <p:nvPr/>
        </p:nvSpPr>
        <p:spPr>
          <a:xfrm xmlns:a="http://schemas.openxmlformats.org/drawingml/2006/main">
            <a:off x="502920" y="421297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E A S U R E D   P O S I T I V E   R E G R E S S I O N</a:t>
            </a:r>
          </a:p>
        </p:txBody>
      </p:sp>
      <p:graphicFrame>
        <p:nvGraphicFramePr>
          <p:cNvPr id="76" name="Chart"/>
          <p:cNvGraphicFramePr/>
          <p:nvPr/>
        </p:nvGraphicFramePr>
        <p:xfrm>
          <a:off xmlns:a="http://schemas.openxmlformats.org/drawingml/2006/main" x="502920" y="4478147"/>
          <a:ext xmlns:a="http://schemas.openxmlformats.org/drawingml/2006/main" cx="6556248" cy="1047750"/>
        </p:xfrm>
        <a:graphic xmlns:a="http://schemas.openxmlformats.org/drawingml/2006/main">
          <a:graphicData uri="http://schemas.openxmlformats.org/drawingml/2006/chart">
            <c:chart xmlns:r="http://schemas.openxmlformats.org/officeDocument/2006/relationships" xmlns:c="http://schemas.openxmlformats.org/drawingml/2006/chart" r:id="Rd954808db1394a59"/>
          </a:graphicData>
        </a:graphic>
      </p:graphicFrame>
      <p:graphicFrame>
        <p:nvGraphicFramePr>
          <p:cNvPr id="77" name="Chart"/>
          <p:cNvGraphicFramePr/>
          <p:nvPr/>
        </p:nvGraphicFramePr>
        <p:xfrm>
          <a:off xmlns:a="http://schemas.openxmlformats.org/drawingml/2006/main" x="502920" y="5525897"/>
          <a:ext xmlns:a="http://schemas.openxmlformats.org/drawingml/2006/main" cx="6556248" cy="1352550"/>
        </p:xfrm>
        <a:graphic xmlns:a="http://schemas.openxmlformats.org/drawingml/2006/main">
          <a:graphicData uri="http://schemas.openxmlformats.org/drawingml/2006/chart">
            <c:chart xmlns:r="http://schemas.openxmlformats.org/officeDocument/2006/relationships" xmlns:c="http://schemas.openxmlformats.org/drawingml/2006/chart" r:id="R4385a26a2d9c4402"/>
          </a:graphicData>
        </a:graphic>
      </p:graphicFrame>
      <p:sp>
        <p:nvSpPr>
          <p:cNvPr id="59" name="wave-kind">
            <a:extLst xmlns:a="http://schemas.openxmlformats.org/drawingml/2006/main">
              <a:ext uri="{FF2B5EF4-FFF2-40B4-BE49-F238E27FC236}">
                <a16:creationId xmlns:a16="http://schemas.microsoft.com/office/drawing/2014/main" id="{EB396454-685D-4A47-8A7E-13FFDC58AFDC}"/>
              </a:ext>
            </a:extLst>
          </p:cNvPr>
          <p:cNvSpPr>
            <a:spLocks xmlns:a="http://schemas.openxmlformats.org/drawingml/2006/main" noGrp="1"/>
          </p:cNvSpPr>
          <p:nvPr/>
        </p:nvSpPr>
        <p:spPr>
          <a:xfrm xmlns:a="http://schemas.openxmlformats.org/drawingml/2006/main">
            <a:off x="502920" y="6916547"/>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Logic HIGH=1, LOW=0. Digital simulation, not analogue compliance; source hash retained.</a:t>
            </a:r>
          </a:p>
        </p:txBody>
      </p:sp>
    </p:spTree>
    <p:extLst>
      <p:ext uri="{BB962C8B-B14F-4D97-AF65-F5344CB8AC3E}">
        <p14:creationId xmlns:p14="http://schemas.microsoft.com/office/powerpoint/2010/main" val="133959247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dd9831189b6b40ce"/>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4365A9A5-212E-440F-BEBE-344152CB61F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10 · LINT</a:t>
            </a:r>
          </a:p>
        </p:txBody>
      </p:sp>
      <p:sp>
        <p:nvSpPr>
          <p:cNvPr id="51" name="page-title">
            <a:extLst xmlns:a="http://schemas.openxmlformats.org/drawingml/2006/main">
              <a:ext uri="{FF2B5EF4-FFF2-40B4-BE49-F238E27FC236}">
                <a16:creationId xmlns:a16="http://schemas.microsoft.com/office/drawing/2014/main" id="{A7315F03-961B-451A-9F55-D64B33BBB66E}"/>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Lint: read code before running it</a:t>
            </a:r>
          </a:p>
        </p:txBody>
      </p:sp>
      <p:sp>
        <p:nvSpPr>
          <p:cNvPr id="52" name="intro">
            <a:extLst xmlns:a="http://schemas.openxmlformats.org/drawingml/2006/main">
              <a:ext uri="{FF2B5EF4-FFF2-40B4-BE49-F238E27FC236}">
                <a16:creationId xmlns:a16="http://schemas.microsoft.com/office/drawing/2014/main" id="{EA6B5FC2-B634-4E2A-BCFF-D85C5C509041}"/>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Verilator checks legal but suspicious code patterns without exercising transactions. A warning</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count is a review starting point, not proof of correctness.</a:t>
            </a:r>
          </a:p>
        </p:txBody>
      </p:sp>
      <p:sp>
        <p:nvSpPr>
          <p:cNvPr id="53" name="component-label-246.26666666666665">
            <a:extLst xmlns:a="http://schemas.openxmlformats.org/drawingml/2006/main">
              <a:ext uri="{FF2B5EF4-FFF2-40B4-BE49-F238E27FC236}">
                <a16:creationId xmlns:a16="http://schemas.microsoft.com/office/drawing/2014/main" id="{A7978C17-10E9-4222-9C42-BE9C73662A45}"/>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N T</a:t>
            </a:r>
          </a:p>
        </p:txBody>
      </p:sp>
      <p:sp>
        <p:nvSpPr>
          <p:cNvPr id="54" name="body-0">
            <a:extLst xmlns:a="http://schemas.openxmlformats.org/drawingml/2006/main">
              <a:ext uri="{FF2B5EF4-FFF2-40B4-BE49-F238E27FC236}">
                <a16:creationId xmlns:a16="http://schemas.microsoft.com/office/drawing/2014/main" id="{748C8CC3-C778-4C27-89AF-07BDC434B74A}"/>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retained report contains 20 warning messages and 0 error messages. Categories present: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PROCASSINIT, WIDTHEXPAND. These figures count report message headers; repeated warnings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are not necessarily independent defects. The report is hashed in this document evidence manifest.</a:t>
            </a:r>
          </a:p>
        </p:txBody>
      </p:sp>
      <p:sp>
        <p:nvSpPr>
          <p:cNvPr id="55" name="body-1">
            <a:extLst xmlns:a="http://schemas.openxmlformats.org/drawingml/2006/main">
              <a:ext uri="{FF2B5EF4-FFF2-40B4-BE49-F238E27FC236}">
                <a16:creationId xmlns:a16="http://schemas.microsoft.com/office/drawing/2014/main" id="{8737A39A-2422-4267-B133-77E3DA2EA819}"/>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invocation deliberately uses -Wno-fatal so warnings remain visible while lint execution can
complete. A successful command therefore does not mean every warning was resolved. Width
changes, incomplete cases, </a:t>
            </a:r>
            <a:r>
              <a:rPr b="1"/>
              <a:t>reset</a:t>
            </a:r>
            <a:r>
              <a:t> use and unconnected ports need review against the wrapper
contract and directed tests.</a:t>
            </a:r>
          </a:p>
        </p:txBody>
      </p:sp>
      <p:sp>
        <p:nvSpPr>
          <p:cNvPr id="56" name="body-2">
            <a:extLst xmlns:a="http://schemas.openxmlformats.org/drawingml/2006/main">
              <a:ext uri="{FF2B5EF4-FFF2-40B4-BE49-F238E27FC236}">
                <a16:creationId xmlns:a16="http://schemas.microsoft.com/office/drawing/2014/main" id="{455BF236-891C-43C8-9DC1-33EF89A83CE3}"/>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Lint cannot show that a receive byte is correct, that a transaction finishes, or that an external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electrical interface is safe. Those questions require a checking testbench, implementation evidence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and separate board or signoff work.</a:t>
            </a:r>
          </a:p>
        </p:txBody>
      </p:sp>
      <p:sp>
        <p:nvSpPr>
          <p:cNvPr id="57" name="component-label-519.4933333333333">
            <a:extLst xmlns:a="http://schemas.openxmlformats.org/drawingml/2006/main">
              <a:ext uri="{FF2B5EF4-FFF2-40B4-BE49-F238E27FC236}">
                <a16:creationId xmlns:a16="http://schemas.microsoft.com/office/drawing/2014/main" id="{94322D39-1F63-4B72-977D-637BF14A78DF}"/>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T A I N E D   W A R N I N G   R E V I E W</a:t>
            </a:r>
          </a:p>
        </p:txBody>
      </p:sp>
      <p:graphicFrame>
        <p:nvGraphicFramePr>
          <p:cNvPr id="80" name=""/>
          <p:cNvGraphicFramePr/>
          <p:nvPr/>
        </p:nvGraphicFramePr>
        <p:xfrm>
          <a:off xmlns:a="http://schemas.openxmlformats.org/drawingml/2006/main" x="502920" y="5213350"/>
          <a:ext xmlns:a="http://schemas.openxmlformats.org/drawingml/2006/main" cx="6556248" cy="16668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Warning message headers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20</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Error message headers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Clean warning-free RTL?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Protocol behaviour proved by</a:t>
                      </a:r>
                    </a:p>
                    <a:p>
                      <a:r>
                        <a:rPr sz="950" b="0">
                          <a:solidFill>
                            <a:srgbClr val="444444"/>
                          </a:solidFill>
                          <a:latin typeface="Segoe UI"/>
                          <a:ea typeface="Segoe UI"/>
                          <a:cs typeface="Segoe UI"/>
                        </a:rPr>
                        <a:t>lint?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a:t>
                      </a:r>
                    </a:p>
                  </a:txBody>
                  <a:tcPr marL="91440" marR="91440" marT="45720" marB="45720">
                    <a:lnR w="0">
                      <a:noFill/>
                    </a:lnR>
                    <a:lnB w="0">
                      <a:noFill/>
                    </a:lnB>
                    <a:solidFill>
                      <a:srgbClr val="FAFAFA"/>
                    </a:solidFill>
                  </a:tcPr>
                </a:tc>
              </a:tr>
            </a:tbl>
          </a:graphicData>
        </a:graphic>
      </p:graphicFrame>
      <p:sp>
        <p:nvSpPr>
          <p:cNvPr id="59" name="component-label-741.5333333333334">
            <a:extLst xmlns:a="http://schemas.openxmlformats.org/drawingml/2006/main">
              <a:ext uri="{FF2B5EF4-FFF2-40B4-BE49-F238E27FC236}">
                <a16:creationId xmlns:a16="http://schemas.microsoft.com/office/drawing/2014/main" id="{D46AF568-A056-4CA5-BF9E-AC73EF2729CB}"/>
              </a:ext>
            </a:extLst>
          </p:cNvPr>
          <p:cNvSpPr>
            <a:spLocks xmlns:a="http://schemas.openxmlformats.org/drawingml/2006/main" noGrp="1"/>
          </p:cNvSpPr>
          <p:nvPr/>
        </p:nvSpPr>
        <p:spPr>
          <a:xfrm xmlns:a="http://schemas.openxmlformats.org/drawingml/2006/main">
            <a:off x="502920" y="706310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B43E5B07-12D7-4486-8D33-042DC36486B7}"/>
              </a:ext>
            </a:extLst>
          </p:cNvPr>
          <p:cNvSpPr>
            <a:spLocks xmlns:a="http://schemas.openxmlformats.org/drawingml/2006/main" noGrp="1"/>
          </p:cNvSpPr>
          <p:nvPr/>
        </p:nvSpPr>
        <p:spPr>
          <a:xfrm xmlns:a="http://schemas.openxmlformats.org/drawingml/2006/main">
            <a:off x="502920" y="7328281"/>
            <a:ext cx="6556248" cy="6934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BF4ED999-A456-4409-B2F8-46079511B182}"/>
              </a:ext>
            </a:extLst>
          </p:cNvPr>
          <p:cNvSpPr>
            <a:spLocks xmlns:a="http://schemas.openxmlformats.org/drawingml/2006/main" noGrp="1"/>
          </p:cNvSpPr>
          <p:nvPr/>
        </p:nvSpPr>
        <p:spPr>
          <a:xfrm xmlns:a="http://schemas.openxmlformats.org/drawingml/2006/main">
            <a:off x="617220" y="7423531"/>
            <a:ext cx="6327648" cy="541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lint</a:t>
            </a:r>
            <a:r>
              <a:rPr>
                <a:solidFill>
                  <a:srgbClr val="9A9AA0"/>
                </a:solidFill>
              </a:rPr>
              <a:t>
# inspect, do not just count</a:t>
            </a:r>
            <a:r>
              <a:rPr>
                <a:solidFill>
                  <a:srgbClr val="9A9AA0"/>
                </a:solidFill>
              </a:rPr>
              <a:t>
# 00_lint/lint_report.txt</a:t>
            </a:r>
          </a:p>
        </p:txBody>
      </p:sp>
      <p:sp>
        <p:nvSpPr>
          <p:cNvPr id="62" name="code-source">
            <a:extLst xmlns:a="http://schemas.openxmlformats.org/drawingml/2006/main">
              <a:ext uri="{FF2B5EF4-FFF2-40B4-BE49-F238E27FC236}">
                <a16:creationId xmlns:a16="http://schemas.microsoft.com/office/drawing/2014/main" id="{B021E967-0BC5-4D6D-BE50-2342660207CB}"/>
              </a:ext>
            </a:extLst>
          </p:cNvPr>
          <p:cNvSpPr>
            <a:spLocks xmlns:a="http://schemas.openxmlformats.org/drawingml/2006/main" noGrp="1"/>
          </p:cNvSpPr>
          <p:nvPr/>
        </p:nvSpPr>
        <p:spPr>
          <a:xfrm xmlns:a="http://schemas.openxmlformats.org/drawingml/2006/main">
            <a:off x="502920" y="8078851"/>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00_lint/Makefile and run_flow.sh: retained Verilator report</a:t>
            </a:r>
          </a:p>
        </p:txBody>
      </p:sp>
    </p:spTree>
    <p:extLst>
      <p:ext uri="{BB962C8B-B14F-4D97-AF65-F5344CB8AC3E}">
        <p14:creationId xmlns:p14="http://schemas.microsoft.com/office/powerpoint/2010/main" val="133959247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29844fb7527a437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70040FC-1F89-48E4-8625-6BBB1E997BB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11 · SIMULATION AND VERIFICATION</a:t>
            </a:r>
          </a:p>
        </p:txBody>
      </p:sp>
      <p:sp>
        <p:nvSpPr>
          <p:cNvPr id="51" name="page-title">
            <a:extLst xmlns:a="http://schemas.openxmlformats.org/drawingml/2006/main">
              <a:ext uri="{FF2B5EF4-FFF2-40B4-BE49-F238E27FC236}">
                <a16:creationId xmlns:a16="http://schemas.microsoft.com/office/drawing/2014/main" id="{44648FEF-4FE8-4A74-B70C-5D9ED6BDF89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Exhaustive bytes at one prescale</a:t>
            </a:r>
          </a:p>
        </p:txBody>
      </p:sp>
      <p:sp>
        <p:nvSpPr>
          <p:cNvPr id="52" name="intro">
            <a:extLst xmlns:a="http://schemas.openxmlformats.org/drawingml/2006/main">
              <a:ext uri="{FF2B5EF4-FFF2-40B4-BE49-F238E27FC236}">
                <a16:creationId xmlns:a16="http://schemas.microsoft.com/office/drawing/2014/main" id="{15114898-1729-499B-A618-E26D89CAC741}"/>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testbench is code that drives the circuit and judges its outputs. These directed checks use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independent expected data and deliberately failing controls.</a:t>
            </a:r>
          </a:p>
        </p:txBody>
      </p:sp>
      <p:sp>
        <p:nvSpPr>
          <p:cNvPr id="53" name="component-label-246.26666666666665">
            <a:extLst xmlns:a="http://schemas.openxmlformats.org/drawingml/2006/main">
              <a:ext uri="{FF2B5EF4-FFF2-40B4-BE49-F238E27FC236}">
                <a16:creationId xmlns:a16="http://schemas.microsoft.com/office/drawing/2014/main" id="{8FD323F7-4387-4A0E-BF41-23DFBFFEC132}"/>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I M U L A T I O N   A N D   V E R I F I C A T I O N</a:t>
            </a:r>
          </a:p>
        </p:txBody>
      </p:sp>
      <p:sp>
        <p:nvSpPr>
          <p:cNvPr id="54" name="body-0">
            <a:extLst xmlns:a="http://schemas.openxmlformats.org/drawingml/2006/main">
              <a:ext uri="{FF2B5EF4-FFF2-40B4-BE49-F238E27FC236}">
                <a16:creationId xmlns:a16="http://schemas.microsoft.com/office/drawing/2014/main" id="{B55C7235-D135-4C47-A63D-F15B3E7E4177}"/>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full-duplex run tests all 256 byte values at prescale 4. A separate sweep uses prescales 2</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through 7 with fixed TX 96 and RX 69. Combining those descriptions into all bytes at all prescalers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would overstate the evidence. Neither test establishes arbitrary baud mismatch tolerance.</a:t>
            </a:r>
          </a:p>
        </p:txBody>
      </p:sp>
      <p:sp>
        <p:nvSpPr>
          <p:cNvPr id="55" name="body-1">
            <a:extLst xmlns:a="http://schemas.openxmlformats.org/drawingml/2006/main">
              <a:ext uri="{FF2B5EF4-FFF2-40B4-BE49-F238E27FC236}">
                <a16:creationId xmlns:a16="http://schemas.microsoft.com/office/drawing/2014/main" id="{B2DF66C6-5053-4C3B-BB17-17466D97AE59}"/>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Directed checks include receive backpressure, malformed </a:t>
            </a:r>
            <a:r>
              <a:rPr b="1"/>
              <a:t>STOP</a:t>
            </a:r>
            <a:r>
              <a:t> and framing error, receive-buffer
overrun, reset abort and a successful later transfer. The malformed-STOP source can remain low
long enough to resemble another START. The bench drains the resulting recovery word before
isolating the subsequent overrun check.</a:t>
            </a:r>
          </a:p>
        </p:txBody>
      </p:sp>
      <p:sp>
        <p:nvSpPr>
          <p:cNvPr id="56" name="body-2">
            <a:extLst xmlns:a="http://schemas.openxmlformats.org/drawingml/2006/main">
              <a:ext uri="{FF2B5EF4-FFF2-40B4-BE49-F238E27FC236}">
                <a16:creationId xmlns:a16="http://schemas.microsoft.com/office/drawing/2014/main" id="{C9FE181F-4F85-404F-8E13-A04BB02625CE}"/>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An injected wrong receive-byte expectation must fail fatally. The wrapper remains fixed to </a:t>
            </a:r>
            <a:r>
              <a:rPr b="1"/>
              <a:t>8N1</a:t>
            </a:r>
            <a:r>
              <a:t>
with no parity, CTS/RTS or alternative word length. The two-stage receive synchroniser reduces
metastability propagation, but these digital tests are not a CDC reliability or reset signoff result.</a:t>
            </a:r>
          </a:p>
        </p:txBody>
      </p:sp>
      <p:sp>
        <p:nvSpPr>
          <p:cNvPr id="57" name="component-label-519.4933333333333">
            <a:extLst xmlns:a="http://schemas.openxmlformats.org/drawingml/2006/main">
              <a:ext uri="{FF2B5EF4-FFF2-40B4-BE49-F238E27FC236}">
                <a16:creationId xmlns:a16="http://schemas.microsoft.com/office/drawing/2014/main" id="{E4E4742B-DD2F-459D-8B4C-A44FE1BCA5AE}"/>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O V E R A G E   M A T R I X</a:t>
            </a:r>
          </a:p>
        </p:txBody>
      </p:sp>
      <p:graphicFrame>
        <p:nvGraphicFramePr>
          <p:cNvPr id="80" name=""/>
          <p:cNvGraphicFramePr/>
          <p:nvPr/>
        </p:nvGraphicFramePr>
        <p:xfrm>
          <a:off xmlns:a="http://schemas.openxmlformats.org/drawingml/2006/main" x="502920" y="5213350"/>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Case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Actual stimulus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Full byte space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256 values at prescale 4</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Divider sweep</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2..7; TX 96 / RX 69</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Consumer faults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Stall, overrun, malformed STOP</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Not tested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Parity, other word formats, arbitrary drift</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B0D5A823-FF8D-4D50-9D40-624F70F6A08F}"/>
              </a:ext>
            </a:extLst>
          </p:cNvPr>
          <p:cNvSpPr>
            <a:spLocks xmlns:a="http://schemas.openxmlformats.org/drawingml/2006/main" noGrp="1"/>
          </p:cNvSpPr>
          <p:nvPr/>
        </p:nvSpPr>
        <p:spPr>
          <a:xfrm xmlns:a="http://schemas.openxmlformats.org/drawingml/2006/main">
            <a:off x="502920" y="6912293"/>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964BAB06-E916-45DF-8127-413F5D857192}"/>
              </a:ext>
            </a:extLst>
          </p:cNvPr>
          <p:cNvSpPr>
            <a:spLocks xmlns:a="http://schemas.openxmlformats.org/drawingml/2006/main" noGrp="1"/>
          </p:cNvSpPr>
          <p:nvPr/>
        </p:nvSpPr>
        <p:spPr>
          <a:xfrm xmlns:a="http://schemas.openxmlformats.org/drawingml/2006/main">
            <a:off x="502920" y="6912293"/>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B156A2F1-48F6-4A51-8AD6-0B177EF1207F}"/>
              </a:ext>
            </a:extLst>
          </p:cNvPr>
          <p:cNvSpPr>
            <a:spLocks xmlns:a="http://schemas.openxmlformats.org/drawingml/2006/main" noGrp="1"/>
          </p:cNvSpPr>
          <p:nvPr/>
        </p:nvSpPr>
        <p:spPr>
          <a:xfrm xmlns:a="http://schemas.openxmlformats.org/drawingml/2006/main">
            <a:off x="674370" y="7007543"/>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checker must be able to fail</a:t>
            </a:r>
          </a:p>
        </p:txBody>
      </p:sp>
      <p:sp>
        <p:nvSpPr>
          <p:cNvPr id="62" name="boundary-text">
            <a:extLst xmlns:a="http://schemas.openxmlformats.org/drawingml/2006/main">
              <a:ext uri="{FF2B5EF4-FFF2-40B4-BE49-F238E27FC236}">
                <a16:creationId xmlns:a16="http://schemas.microsoft.com/office/drawing/2014/main" id="{FAECF7B4-2979-4C6F-A45E-48F314F354F7}"/>
              </a:ext>
            </a:extLst>
          </p:cNvPr>
          <p:cNvSpPr>
            <a:spLocks xmlns:a="http://schemas.openxmlformats.org/drawingml/2006/main" noGrp="1"/>
          </p:cNvSpPr>
          <p:nvPr/>
        </p:nvSpPr>
        <p:spPr>
          <a:xfrm xmlns:a="http://schemas.openxmlformats.org/drawingml/2006/main">
            <a:off x="674370" y="7274243"/>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Completion alone is insufficient. Read the successful log and the expected fatal rejection together;</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neither is a protocol-compliance certificate.</a:t>
            </a:r>
          </a:p>
        </p:txBody>
      </p:sp>
    </p:spTree>
    <p:extLst>
      <p:ext uri="{BB962C8B-B14F-4D97-AF65-F5344CB8AC3E}">
        <p14:creationId xmlns:p14="http://schemas.microsoft.com/office/powerpoint/2010/main" val="133959247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68e9f0c876d34047"/>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FA04CF49-D76D-4C08-A207-9FC3189407F6}"/>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12 · SYNTHESIS</a:t>
            </a:r>
          </a:p>
        </p:txBody>
      </p:sp>
      <p:sp>
        <p:nvSpPr>
          <p:cNvPr id="51" name="page-title">
            <a:extLst xmlns:a="http://schemas.openxmlformats.org/drawingml/2006/main">
              <a:ext uri="{FF2B5EF4-FFF2-40B4-BE49-F238E27FC236}">
                <a16:creationId xmlns:a16="http://schemas.microsoft.com/office/drawing/2014/main" id="{4284178B-B939-4B7C-85D7-6A63E67755C1}"/>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Synthesis: a description becomes gates</a:t>
            </a:r>
          </a:p>
        </p:txBody>
      </p:sp>
      <p:sp>
        <p:nvSpPr>
          <p:cNvPr id="52" name="intro">
            <a:extLst xmlns:a="http://schemas.openxmlformats.org/drawingml/2006/main">
              <a:ext uri="{FF2B5EF4-FFF2-40B4-BE49-F238E27FC236}">
                <a16:creationId xmlns:a16="http://schemas.microsoft.com/office/drawing/2014/main" id="{42E93E29-CE96-41E6-9BAA-2BC9EA9D4898}"/>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netlist is a list of logic cells and their connections. Yosys translates the RTL into cells from</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IHP SG13G2 library.</a:t>
            </a:r>
          </a:p>
        </p:txBody>
      </p:sp>
      <p:sp>
        <p:nvSpPr>
          <p:cNvPr id="53" name="component-label-246.26666666666665">
            <a:extLst xmlns:a="http://schemas.openxmlformats.org/drawingml/2006/main">
              <a:ext uri="{FF2B5EF4-FFF2-40B4-BE49-F238E27FC236}">
                <a16:creationId xmlns:a16="http://schemas.microsoft.com/office/drawing/2014/main" id="{98C65835-8E3B-4053-8D63-D74F96D985E2}"/>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Y N T H E S I S</a:t>
            </a:r>
          </a:p>
        </p:txBody>
      </p:sp>
      <p:sp>
        <p:nvSpPr>
          <p:cNvPr id="54" name="body-0">
            <a:extLst xmlns:a="http://schemas.openxmlformats.org/drawingml/2006/main">
              <a:ext uri="{FF2B5EF4-FFF2-40B4-BE49-F238E27FC236}">
                <a16:creationId xmlns:a16="http://schemas.microsoft.com/office/drawing/2014/main" id="{4E02FFFA-E452-4C59-944D-CFD6E9171273}"/>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process design kit, or PDK, contains the process-specific files used by implementation tools. This
</a:t>
            </a:r>
            <a:r>
              <a:rPr b="1"/>
              <a:t>reference</a:t>
            </a:r>
            <a:r>
              <a:t> uses IHP SG13G2, not the SKY130 library used by the golden APB primer. Standard cells
are predesigned gates and storage elements with characterised timing and physical views.</a:t>
            </a:r>
          </a:p>
        </p:txBody>
      </p:sp>
      <p:sp>
        <p:nvSpPr>
          <p:cNvPr id="55" name="body-1">
            <a:extLst xmlns:a="http://schemas.openxmlformats.org/drawingml/2006/main">
              <a:ext uri="{FF2B5EF4-FFF2-40B4-BE49-F238E27FC236}">
                <a16:creationId xmlns:a16="http://schemas.microsoft.com/office/drawing/2014/main" id="{8140F13C-7647-4173-9A5E-864CB80A7BA7}"/>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source</a:t>
            </a:r>
            <a:r>
              <a:t> is compiled and checked under the unit workspace before synthesis. Yosys maps the
functional logic into the pinned IHP SG13G2 standard-cell library. The current netlist contains 543
functional cells, excluding $scopeinfo metadata. The structural checker rejects remaining generic
logic, latches or unresolved instances.</a:t>
            </a:r>
          </a:p>
        </p:txBody>
      </p:sp>
      <p:sp>
        <p:nvSpPr>
          <p:cNvPr id="56" name="body-2">
            <a:extLst xmlns:a="http://schemas.openxmlformats.org/drawingml/2006/main">
              <a:ext uri="{FF2B5EF4-FFF2-40B4-BE49-F238E27FC236}">
                <a16:creationId xmlns:a16="http://schemas.microsoft.com/office/drawing/2014/main" id="{32DFAC79-7966-42F4-BFF7-B22336B5BA1E}"/>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mapped count excludes $scopeinfo metadata. It is not the count of every placed instance
after </a:t>
            </a:r>
            <a:r>
              <a:rPr b="1"/>
              <a:t>clock</a:t>
            </a:r>
            <a:r>
              <a:t> buffers, repair cells and fillers are added. It also does not mean that the original
protocol has been independently proven for all possible transactions.</a:t>
            </a:r>
          </a:p>
        </p:txBody>
      </p:sp>
      <p:sp>
        <p:nvSpPr>
          <p:cNvPr id="57" name="component-label-519.4933333333333">
            <a:extLst xmlns:a="http://schemas.openxmlformats.org/drawingml/2006/main">
              <a:ext uri="{FF2B5EF4-FFF2-40B4-BE49-F238E27FC236}">
                <a16:creationId xmlns:a16="http://schemas.microsoft.com/office/drawing/2014/main" id="{FEAF73A7-13B1-4412-8E3A-06C0FDBFA731}"/>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A P P I N G   R E S U L T</a:t>
            </a:r>
          </a:p>
        </p:txBody>
      </p:sp>
      <p:graphicFrame>
        <p:nvGraphicFramePr>
          <p:cNvPr id="80" name=""/>
          <p:cNvGraphicFramePr/>
          <p:nvPr/>
        </p:nvGraphicFramePr>
        <p:xfrm>
          <a:off xmlns:a="http://schemas.openxmlformats.org/drawingml/2006/main" x="502920" y="5213350"/>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Top module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uart_core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543</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Technology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SG13G2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Unresolved generic logic / latches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Rejected by structural checker</a:t>
                      </a:r>
                    </a:p>
                  </a:txBody>
                  <a:tcPr marL="91440" marR="91440" marT="45720" marB="45720">
                    <a:lnR w="0">
                      <a:noFill/>
                    </a:lnR>
                    <a:lnB w="0">
                      <a:noFill/>
                    </a:lnB>
                    <a:solidFill>
                      <a:srgbClr val="FAFAFA"/>
                    </a:solidFill>
                  </a:tcPr>
                </a:tc>
              </a:tr>
            </a:tbl>
          </a:graphicData>
        </a:graphic>
      </p:graphicFrame>
      <p:sp>
        <p:nvSpPr>
          <p:cNvPr id="59" name="component-label-725.7">
            <a:extLst xmlns:a="http://schemas.openxmlformats.org/drawingml/2006/main">
              <a:ext uri="{FF2B5EF4-FFF2-40B4-BE49-F238E27FC236}">
                <a16:creationId xmlns:a16="http://schemas.microsoft.com/office/drawing/2014/main" id="{D505F735-8124-49A4-93A8-3C0EE7D3A61A}"/>
              </a:ext>
            </a:extLst>
          </p:cNvPr>
          <p:cNvSpPr>
            <a:spLocks xmlns:a="http://schemas.openxmlformats.org/drawingml/2006/main" noGrp="1"/>
          </p:cNvSpPr>
          <p:nvPr/>
        </p:nvSpPr>
        <p:spPr>
          <a:xfrm xmlns:a="http://schemas.openxmlformats.org/drawingml/2006/main">
            <a:off x="502920" y="69122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B8C4357A-6A44-443E-AEC1-45FACC6EAE09}"/>
              </a:ext>
            </a:extLst>
          </p:cNvPr>
          <p:cNvSpPr>
            <a:spLocks xmlns:a="http://schemas.openxmlformats.org/drawingml/2006/main" noGrp="1"/>
          </p:cNvSpPr>
          <p:nvPr/>
        </p:nvSpPr>
        <p:spPr>
          <a:xfrm xmlns:a="http://schemas.openxmlformats.org/drawingml/2006/main">
            <a:off x="502920" y="7177469"/>
            <a:ext cx="6556248" cy="53848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03C468A7-1269-4643-8940-CA3A790A0571}"/>
              </a:ext>
            </a:extLst>
          </p:cNvPr>
          <p:cNvSpPr>
            <a:spLocks xmlns:a="http://schemas.openxmlformats.org/drawingml/2006/main" noGrp="1"/>
          </p:cNvSpPr>
          <p:nvPr/>
        </p:nvSpPr>
        <p:spPr>
          <a:xfrm xmlns:a="http://schemas.openxmlformats.org/drawingml/2006/main">
            <a:off x="617220" y="7272719"/>
            <a:ext cx="6327648" cy="38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synth</a:t>
            </a:r>
            <a:r>
              <a:rPr>
                <a:solidFill>
                  <a:srgbClr val="EF9529"/>
                </a:solidFill>
              </a:rPr>
              <a:t>
node verify_build.mjs synth</a:t>
            </a:r>
          </a:p>
        </p:txBody>
      </p:sp>
      <p:sp>
        <p:nvSpPr>
          <p:cNvPr id="62" name="code-source">
            <a:extLst xmlns:a="http://schemas.openxmlformats.org/drawingml/2006/main">
              <a:ext uri="{FF2B5EF4-FFF2-40B4-BE49-F238E27FC236}">
                <a16:creationId xmlns:a16="http://schemas.microsoft.com/office/drawing/2014/main" id="{8B5E8D89-59EA-41BF-89D2-47A3F6EB13E9}"/>
              </a:ext>
            </a:extLst>
          </p:cNvPr>
          <p:cNvSpPr>
            <a:spLocks xmlns:a="http://schemas.openxmlformats.org/drawingml/2006/main" noGrp="1"/>
          </p:cNvSpPr>
          <p:nvPr/>
        </p:nvSpPr>
        <p:spPr>
          <a:xfrm xmlns:a="http://schemas.openxmlformats.org/drawingml/2006/main">
            <a:off x="502920" y="7773099"/>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04_synthesis/synth.tcl; verify_build.mjs synthesis checks</a:t>
            </a:r>
          </a:p>
        </p:txBody>
      </p:sp>
    </p:spTree>
    <p:extLst>
      <p:ext uri="{BB962C8B-B14F-4D97-AF65-F5344CB8AC3E}">
        <p14:creationId xmlns:p14="http://schemas.microsoft.com/office/powerpoint/2010/main" val="133959247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fba004606bed4f8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67F4B43-4AEA-4332-83BB-B0E6F01FD80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13 · PHYSICAL IMPLEMENTATION</a:t>
            </a:r>
          </a:p>
        </p:txBody>
      </p:sp>
      <p:sp>
        <p:nvSpPr>
          <p:cNvPr id="51" name="page-title">
            <a:extLst xmlns:a="http://schemas.openxmlformats.org/drawingml/2006/main">
              <a:ext uri="{FF2B5EF4-FFF2-40B4-BE49-F238E27FC236}">
                <a16:creationId xmlns:a16="http://schemas.microsoft.com/office/drawing/2014/main" id="{8CF0154C-12FF-4505-9045-DD5CB0129CF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Floorplan and placement</a:t>
            </a:r>
          </a:p>
        </p:txBody>
      </p:sp>
      <p:sp>
        <p:nvSpPr>
          <p:cNvPr id="52" name="intro">
            <a:extLst xmlns:a="http://schemas.openxmlformats.org/drawingml/2006/main">
              <a:ext uri="{FF2B5EF4-FFF2-40B4-BE49-F238E27FC236}">
                <a16:creationId xmlns:a16="http://schemas.microsoft.com/office/drawing/2014/main" id="{402631C5-FEFF-46B4-B617-1346EEB4E5D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floorplan gives the circuit a physical outline. Placement chooses where its cells sit inside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that outline.</a:t>
            </a:r>
          </a:p>
        </p:txBody>
      </p:sp>
      <p:sp>
        <p:nvSpPr>
          <p:cNvPr id="53" name="component-label-246.26666666666665">
            <a:extLst xmlns:a="http://schemas.openxmlformats.org/drawingml/2006/main">
              <a:ext uri="{FF2B5EF4-FFF2-40B4-BE49-F238E27FC236}">
                <a16:creationId xmlns:a16="http://schemas.microsoft.com/office/drawing/2014/main" id="{E999C656-0447-44FC-8F59-1D68BD4269BD}"/>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sp>
        <p:nvSpPr>
          <p:cNvPr id="54" name="body-0">
            <a:extLst xmlns:a="http://schemas.openxmlformats.org/drawingml/2006/main">
              <a:ext uri="{FF2B5EF4-FFF2-40B4-BE49-F238E27FC236}">
                <a16:creationId xmlns:a16="http://schemas.microsoft.com/office/drawing/2014/main" id="{DC1D595B-38D7-42C0-A695-5AC40AFA3A20}"/>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die outline for this standalone block is 300 x 300 um. The floorplan establishes rows and
</a:t>
            </a:r>
            <a:r>
              <a:rPr b="1"/>
              <a:t>reference</a:t>
            </a:r>
            <a:r>
              <a:t> power/pin geometry. The placer must fit cells legally without overlaps and with room for
routing. This is a block-level educational layout, not a complete padframe or package design.</a:t>
            </a:r>
          </a:p>
        </p:txBody>
      </p:sp>
      <p:sp>
        <p:nvSpPr>
          <p:cNvPr id="55" name="body-1">
            <a:extLst xmlns:a="http://schemas.openxmlformats.org/drawingml/2006/main">
              <a:ext uri="{FF2B5EF4-FFF2-40B4-BE49-F238E27FC236}">
                <a16:creationId xmlns:a16="http://schemas.microsoft.com/office/drawing/2014/main" id="{3207092F-3F7B-4042-B15C-ED7E830441EE}"/>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Mapped functional logic has 543 cells. After physical additions and fillers, the routed DEF contains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16,512 placed standard-cell instances. A filler occupies empty row sites; it is not another functional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logic gate. That distinction explains why the two counts differ so much.</a:t>
            </a:r>
          </a:p>
        </p:txBody>
      </p:sp>
      <p:sp>
        <p:nvSpPr>
          <p:cNvPr id="56" name="body-2">
            <a:extLst xmlns:a="http://schemas.openxmlformats.org/drawingml/2006/main">
              <a:ext uri="{FF2B5EF4-FFF2-40B4-BE49-F238E27FC236}">
                <a16:creationId xmlns:a16="http://schemas.microsoft.com/office/drawing/2014/main" id="{E612A02B-F7B2-43B2-A625-9C49450A3C52}"/>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is the fraction of core area occupied by placed cell area. It is not simply functional-cell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count divided by die size, and it changes between stages. This note does not substitute APB</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row count or I/O count for unavailable protocol-specific measurements.</a:t>
            </a:r>
          </a:p>
        </p:txBody>
      </p:sp>
      <p:sp>
        <p:nvSpPr>
          <p:cNvPr id="57" name="component-label-500.78666666666663">
            <a:extLst xmlns:a="http://schemas.openxmlformats.org/drawingml/2006/main">
              <a:ext uri="{FF2B5EF4-FFF2-40B4-BE49-F238E27FC236}">
                <a16:creationId xmlns:a16="http://schemas.microsoft.com/office/drawing/2014/main" id="{B99A53DB-BB62-4228-8BA0-DE22722754DC}"/>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A C T U A L   P H Y S I C A L   R E F E R E N C E</a:t>
            </a:r>
          </a:p>
        </p:txBody>
      </p:sp>
      <p:graphicFrame>
        <p:nvGraphicFramePr>
          <p:cNvPr id="76"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Die outline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300 x 300 um</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543</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16,512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Physical inputs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06_floorplanning; 07_placement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 agreement</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DEF compared with decoded GDS</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33959247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a80033797b08401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8DC0CDC-36DA-4996-9791-CED143E793B6}"/>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14 · CLOCK AND WIRES</a:t>
            </a:r>
          </a:p>
        </p:txBody>
      </p:sp>
      <p:sp>
        <p:nvSpPr>
          <p:cNvPr id="51" name="page-title">
            <a:extLst xmlns:a="http://schemas.openxmlformats.org/drawingml/2006/main">
              <a:ext uri="{FF2B5EF4-FFF2-40B4-BE49-F238E27FC236}">
                <a16:creationId xmlns:a16="http://schemas.microsoft.com/office/drawing/2014/main" id="{2C8E32DB-E154-40AB-86A5-6CA8D97DE83F}"/>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Clock tree and routing</a:t>
            </a:r>
          </a:p>
        </p:txBody>
      </p:sp>
      <p:sp>
        <p:nvSpPr>
          <p:cNvPr id="52" name="intro">
            <a:extLst xmlns:a="http://schemas.openxmlformats.org/drawingml/2006/main">
              <a:ext uri="{FF2B5EF4-FFF2-40B4-BE49-F238E27FC236}">
                <a16:creationId xmlns:a16="http://schemas.microsoft.com/office/drawing/2014/main" id="{B90A1A05-A63F-4462-8E33-4985136F3321}"/>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Clock-tree synthesis distributes clocks to registers. Routing draws the metal connections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between placed cells.</a:t>
            </a:r>
          </a:p>
        </p:txBody>
      </p:sp>
      <p:sp>
        <p:nvSpPr>
          <p:cNvPr id="53" name="component-label-246.26666666666665">
            <a:extLst xmlns:a="http://schemas.openxmlformats.org/drawingml/2006/main">
              <a:ext uri="{FF2B5EF4-FFF2-40B4-BE49-F238E27FC236}">
                <a16:creationId xmlns:a16="http://schemas.microsoft.com/office/drawing/2014/main" id="{269BCC24-D33F-4522-892D-87A9646E465E}"/>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L O C K   A N D   W I R E S</a:t>
            </a:r>
          </a:p>
        </p:txBody>
      </p:sp>
      <p:sp>
        <p:nvSpPr>
          <p:cNvPr id="54" name="body-0">
            <a:extLst xmlns:a="http://schemas.openxmlformats.org/drawingml/2006/main">
              <a:ext uri="{FF2B5EF4-FFF2-40B4-BE49-F238E27FC236}">
                <a16:creationId xmlns:a16="http://schemas.microsoft.com/office/drawing/2014/main" id="{53D52476-2AC7-4896-89D3-84F906F29546}"/>
              </a:ext>
            </a:extLst>
          </p:cNvPr>
          <p:cNvSpPr>
            <a:spLocks xmlns:a="http://schemas.openxmlformats.org/drawingml/2006/main" noGrp="1"/>
          </p:cNvSpPr>
          <p:nvPr/>
        </p:nvSpPr>
        <p:spPr>
          <a:xfrm xmlns:a="http://schemas.openxmlformats.org/drawingml/2006/main">
            <a:off x="502920" y="261086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register samples its input at a </a:t>
            </a:r>
            <a:r>
              <a:rPr b="1"/>
              <a:t>clock</a:t>
            </a:r>
            <a:r>
              <a:t> edge. Clock buffers distribute that edge across the block;
the difference in arrival times is called skew. The reference is constrained at 50 MHz / 20 ns.</a:t>
            </a:r>
          </a:p>
        </p:txBody>
      </p:sp>
      <p:sp>
        <p:nvSpPr>
          <p:cNvPr id="55" name="body-1">
            <a:extLst xmlns:a="http://schemas.openxmlformats.org/drawingml/2006/main">
              <a:ext uri="{FF2B5EF4-FFF2-40B4-BE49-F238E27FC236}">
                <a16:creationId xmlns:a16="http://schemas.microsoft.com/office/drawing/2014/main" id="{4D1CBAE7-86CE-42BC-9229-660F85B69CDF}"/>
              </a:ext>
            </a:extLst>
          </p:cNvPr>
          <p:cNvSpPr>
            <a:spLocks xmlns:a="http://schemas.openxmlformats.org/drawingml/2006/main" noGrp="1"/>
          </p:cNvSpPr>
          <p:nvPr/>
        </p:nvSpPr>
        <p:spPr>
          <a:xfrm xmlns:a="http://schemas.openxmlformats.org/drawingml/2006/main">
            <a:off x="502920" y="3152394"/>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OpenROAD completes the staged physical flow. The </a:t>
            </a:r>
            <a:r>
              <a:rPr b="1"/>
              <a:t>reference</a:t>
            </a:r>
            <a:r>
              <a:t> die is 300 x 300 um. DEF records
routed design geometry and cell placement; SPEF captures extracted parasitics used by the timing
analysis. The scripts retain stage-specific output so the result can be investigated instead of
relying on a final banner.</a:t>
            </a:r>
          </a:p>
        </p:txBody>
      </p:sp>
      <p:sp>
        <p:nvSpPr>
          <p:cNvPr id="56" name="body-2">
            <a:extLst xmlns:a="http://schemas.openxmlformats.org/drawingml/2006/main">
              <a:ext uri="{FF2B5EF4-FFF2-40B4-BE49-F238E27FC236}">
                <a16:creationId xmlns:a16="http://schemas.microsoft.com/office/drawing/2014/main" id="{6DD2CF74-09FF-4C24-9F01-AC0AF74B5D38}"/>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Real interconnect has resistance and capacitance, called parasitics. Extraction writes these in </a:t>
            </a:r>
            <a:r>
              <a:rPr b="1"/>
              <a:t>SPEF</a:t>
            </a:r>
            <a:r>
              <a:t>
for post-route timing. The retained router-rule DRC file is empty. That checks the router view of its
work; it is not a full foundry-deck check of the exported polygons.</a:t>
            </a:r>
          </a:p>
        </p:txBody>
      </p:sp>
      <p:sp>
        <p:nvSpPr>
          <p:cNvPr id="57" name="component-label-500.78666666666663">
            <a:extLst xmlns:a="http://schemas.openxmlformats.org/drawingml/2006/main">
              <a:ext uri="{FF2B5EF4-FFF2-40B4-BE49-F238E27FC236}">
                <a16:creationId xmlns:a16="http://schemas.microsoft.com/office/drawing/2014/main" id="{962AC5BA-FABB-4DE5-94E8-C5E654365439}"/>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T H E   P H Y S I C A L   E V I D E N C E</a:t>
            </a:r>
          </a:p>
        </p:txBody>
      </p:sp>
      <p:graphicFrame>
        <p:nvGraphicFramePr>
          <p:cNvPr id="80" name=""/>
          <p:cNvGraphicFramePr/>
          <p:nvPr/>
        </p:nvGraphicFramePr>
        <p:xfrm>
          <a:off xmlns:a="http://schemas.openxmlformats.org/drawingml/2006/main" x="502920" y="5035169"/>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ARTIFACT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QUESTION IT ANSWERS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09_place_and_route/route.def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Where are cells and routed connections?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09_place_and_route/route.spef</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Which parasitics were extracted?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Router-rule DRC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Any reported routing-rule violations?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08_sta/timing_report.txt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What does extracted reference timing report?</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3ADA9199-1213-430C-A4E3-7248EED6E4CB}"/>
              </a:ext>
            </a:extLst>
          </p:cNvPr>
          <p:cNvSpPr>
            <a:spLocks xmlns:a="http://schemas.openxmlformats.org/drawingml/2006/main" noGrp="1"/>
          </p:cNvSpPr>
          <p:nvPr/>
        </p:nvSpPr>
        <p:spPr>
          <a:xfrm xmlns:a="http://schemas.openxmlformats.org/drawingml/2006/main">
            <a:off x="502920" y="6734112"/>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693C20BC-B901-42B1-BF84-461BC8CF2B05}"/>
              </a:ext>
            </a:extLst>
          </p:cNvPr>
          <p:cNvSpPr>
            <a:spLocks xmlns:a="http://schemas.openxmlformats.org/drawingml/2006/main" noGrp="1"/>
          </p:cNvSpPr>
          <p:nvPr/>
        </p:nvSpPr>
        <p:spPr>
          <a:xfrm xmlns:a="http://schemas.openxmlformats.org/drawingml/2006/main">
            <a:off x="502920" y="6734112"/>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621F8A79-8CB2-44E3-9AAE-511F1CAF8928}"/>
              </a:ext>
            </a:extLst>
          </p:cNvPr>
          <p:cNvSpPr>
            <a:spLocks xmlns:a="http://schemas.openxmlformats.org/drawingml/2006/main" noGrp="1"/>
          </p:cNvSpPr>
          <p:nvPr/>
        </p:nvSpPr>
        <p:spPr>
          <a:xfrm xmlns:a="http://schemas.openxmlformats.org/drawingml/2006/main">
            <a:off x="674370" y="6829362"/>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Two checks can both be called DRC</a:t>
            </a:r>
          </a:p>
        </p:txBody>
      </p:sp>
      <p:sp>
        <p:nvSpPr>
          <p:cNvPr id="62" name="boundary-text">
            <a:extLst xmlns:a="http://schemas.openxmlformats.org/drawingml/2006/main">
              <a:ext uri="{FF2B5EF4-FFF2-40B4-BE49-F238E27FC236}">
                <a16:creationId xmlns:a16="http://schemas.microsoft.com/office/drawing/2014/main" id="{6A395A87-E659-498C-9D24-187A54AFC200}"/>
              </a:ext>
            </a:extLst>
          </p:cNvPr>
          <p:cNvSpPr>
            <a:spLocks xmlns:a="http://schemas.openxmlformats.org/drawingml/2006/main" noGrp="1"/>
          </p:cNvSpPr>
          <p:nvPr/>
        </p:nvSpPr>
        <p:spPr>
          <a:xfrm xmlns:a="http://schemas.openxmlformats.org/drawingml/2006/main">
            <a:off x="674370" y="7096062"/>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The empty router report is accepted routing evidence. Foundry DRC is a separate unperformed</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obligation; one result cannot stand in for the other.</a:t>
            </a:r>
          </a:p>
        </p:txBody>
      </p:sp>
    </p:spTree>
    <p:extLst>
      <p:ext uri="{BB962C8B-B14F-4D97-AF65-F5344CB8AC3E}">
        <p14:creationId xmlns:p14="http://schemas.microsoft.com/office/powerpoint/2010/main" val="133959247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0f85a1b4b1af414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44839B8-15FA-494E-9A6D-A72BEAD866F8}"/>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15 · REFERENCE TIMING</a:t>
            </a:r>
          </a:p>
        </p:txBody>
      </p:sp>
      <p:sp>
        <p:nvSpPr>
          <p:cNvPr id="51" name="page-title">
            <a:extLst xmlns:a="http://schemas.openxmlformats.org/drawingml/2006/main">
              <a:ext uri="{FF2B5EF4-FFF2-40B4-BE49-F238E27FC236}">
                <a16:creationId xmlns:a16="http://schemas.microsoft.com/office/drawing/2014/main" id="{3A71B870-4F20-4567-8320-9238A652F83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Two measured reference corners</a:t>
            </a:r>
          </a:p>
        </p:txBody>
      </p:sp>
      <p:sp>
        <p:nvSpPr>
          <p:cNvPr id="52" name="intro">
            <a:extLst xmlns:a="http://schemas.openxmlformats.org/drawingml/2006/main">
              <a:ext uri="{FF2B5EF4-FFF2-40B4-BE49-F238E27FC236}">
                <a16:creationId xmlns:a16="http://schemas.microsoft.com/office/drawing/2014/main" id="{09AC0EE6-55FE-42AD-9AC9-E66621B81371}"/>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Static timing analysis adds cell and wire delays without simulating input patterns. Setup asks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whether data arrives early enough; hold asks whether it stays stable long enough.</a:t>
            </a:r>
          </a:p>
        </p:txBody>
      </p:sp>
      <p:sp>
        <p:nvSpPr>
          <p:cNvPr id="53" name="component-label-246.26666666666665">
            <a:extLst xmlns:a="http://schemas.openxmlformats.org/drawingml/2006/main">
              <a:ext uri="{FF2B5EF4-FFF2-40B4-BE49-F238E27FC236}">
                <a16:creationId xmlns:a16="http://schemas.microsoft.com/office/drawing/2014/main" id="{6D235539-AC4F-488E-A33E-FB9AF05FD6D1}"/>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F E R E N C E   T I M I N G</a:t>
            </a:r>
          </a:p>
        </p:txBody>
      </p:sp>
      <p:sp>
        <p:nvSpPr>
          <p:cNvPr id="54" name="body-0">
            <a:extLst xmlns:a="http://schemas.openxmlformats.org/drawingml/2006/main">
              <a:ext uri="{FF2B5EF4-FFF2-40B4-BE49-F238E27FC236}">
                <a16:creationId xmlns:a16="http://schemas.microsoft.com/office/drawing/2014/main" id="{044C8E30-7E7D-4EDB-85B0-BE5C91C0EF50}"/>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physical </a:t>
            </a:r>
            <a:r>
              <a:rPr b="1"/>
              <a:t>clock</a:t>
            </a:r>
            <a:r>
              <a:t> constraint is 50 MHz / 20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p:txBody>
      </p:sp>
      <p:sp>
        <p:nvSpPr>
          <p:cNvPr id="55" name="body-1">
            <a:extLst xmlns:a="http://schemas.openxmlformats.org/drawingml/2006/main">
              <a:ext uri="{FF2B5EF4-FFF2-40B4-BE49-F238E27FC236}">
                <a16:creationId xmlns:a16="http://schemas.microsoft.com/office/drawing/2014/main" id="{585AF7DC-02D7-4D64-89DE-99A92C7C75FA}"/>
              </a:ext>
            </a:extLst>
          </p:cNvPr>
          <p:cNvSpPr>
            <a:spLocks xmlns:a="http://schemas.openxmlformats.org/drawingml/2006/main" noGrp="1"/>
          </p:cNvSpPr>
          <p:nvPr/>
        </p:nvSpPr>
        <p:spPr>
          <a:xfrm xmlns:a="http://schemas.openxmlformats.org/drawingml/2006/main">
            <a:off x="502920" y="350875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Current TT setup/hold slack is +15.75 / +0.17 ns. The slow-corner values are +14.45 / +0.24 ns.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Both reports contain no VIOLATED marker. These numbers are taken directly from the local report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files at document build time; the evidence manifest retains their hashes.</a:t>
            </a:r>
          </a:p>
        </p:txBody>
      </p:sp>
      <p:sp>
        <p:nvSpPr>
          <p:cNvPr id="56" name="body-2">
            <a:extLst xmlns:a="http://schemas.openxmlformats.org/drawingml/2006/main">
              <a:ext uri="{FF2B5EF4-FFF2-40B4-BE49-F238E27FC236}">
                <a16:creationId xmlns:a16="http://schemas.microsoft.com/office/drawing/2014/main" id="{E39ABFE8-A148-4005-B0B5-DA0B1E2669AB}"/>
              </a:ext>
            </a:extLst>
          </p:cNvPr>
          <p:cNvSpPr>
            <a:spLocks xmlns:a="http://schemas.openxmlformats.org/drawingml/2006/main" noGrp="1"/>
          </p:cNvSpPr>
          <p:nvPr/>
        </p:nvSpPr>
        <p:spPr>
          <a:xfrm xmlns:a="http://schemas.openxmlformats.org/drawingml/2006/main">
            <a:off x="502920" y="422846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I/O delays are </a:t>
            </a:r>
            <a:r>
              <a:rPr b="1"/>
              <a:t>reference</a:t>
            </a:r>
            <a:r>
              <a:t>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a:t>
            </a:r>
          </a:p>
        </p:txBody>
      </p:sp>
      <p:sp>
        <p:nvSpPr>
          <p:cNvPr id="57" name="component-label-538.2">
            <a:extLst xmlns:a="http://schemas.openxmlformats.org/drawingml/2006/main">
              <a:ext uri="{FF2B5EF4-FFF2-40B4-BE49-F238E27FC236}">
                <a16:creationId xmlns:a16="http://schemas.microsoft.com/office/drawing/2014/main" id="{7C5B63F9-219E-43C8-A667-8D5C2F41B9BC}"/>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T R A C T E D   S L A C K ,   N S</a:t>
            </a:r>
          </a:p>
        </p:txBody>
      </p:sp>
      <p:graphicFrame>
        <p:nvGraphicFramePr>
          <p:cNvPr id="80" name=""/>
          <p:cNvGraphicFramePr/>
          <p:nvPr/>
        </p:nvGraphicFramePr>
        <p:xfrm>
          <a:off xmlns:a="http://schemas.openxmlformats.org/drawingml/2006/main" x="502920" y="5391531"/>
          <a:ext xmlns:a="http://schemas.openxmlformats.org/drawingml/2006/main" cx="6556248" cy="1212850"/>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Corner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setup</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hold</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15.75</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0.17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Slow</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14.45</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0.24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Status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 reports</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VIOLATED markers</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A0CD3103-D478-4BF8-9BE9-8D7D6640D61E}"/>
              </a:ext>
            </a:extLst>
          </p:cNvPr>
          <p:cNvSpPr>
            <a:spLocks xmlns:a="http://schemas.openxmlformats.org/drawingml/2006/main" noGrp="1"/>
          </p:cNvSpPr>
          <p:nvPr/>
        </p:nvSpPr>
        <p:spPr>
          <a:xfrm xmlns:a="http://schemas.openxmlformats.org/drawingml/2006/main">
            <a:off x="502920" y="6787261"/>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D9120324-574E-497A-80CA-95F6602BDE7E}"/>
              </a:ext>
            </a:extLst>
          </p:cNvPr>
          <p:cNvSpPr>
            <a:spLocks xmlns:a="http://schemas.openxmlformats.org/drawingml/2006/main" noGrp="1"/>
          </p:cNvSpPr>
          <p:nvPr/>
        </p:nvSpPr>
        <p:spPr>
          <a:xfrm xmlns:a="http://schemas.openxmlformats.org/drawingml/2006/main">
            <a:off x="502920" y="6787261"/>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565E2BBB-EB78-46E1-9A35-7363C3B7118C}"/>
              </a:ext>
            </a:extLst>
          </p:cNvPr>
          <p:cNvSpPr>
            <a:spLocks xmlns:a="http://schemas.openxmlformats.org/drawingml/2006/main" noGrp="1"/>
          </p:cNvSpPr>
          <p:nvPr/>
        </p:nvSpPr>
        <p:spPr>
          <a:xfrm xmlns:a="http://schemas.openxmlformats.org/drawingml/2006/main">
            <a:off x="674370" y="6882511"/>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Positive slack has a stated boundary</a:t>
            </a:r>
          </a:p>
        </p:txBody>
      </p:sp>
      <p:sp>
        <p:nvSpPr>
          <p:cNvPr id="62" name="boundary-text">
            <a:extLst xmlns:a="http://schemas.openxmlformats.org/drawingml/2006/main">
              <a:ext uri="{FF2B5EF4-FFF2-40B4-BE49-F238E27FC236}">
                <a16:creationId xmlns:a16="http://schemas.microsoft.com/office/drawing/2014/main" id="{F6358907-EA3D-46F4-A1AC-767EAFF557D4}"/>
              </a:ext>
            </a:extLst>
          </p:cNvPr>
          <p:cNvSpPr>
            <a:spLocks xmlns:a="http://schemas.openxmlformats.org/drawingml/2006/main" noGrp="1"/>
          </p:cNvSpPr>
          <p:nvPr/>
        </p:nvSpPr>
        <p:spPr>
          <a:xfrm xmlns:a="http://schemas.openxmlformats.org/drawingml/2006/main">
            <a:off x="674370" y="7149211"/>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Slack is remaining timing margin. These values apply to the listed clocks, I/O budgets and two library</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corners; they are not a board-timing or manufacturing signoff guarantee.</a:t>
            </a:r>
          </a:p>
        </p:txBody>
      </p:sp>
    </p:spTree>
    <p:extLst>
      <p:ext uri="{BB962C8B-B14F-4D97-AF65-F5344CB8AC3E}">
        <p14:creationId xmlns:p14="http://schemas.microsoft.com/office/powerpoint/2010/main" val="133959247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6f8c62577d76469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91E58238-D685-44C9-B1C3-05FBD8A2AC6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16 · GDS STREAM-OUT</a:t>
            </a:r>
          </a:p>
        </p:txBody>
      </p:sp>
      <p:sp>
        <p:nvSpPr>
          <p:cNvPr id="51" name="page-title">
            <a:extLst xmlns:a="http://schemas.openxmlformats.org/drawingml/2006/main">
              <a:ext uri="{FF2B5EF4-FFF2-40B4-BE49-F238E27FC236}">
                <a16:creationId xmlns:a16="http://schemas.microsoft.com/office/drawing/2014/main" id="{EE580CC2-B554-4167-9C56-1397BB85BBAD}"/>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Count the right objects</a:t>
            </a:r>
          </a:p>
        </p:txBody>
      </p:sp>
      <p:sp>
        <p:nvSpPr>
          <p:cNvPr id="52" name="intro">
            <a:extLst xmlns:a="http://schemas.openxmlformats.org/drawingml/2006/main">
              <a:ext uri="{FF2B5EF4-FFF2-40B4-BE49-F238E27FC236}">
                <a16:creationId xmlns:a16="http://schemas.microsoft.com/office/drawing/2014/main" id="{747BB377-7B84-49A4-8F38-6C7AC3CEAF63}"/>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GDS stores layout polygons and hierarchical cell references. Stream-out combines routed</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geometry with the real standard-cell layouts from the PDK.</a:t>
            </a:r>
          </a:p>
        </p:txBody>
      </p:sp>
      <p:sp>
        <p:nvSpPr>
          <p:cNvPr id="53" name="component-label-246.26666666666665">
            <a:extLst xmlns:a="http://schemas.openxmlformats.org/drawingml/2006/main">
              <a:ext uri="{FF2B5EF4-FFF2-40B4-BE49-F238E27FC236}">
                <a16:creationId xmlns:a16="http://schemas.microsoft.com/office/drawing/2014/main" id="{795EA8F0-0566-4700-B6EB-8390CA7102EC}"/>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G D S   S T R E A M - O U T</a:t>
            </a:r>
          </a:p>
        </p:txBody>
      </p:sp>
      <p:sp>
        <p:nvSpPr>
          <p:cNvPr id="54" name="body-0">
            <a:extLst xmlns:a="http://schemas.openxmlformats.org/drawingml/2006/main">
              <a:ext uri="{FF2B5EF4-FFF2-40B4-BE49-F238E27FC236}">
                <a16:creationId xmlns:a16="http://schemas.microsoft.com/office/drawing/2014/main" id="{9B8C673E-C3BE-4785-A0B2-FA9DEAB38A4B}"/>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GDS</a:t>
            </a:r>
            <a:r>
              <a:t> file contains 1,284,780 bytes and 45 structures. The independent decoder finds 16,512
placed standard-cell instances including fillers. That placement count is intentionally much larger
than the 543 mapped functional cells: filler instances occupy unused placement sites and
structures are unique hierarchy definitions.</a:t>
            </a:r>
          </a:p>
        </p:txBody>
      </p:sp>
      <p:sp>
        <p:nvSpPr>
          <p:cNvPr id="55" name="body-1">
            <a:extLst xmlns:a="http://schemas.openxmlformats.org/drawingml/2006/main">
              <a:ext uri="{FF2B5EF4-FFF2-40B4-BE49-F238E27FC236}">
                <a16:creationId xmlns:a16="http://schemas.microsoft.com/office/drawing/2014/main" id="{5ACFB472-15C1-41D6-A08A-87693F3329BC}"/>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decoder compares exported cell identities, coordinates and orientations against the routed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DEF. A deliberately altered placement/export expectation fails, including under Python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optimisation, so acceptance is not implemented with removable assert-only checks. Raw file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SHA256 is a run-specific fingerprint because stream-out timestamps can change.</a:t>
            </a:r>
          </a:p>
        </p:txBody>
      </p:sp>
      <p:sp>
        <p:nvSpPr>
          <p:cNvPr id="56" name="body-2">
            <a:extLst xmlns:a="http://schemas.openxmlformats.org/drawingml/2006/main">
              <a:ext uri="{FF2B5EF4-FFF2-40B4-BE49-F238E27FC236}">
                <a16:creationId xmlns:a16="http://schemas.microsoft.com/office/drawing/2014/main" id="{A54208CD-09FB-434D-A8BE-C1F0FC0509C6}"/>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OpenROAD router-rule DRC report is empty. It is not a foundry-deck DRC result. LVS, antenna,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scan/DFT, power integrity, padframe, tap/endcap strategy and manufacturing signoff remain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unperformed. No empty routing report is promoted into a DRC-clean tapeout claim.</a:t>
            </a:r>
          </a:p>
        </p:txBody>
      </p:sp>
      <p:sp>
        <p:nvSpPr>
          <p:cNvPr id="57" name="component-label-538.1999999999999">
            <a:extLst xmlns:a="http://schemas.openxmlformats.org/drawingml/2006/main">
              <a:ext uri="{FF2B5EF4-FFF2-40B4-BE49-F238E27FC236}">
                <a16:creationId xmlns:a16="http://schemas.microsoft.com/office/drawing/2014/main" id="{91AA84B7-7825-43F7-8DC3-97AA150366AF}"/>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P O R T   M E A S U R E M E N T S</a:t>
            </a:r>
          </a:p>
        </p:txBody>
      </p:sp>
      <p:graphicFrame>
        <p:nvGraphicFramePr>
          <p:cNvPr id="76" name=""/>
          <p:cNvGraphicFramePr/>
          <p:nvPr/>
        </p:nvGraphicFramePr>
        <p:xfrm>
          <a:off xmlns:a="http://schemas.openxmlformats.org/drawingml/2006/main" x="502920" y="5391531"/>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Quantity</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543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 bytes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1,284,780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 structures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16,512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Die</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300 x 300 um</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33959247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08ecd571a138482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2D69406-98EF-406E-B972-3463979B61C2}"/>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17 · UNPERFORMED SIGNOFF</a:t>
            </a:r>
          </a:p>
        </p:txBody>
      </p:sp>
      <p:sp>
        <p:nvSpPr>
          <p:cNvPr id="51" name="page-title">
            <a:extLst xmlns:a="http://schemas.openxmlformats.org/drawingml/2006/main">
              <a:ext uri="{FF2B5EF4-FFF2-40B4-BE49-F238E27FC236}">
                <a16:creationId xmlns:a16="http://schemas.microsoft.com/office/drawing/2014/main" id="{59D87654-23B2-4A9A-BB87-2E37682CB9E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DRC and LVS: what is still missing</a:t>
            </a:r>
          </a:p>
        </p:txBody>
      </p:sp>
      <p:sp>
        <p:nvSpPr>
          <p:cNvPr id="52" name="intro">
            <a:extLst xmlns:a="http://schemas.openxmlformats.org/drawingml/2006/main">
              <a:ext uri="{FF2B5EF4-FFF2-40B4-BE49-F238E27FC236}">
                <a16:creationId xmlns:a16="http://schemas.microsoft.com/office/drawing/2014/main" id="{60A65FD3-B501-4983-A89E-501D607A5322}"/>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Design rule checking asks whether geometry follows the process rules. Layout versus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schematic asks whether the extracted layout circuit matches the intended netlist.</a:t>
            </a:r>
          </a:p>
        </p:txBody>
      </p:sp>
      <p:sp>
        <p:nvSpPr>
          <p:cNvPr id="53" name="component-label-246.26666666666665">
            <a:extLst xmlns:a="http://schemas.openxmlformats.org/drawingml/2006/main">
              <a:ext uri="{FF2B5EF4-FFF2-40B4-BE49-F238E27FC236}">
                <a16:creationId xmlns:a16="http://schemas.microsoft.com/office/drawing/2014/main" id="{3E92D98C-5D1D-4B26-9FDE-B07BB12DB745}"/>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U N P E R F O R M E D   S I G N O F F</a:t>
            </a:r>
          </a:p>
        </p:txBody>
      </p:sp>
      <p:sp>
        <p:nvSpPr>
          <p:cNvPr id="54" name="body-0">
            <a:extLst xmlns:a="http://schemas.openxmlformats.org/drawingml/2006/main">
              <a:ext uri="{FF2B5EF4-FFF2-40B4-BE49-F238E27FC236}">
                <a16:creationId xmlns:a16="http://schemas.microsoft.com/office/drawing/2014/main" id="{99439B27-1E26-480D-BE20-0474CCA26EB0}"/>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Foundry DRC requires the applicable, qualified rule deck and an inspected report on the final
polygons. Typical checks include minimum widths, spacing and enclosure. No foundry-deck DRC
result has been accepted for this protocol </a:t>
            </a:r>
            <a:r>
              <a:rPr b="1"/>
              <a:t>reference</a:t>
            </a:r>
            <a:r>
              <a:t>. The router report is narrower evidence.</a:t>
            </a:r>
          </a:p>
        </p:txBody>
      </p:sp>
      <p:sp>
        <p:nvSpPr>
          <p:cNvPr id="55" name="body-1">
            <a:extLst xmlns:a="http://schemas.openxmlformats.org/drawingml/2006/main">
              <a:ext uri="{FF2B5EF4-FFF2-40B4-BE49-F238E27FC236}">
                <a16:creationId xmlns:a16="http://schemas.microsoft.com/office/drawing/2014/main" id="{F9BE2BF7-0D6E-4457-959D-4A34B282EAA5}"/>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LVS requires extracting a circuit from the layout and comparing devices and connectivity with the
intended circuit. A structural </a:t>
            </a:r>
            <a:r>
              <a:rPr b="1"/>
              <a:t>GDS</a:t>
            </a:r>
            <a:r>
              <a:t> decoder checking cell references, coordinates and orientations
does not perform that extraction or connectivity comparison. No accepted LVS match is available.</a:t>
            </a:r>
          </a:p>
        </p:txBody>
      </p:sp>
      <p:sp>
        <p:nvSpPr>
          <p:cNvPr id="56" name="body-2">
            <a:extLst xmlns:a="http://schemas.openxmlformats.org/drawingml/2006/main">
              <a:ext uri="{FF2B5EF4-FFF2-40B4-BE49-F238E27FC236}">
                <a16:creationId xmlns:a16="http://schemas.microsoft.com/office/drawing/2014/main" id="{9CA9ED4B-0DAE-4388-B283-5F69552A1949}"/>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Antenna, scan/DFT, power integrity, padframe, tap/endcap strategy and manufacturing release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remain unperformed. The golden APB primer reports its own separate checks; those results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transfer to SG13G2 or to this design.</a:t>
            </a:r>
          </a:p>
        </p:txBody>
      </p:sp>
      <p:sp>
        <p:nvSpPr>
          <p:cNvPr id="57" name="component-label-500.78666666666663">
            <a:extLst xmlns:a="http://schemas.openxmlformats.org/drawingml/2006/main">
              <a:ext uri="{FF2B5EF4-FFF2-40B4-BE49-F238E27FC236}">
                <a16:creationId xmlns:a16="http://schemas.microsoft.com/office/drawing/2014/main" id="{AA424C95-629C-425E-B351-E6CFEA7A56C6}"/>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E P A R A T E   A C C E P T E D   E X P O R T   F R O M   M I S S I N G   S I G N O F F</a:t>
            </a:r>
          </a:p>
        </p:txBody>
      </p:sp>
      <p:graphicFrame>
        <p:nvGraphicFramePr>
          <p:cNvPr id="80"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CHECK</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THIS REFERENCE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Router-rule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Empty; narrower routing evidence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Decoded GDS 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structural/export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Foundry-deck 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Extracted-layout 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Manufacturing readiness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ABB731D8-9FB2-4ADF-8A82-D89AA6F1B7C0}"/>
              </a:ext>
            </a:extLst>
          </p:cNvPr>
          <p:cNvSpPr>
            <a:spLocks xmlns:a="http://schemas.openxmlformats.org/drawingml/2006/main" noGrp="1"/>
          </p:cNvSpPr>
          <p:nvPr/>
        </p:nvSpPr>
        <p:spPr>
          <a:xfrm xmlns:a="http://schemas.openxmlformats.org/drawingml/2006/main">
            <a:off x="502920" y="7037324"/>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3C21B0F4-A026-4B69-8106-1659234F0390}"/>
              </a:ext>
            </a:extLst>
          </p:cNvPr>
          <p:cNvSpPr>
            <a:spLocks xmlns:a="http://schemas.openxmlformats.org/drawingml/2006/main" noGrp="1"/>
          </p:cNvSpPr>
          <p:nvPr/>
        </p:nvSpPr>
        <p:spPr>
          <a:xfrm xmlns:a="http://schemas.openxmlformats.org/drawingml/2006/main">
            <a:off x="502920" y="7037324"/>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616EA2AF-3ECF-4BF8-B71D-13E48C7AEC83}"/>
              </a:ext>
            </a:extLst>
          </p:cNvPr>
          <p:cNvSpPr>
            <a:spLocks xmlns:a="http://schemas.openxmlformats.org/drawingml/2006/main" noGrp="1"/>
          </p:cNvSpPr>
          <p:nvPr/>
        </p:nvSpPr>
        <p:spPr>
          <a:xfrm xmlns:a="http://schemas.openxmlformats.org/drawingml/2006/main">
            <a:off x="674370" y="7132574"/>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GDS file is not tapeout approval</a:t>
            </a:r>
          </a:p>
        </p:txBody>
      </p:sp>
      <p:sp>
        <p:nvSpPr>
          <p:cNvPr id="62" name="boundary-text">
            <a:extLst xmlns:a="http://schemas.openxmlformats.org/drawingml/2006/main">
              <a:ext uri="{FF2B5EF4-FFF2-40B4-BE49-F238E27FC236}">
                <a16:creationId xmlns:a16="http://schemas.microsoft.com/office/drawing/2014/main" id="{487A0ABD-04CC-4E8E-A25B-DC95B0C1C016}"/>
              </a:ext>
            </a:extLst>
          </p:cNvPr>
          <p:cNvSpPr>
            <a:spLocks xmlns:a="http://schemas.openxmlformats.org/drawingml/2006/main" noGrp="1"/>
          </p:cNvSpPr>
          <p:nvPr/>
        </p:nvSpPr>
        <p:spPr>
          <a:xfrm xmlns:a="http://schemas.openxmlformats.org/drawingml/2006/main">
            <a:off x="674370" y="7399274"/>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This package is suitable for studying and reproducing a block implementation. Do not hand it off as a</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signoff-clean manufacturing design.</a:t>
            </a:r>
          </a:p>
        </p:txBody>
      </p:sp>
    </p:spTree>
    <p:extLst>
      <p:ext uri="{BB962C8B-B14F-4D97-AF65-F5344CB8AC3E}">
        <p14:creationId xmlns:p14="http://schemas.microsoft.com/office/powerpoint/2010/main" val="133959247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f31e73d2af784ce7"/>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85FAC712-4F5C-45D1-B3E2-411DBD4FE8A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18 · RESULTS SUMMARY</a:t>
            </a:r>
          </a:p>
        </p:txBody>
      </p:sp>
      <p:sp>
        <p:nvSpPr>
          <p:cNvPr id="51" name="page-title">
            <a:extLst xmlns:a="http://schemas.openxmlformats.org/drawingml/2006/main">
              <a:ext uri="{FF2B5EF4-FFF2-40B4-BE49-F238E27FC236}">
                <a16:creationId xmlns:a16="http://schemas.microsoft.com/office/drawing/2014/main" id="{6E12242F-979E-42D6-A926-6C87E8420B15}"/>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Everything at a glance</a:t>
            </a:r>
          </a:p>
        </p:txBody>
      </p:sp>
      <p:sp>
        <p:nvSpPr>
          <p:cNvPr id="52" name="intro">
            <a:extLst xmlns:a="http://schemas.openxmlformats.org/drawingml/2006/main">
              <a:ext uri="{FF2B5EF4-FFF2-40B4-BE49-F238E27FC236}">
                <a16:creationId xmlns:a16="http://schemas.microsoft.com/office/drawing/2014/main" id="{D2DD12EA-DAF1-4928-B576-88E1DEEFDE88}"/>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Read each result together with the question it actually answers. The same PASS label never</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implies every protocol or manufacturing obligation is closed.</a:t>
            </a:r>
          </a:p>
        </p:txBody>
      </p:sp>
      <p:sp>
        <p:nvSpPr>
          <p:cNvPr id="53" name="component-label-246.26666666666665">
            <a:extLst xmlns:a="http://schemas.openxmlformats.org/drawingml/2006/main">
              <a:ext uri="{FF2B5EF4-FFF2-40B4-BE49-F238E27FC236}">
                <a16:creationId xmlns:a16="http://schemas.microsoft.com/office/drawing/2014/main" id="{8198EB31-D606-4DFE-9A8E-88D785A3C687}"/>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S U L T S   S U M M A R Y</a:t>
            </a:r>
          </a:p>
        </p:txBody>
      </p:sp>
      <p:sp>
        <p:nvSpPr>
          <p:cNvPr id="54" name="body-0">
            <a:extLst xmlns:a="http://schemas.openxmlformats.org/drawingml/2006/main">
              <a:ext uri="{FF2B5EF4-FFF2-40B4-BE49-F238E27FC236}">
                <a16:creationId xmlns:a16="http://schemas.microsoft.com/office/drawing/2014/main" id="{D9E95C2D-5497-4219-8BAE-06767A96A3BD}"/>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directed functional result and the physical export result are both useful, but they prove
different things. The physical build uses the fixed wrapper configuration and </a:t>
            </a:r>
            <a:r>
              <a:rPr b="1"/>
              <a:t>reference</a:t>
            </a:r>
            <a:r>
              <a:t> constraints.
Additional modes, external peripherals, arbitrary clock relationships and board operation require
their own evidence.</a:t>
            </a:r>
          </a:p>
        </p:txBody>
      </p:sp>
      <p:sp>
        <p:nvSpPr>
          <p:cNvPr id="55" name="body-1">
            <a:extLst xmlns:a="http://schemas.openxmlformats.org/drawingml/2006/main">
              <a:ext uri="{FF2B5EF4-FFF2-40B4-BE49-F238E27FC236}">
                <a16:creationId xmlns:a16="http://schemas.microsoft.com/office/drawing/2014/main" id="{6997355A-F55C-49E8-A4EA-25E54AA84EBF}"/>
              </a:ext>
            </a:extLst>
          </p:cNvPr>
          <p:cNvSpPr>
            <a:spLocks xmlns:a="http://schemas.openxmlformats.org/drawingml/2006/main" noGrp="1"/>
          </p:cNvSpPr>
          <p:nvPr/>
        </p:nvSpPr>
        <p:spPr>
          <a:xfrm xmlns:a="http://schemas.openxmlformats.org/drawingml/2006/main">
            <a:off x="502920" y="350875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Important protocol boundary: All 256 bytes are tested at prescale 4 only. The 2..7 sweep uses fixed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TX 0x96 and RX 0x69. No parity or hardware flow control.</a:t>
            </a:r>
          </a:p>
        </p:txBody>
      </p:sp>
      <p:sp>
        <p:nvSpPr>
          <p:cNvPr id="56" name="component-label-425.22666666666663">
            <a:extLst xmlns:a="http://schemas.openxmlformats.org/drawingml/2006/main">
              <a:ext uri="{FF2B5EF4-FFF2-40B4-BE49-F238E27FC236}">
                <a16:creationId xmlns:a16="http://schemas.microsoft.com/office/drawing/2014/main" id="{9C3B4865-23F8-47A5-9793-3D2EA6855B28}"/>
              </a:ext>
            </a:extLst>
          </p:cNvPr>
          <p:cNvSpPr>
            <a:spLocks xmlns:a="http://schemas.openxmlformats.org/drawingml/2006/main" noGrp="1"/>
          </p:cNvSpPr>
          <p:nvPr/>
        </p:nvSpPr>
        <p:spPr>
          <a:xfrm xmlns:a="http://schemas.openxmlformats.org/drawingml/2006/main">
            <a:off x="502920" y="405028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U L L   R E F E R E N C E   F L O W</a:t>
            </a:r>
          </a:p>
        </p:txBody>
      </p:sp>
      <p:graphicFrame>
        <p:nvGraphicFramePr>
          <p:cNvPr id="74" name=""/>
          <p:cNvGraphicFramePr/>
          <p:nvPr/>
        </p:nvGraphicFramePr>
        <p:xfrm>
          <a:off xmlns:a="http://schemas.openxmlformats.org/drawingml/2006/main" x="502920" y="4315460"/>
          <a:ext xmlns:a="http://schemas.openxmlformats.org/drawingml/2006/main" cx="6556248" cy="3335337"/>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TOOL / EVIDENCE</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STATUS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Verilator; 20 retained warnings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Review</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Independent directed expectations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Negative controls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Deliberate fatal mismatches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rejection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Yosys; 543 mapped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OpenROAD; 300 x 300 um</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extraction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DEF and SPEF retained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KLayout; 1,284,780 bytes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accepted report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Full-chip / board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integration proof</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33959247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Picture 2"/>
          <p:cNvPicPr>
            <a:picLocks xmlns:a="http://schemas.openxmlformats.org/drawingml/2006/main" noChangeAspect="1"/>
          </p:cNvPicPr>
          <p:nvPr/>
        </p:nvPicPr>
        <p:blipFill>
          <a:blip xmlns:r="http://schemas.openxmlformats.org/officeDocument/2006/relationships" xmlns:a="http://schemas.openxmlformats.org/drawingml/2006/main" r:embed="Ra404ca6235644b5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6B581ADD-E940-4472-8112-5CD72817DECC}"/>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19 · RUN IT YOURSELF</a:t>
            </a:r>
          </a:p>
        </p:txBody>
      </p:sp>
      <p:sp>
        <p:nvSpPr>
          <p:cNvPr id="51" name="page-title">
            <a:extLst xmlns:a="http://schemas.openxmlformats.org/drawingml/2006/main">
              <a:ext uri="{FF2B5EF4-FFF2-40B4-BE49-F238E27FC236}">
                <a16:creationId xmlns:a16="http://schemas.microsoft.com/office/drawing/2014/main" id="{C18B4CC5-5FF8-4B9F-8113-A2CEFB8C9BF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Run it yourself in WSL</a:t>
            </a:r>
          </a:p>
        </p:txBody>
      </p:sp>
      <p:sp>
        <p:nvSpPr>
          <p:cNvPr id="52" name="intro">
            <a:extLst xmlns:a="http://schemas.openxmlformats.org/drawingml/2006/main">
              <a:ext uri="{FF2B5EF4-FFF2-40B4-BE49-F238E27FC236}">
                <a16:creationId xmlns:a16="http://schemas.microsoft.com/office/drawing/2014/main" id="{4465E70C-00E6-47D0-9851-2722228F4BDF}"/>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Use the pinned source, the unit tool lock and the external PDK revision together.</a:t>
            </a:r>
          </a:p>
        </p:txBody>
      </p:sp>
      <p:sp>
        <p:nvSpPr>
          <p:cNvPr id="53" name="component-label-225.93333333333334">
            <a:extLst xmlns:a="http://schemas.openxmlformats.org/drawingml/2006/main">
              <a:ext uri="{FF2B5EF4-FFF2-40B4-BE49-F238E27FC236}">
                <a16:creationId xmlns:a16="http://schemas.microsoft.com/office/drawing/2014/main" id="{7AA94D01-0A4F-49C1-98CD-8CF547916828}"/>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U N   I T   Y O U R S E L F</a:t>
            </a:r>
          </a:p>
        </p:txBody>
      </p:sp>
      <p:sp>
        <p:nvSpPr>
          <p:cNvPr id="54" name="body-0">
            <a:extLst xmlns:a="http://schemas.openxmlformats.org/drawingml/2006/main">
              <a:ext uri="{FF2B5EF4-FFF2-40B4-BE49-F238E27FC236}">
                <a16:creationId xmlns:a16="http://schemas.microsoft.com/office/drawing/2014/main" id="{8B51E3B3-90AE-4284-923C-F10AC201D56F}"/>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proven entry point is a WSL login Bash shell. igny init prepares the packaging runtime.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Unsetting CRUCIBLE_ENV after initialisation allows the unit crucible.toml workspace selection to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control tool resolution rather than an inherited environment override. This is the observed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workflow, not a change to Crucible internals.</a:t>
            </a:r>
          </a:p>
        </p:txBody>
      </p:sp>
      <p:sp>
        <p:nvSpPr>
          <p:cNvPr id="55" name="body-1">
            <a:extLst xmlns:a="http://schemas.openxmlformats.org/drawingml/2006/main">
              <a:ext uri="{FF2B5EF4-FFF2-40B4-BE49-F238E27FC236}">
                <a16:creationId xmlns:a16="http://schemas.microsoft.com/office/drawing/2014/main" id="{31524260-C3BD-4B0F-BC0E-8C31A0E31ACE}"/>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Each unit has its existing environment and lock. The common tool set includes Icarus, Verilator,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Yosys, OpenROAD and klayout-stream. The separate PDK checkout is IHP SG13G2 revision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22f43352dd8219f9007eb659e422e0d5fe28c5fb. A tool lock does not pin that external PDK by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itself; IHP_PDK_ROOT must point to the matching installation.</a:t>
            </a:r>
          </a:p>
        </p:txBody>
      </p:sp>
      <p:sp>
        <p:nvSpPr>
          <p:cNvPr id="56" name="body-2">
            <a:extLst xmlns:a="http://schemas.openxmlformats.org/drawingml/2006/main">
              <a:ext uri="{FF2B5EF4-FFF2-40B4-BE49-F238E27FC236}">
                <a16:creationId xmlns:a16="http://schemas.microsoft.com/office/drawing/2014/main" id="{3223C991-3C1F-4DB7-89FD-9274CA1C7665}"/>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documented machine could not use the pip klayout package as the expected stream-out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executable; igny tool install klayout-stream supplies the proven converter. make lint sim checks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behaviour, make flow executes the staged implementation, and node verify_build.mjs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all inspects artifacts. Review normal and intentionally failing logs before accepting the result.</a:t>
            </a:r>
          </a:p>
        </p:txBody>
      </p:sp>
      <p:sp>
        <p:nvSpPr>
          <p:cNvPr id="57" name="body-3">
            <a:extLst xmlns:a="http://schemas.openxmlformats.org/drawingml/2006/main">
              <a:ext uri="{FF2B5EF4-FFF2-40B4-BE49-F238E27FC236}">
                <a16:creationId xmlns:a16="http://schemas.microsoft.com/office/drawing/2014/main" id="{DC966387-3B37-4199-B853-C3AFF6062CCF}"/>
              </a:ext>
            </a:extLst>
          </p:cNvPr>
          <p:cNvSpPr>
            <a:spLocks xmlns:a="http://schemas.openxmlformats.org/drawingml/2006/main" noGrp="1"/>
          </p:cNvSpPr>
          <p:nvPr/>
        </p:nvSpPr>
        <p:spPr>
          <a:xfrm xmlns:a="http://schemas.openxmlformats.org/drawingml/2006/main">
            <a:off x="502920" y="511086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Re-running a simulation can replace its VCD and invalidate an earlier document trace hash. Retain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document evidence manifest or regenerate the measured figures after the positive run.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silently preserve an old chart while claiming it is the newly generated waveform.</a:t>
            </a:r>
          </a:p>
        </p:txBody>
      </p:sp>
      <p:sp>
        <p:nvSpPr>
          <p:cNvPr id="58" name="component-label-612.1333333333334">
            <a:extLst xmlns:a="http://schemas.openxmlformats.org/drawingml/2006/main">
              <a:ext uri="{FF2B5EF4-FFF2-40B4-BE49-F238E27FC236}">
                <a16:creationId xmlns:a16="http://schemas.microsoft.com/office/drawing/2014/main" id="{0D6B43E8-02E1-496B-9D2E-FA4B1C94E528}"/>
              </a:ext>
            </a:extLst>
          </p:cNvPr>
          <p:cNvSpPr>
            <a:spLocks xmlns:a="http://schemas.openxmlformats.org/drawingml/2006/main" noGrp="1"/>
          </p:cNvSpPr>
          <p:nvPr/>
        </p:nvSpPr>
        <p:spPr>
          <a:xfrm xmlns:a="http://schemas.openxmlformats.org/drawingml/2006/main">
            <a:off x="502920" y="583057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9" name="code-panel">
            <a:extLst xmlns:a="http://schemas.openxmlformats.org/drawingml/2006/main">
              <a:ext uri="{FF2B5EF4-FFF2-40B4-BE49-F238E27FC236}">
                <a16:creationId xmlns:a16="http://schemas.microsoft.com/office/drawing/2014/main" id="{40703BDC-D413-4F14-8CB7-4F95EE687DA4}"/>
              </a:ext>
            </a:extLst>
          </p:cNvPr>
          <p:cNvSpPr>
            <a:spLocks xmlns:a="http://schemas.openxmlformats.org/drawingml/2006/main" noGrp="1"/>
          </p:cNvSpPr>
          <p:nvPr/>
        </p:nvSpPr>
        <p:spPr>
          <a:xfrm xmlns:a="http://schemas.openxmlformats.org/drawingml/2006/main">
            <a:off x="502920" y="6095746"/>
            <a:ext cx="6556248" cy="14681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0" name="code">
            <a:extLst xmlns:a="http://schemas.openxmlformats.org/drawingml/2006/main">
              <a:ext uri="{FF2B5EF4-FFF2-40B4-BE49-F238E27FC236}">
                <a16:creationId xmlns:a16="http://schemas.microsoft.com/office/drawing/2014/main" id="{F3691DE2-3946-47EB-B257-5F7E059C8EF0}"/>
              </a:ext>
            </a:extLst>
          </p:cNvPr>
          <p:cNvSpPr>
            <a:spLocks xmlns:a="http://schemas.openxmlformats.org/drawingml/2006/main" noGrp="1"/>
          </p:cNvSpPr>
          <p:nvPr/>
        </p:nvSpPr>
        <p:spPr>
          <a:xfrm xmlns:a="http://schemas.openxmlformats.org/drawingml/2006/main">
            <a:off x="617220" y="6190996"/>
            <a:ext cx="6327648" cy="131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igny init</a:t>
            </a:r>
            <a:r>
              <a:rPr>
                <a:solidFill>
                  <a:srgbClr val="EF9529"/>
                </a:solidFill>
              </a:rPr>
              <a:t>
unset CRUCIBLE_ENV</a:t>
            </a:r>
            <a:r>
              <a:rPr>
                <a:solidFill>
                  <a:srgbClr val="EF9529"/>
                </a:solidFill>
              </a:rPr>
              <a:t>
cd hw/protocols/uart</a:t>
            </a:r>
            <a:r>
              <a:rPr>
                <a:solidFill>
                  <a:srgbClr val="EF9529"/>
                </a:solidFill>
              </a:rPr>
              <a:t>
igny workspace sync</a:t>
            </a:r>
            <a:r>
              <a:rPr>
                <a:solidFill>
                  <a:srgbClr val="EF9529"/>
                </a:solidFill>
              </a:rPr>
              <a:t>
igny tool install klayout-stream</a:t>
            </a:r>
            <a:r>
              <a:rPr>
                <a:solidFill>
                  <a:srgbClr val="EF9529"/>
                </a:solidFill>
              </a:rPr>
              <a:t>
make lint sim</a:t>
            </a:r>
            <a:r>
              <a:rPr>
                <a:solidFill>
                  <a:srgbClr val="EF9529"/>
                </a:solidFill>
              </a:rPr>
              <a:t>
make flow</a:t>
            </a:r>
            <a:r>
              <a:rPr>
                <a:solidFill>
                  <a:srgbClr val="EF9529"/>
                </a:solidFill>
              </a:rPr>
              <a:t>
node verify_build.mjs all</a:t>
            </a:r>
          </a:p>
        </p:txBody>
      </p:sp>
      <p:sp>
        <p:nvSpPr>
          <p:cNvPr id="61" name="code-source">
            <a:extLst xmlns:a="http://schemas.openxmlformats.org/drawingml/2006/main">
              <a:ext uri="{FF2B5EF4-FFF2-40B4-BE49-F238E27FC236}">
                <a16:creationId xmlns:a16="http://schemas.microsoft.com/office/drawing/2014/main" id="{BCA37496-8A79-486D-9E01-312228057D65}"/>
              </a:ext>
            </a:extLst>
          </p:cNvPr>
          <p:cNvSpPr>
            <a:spLocks xmlns:a="http://schemas.openxmlformats.org/drawingml/2006/main" noGrp="1"/>
          </p:cNvSpPr>
          <p:nvPr/>
        </p:nvSpPr>
        <p:spPr>
          <a:xfrm xmlns:a="http://schemas.openxmlformats.org/drawingml/2006/main">
            <a:off x="502920" y="7621016"/>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Run after entering the repository in WSL login Bash; PDK required.</a:t>
            </a:r>
          </a:p>
        </p:txBody>
      </p:sp>
    </p:spTree>
    <p:extLst>
      <p:ext uri="{BB962C8B-B14F-4D97-AF65-F5344CB8AC3E}">
        <p14:creationId xmlns:p14="http://schemas.microsoft.com/office/powerpoint/2010/main" val="133959247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8fb2fc98a7bb4afa"/>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022ECA5D-1453-499D-8F58-862F211761A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20 · SOURCES AND REMAINING WORK</a:t>
            </a:r>
          </a:p>
        </p:txBody>
      </p:sp>
      <p:sp>
        <p:nvSpPr>
          <p:cNvPr id="51" name="page-title">
            <a:extLst xmlns:a="http://schemas.openxmlformats.org/drawingml/2006/main">
              <a:ext uri="{FF2B5EF4-FFF2-40B4-BE49-F238E27FC236}">
                <a16:creationId xmlns:a16="http://schemas.microsoft.com/office/drawing/2014/main" id="{F1AA9FEE-703E-4861-BA1A-B82D019AD70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Sources, ownership and remaining work</a:t>
            </a:r>
          </a:p>
        </p:txBody>
      </p:sp>
      <p:sp>
        <p:nvSpPr>
          <p:cNvPr id="52" name="intro">
            <a:extLst xmlns:a="http://schemas.openxmlformats.org/drawingml/2006/main">
              <a:ext uri="{FF2B5EF4-FFF2-40B4-BE49-F238E27FC236}">
                <a16:creationId xmlns:a16="http://schemas.microsoft.com/office/drawing/2014/main" id="{0596482F-D47E-40AE-B3B2-63CD0D8D442A}"/>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pinned revision identifies the baseline; local integration changes are described separately.</a:t>
            </a:r>
          </a:p>
        </p:txBody>
      </p:sp>
      <p:sp>
        <p:nvSpPr>
          <p:cNvPr id="53" name="component-label-225.93333333333334">
            <a:extLst xmlns:a="http://schemas.openxmlformats.org/drawingml/2006/main">
              <a:ext uri="{FF2B5EF4-FFF2-40B4-BE49-F238E27FC236}">
                <a16:creationId xmlns:a16="http://schemas.microsoft.com/office/drawing/2014/main" id="{68AD1FEE-BA78-4418-B996-15085C6B6714}"/>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S   A N D   R E M A I N I N G   W O R K</a:t>
            </a:r>
          </a:p>
        </p:txBody>
      </p:sp>
      <p:sp>
        <p:nvSpPr>
          <p:cNvPr id="54" name="body-0">
            <a:extLst xmlns:a="http://schemas.openxmlformats.org/drawingml/2006/main">
              <a:ext uri="{FF2B5EF4-FFF2-40B4-BE49-F238E27FC236}">
                <a16:creationId xmlns:a16="http://schemas.microsoft.com/office/drawing/2014/main" id="{8156F828-E019-4274-A7BF-6084D65EF3C6}"/>
              </a:ext>
            </a:extLst>
          </p:cNvPr>
          <p:cNvSpPr>
            <a:spLocks xmlns:a="http://schemas.openxmlformats.org/drawingml/2006/main" noGrp="1"/>
          </p:cNvSpPr>
          <p:nvPr/>
        </p:nvSpPr>
        <p:spPr>
          <a:xfrm xmlns:a="http://schemas.openxmlformats.org/drawingml/2006/main">
            <a:off x="502920" y="241719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Upstream: https://github.com/alexforencich/verilog-uart
Pinned commit: 1b867e53af738e4a8bc7c839ca2f1c07f40382dc
Licence: MIT, Alex Forencich, 2014-2017. Original </a:t>
            </a:r>
            <a:r>
              <a:rPr b="1"/>
              <a:t>source</a:t>
            </a:r>
            <a:r>
              <a:t> notices remain in the RTL. The document
is authored by Ignytion; this does not transfer ownership of upstream code or remove its licence
obligations.</a:t>
            </a:r>
          </a:p>
        </p:txBody>
      </p:sp>
      <p:sp>
        <p:nvSpPr>
          <p:cNvPr id="55" name="body-1">
            <a:extLst xmlns:a="http://schemas.openxmlformats.org/drawingml/2006/main">
              <a:ext uri="{FF2B5EF4-FFF2-40B4-BE49-F238E27FC236}">
                <a16:creationId xmlns:a16="http://schemas.microsoft.com/office/drawing/2014/main" id="{5A417FFE-806E-487A-A586-12A8CD2DADA9}"/>
              </a:ext>
            </a:extLst>
          </p:cNvPr>
          <p:cNvSpPr>
            <a:spLocks xmlns:a="http://schemas.openxmlformats.org/drawingml/2006/main" noGrp="1"/>
          </p:cNvSpPr>
          <p:nvPr/>
        </p:nvSpPr>
        <p:spPr>
          <a:xfrm xmlns:a="http://schemas.openxmlformats.org/drawingml/2006/main">
            <a:off x="502920" y="3493262"/>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Local modifications, directed test stimulus and </a:t>
            </a:r>
            <a:r>
              <a:rPr b="1"/>
              <a:t>source</a:t>
            </a:r>
            <a:r>
              <a:t> boundaries are recorded in
hw/protocols/uart/README.md and the repository append-only .context.md. The first three
protocol lessons have separate editable 16:9 student decks; this A4 technical note is a reading and
evidence document, not a replacement for their instructor notes.</a:t>
            </a:r>
          </a:p>
        </p:txBody>
      </p:sp>
      <p:sp>
        <p:nvSpPr>
          <p:cNvPr id="56" name="body-2">
            <a:extLst xmlns:a="http://schemas.openxmlformats.org/drawingml/2006/main">
              <a:ext uri="{FF2B5EF4-FFF2-40B4-BE49-F238E27FC236}">
                <a16:creationId xmlns:a16="http://schemas.microsoft.com/office/drawing/2014/main" id="{523044A9-F035-48E2-A59A-FCA03D5B8F9F}"/>
              </a:ext>
            </a:extLst>
          </p:cNvPr>
          <p:cNvSpPr>
            <a:spLocks xmlns:a="http://schemas.openxmlformats.org/drawingml/2006/main" noGrp="1"/>
          </p:cNvSpPr>
          <p:nvPr/>
        </p:nvSpPr>
        <p:spPr>
          <a:xfrm xmlns:a="http://schemas.openxmlformats.org/drawingml/2006/main">
            <a:off x="502920" y="4391152"/>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Primary reading: Microchip EUSART/AUSART framing </a:t>
            </a:r>
            <a:r>
              <a:rPr b="1"/>
              <a:t>reference</a:t>
            </a:r>
            <a:r>
              <a:t>, plus the pinned verilog-uart
counters and handshake.
Primary framing reference:
https://developerhelp.microchip.com/xwiki/bin/view/products/mcu-mpu/8bit-pic/peripherals/eus
art-ausart/</a:t>
            </a:r>
          </a:p>
        </p:txBody>
      </p:sp>
      <p:sp>
        <p:nvSpPr>
          <p:cNvPr id="57" name="body-3">
            <a:extLst xmlns:a="http://schemas.openxmlformats.org/drawingml/2006/main">
              <a:ext uri="{FF2B5EF4-FFF2-40B4-BE49-F238E27FC236}">
                <a16:creationId xmlns:a16="http://schemas.microsoft.com/office/drawing/2014/main" id="{C618C328-0AA0-42C1-B147-7265F7B9F11C}"/>
              </a:ext>
            </a:extLst>
          </p:cNvPr>
          <p:cNvSpPr>
            <a:spLocks xmlns:a="http://schemas.openxmlformats.org/drawingml/2006/main" noGrp="1"/>
          </p:cNvSpPr>
          <p:nvPr/>
        </p:nvSpPr>
        <p:spPr>
          <a:xfrm xmlns:a="http://schemas.openxmlformats.org/drawingml/2006/main">
            <a:off x="502920" y="5467223"/>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 work remains explicit: All 256 bytes are tested at prescale 4 only. The 2..7 sweep uses fixed
TX 0x96 and RX 0x69. No parity or hardware flow control. Full-chip integration, manufacturing
checks and board validation are not closed by the standalone </a:t>
            </a:r>
            <a:r>
              <a:rPr b="1"/>
              <a:t>reference</a:t>
            </a:r>
            <a:r>
              <a:t> flow. The reader can
reproduce the listed evidence without assuming those larger obligations have already been
completed.</a:t>
            </a:r>
          </a:p>
        </p:txBody>
      </p:sp>
    </p:spTree>
    <p:extLst>
      <p:ext uri="{BB962C8B-B14F-4D97-AF65-F5344CB8AC3E}">
        <p14:creationId xmlns:p14="http://schemas.microsoft.com/office/powerpoint/2010/main" val="133959247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439c0bd59be34d5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003777EF-D683-45D2-AC23-890EC0CDC0A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21 · DESIGN VOCABULARY</a:t>
            </a:r>
          </a:p>
        </p:txBody>
      </p:sp>
      <p:sp>
        <p:nvSpPr>
          <p:cNvPr id="51" name="page-title">
            <a:extLst xmlns:a="http://schemas.openxmlformats.org/drawingml/2006/main">
              <a:ext uri="{FF2B5EF4-FFF2-40B4-BE49-F238E27FC236}">
                <a16:creationId xmlns:a16="http://schemas.microsoft.com/office/drawing/2014/main" id="{A58463A3-D253-499B-A388-F8A19649EB7C}"/>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design and protocol</a:t>
            </a:r>
          </a:p>
        </p:txBody>
      </p:sp>
      <p:sp>
        <p:nvSpPr>
          <p:cNvPr id="52" name="intro">
            <a:extLst xmlns:a="http://schemas.openxmlformats.org/drawingml/2006/main">
              <a:ext uri="{FF2B5EF4-FFF2-40B4-BE49-F238E27FC236}">
                <a16:creationId xmlns:a16="http://schemas.microsoft.com/office/drawing/2014/main" id="{18264FC0-FD13-4652-B3E0-A1ADAA92FC0E}"/>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Definitions for reading the protocol rules and the checked RTL. Physical implementation</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terms follow on the next page.</a:t>
            </a:r>
          </a:p>
        </p:txBody>
      </p:sp>
      <p:sp>
        <p:nvSpPr>
          <p:cNvPr id="53" name="component-label-246.26666666666665">
            <a:extLst xmlns:a="http://schemas.openxmlformats.org/drawingml/2006/main">
              <a:ext uri="{FF2B5EF4-FFF2-40B4-BE49-F238E27FC236}">
                <a16:creationId xmlns:a16="http://schemas.microsoft.com/office/drawing/2014/main" id="{202C4AC6-46DA-401C-AFD5-2C62F526069D}"/>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D E S I G N   A N D   V E R I F I C A T I O N</a:t>
            </a:r>
          </a:p>
        </p:txBody>
      </p:sp>
      <p:graphicFrame>
        <p:nvGraphicFramePr>
          <p:cNvPr id="68" name=""/>
          <p:cNvGraphicFramePr/>
          <p:nvPr/>
        </p:nvGraphicFramePr>
        <p:xfrm>
          <a:off xmlns:a="http://schemas.openxmlformats.org/drawingml/2006/main" x="502920" y="2610866"/>
          <a:ext xmlns:a="http://schemas.openxmlformats.org/drawingml/2006/main" cx="6556248" cy="4548187"/>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Protocol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Rules for exchanging information between devices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Registers and the logic moving values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Verilog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 language used to describe hardware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FSM</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circuit progressing through defined states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source checks; no transaction execution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Testbench</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Code that supplies inputs and checks outputs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Coverage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Which defined situations were exercised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Negative control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An intentionally wrong case the checker must reject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VCD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Digital signal-change trace from a simulation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Handshake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Signals agreeing when data is accepted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8N1</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Eight data bits, no parity, one STOP bit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Prescale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Integer number of core clocks per eighth-bit interval</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Frame error</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STOP sample was not high</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Overrun</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New completed receive data met an occupied output buffer</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33959247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7FEDB-ADBF-4EB2-94D5-84E20EEFDE22}"/>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1d612449f0a34d2f"/>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79A0EA6A-1343-46DF-94BB-CEF30076D161}"/>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6280711C-215F-4AAE-A05F-A1DF39E5FA2F}"/>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UART · RTL TO GDS · A BEGINNER'S WALKTHROUGH</a:t>
            </a:r>
          </a:p>
        </p:txBody>
      </p:sp>
      <p:sp>
        <p:nvSpPr>
          <p:cNvPr id="6" name="Rectangle 5">
            <a:extLst xmlns:a="http://schemas.openxmlformats.org/drawingml/2006/main">
              <a:ext uri="{FF2B5EF4-FFF2-40B4-BE49-F238E27FC236}">
                <a16:creationId xmlns:a16="http://schemas.microsoft.com/office/drawing/2014/main" id="{5362AE36-14F3-4168-AB71-69C56DCBE07A}"/>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7C99FF6B-BC7F-4B14-A68A-46D8F961F974}"/>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09B29B1-4B5A-4356-B0D5-AEB7ABD9B7C7}"/>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B1F9802F-F0E6-4A50-8D59-D7AAC7E96DAB}"/>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34EFD2DE-C1AC-4837-8D2B-3326EF04A8DB}"/>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F972815-48C8-4938-B5A3-E052871DACA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22 · PHYSICAL VOCABULARY</a:t>
            </a:r>
          </a:p>
        </p:txBody>
      </p:sp>
      <p:sp>
        <p:nvSpPr>
          <p:cNvPr id="51" name="page-title">
            <a:extLst xmlns:a="http://schemas.openxmlformats.org/drawingml/2006/main">
              <a:ext uri="{FF2B5EF4-FFF2-40B4-BE49-F238E27FC236}">
                <a16:creationId xmlns:a16="http://schemas.microsoft.com/office/drawing/2014/main" id="{16C84996-6F03-4BA5-8188-D489D9087AE4}"/>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implementation and signoff</a:t>
            </a:r>
          </a:p>
        </p:txBody>
      </p:sp>
      <p:sp>
        <p:nvSpPr>
          <p:cNvPr id="52" name="intro">
            <a:extLst xmlns:a="http://schemas.openxmlformats.org/drawingml/2006/main">
              <a:ext uri="{FF2B5EF4-FFF2-40B4-BE49-F238E27FC236}">
                <a16:creationId xmlns:a16="http://schemas.microsoft.com/office/drawing/2014/main" id="{1A002176-0197-4671-B4F8-C86AE3428412}"/>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These definitions help distinguish a successfully exported reference layout from a</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manufacturing-ready design.</a:t>
            </a:r>
          </a:p>
        </p:txBody>
      </p:sp>
      <p:sp>
        <p:nvSpPr>
          <p:cNvPr id="53" name="component-label-246.26666666666665">
            <a:extLst xmlns:a="http://schemas.openxmlformats.org/drawingml/2006/main">
              <a:ext uri="{FF2B5EF4-FFF2-40B4-BE49-F238E27FC236}">
                <a16:creationId xmlns:a16="http://schemas.microsoft.com/office/drawing/2014/main" id="{CF59E23A-C837-4D16-9CC6-13075C1DD2FE}"/>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graphicFrame>
        <p:nvGraphicFramePr>
          <p:cNvPr id="68" name=""/>
          <p:cNvGraphicFramePr/>
          <p:nvPr/>
        </p:nvGraphicFramePr>
        <p:xfrm>
          <a:off xmlns:a="http://schemas.openxmlformats.org/drawingml/2006/main" x="502920" y="2610866"/>
          <a:ext xmlns:a="http://schemas.openxmlformats.org/drawingml/2006/main" cx="6556248" cy="545782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Translate RTL into a technology-cell circuit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Netlist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Cells and the connections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Standard cell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Predesigned logic/storage cell in a process library</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PDK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Process design kit: process-specific implementation files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SG13G2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process used by these reference builds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Floorplan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Die/core outline, rows, power and pin geometry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Choose legal positions for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Filler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row-site cell, not functional logic</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CTS / skew</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distribution / difference in arrival times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via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Metal connections / links between metal layers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Parasitics / SPEF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Wire resistance/capacitance / extracted data format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Corner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characterised process, voltage and temperature case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 / slack</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timing analysis / remaining timing margin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DEF /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Placement/routing exchange / polygon hierarchy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Check geometry against applicable process rules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Compare the extracted layout circuit with its netlist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Accepted applicable release checks; unperformed here</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33959247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2026-10-03T11:42:30.1650000Z</dcterms:created>
  <dcterms:modified xsi:type="dcterms:W3CDTF">2026-10-03T11:42:30.1650000Z</dcterms:modified>
</coreProperties>
</file>