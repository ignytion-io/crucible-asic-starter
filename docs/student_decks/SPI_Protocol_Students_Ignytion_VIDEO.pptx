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slides/charts/chart9.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0.xml" ContentType="application/vnd.openxmlformats-officedocument.drawingml.chart+xml"/>
  <Override PartName="/ppt/slides/charts/chart11.xml" ContentType="application/vnd.openxmlformats-officedocument.drawingml.chart+xml"/>
  <Override PartName="/ppt/slides/charts/chart1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13.xml" ContentType="application/vnd.openxmlformats-officedocument.drawingml.chart+xml"/>
  <Override PartName="/ppt/slides/charts/chart14.xml" ContentType="application/vnd.openxmlformats-officedocument.drawingml.chart+xml"/>
  <Override PartName="/ppt/slides/charts/chart15.xml" ContentType="application/vnd.openxmlformats-officedocument.drawingml.chart+xml"/>
  <Override PartName="/ppt/slides/charts/chart16.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999a3d59d6d4d74" /><Relationship Type="http://schemas.openxmlformats.org/officeDocument/2006/relationships/extended-properties" Target="/docProps/app.xml" Id="Ra5e9ea5fbc884b49" /><Relationship Type="http://schemas.openxmlformats.org/officeDocument/2006/relationships/officeDocument" Target="/ppt/presentation.xml" Id="Rd04666b812b147dc" /></Relationships>
</file>

<file path=ppt/presentation.xml><?xml version="1.0" encoding="utf-8"?>
<p:presentation xmlns:p="http://schemas.openxmlformats.org/presentationml/2006/main">
  <p:sldMasterIdLst>
    <p:sldMasterId xmlns:r="http://schemas.openxmlformats.org/officeDocument/2006/relationships" id="2147483648" r:id="R412534af115e4d9d"/>
  </p:sldMasterIdLst>
  <p:notesMasterIdLst>
    <p:notesMasterId xmlns:r="http://schemas.openxmlformats.org/officeDocument/2006/relationships" r:id="R33c4a1dfb8e841d2"/>
  </p:notesMasterIdLst>
  <p:sldIdLst>
    <p:sldId xmlns:r="http://schemas.openxmlformats.org/officeDocument/2006/relationships" id="256" r:id="Reabe1d13f35a4c58"/>
    <p:sldId xmlns:r="http://schemas.openxmlformats.org/officeDocument/2006/relationships" id="257" r:id="Rb48d1b3d8af242b6"/>
    <p:sldId xmlns:r="http://schemas.openxmlformats.org/officeDocument/2006/relationships" id="258" r:id="R1fd8c68b2d684d57"/>
    <p:sldId xmlns:r="http://schemas.openxmlformats.org/officeDocument/2006/relationships" id="259" r:id="R5b69a5fe1d1e49ed"/>
    <p:sldId xmlns:r="http://schemas.openxmlformats.org/officeDocument/2006/relationships" id="260" r:id="R3aa4ae45acc14a92"/>
    <p:sldId xmlns:r="http://schemas.openxmlformats.org/officeDocument/2006/relationships" id="261" r:id="Rf2993be6281e42dd"/>
    <p:sldId xmlns:r="http://schemas.openxmlformats.org/officeDocument/2006/relationships" id="262" r:id="R2efea92bb55340bc"/>
    <p:sldId xmlns:r="http://schemas.openxmlformats.org/officeDocument/2006/relationships" id="263" r:id="Ra746c597bc0c4524"/>
    <p:sldId xmlns:r="http://schemas.openxmlformats.org/officeDocument/2006/relationships" id="264" r:id="R344eac85e16a47d1"/>
    <p:sldId xmlns:r="http://schemas.openxmlformats.org/officeDocument/2006/relationships" id="265" r:id="R4eee46eff34d4997"/>
    <p:sldId xmlns:r="http://schemas.openxmlformats.org/officeDocument/2006/relationships" id="266" r:id="R8ec584f954614de9"/>
    <p:sldId xmlns:r="http://schemas.openxmlformats.org/officeDocument/2006/relationships" id="267" r:id="Ree53dd15c7084052"/>
    <p:sldId xmlns:r="http://schemas.openxmlformats.org/officeDocument/2006/relationships" id="268" r:id="R46427c3484214bdd"/>
    <p:sldId xmlns:r="http://schemas.openxmlformats.org/officeDocument/2006/relationships" id="269" r:id="Ra21904dfcbfb4d83"/>
    <p:sldId xmlns:r="http://schemas.openxmlformats.org/officeDocument/2006/relationships" id="270" r:id="Rd51f333176dc471e"/>
    <p:sldId xmlns:r="http://schemas.openxmlformats.org/officeDocument/2006/relationships" id="271" r:id="Ra72c095e1ae84137"/>
    <p:sldId xmlns:r="http://schemas.openxmlformats.org/officeDocument/2006/relationships" id="272" r:id="Rae4d0d38be60496c"/>
    <p:sldId xmlns:r="http://schemas.openxmlformats.org/officeDocument/2006/relationships" id="273" r:id="Ra0837c2a8683451f"/>
    <p:sldId xmlns:r="http://schemas.openxmlformats.org/officeDocument/2006/relationships" id="274" r:id="Ra507986b37dc4f7a"/>
    <p:sldId xmlns:r="http://schemas.openxmlformats.org/officeDocument/2006/relationships" id="275" r:id="Ra58e38887328469e"/>
    <p:sldId xmlns:r="http://schemas.openxmlformats.org/officeDocument/2006/relationships" id="276" r:id="Ra3e33826c93e44f0"/>
    <p:sldId xmlns:r="http://schemas.openxmlformats.org/officeDocument/2006/relationships" id="277" r:id="R99c650a8041947ed"/>
    <p:sldId xmlns:r="http://schemas.openxmlformats.org/officeDocument/2006/relationships" id="278" r:id="R14586f34f3ad4cab"/>
    <p:sldId xmlns:r="http://schemas.openxmlformats.org/officeDocument/2006/relationships" id="279" r:id="Rc39f544a7a2e400d"/>
    <p:sldId xmlns:r="http://schemas.openxmlformats.org/officeDocument/2006/relationships" id="280" r:id="Rc5527a0ab27a4215"/>
    <p:sldId xmlns:r="http://schemas.openxmlformats.org/officeDocument/2006/relationships" id="281" r:id="R391e6a4d07814366"/>
    <p:sldId xmlns:r="http://schemas.openxmlformats.org/officeDocument/2006/relationships" id="282" r:id="R973091d071454117"/>
    <p:sldId xmlns:r="http://schemas.openxmlformats.org/officeDocument/2006/relationships" id="283" r:id="Rf1f4b88e615e4780"/>
    <p:sldId xmlns:r="http://schemas.openxmlformats.org/officeDocument/2006/relationships" id="284" r:id="R0a5128b6b5a24074"/>
    <p:sldId xmlns:r="http://schemas.openxmlformats.org/officeDocument/2006/relationships" id="285" r:id="R436fae3f4a3b4c09"/>
    <p:sldId xmlns:r="http://schemas.openxmlformats.org/officeDocument/2006/relationships" id="286" r:id="Rd76bc678965f4b2a"/>
    <p:sldId xmlns:r="http://schemas.openxmlformats.org/officeDocument/2006/relationships" id="287" r:id="R887d106490264b66"/>
    <p:sldId xmlns:r="http://schemas.openxmlformats.org/officeDocument/2006/relationships" id="288" r:id="Rb905996d25ca4333"/>
    <p:sldId xmlns:r="http://schemas.openxmlformats.org/officeDocument/2006/relationships" id="289" r:id="Rc57a549b2db94e46"/>
    <p:sldId xmlns:r="http://schemas.openxmlformats.org/officeDocument/2006/relationships" id="290" r:id="R360f5966d0c64edd"/>
    <p:sldId xmlns:r="http://schemas.openxmlformats.org/officeDocument/2006/relationships" id="291" r:id="Radefa0b6dea14d02"/>
    <p:sldId xmlns:r="http://schemas.openxmlformats.org/officeDocument/2006/relationships" id="292" r:id="Ra129d00a69c9437c"/>
    <p:sldId xmlns:r="http://schemas.openxmlformats.org/officeDocument/2006/relationships" id="293" r:id="R5f93ce01dea444a9"/>
    <p:sldId xmlns:r="http://schemas.openxmlformats.org/officeDocument/2006/relationships" id="294" r:id="R35a202cb0f424efb"/>
    <p:sldId xmlns:r="http://schemas.openxmlformats.org/officeDocument/2006/relationships" id="295" r:id="Rbbdeef52cfce41b5"/>
    <p:sldId xmlns:r="http://schemas.openxmlformats.org/officeDocument/2006/relationships" id="296" r:id="R072e683f7f284a1d"/>
    <p:sldId xmlns:r="http://schemas.openxmlformats.org/officeDocument/2006/relationships" id="297" r:id="Rbb9b66bea4d24e0f"/>
    <p:sldId xmlns:r="http://schemas.openxmlformats.org/officeDocument/2006/relationships" id="298" r:id="Rd2b001a9fa104272"/>
    <p:sldId xmlns:r="http://schemas.openxmlformats.org/officeDocument/2006/relationships" id="299" r:id="Rc057a6ec00a64f1e"/>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2820d68b3d84af2" /><Relationship Type="http://schemas.openxmlformats.org/officeDocument/2006/relationships/slideMaster" Target="/ppt/slideMasters/slideMaster1.xml" Id="R412534af115e4d9d" /><Relationship Type="http://schemas.openxmlformats.org/officeDocument/2006/relationships/notesMaster" Target="/ppt/notesMasters/notesMaster1.xml" Id="R33c4a1dfb8e841d2" /><Relationship Type="http://schemas.openxmlformats.org/officeDocument/2006/relationships/presProps" Target="/ppt/presProps.xml" Id="R27ac56377919436c" /><Relationship Type="http://schemas.openxmlformats.org/officeDocument/2006/relationships/viewProps" Target="/ppt/viewProps.xml" Id="R721504089f0c443d" /><Relationship Type="http://schemas.openxmlformats.org/officeDocument/2006/relationships/tableStyles" Target="/ppt/tableStyles.xml" Id="R7c29211f00584795" /><Relationship Type="http://schemas.openxmlformats.org/officeDocument/2006/relationships/slide" Target="/ppt/slides/slide1.xml" Id="Reabe1d13f35a4c58" /><Relationship Type="http://schemas.openxmlformats.org/officeDocument/2006/relationships/slide" Target="/ppt/slides/slide2.xml" Id="Rb48d1b3d8af242b6" /><Relationship Type="http://schemas.openxmlformats.org/officeDocument/2006/relationships/slide" Target="/ppt/slides/slide3.xml" Id="R1fd8c68b2d684d57" /><Relationship Type="http://schemas.openxmlformats.org/officeDocument/2006/relationships/slide" Target="/ppt/slides/slide4.xml" Id="R5b69a5fe1d1e49ed" /><Relationship Type="http://schemas.openxmlformats.org/officeDocument/2006/relationships/slide" Target="/ppt/slides/slide5.xml" Id="R3aa4ae45acc14a92" /><Relationship Type="http://schemas.openxmlformats.org/officeDocument/2006/relationships/slide" Target="/ppt/slides/slide6.xml" Id="Rf2993be6281e42dd" /><Relationship Type="http://schemas.openxmlformats.org/officeDocument/2006/relationships/slide" Target="/ppt/slides/slide7.xml" Id="R2efea92bb55340bc" /><Relationship Type="http://schemas.openxmlformats.org/officeDocument/2006/relationships/slide" Target="/ppt/slides/slide8.xml" Id="Ra746c597bc0c4524" /><Relationship Type="http://schemas.openxmlformats.org/officeDocument/2006/relationships/slide" Target="/ppt/slides/slide9.xml" Id="R344eac85e16a47d1" /><Relationship Type="http://schemas.openxmlformats.org/officeDocument/2006/relationships/slide" Target="/ppt/slides/slide10.xml" Id="R4eee46eff34d4997" /><Relationship Type="http://schemas.openxmlformats.org/officeDocument/2006/relationships/slide" Target="/ppt/slides/slide11.xml" Id="R8ec584f954614de9" /><Relationship Type="http://schemas.openxmlformats.org/officeDocument/2006/relationships/slide" Target="/ppt/slides/slide12.xml" Id="Ree53dd15c7084052" /><Relationship Type="http://schemas.openxmlformats.org/officeDocument/2006/relationships/slide" Target="/ppt/slides/slide13.xml" Id="R46427c3484214bdd" /><Relationship Type="http://schemas.openxmlformats.org/officeDocument/2006/relationships/slide" Target="/ppt/slides/slide14.xml" Id="Ra21904dfcbfb4d83" /><Relationship Type="http://schemas.openxmlformats.org/officeDocument/2006/relationships/slide" Target="/ppt/slides/slide15.xml" Id="Rd51f333176dc471e" /><Relationship Type="http://schemas.openxmlformats.org/officeDocument/2006/relationships/slide" Target="/ppt/slides/slide16.xml" Id="Ra72c095e1ae84137" /><Relationship Type="http://schemas.openxmlformats.org/officeDocument/2006/relationships/slide" Target="/ppt/slides/slide17.xml" Id="Rae4d0d38be60496c" /><Relationship Type="http://schemas.openxmlformats.org/officeDocument/2006/relationships/slide" Target="/ppt/slides/slide18.xml" Id="Ra0837c2a8683451f" /><Relationship Type="http://schemas.openxmlformats.org/officeDocument/2006/relationships/slide" Target="/ppt/slides/slide19.xml" Id="Ra507986b37dc4f7a" /><Relationship Type="http://schemas.openxmlformats.org/officeDocument/2006/relationships/slide" Target="/ppt/slides/slide20.xml" Id="Ra58e38887328469e" /><Relationship Type="http://schemas.openxmlformats.org/officeDocument/2006/relationships/slide" Target="/ppt/slides/slide21.xml" Id="Ra3e33826c93e44f0" /><Relationship Type="http://schemas.openxmlformats.org/officeDocument/2006/relationships/slide" Target="/ppt/slides/slide22.xml" Id="R99c650a8041947ed" /><Relationship Type="http://schemas.openxmlformats.org/officeDocument/2006/relationships/slide" Target="/ppt/slides/slide23.xml" Id="R14586f34f3ad4cab" /><Relationship Type="http://schemas.openxmlformats.org/officeDocument/2006/relationships/slide" Target="/ppt/slides/slide24.xml" Id="Rc39f544a7a2e400d" /><Relationship Type="http://schemas.openxmlformats.org/officeDocument/2006/relationships/slide" Target="/ppt/slides/slide25.xml" Id="Rc5527a0ab27a4215" /><Relationship Type="http://schemas.openxmlformats.org/officeDocument/2006/relationships/slide" Target="/ppt/slides/slide26.xml" Id="R391e6a4d07814366" /><Relationship Type="http://schemas.openxmlformats.org/officeDocument/2006/relationships/slide" Target="/ppt/slides/slide27.xml" Id="R973091d071454117" /><Relationship Type="http://schemas.openxmlformats.org/officeDocument/2006/relationships/slide" Target="/ppt/slides/slide28.xml" Id="Rf1f4b88e615e4780" /><Relationship Type="http://schemas.openxmlformats.org/officeDocument/2006/relationships/slide" Target="/ppt/slides/slide29.xml" Id="R0a5128b6b5a24074" /><Relationship Type="http://schemas.openxmlformats.org/officeDocument/2006/relationships/slide" Target="/ppt/slides/slide30.xml" Id="R436fae3f4a3b4c09" /><Relationship Type="http://schemas.openxmlformats.org/officeDocument/2006/relationships/slide" Target="/ppt/slides/slide31.xml" Id="Rd76bc678965f4b2a" /><Relationship Type="http://schemas.openxmlformats.org/officeDocument/2006/relationships/slide" Target="/ppt/slides/slide32.xml" Id="R887d106490264b66" /><Relationship Type="http://schemas.openxmlformats.org/officeDocument/2006/relationships/slide" Target="/ppt/slides/slide33.xml" Id="Rb905996d25ca4333" /><Relationship Type="http://schemas.openxmlformats.org/officeDocument/2006/relationships/slide" Target="/ppt/slides/slide34.xml" Id="Rc57a549b2db94e46" /><Relationship Type="http://schemas.openxmlformats.org/officeDocument/2006/relationships/slide" Target="/ppt/slides/slide35.xml" Id="R360f5966d0c64edd" /><Relationship Type="http://schemas.openxmlformats.org/officeDocument/2006/relationships/slide" Target="/ppt/slides/slide36.xml" Id="Radefa0b6dea14d02" /><Relationship Type="http://schemas.openxmlformats.org/officeDocument/2006/relationships/slide" Target="/ppt/slides/slide37.xml" Id="Ra129d00a69c9437c" /><Relationship Type="http://schemas.openxmlformats.org/officeDocument/2006/relationships/slide" Target="/ppt/slides/slide38.xml" Id="R5f93ce01dea444a9" /><Relationship Type="http://schemas.openxmlformats.org/officeDocument/2006/relationships/slide" Target="/ppt/slides/slide39.xml" Id="R35a202cb0f424efb" /><Relationship Type="http://schemas.openxmlformats.org/officeDocument/2006/relationships/slide" Target="/ppt/slides/slide40.xml" Id="Rbbdeef52cfce41b5" /><Relationship Type="http://schemas.openxmlformats.org/officeDocument/2006/relationships/slide" Target="/ppt/slides/slide41.xml" Id="R072e683f7f284a1d" /><Relationship Type="http://schemas.openxmlformats.org/officeDocument/2006/relationships/slide" Target="/ppt/slides/slide42.xml" Id="Rbb9b66bea4d24e0f" /><Relationship Type="http://schemas.openxmlformats.org/officeDocument/2006/relationships/slide" Target="/ppt/slides/slide43.xml" Id="Rd2b001a9fa104272" /><Relationship Type="http://schemas.openxmlformats.org/officeDocument/2006/relationships/slide" Target="/ppt/slides/slide44.xml" Id="Rc057a6ec00a64f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60e414fc114a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020f660d24438e" /><Relationship Type="http://schemas.openxmlformats.org/officeDocument/2006/relationships/notesMaster" Target="/ppt/notesMasters/notesMaster1.xml" Id="R4d562a46fa7d4b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d434616635404d" /><Relationship Type="http://schemas.openxmlformats.org/officeDocument/2006/relationships/notesMaster" Target="/ppt/notesMasters/notesMaster1.xml" Id="R715dc76b11904f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dea326772e4e98" /><Relationship Type="http://schemas.openxmlformats.org/officeDocument/2006/relationships/notesMaster" Target="/ppt/notesMasters/notesMaster1.xml" Id="R4ef8f107e20c4c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1cd90a02104799" /><Relationship Type="http://schemas.openxmlformats.org/officeDocument/2006/relationships/notesMaster" Target="/ppt/notesMasters/notesMaster1.xml" Id="Ra843034d9e1d4d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af9fe108254a0b" /><Relationship Type="http://schemas.openxmlformats.org/officeDocument/2006/relationships/notesMaster" Target="/ppt/notesMasters/notesMaster1.xml" Id="R1dc847a22a3546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b3b2f03ca0490b" /><Relationship Type="http://schemas.openxmlformats.org/officeDocument/2006/relationships/notesMaster" Target="/ppt/notesMasters/notesMaster1.xml" Id="Rba566bbdbae746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bf9bc296914890" /><Relationship Type="http://schemas.openxmlformats.org/officeDocument/2006/relationships/notesMaster" Target="/ppt/notesMasters/notesMaster1.xml" Id="Raf1faf08a89340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c029eaa4904b89" /><Relationship Type="http://schemas.openxmlformats.org/officeDocument/2006/relationships/notesMaster" Target="/ppt/notesMasters/notesMaster1.xml" Id="Rd2ad4c807b96438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fdd914e9444a61" /><Relationship Type="http://schemas.openxmlformats.org/officeDocument/2006/relationships/notesMaster" Target="/ppt/notesMasters/notesMaster1.xml" Id="R61456d7e00414c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c1e667e11c44bdb" /><Relationship Type="http://schemas.openxmlformats.org/officeDocument/2006/relationships/notesMaster" Target="/ppt/notesMasters/notesMaster1.xml" Id="R7af9f8b121454a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9a28102829047ed" /><Relationship Type="http://schemas.openxmlformats.org/officeDocument/2006/relationships/notesMaster" Target="/ppt/notesMasters/notesMaster1.xml" Id="R464bf640c7e14f3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2ad25d1d5134624" /><Relationship Type="http://schemas.openxmlformats.org/officeDocument/2006/relationships/notesMaster" Target="/ppt/notesMasters/notesMaster1.xml" Id="Re9310f8143c44d7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fb866954734f30" /><Relationship Type="http://schemas.openxmlformats.org/officeDocument/2006/relationships/notesMaster" Target="/ppt/notesMasters/notesMaster1.xml" Id="R8fba4d0860034c7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f80879cf0c644ce" /><Relationship Type="http://schemas.openxmlformats.org/officeDocument/2006/relationships/notesMaster" Target="/ppt/notesMasters/notesMaster1.xml" Id="Rf81f2c34a8eb4b7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513a98266804c86" /><Relationship Type="http://schemas.openxmlformats.org/officeDocument/2006/relationships/notesMaster" Target="/ppt/notesMasters/notesMaster1.xml" Id="R86f3b3992fb1491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60efe7ecde6485b" /><Relationship Type="http://schemas.openxmlformats.org/officeDocument/2006/relationships/notesMaster" Target="/ppt/notesMasters/notesMaster1.xml" Id="R5e29a67c975e4d8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ccf9b930c334ea5" /><Relationship Type="http://schemas.openxmlformats.org/officeDocument/2006/relationships/notesMaster" Target="/ppt/notesMasters/notesMaster1.xml" Id="Rea60c33b67ca4eb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1f80e528bc34d2f" /><Relationship Type="http://schemas.openxmlformats.org/officeDocument/2006/relationships/notesMaster" Target="/ppt/notesMasters/notesMaster1.xml" Id="Rf2c46c693b81483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dfd961245904635" /><Relationship Type="http://schemas.openxmlformats.org/officeDocument/2006/relationships/notesMaster" Target="/ppt/notesMasters/notesMaster1.xml" Id="R77d6c8649c5a4d9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34d42f4dc054859" /><Relationship Type="http://schemas.openxmlformats.org/officeDocument/2006/relationships/notesMaster" Target="/ppt/notesMasters/notesMaster1.xml" Id="R516b5f735b7642d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8f1933e7ee9483c" /><Relationship Type="http://schemas.openxmlformats.org/officeDocument/2006/relationships/notesMaster" Target="/ppt/notesMasters/notesMaster1.xml" Id="R3736abc0dbb24c0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84cfb12ea724ae9" /><Relationship Type="http://schemas.openxmlformats.org/officeDocument/2006/relationships/notesMaster" Target="/ppt/notesMasters/notesMaster1.xml" Id="Rc1500ed7c82645b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69fee7331af4472" /><Relationship Type="http://schemas.openxmlformats.org/officeDocument/2006/relationships/notesMaster" Target="/ppt/notesMasters/notesMaster1.xml" Id="Rcc242259d123402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f636f61da3f4ca6" /><Relationship Type="http://schemas.openxmlformats.org/officeDocument/2006/relationships/notesMaster" Target="/ppt/notesMasters/notesMaster1.xml" Id="Rcf1b7c4035d0475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f0af6bfd7f74042" /><Relationship Type="http://schemas.openxmlformats.org/officeDocument/2006/relationships/notesMaster" Target="/ppt/notesMasters/notesMaster1.xml" Id="R3eba058aafb642b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7b14a6f2d80446e" /><Relationship Type="http://schemas.openxmlformats.org/officeDocument/2006/relationships/notesMaster" Target="/ppt/notesMasters/notesMaster1.xml" Id="Rbeb0eb24076c435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e36e64ce56b4434" /><Relationship Type="http://schemas.openxmlformats.org/officeDocument/2006/relationships/notesMaster" Target="/ppt/notesMasters/notesMaster1.xml" Id="R181f419cd24d448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94fc0a2516a4787" /><Relationship Type="http://schemas.openxmlformats.org/officeDocument/2006/relationships/notesMaster" Target="/ppt/notesMasters/notesMaster1.xml" Id="R16a9ed2a775d436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e29e607a518410f" /><Relationship Type="http://schemas.openxmlformats.org/officeDocument/2006/relationships/notesMaster" Target="/ppt/notesMasters/notesMaster1.xml" Id="R3bb927368d32482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77f72929fa44a5b" /><Relationship Type="http://schemas.openxmlformats.org/officeDocument/2006/relationships/notesMaster" Target="/ppt/notesMasters/notesMaster1.xml" Id="R7f04343ea53a424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cd1b8b8154044d0" /><Relationship Type="http://schemas.openxmlformats.org/officeDocument/2006/relationships/notesMaster" Target="/ppt/notesMasters/notesMaster1.xml" Id="Rae630ad3cb43431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033809cdfc94788" /><Relationship Type="http://schemas.openxmlformats.org/officeDocument/2006/relationships/notesMaster" Target="/ppt/notesMasters/notesMaster1.xml" Id="R3107b619bc1d43f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1ef4758198f469a" /><Relationship Type="http://schemas.openxmlformats.org/officeDocument/2006/relationships/notesMaster" Target="/ppt/notesMasters/notesMaster1.xml" Id="Reb54a932bffa427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bbc5071dd2e41d9" /><Relationship Type="http://schemas.openxmlformats.org/officeDocument/2006/relationships/notesMaster" Target="/ppt/notesMasters/notesMaster1.xml" Id="R817bb051b2c948a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c0a7fb091a14902" /><Relationship Type="http://schemas.openxmlformats.org/officeDocument/2006/relationships/notesMaster" Target="/ppt/notesMasters/notesMaster1.xml" Id="Radedc6346c4b419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b90ff4163694ed3" /><Relationship Type="http://schemas.openxmlformats.org/officeDocument/2006/relationships/notesMaster" Target="/ppt/notesMasters/notesMaster1.xml" Id="R1643df7c1e164a1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6061c5fe2a64248" /><Relationship Type="http://schemas.openxmlformats.org/officeDocument/2006/relationships/notesMaster" Target="/ppt/notesMasters/notesMaster1.xml" Id="R59802dab48594d3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57935f5f87b4e85" /><Relationship Type="http://schemas.openxmlformats.org/officeDocument/2006/relationships/notesMaster" Target="/ppt/notesMasters/notesMaster1.xml" Id="Rfb9b5f8f73f2447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a85f18599074e53" /><Relationship Type="http://schemas.openxmlformats.org/officeDocument/2006/relationships/notesMaster" Target="/ppt/notesMasters/notesMaster1.xml" Id="Rfbb875972da64fb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b95ddf91b3949d4" /><Relationship Type="http://schemas.openxmlformats.org/officeDocument/2006/relationships/notesMaster" Target="/ppt/notesMasters/notesMaster1.xml" Id="R7c19ce1635d34e9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e4a2c724d6f4cd3" /><Relationship Type="http://schemas.openxmlformats.org/officeDocument/2006/relationships/notesMaster" Target="/ppt/notesMasters/notesMaster1.xml" Id="Rfe25fecf68e7447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36c2f0f6b6a4bb7" /><Relationship Type="http://schemas.openxmlformats.org/officeDocument/2006/relationships/notesMaster" Target="/ppt/notesMasters/notesMaster1.xml" Id="R5237e74ea57042f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3de4d828b634709" /><Relationship Type="http://schemas.openxmlformats.org/officeDocument/2006/relationships/notesMaster" Target="/ppt/notesMasters/notesMaster1.xml" Id="R9eac246040694ed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dc746e153984bc2" /><Relationship Type="http://schemas.openxmlformats.org/officeDocument/2006/relationships/notesMaster" Target="/ppt/notesMasters/notesMaster1.xml" Id="R63da2675541548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Lesson goal: determine exactly which edge samples a bit and follow a full-duplex byte exchange. The local SPI core is a fixed-function teaching reference, with mode and divider chosen during elaboration. Simulation elaborates all four modes. The hardened netlist uses mode zero.</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SPI describes a serial interface family rather than one universal packet protocol. Explain that clock mode, bit order, word size and chip-select timing must agree at both ends. A flash memory command and an ADC sampling transaction can share wires but have different higher-level meanings.</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The repository keeps conventional MOSI/MISO names. Explain controller-out/peripheral-in and controller-in/peripheral-out meanings to avoid reading direction from the current module alone. Multiple peripherals generally share clock and data, with separate chip-select signals. Only the selected peripheral should drive a shared MISO.</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A loopback test can hide a swapped or mistimed signal if both sides make the same mistake. Our bench uses an independent response equal to the complement of the transmitted byte. This forces separate expected MOSI and MISO data. Discuss how a read-only sensor still needs the controller to generate clocks.</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A full-duplex transfer does not double the clock count: both wires carry a bit in each period. Build the receive register one sample at a time. An implementation may write each bit by index, as this core does, rather than literally shift a register; both can produce the same assembled byte. The outgoing value and incoming value need not match.</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Show that leading is rising only when CPOL is zero. With CPOL one, leading is falling. These relative names simplify the mode table. The bus should settle to its configured idle polarity before and after a transaction.</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For CPHA zero, the first data bit must be available before the first leading edge. For CPHA one, the first leading edge launches data and the trailing edge samples it. Distinguish a transmitter’s launch event from a receiver’s capture event. Incorrect phase often yields a one-bit shift.</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Walk row by row and ask students to identify launch and capture edges. All four rows have simulation evidence, but one synthesized parameter setting produces one physical implementation. Parameterized source is not runtime-programmable hardware.</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This is an ideal byte-only trace with a selected peripheral assumed. Rising edges at odd half-bit slots sample bits seven through zero. Data changes at trailing falling edges. The first bit must be present before the first rising edge because CPHA is zero. Decode A5 on MOSI and 3C on MISO independently. Chip select setup and hold requirements come from the actual peripheral data sheet.</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Compare with mode zero. The clock idle level is unchanged but the sample edge moves by half a period. Data launches on leading rising edges and samples on trailing falling edges. Before the first leading edge the data value is not part of the byte, which is why the illustrative initial value can be zero. An incorrect CPHA selection can shift the sampled byte even when the clock frequency is correct.</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Changing CPOL changes which physical edge is leading. Here the leading edge falls away from the high idle level. CPHA zero still means sample on the leading edge and update on the trailing edge, now a rising edge. Require students to decode the byte without memorizing that SPI always samples rising edges, because that shortcut fails for modes one and two.</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Mode three samples on a rising edge like mode zero, but the launch sequence and idle polarity differ. Matching only the sample edge is therefore insufficient to identify a mode. Read the idle state, then identify leading versus trailing, then apply CPHA. The current simulation validates all four parameterized modes, while the hardened reference uses mode zero.</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Use the editable table as a timing worksheet, not an oscilloscope capture. Students should mark the eight rising sampling edges while both transmitters change their next bit on appropriate falling edges. The bench checks both streams and total transition count.</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Use this table after the four waveform slides so the entries summarize a mechanism the class has already seen. Give an unknown trace with idle high and first falling edge launching data: it is mode three. A mode mismatch does not necessarily produce a clean error flag, because SPI has no mandatory acknowledgement or checksum.</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The actual assign expression combines synchronized reset, tx_ready and tx_valid. It is a byte-envelope wrapper, not a complete flash-memory transaction controller. A peripheral that requires CS to remain low across opcode, address and payload needs a suitable transaction controller. Do not assume the current wrapper provides arbitrary sustained CS timing.</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This is a hypothetical classic three-byte-address read convention; verify the actual flash data sheet before using it. The present wrapper asserts CS for a single byte envelope and does not implement a general multi-byte transaction controller. Five transferred bytes take forty SCLK periods, but keeping CS asserted across them requires another transaction-level design. Do not claim the standalone byte engine can already read arbitrary flash devices.</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Use A5 as a symmetric-looking pattern, then ask students to predict 0x01 to expose bit-order errors. Distinguish SPI physical timing from flash or ADC command interpretation. The local regression exhausts byte values, which makes it less likely that a lucky test pattern hides a reversal.</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Calculate f_SPI=f_core/(2*CLKS_PER_HALF_BIT). This is nominal serial clock timing, not guaranteed end-to-end throughput because handshake and chip-select overhead may add cycles. The bench covers mode/divider pairs (0,2), (1,3), (2,2) and (3,3), not their full cross product. Changing the RTL parameter requires rebuilding the netlist.</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Distinguish the nominal wire-byte duration from command-to-completion latency, which includes handshake and pipeline cycles. The divider is CLKS_PER_HALF_BIT and is an elaboration-time parameter. Changing it requires another RTL elaboration and, for the physical build, another hardening run. The current bench covers only mode/divider pairs (0,2), (1,3), (2,2) and (3,3), not all eight combinations. Maximum usable SCLK also depends on peripheral and board timing.</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This numerical example uses explicit assumptions and is not a measured board timing certificate. The return path starts when the peripheral sees its launch edge and ends when the controller samples MISO. Clock skew, edge uncertainty and pad delay consume additional budget. A passing internal 50 MHz timing report does not automatically prove a 12.5 MHz external SPI link. Compare these budgets with a real peripheral data sheet before increasing the clock.</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Describe the external round trip: controller clock leaves the chip, the peripheral responds, and MISO returns. The reference STA uses an assumed external input/output budget. A real design needs device timing, board delay and I/O-cell characterization. The current MISO input uses the synchronous serial timing relationship, not a general asynchronous synchronizer.</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This excerpt comes directly from the pinned upstream implementation. Show how the leading-edge term is active when CPHA is zero and the trailing-edge term when it is one. r_RX_Bit_Count selects the destination bit, so no shift operator is required. o_RX_DV is a completion pulse and has no receive ready signal. A downstream consumer must capture the byte when that pulse appears.</a:t>
            </a:r>
          </a:p>
          <a:p xmlns:a="http://schemas.openxmlformats.org/drawingml/2006/main">
            <a:r>
              <a:t/>
            </a:r>
          </a:p>
          <a:p xmlns:a="http://schemas.openxmlformats.org/drawingml/2006/main">
            <a:r>
              <a:t>Actual source excerpt: hw/protocols/spi/01_rtl/SPI_Master.v:221</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Trace spi_core into the pinned Nandland SPI_Master. The interface is a launch-pulse contract, not an arbitrary AXI stream. There is no rx_ready input to apply receive backpressure. Upstream ready may initially require clocks after reset to settle. Software or a surrounding controller must observe the documented handshake.</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The one-cycle delayed valid supports the first-bit preload path. Read the surrounding always block to identify clock and reset polarity. Once the byte has been accepted, the source may change its input data because the core holds a copy. However i_TX_DV is a pulse contract, not a general sustained ready-valid stream. Holding it high retriggers the clock-edge setup logic, which is a misuse of this interface.</a:t>
            </a:r>
          </a:p>
          <a:p xmlns:a="http://schemas.openxmlformats.org/drawingml/2006/main">
            <a:r>
              <a:t/>
            </a:r>
          </a:p>
          <a:p xmlns:a="http://schemas.openxmlformats.org/drawingml/2006/main">
            <a:r>
              <a:t>Actual source excerpt: hw/protocols/spi/01_rtl/SPI_Master.v:162</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The entire CS behaviour is this expression, which makes its limited contract easy to inspect. It is not a command sequencer with programmable CS setup/hold or a multi-byte length register. Ask what happens if a peripheral needs CS held low for a command and address: this expression cannot by itself satisfy that requirement over several independently submitted bytes. Preserve this boundary in lab exercises.</a:t>
            </a:r>
          </a:p>
          <a:p xmlns:a="http://schemas.openxmlformats.org/drawingml/2006/main">
            <a:r>
              <a:t/>
            </a:r>
          </a:p>
          <a:p xmlns:a="http://schemas.openxmlformats.org/drawingml/2006/main">
            <a:r>
              <a:t>Actual source excerpt: hw/protocols/spi/01_rtl/spi_core.v:32</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Follow the clock process in SPI_Master.v. A request loads sixteen edge events for an eight-bit transfer. The divider produces leading and trailing flags; TX and RX processes use those flags according to CPHA. The engine returns ready once no edges remain. Keeping valid asserted reloads the counter, so a normal ready-valid producer cannot be attached without adapting the contract. This is a source-derived misuse warning, not a separately measured injected-failure scenario.</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The bench interrupts an active transfer with reset and checks recovery. Physical reset integration still requires reset-domain analysis. The core clock should keep running for reset release. Lint reports a mixed synchronous/asynchronous use associated with the synchronizer, which remains documented rather than being hidden.</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Explain why a test model should encode protocol expectations independently from DUT implementation. Separate stimulus, observation and comparison. A procedural watchdog prevents endless simulation. Coverage of multiple modes and all byte values is valuable but does not replace analogue timing or verification of a complete peripheral command set.</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This crop comes from the current positive run, not the ideal four-mode examples. The test bench uses always #5, giving a 100 MHz core; successive SCLK rising edges are 40 ns apart. This differs from the 50 MHz physical target and its 12.5 MHz worked example. A VCD decoder selected a CS-low transaction with tx_byte A5, counted exactly eight rising SCLK edges, and reconstructed both bytes independently. The bench peripheral replies with the complementary byte. Observe CS before the first edge and its release after completion. The horizontal units are microseconds relative to the crop.</a:t>
            </a:r>
          </a:p>
          <a:p xmlns:a="http://schemas.openxmlformats.org/drawingml/2006/main">
            <a:r>
              <a:t/>
            </a:r>
          </a:p>
          <a:p xmlns:a="http://schemas.openxmlformats.org/drawingml/2006/main">
            <a:r>
              <a:t>Measured waveform: hw/protocols/spi/02_sim/spi_core.vcd</a:t>
            </a:r>
          </a:p>
          <a:p xmlns:a="http://schemas.openxmlformats.org/drawingml/2006/main">
            <a:r>
              <a:t>VCD SHA256 (run-specific): c509ff00fb97b21521d32bf028792999d14e6a00aa24e581d1d14ed81c4c80ba</a:t>
            </a:r>
          </a:p>
          <a:p xmlns:a="http://schemas.openxmlformats.org/drawingml/2006/main">
            <a:r>
              <a:t>Mode 0: eight rising SCLK edges decode MOSI A5 and independent MISO 5A. Divider 2, 100 MHz simulation core, measured SCLK period 40 ns (25 MHz). Physical reference core target is separately 50 MHz.</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Read local evidence in hw/protocols/spi/02_sim/test.v, simulation.log and negative_control.log. The physical implementation remains mode zero with divider two. Device-specific command framing, arbitrary word lengths, every divider and board timing are outside the verified set. Negative control proves that the bench comparison can reject a wrong result.</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Unselected peripherals need appropriate high-impedance behaviour if MISO is shared. Two simultaneously selected push-pull devices can contend, unlike I2C open-drain arbitration. A board that uses separate MISO wires has a different topology. The present unit represents one peripheral selection and has no multi-CS decoder; this slide explains system wiring rather than claiming that logic already exists.</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Ask students to answer before looking at the next slide. Find the sample condition in SPI_Master.v and relate it to the clock polarity and phase definitions. Then run the existing all-mode regression and locate its expected independent reply. No peripheral acknowledgement exists in the generic SPI transfer, so an unconnected or wrongly selected MISO can still produce a byte of zeros or ones without a core-level error.</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The solution requires both idle polarity and sample edge. Completion counts edges; it does not authenticate the responder or validate an application command. Compare to I2C address acknowledgement and UART framing checks. To detect wrong flash data, a higher layer may need a device ID check, bounds checks or a checksum, depending on the application. Those mechanisms are outside the present byte engine.</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Compare a one-bit shift against all-ones receive data before changing clock division. One-bit shifts suggest an edge/phase mismatch; all ones can indicate an undriven pulled-up MISO line. Signal-integrity failures may depend on frequency or wiring. These are diagnostic candidates rather than guarantees; inspect the actual peripheral electrical interface and timing.</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Explain why a repository URL alone is insufficient for reproducibility: the branch can change. A commit identifies the chosen source revision. Local wrappers and benches are separate integration work. Igny records tool bindings, while the PDK revision is pinned separately. Source identity does not mean every upstream feature has been validated.</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Use the existing unit directory, not a new project folder. After initialization, unset a stale environment override so the workspace selection applies. The unit run script then selects janestreet-spi. If tools are missing, bind or install Icarus, Verilator, Yosys, OpenROAD and klayout-stream. Lock the workspace after changing bindings. Keep the actual SG13G2 PDK available.</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Verilator lint can identify widths, unused logic and reset-related warnings. The reference retains upstream warnings instead of claiming warning-free RTL. A simulator exit code or $finish alone is not a PASS. Read the assertion banner, negative-control fatal message and waveform. A deliberately wrong expected byte must fail to demonstrate that comparisons are active.</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Yosys elaborates, optimizes and maps combinational/sequential logic using Liberty timing data. Cell counts exclude scope metadata and differ from physical counts that include fillers and buffers. The flow uses hilomap for SG13G2 tie-high and tie-low cells. A zero unresolved-cell report and no latch cells are separate checks from functional correctness.</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The die area is 90000 square micrometres, derived from DEF units and DIEAREA. This rectangle is a reference block, not a Tiny Tapeout tile allocation. CTS manages clock latency, skew and electrical loading. Hold repair may add delay cells. The UART experiment exposed a real root fanout violation, showing why successful execution alone does not establish closure.</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Explain setup as meeting a capture deadline and hold as avoiding an excessively early change. Positive slack means the analyzed constraint has margin. I/O delays and clock uncertainty are assumed reference budgets. Two passing corners do not establish all process, voltage, temperature and RC combinations. Router DRC checks a subset of geometry rules, not foundry signoff.</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klayout-stream strm2gds combines routed DEF, technology/cell LEF and actual standard-cell GDS using the PDK layer map. The independent binary reader checks valid records, resolved references and exact standard-cell placement/orientation counts. Many instances are filler cells, so this number is not the synthesized logic-cell count. Raw hashes are run-specific because GDS contains timestamps.</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Distinguish the achieved student reference from a manufacturable submission. Structural GDS comparison is not electrical equivalence. Router-rule DRC is not a foundry deck. The current fixed-function SG13G2 blocks do not satisfy the competition’s reprogrammable general-purpose emulator requirement or process/template requirement. No tapeout-ready claim is justified.</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Ask students to write a prediction before simulation. Keep changed expectations in a separate temporary exercise branch so the baseline remains reproducible. Have them explain why the negative control is evidence about the bench rather than a defect in the DUT. Then read exact startpoint, endpoint, clock path and data arrival time from the reports. Students should state the limitations of each artifact.</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Author: IGNYTION_TECH.</a:t>
            </a:r>
          </a:p>
          <a:p xmlns:a="http://schemas.openxmlformats.org/drawingml/2006/main">
            <a:r>
              <a:t>File: docs/student_decks/SPI_Protocol_Students_Ignytion_VIDEO_v11.pptx</a:t>
            </a:r>
          </a:p>
          <a:p xmlns:a="http://schemas.openxmlformats.org/drawingml/2006/main">
            <a:r>
              <a:t>Created: 2026-10-03</a:t>
            </a:r>
          </a:p>
          <a:p xmlns:a="http://schemas.openxmlformats.org/drawingml/2006/main">
            <a:r>
              <a:t/>
            </a:r>
          </a:p>
          <a:p xmlns:a="http://schemas.openxmlformats.org/drawingml/2006/main">
            <a:r>
              <a:t>Answers depend on the protocol: I2C uses START and addressed phases, SPI uses select plus the agreed clock edges, and UART uses START plus local baud timing. Revisit each byte-order rule. Reading: TI SPI application brief: https://www.ti.com/document-viewer/lit/html/SBOA621</a:t>
            </a:r>
          </a:p>
          <a:p xmlns:a="http://schemas.openxmlformats.org/drawingml/2006/main">
            <a:r>
              <a:t>Upstream: nandland/spi-master at 1ab581969f8ea2f794072a144b55cd74e5a54f34</a:t>
            </a:r>
          </a:p>
          <a:p xmlns:a="http://schemas.openxmlformats.org/drawingml/2006/main">
            <a:r>
              <a:t>Flow: OpenROAD documentation: https://openroad.readthedocs.io/en/latest/ ; local flow_config.tcl, run_flow.sh and numbered stage scripts.</a:t>
            </a:r>
          </a:p>
          <a:p xmlns:a="http://schemas.openxmlformats.org/drawingml/2006/main">
            <a:r>
              <a:t>Competition: Jane Street official requirements: https://blog.janestreet.com/protocol-emulator-asic-competition/</a:t>
            </a:r>
          </a:p>
          <a:p xmlns:a="http://schemas.openxmlformats.org/drawingml/2006/main">
            <a:r>
              <a:t/>
            </a:r>
          </a:p>
          <a:p xmlns:a="http://schemas.openxmlformats.org/drawingml/2006/main">
            <a:r>
              <a:t>Protocol reading: TI SPI application brief: https://www.ti.com/document-viewer/lit/html/SBOA621</a:t>
            </a:r>
          </a:p>
          <a:p xmlns:a="http://schemas.openxmlformats.org/drawingml/2006/main">
            <a:r>
              <a:t>Implementation evidence: hw/protocols/spi/01_rtl, 02_sim, 04_synthesis, 08_sta and 10_gds in this repository.</a:t>
            </a:r>
          </a:p>
          <a:p xmlns:a="http://schemas.openxmlformats.org/drawingml/2006/main">
            <a:r>
              <a:t>OpenROAD documentation: https://openroad.readthedocs.io/en/latest/ ; local flow_config.tcl, run_flow.sh and numbered stage scripts.</a:t>
            </a:r>
          </a:p>
          <a:p xmlns:a="http://schemas.openxmlformats.org/drawingml/2006/main">
            <a:r>
              <a:t/>
            </a:r>
          </a:p>
          <a:p xmlns:a="http://schemas.openxmlformats.org/drawingml/2006/main">
            <a:r>
              <a:t>Original upstream copyright and permission/disclaimer (retained for source excerpts):</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a7652eee514e5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f8aff3d572940e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27887953e42474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dd866aaa11742b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6d4ad65af64461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82917253c3849f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00f2408070b448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bd56fc5b8ca4a4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d7f01e384be4d1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853b02e784e485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6778160b499462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45C0B90-914D-4060-8A29-1EABA9A91C25}"/>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652F05A0-24EF-468A-BCC1-09215B11B0E0}"/>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65C802F4-8188-406A-8301-363007F96E3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D8D3805D-B948-43A4-9564-05C4B8F434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662B5DE-7DBF-40AD-8249-8BD942F340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2BC9774-0A97-4880-8F33-FB1803E5045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B08933F-541B-4B22-AA1A-9B85C818BBA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BBBE29B-67D9-430F-88CF-F473F39F07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CE899DD-1349-4B04-9831-95BF929E3C3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29482DD-15AB-445C-A99A-5A68FA78E46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3480946-F630-44AD-8CFA-28016A62DD9B}"/>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5B84087-66ED-4072-97C1-45A7E7AB607B}"/>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F1478F9F-A8D5-459D-A930-F9722E42ADD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B9456F9-95E4-4535-B597-74928F625FB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9C0E309-CF72-4A13-8A5F-A339294A574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7CE51A8-3629-408C-942C-4E96977A93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6FFD6DE-0DF7-4AFE-A7D1-1F9B789B8CC2}"/>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80F675D8-73DB-4484-88A9-792EDB29C62C}"/>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5ADD6ECE-A575-44EA-BB9B-B418FD1798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792D5BC1-E591-4042-AB1E-8BEB2AD8ED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49AEB54-CD9B-4002-8B90-585473B897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E80D51A-0C4A-494C-9328-E38ADE8AB5F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76524CD-5044-49F1-BBF6-EF32FC157517}"/>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F7F5730E-8459-497C-8A13-28F2EF8E3107}"/>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24B9B934-3293-46D9-88A1-A19A56E88BDE}"/>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05F20D0E-14C6-4D6F-A516-F044FDA7CC24}"/>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6F6F3090-FFE2-47A0-AEDE-02D1C5B5F8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4BE60134-3B27-41B3-806F-A1D4EBF01AF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45A566F6-B33D-4C50-A4CB-1013860560A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CDBDF5-0331-4664-8C49-318887240BD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6EB27EAA-2616-4C22-B4CA-AB10A22C39A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9119413F-0124-4CE6-89F3-13D3E87CDDD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3F842F65-310F-438B-9D7B-88D446AB24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0E53C550-24E2-48B1-8741-33AF08BA80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76CD2F19-861F-4E8C-A18C-59AC6D21C77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5B53840F-54A7-446E-839F-48ABB9FBF30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E437708-7184-4BF7-897C-AA7165E972F4}"/>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880CA10-1DCF-4171-9F06-439C52FCAEAD}"/>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ABAC5C2E-7FE2-47AD-9033-4103605AE0A4}"/>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13AADDC-BF6B-4612-81F5-13A65EEF683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56E92369-C2AF-48AF-B46F-B372DBEBF9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EB829EF-5C9C-4731-8117-DE29E76516B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6DF747-4665-4620-BB52-2D535B580340}"/>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1CA307AB-A5D3-4F50-8325-0094716FF0A8}"/>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4D6BA53E-2466-45D2-BB0E-79FAEC9720A0}"/>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67C5C11-2125-4C82-942C-069898B4714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68A1CBE6-53C4-4FC5-AA31-48378701C41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8225C8E-1DEF-42D4-BFD7-B7FF0430B0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22267F-7C6E-4956-9192-C34159F6E07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4CD91BB-0E0E-413A-9B20-CC578980F9E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4B08369-5B2F-4144-BF1E-1394E0509BC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C49A7F2-E4A9-472E-82FB-CCDE9455B0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48C1D16-0418-4B26-92E9-A8A5BB221E7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F354941-3F03-4993-8A08-4A9F13AE5F4F}"/>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4C9F1E66-E34C-4A10-853C-2FA9B86FE62C}"/>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15D1FD3-E0B3-452B-A603-6719FD7472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48B28B3-BC78-4211-BA8F-786078FFD9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6C9BFF9-5971-460E-87AD-7FC13AA9A75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c0304659954747" /><Relationship Type="http://schemas.openxmlformats.org/officeDocument/2006/relationships/slideLayout" Target="/ppt/slideLayouts/slideLayout1.xml" Id="Rcad7230327e94c3f" /><Relationship Type="http://schemas.openxmlformats.org/officeDocument/2006/relationships/slideLayout" Target="/ppt/slideLayouts/slideLayout2.xml" Id="Rde83f6e4939244e8" /><Relationship Type="http://schemas.openxmlformats.org/officeDocument/2006/relationships/slideLayout" Target="/ppt/slideLayouts/slideLayout3.xml" Id="R6d291de999f24fd6" /><Relationship Type="http://schemas.openxmlformats.org/officeDocument/2006/relationships/slideLayout" Target="/ppt/slideLayouts/slideLayout4.xml" Id="Rf620c3d4084e413a" /><Relationship Type="http://schemas.openxmlformats.org/officeDocument/2006/relationships/slideLayout" Target="/ppt/slideLayouts/slideLayout5.xml" Id="Rd349b5e0597c4897" /><Relationship Type="http://schemas.openxmlformats.org/officeDocument/2006/relationships/slideLayout" Target="/ppt/slideLayouts/slideLayout6.xml" Id="R0dd582c3996047a9" /><Relationship Type="http://schemas.openxmlformats.org/officeDocument/2006/relationships/slideLayout" Target="/ppt/slideLayouts/slideLayout7.xml" Id="R9d52a0c7ffe4479b" /><Relationship Type="http://schemas.openxmlformats.org/officeDocument/2006/relationships/slideLayout" Target="/ppt/slideLayouts/slideLayout8.xml" Id="R5ca55ade3f4d4ab5" /><Relationship Type="http://schemas.openxmlformats.org/officeDocument/2006/relationships/slideLayout" Target="/ppt/slideLayouts/slideLayout9.xml" Id="Rf09ce49fdd1741cb" /><Relationship Type="http://schemas.openxmlformats.org/officeDocument/2006/relationships/slideLayout" Target="/ppt/slideLayouts/slideLayout10.xml" Id="Rf15291a1ba9b43bc" /><Relationship Type="http://schemas.openxmlformats.org/officeDocument/2006/relationships/slideLayout" Target="/ppt/slideLayouts/slideLayout11.xml" Id="Rb957bc0ce36140c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D7FD9A8-6B3D-4B21-B494-14F81D155D8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C67EB88-E45B-4D24-9938-9D9B045DB7A7}"/>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F7CCECE-6761-4374-B54F-2E31FEDB9117}"/>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3A422E6-9500-4950-8E99-CB4CEC201603}"/>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32C038D-0DB9-4A61-99ED-32CAFC912E55}"/>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d7230327e94c3f"/>
    <p:sldLayoutId xmlns:r="http://schemas.openxmlformats.org/officeDocument/2006/relationships" id="2147483650" r:id="Rde83f6e4939244e8"/>
    <p:sldLayoutId xmlns:r="http://schemas.openxmlformats.org/officeDocument/2006/relationships" id="2147483651" r:id="R6d291de999f24fd6"/>
    <p:sldLayoutId xmlns:r="http://schemas.openxmlformats.org/officeDocument/2006/relationships" id="2147483652" r:id="Rf620c3d4084e413a"/>
    <p:sldLayoutId xmlns:r="http://schemas.openxmlformats.org/officeDocument/2006/relationships" id="2147483653" r:id="Rd349b5e0597c4897"/>
    <p:sldLayoutId xmlns:r="http://schemas.openxmlformats.org/officeDocument/2006/relationships" id="2147483654" r:id="R0dd582c3996047a9"/>
    <p:sldLayoutId xmlns:r="http://schemas.openxmlformats.org/officeDocument/2006/relationships" id="2147483655" r:id="R9d52a0c7ffe4479b"/>
    <p:sldLayoutId xmlns:r="http://schemas.openxmlformats.org/officeDocument/2006/relationships" id="2147483656" r:id="R5ca55ade3f4d4ab5"/>
    <p:sldLayoutId xmlns:r="http://schemas.openxmlformats.org/officeDocument/2006/relationships" id="2147483657" r:id="Rf09ce49fdd1741cb"/>
    <p:sldLayoutId xmlns:r="http://schemas.openxmlformats.org/officeDocument/2006/relationships" id="2147483658" r:id="Rf15291a1ba9b43bc"/>
    <p:sldLayoutId xmlns:r="http://schemas.openxmlformats.org/officeDocument/2006/relationships" id="2147483659" r:id="Rb957bc0ce36140c5"/>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b319f94aa547b8" /><Relationship Type="http://schemas.openxmlformats.org/officeDocument/2006/relationships/notesSlide" Target="/ppt/notesSlides/notesSlide1.xml" Id="R5fd664c62e5942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be31eebcf44886" /><Relationship Type="http://schemas.openxmlformats.org/officeDocument/2006/relationships/notesSlide" Target="/ppt/notesSlides/notesSlide2.xml" Id="R126b57aeb53e46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ffea68c4c1f45c0" /><Relationship Type="http://schemas.openxmlformats.org/officeDocument/2006/relationships/notesSlide" Target="/ppt/notesSlides/notesSlide3.xml" Id="R8b55e8759e304c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5913e00f6847ff" /><Relationship Type="http://schemas.openxmlformats.org/officeDocument/2006/relationships/notesSlide" Target="/ppt/notesSlides/notesSlide4.xml" Id="R27bc035545de4c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e4602ae56aa4353" /><Relationship Type="http://schemas.openxmlformats.org/officeDocument/2006/relationships/notesSlide" Target="/ppt/notesSlides/notesSlide5.xml" Id="R5f08498fb2ac48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c5cd49a61774e33" /><Relationship Type="http://schemas.openxmlformats.org/officeDocument/2006/relationships/notesSlide" Target="/ppt/notesSlides/notesSlide6.xml" Id="R197cdf5deb9b4f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d44c49bf20942f0" /><Relationship Type="http://schemas.openxmlformats.org/officeDocument/2006/relationships/notesSlide" Target="/ppt/notesSlides/notesSlide7.xml" Id="Rb7c87b12222b475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8c8379218fe4529" /><Relationship Type="http://schemas.openxmlformats.org/officeDocument/2006/relationships/notesSlide" Target="/ppt/notesSlides/notesSlide8.xml" Id="R9b4a85bc077241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f5616dac62d42dc" /><Relationship Type="http://schemas.openxmlformats.org/officeDocument/2006/relationships/chart" Target="/ppt/slides/charts/chart1.xml" Id="R4ff6b697525846e3" /><Relationship Type="http://schemas.openxmlformats.org/officeDocument/2006/relationships/chart" Target="/ppt/slides/charts/chart2.xml" Id="R28153833a2f64051" /><Relationship Type="http://schemas.openxmlformats.org/officeDocument/2006/relationships/chart" Target="/ppt/slides/charts/chart3.xml" Id="Rc0d556d901494661" /><Relationship Type="http://schemas.openxmlformats.org/officeDocument/2006/relationships/notesSlide" Target="/ppt/notesSlides/notesSlide9.xml" Id="Rb90e5313ecfa47a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b23c915ce0e4538" /><Relationship Type="http://schemas.openxmlformats.org/officeDocument/2006/relationships/chart" Target="/ppt/slides/charts/chart4.xml" Id="Rc758efb75cd6477a" /><Relationship Type="http://schemas.openxmlformats.org/officeDocument/2006/relationships/chart" Target="/ppt/slides/charts/chart5.xml" Id="Rd29ecfaa90654a60" /><Relationship Type="http://schemas.openxmlformats.org/officeDocument/2006/relationships/chart" Target="/ppt/slides/charts/chart6.xml" Id="R25fac9377e214b55" /><Relationship Type="http://schemas.openxmlformats.org/officeDocument/2006/relationships/notesSlide" Target="/ppt/notesSlides/notesSlide10.xml" Id="Rb1ff852fb74a429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f30528025d34812" /><Relationship Type="http://schemas.openxmlformats.org/officeDocument/2006/relationships/chart" Target="/ppt/slides/charts/chart7.xml" Id="R45ca17e38aad4a20" /><Relationship Type="http://schemas.openxmlformats.org/officeDocument/2006/relationships/chart" Target="/ppt/slides/charts/chart8.xml" Id="R891515ec23fb4c03" /><Relationship Type="http://schemas.openxmlformats.org/officeDocument/2006/relationships/chart" Target="/ppt/slides/charts/chart9.xml" Id="R1245c2f39be845d7" /><Relationship Type="http://schemas.openxmlformats.org/officeDocument/2006/relationships/notesSlide" Target="/ppt/notesSlides/notesSlide11.xml" Id="Rb3d3ba1a5b774a2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19a373f5914493f" /><Relationship Type="http://schemas.openxmlformats.org/officeDocument/2006/relationships/chart" Target="/ppt/slides/charts/chart10.xml" Id="Ra6f801dc6a304955" /><Relationship Type="http://schemas.openxmlformats.org/officeDocument/2006/relationships/chart" Target="/ppt/slides/charts/chart11.xml" Id="R14f764c553b745b7" /><Relationship Type="http://schemas.openxmlformats.org/officeDocument/2006/relationships/chart" Target="/ppt/slides/charts/chart12.xml" Id="R6c53d947c4204509" /><Relationship Type="http://schemas.openxmlformats.org/officeDocument/2006/relationships/notesSlide" Target="/ppt/notesSlides/notesSlide12.xml" Id="Re8c98ce56e814a2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1542284a3f74618" /><Relationship Type="http://schemas.openxmlformats.org/officeDocument/2006/relationships/notesSlide" Target="/ppt/notesSlides/notesSlide13.xml" Id="Ra0549cf72981423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1fc780147c84843" /><Relationship Type="http://schemas.openxmlformats.org/officeDocument/2006/relationships/notesSlide" Target="/ppt/notesSlides/notesSlide14.xml" Id="R6d52499a49144f6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07cd3415c064f35" /><Relationship Type="http://schemas.openxmlformats.org/officeDocument/2006/relationships/notesSlide" Target="/ppt/notesSlides/notesSlide15.xml" Id="R1ce93a49db444ab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2cb7fd7a7c443e0" /><Relationship Type="http://schemas.openxmlformats.org/officeDocument/2006/relationships/notesSlide" Target="/ppt/notesSlides/notesSlide16.xml" Id="R07e089b309664ea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ec0def44ab042a1" /><Relationship Type="http://schemas.openxmlformats.org/officeDocument/2006/relationships/notesSlide" Target="/ppt/notesSlides/notesSlide17.xml" Id="Raccc12d5ddc945e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f48b7f4a0aa4b13" /><Relationship Type="http://schemas.openxmlformats.org/officeDocument/2006/relationships/notesSlide" Target="/ppt/notesSlides/notesSlide18.xml" Id="Rd58face81d0b417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51a08f950d74dd3" /><Relationship Type="http://schemas.openxmlformats.org/officeDocument/2006/relationships/notesSlide" Target="/ppt/notesSlides/notesSlide19.xml" Id="R51ce0d2324d04d7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8a7afd2251644c7" /><Relationship Type="http://schemas.openxmlformats.org/officeDocument/2006/relationships/notesSlide" Target="/ppt/notesSlides/notesSlide20.xml" Id="Rdafa89bba0ed454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887fcbeee384484" /><Relationship Type="http://schemas.openxmlformats.org/officeDocument/2006/relationships/notesSlide" Target="/ppt/notesSlides/notesSlide21.xml" Id="R0ca30db51535433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915fd9cdfbc4a3b" /><Relationship Type="http://schemas.openxmlformats.org/officeDocument/2006/relationships/notesSlide" Target="/ppt/notesSlides/notesSlide22.xml" Id="Re3c1daf3e8694ae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6f7ff636b1f4acd" /><Relationship Type="http://schemas.openxmlformats.org/officeDocument/2006/relationships/notesSlide" Target="/ppt/notesSlides/notesSlide23.xml" Id="Ra00a6d5c7b6f4c6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415409ab0154ac8" /><Relationship Type="http://schemas.openxmlformats.org/officeDocument/2006/relationships/notesSlide" Target="/ppt/notesSlides/notesSlide24.xml" Id="R3156b7d20ce94ef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96ad9560fd84940" /><Relationship Type="http://schemas.openxmlformats.org/officeDocument/2006/relationships/notesSlide" Target="/ppt/notesSlides/notesSlide25.xml" Id="R489c0d41d11d48e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921841441564196" /><Relationship Type="http://schemas.openxmlformats.org/officeDocument/2006/relationships/notesSlide" Target="/ppt/notesSlides/notesSlide26.xml" Id="Rfb9d4a284b6141c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632f99b7b0943d1" /><Relationship Type="http://schemas.openxmlformats.org/officeDocument/2006/relationships/notesSlide" Target="/ppt/notesSlides/notesSlide27.xml" Id="Rf90a1d55533a4d8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ed762e744fa4ce9" /><Relationship Type="http://schemas.openxmlformats.org/officeDocument/2006/relationships/notesSlide" Target="/ppt/notesSlides/notesSlide28.xml" Id="R2dfdf77254c2413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62d24ef1d48416f" /><Relationship Type="http://schemas.openxmlformats.org/officeDocument/2006/relationships/chart" Target="/ppt/slides/charts/chart13.xml" Id="R9c4c3bae99804e02" /><Relationship Type="http://schemas.openxmlformats.org/officeDocument/2006/relationships/chart" Target="/ppt/slides/charts/chart14.xml" Id="R9963dde70c4d48c4" /><Relationship Type="http://schemas.openxmlformats.org/officeDocument/2006/relationships/chart" Target="/ppt/slides/charts/chart15.xml" Id="Rbef841d642c04ebd" /><Relationship Type="http://schemas.openxmlformats.org/officeDocument/2006/relationships/chart" Target="/ppt/slides/charts/chart16.xml" Id="R8daa1d1222a349a5" /><Relationship Type="http://schemas.openxmlformats.org/officeDocument/2006/relationships/notesSlide" Target="/ppt/notesSlides/notesSlide29.xml" Id="R35cf0e7230914e7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f75ec9870714c4d" /><Relationship Type="http://schemas.openxmlformats.org/officeDocument/2006/relationships/notesSlide" Target="/ppt/notesSlides/notesSlide30.xml" Id="R9fb0e3fd19c84f6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629896fb7944822" /><Relationship Type="http://schemas.openxmlformats.org/officeDocument/2006/relationships/notesSlide" Target="/ppt/notesSlides/notesSlide31.xml" Id="R3c98929738784ea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7ba45dfc88a4b1d" /><Relationship Type="http://schemas.openxmlformats.org/officeDocument/2006/relationships/notesSlide" Target="/ppt/notesSlides/notesSlide32.xml" Id="Rc372d288b31a499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fc21536bf604543" /><Relationship Type="http://schemas.openxmlformats.org/officeDocument/2006/relationships/notesSlide" Target="/ppt/notesSlides/notesSlide33.xml" Id="Rf8bca5e9710a419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7c6742cde864b4f" /><Relationship Type="http://schemas.openxmlformats.org/officeDocument/2006/relationships/notesSlide" Target="/ppt/notesSlides/notesSlide34.xml" Id="R2ec8cc6490594f6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bfdf39c64574be4" /><Relationship Type="http://schemas.openxmlformats.org/officeDocument/2006/relationships/notesSlide" Target="/ppt/notesSlides/notesSlide35.xml" Id="R9dddfdbc563241f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ef80460afbb4256" /><Relationship Type="http://schemas.openxmlformats.org/officeDocument/2006/relationships/notesSlide" Target="/ppt/notesSlides/notesSlide36.xml" Id="Rda6d9b3c7084458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58149250d0f4096" /><Relationship Type="http://schemas.openxmlformats.org/officeDocument/2006/relationships/notesSlide" Target="/ppt/notesSlides/notesSlide37.xml" Id="Rd2da24f96753478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a352c1894dc49b8" /><Relationship Type="http://schemas.openxmlformats.org/officeDocument/2006/relationships/notesSlide" Target="/ppt/notesSlides/notesSlide38.xml" Id="Rb8d8bc022b954bb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1853bb4ca4d1415f" /><Relationship Type="http://schemas.openxmlformats.org/officeDocument/2006/relationships/notesSlide" Target="/ppt/notesSlides/notesSlide39.xml" Id="R92e43a4eadf54ea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11f566cd1e9f4923" /><Relationship Type="http://schemas.openxmlformats.org/officeDocument/2006/relationships/notesSlide" Target="/ppt/notesSlides/notesSlide40.xml" Id="Re23b3747b8314c1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18d9317bcacd4064" /><Relationship Type="http://schemas.openxmlformats.org/officeDocument/2006/relationships/notesSlide" Target="/ppt/notesSlides/notesSlide41.xml" Id="Ra6149c2f1b1248c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a36b28efbbab4eca" /><Relationship Type="http://schemas.openxmlformats.org/officeDocument/2006/relationships/notesSlide" Target="/ppt/notesSlides/notesSlide42.xml" Id="R5fcc0c97bd9d478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906ecb77da34c87" /><Relationship Type="http://schemas.openxmlformats.org/officeDocument/2006/relationships/notesSlide" Target="/ppt/notesSlides/notesSlide43.xml" Id="R12ccafd9ae684b3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a0b827d0947a4eaf" /><Relationship Type="http://schemas.openxmlformats.org/officeDocument/2006/relationships/notesSlide" Target="/ppt/notesSlides/notesSlide44.xml" Id="Rb5b25846de7f416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SCLK</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SCLK</c:v>
          </c:tx>
          <c:spPr>
            <a:ln xmlns:a="http://schemas.openxmlformats.org/drawingml/2006/main" w="28575">
              <a:solidFill>
                <a:srgbClr val="EF9529"/>
              </a:solidFill>
              <a:prstDash val="solid"/>
            </a:ln>
          </c:spPr>
          <c:marker>
            <c:symbol val="none"/>
          </c:marker>
          <c:xVal>
            <c:numRef>
              <c:f>'Chart Data'!$A$2:$A$37</c:f>
              <c:numCache>
                <c:formatCode>General</c:formatCode>
                <c:ptCount val="36"/>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pt idx="24">
                  <c:v>12</c:v>
                </c:pt>
                <c:pt idx="25">
                  <c:v>13</c:v>
                </c:pt>
                <c:pt idx="26">
                  <c:v>13</c:v>
                </c:pt>
                <c:pt idx="27">
                  <c:v>14</c:v>
                </c:pt>
                <c:pt idx="28">
                  <c:v>14</c:v>
                </c:pt>
                <c:pt idx="29">
                  <c:v>15</c:v>
                </c:pt>
                <c:pt idx="30">
                  <c:v>15</c:v>
                </c:pt>
                <c:pt idx="31">
                  <c:v>16</c:v>
                </c:pt>
                <c:pt idx="32">
                  <c:v>16</c:v>
                </c:pt>
                <c:pt idx="33">
                  <c:v>17</c:v>
                </c:pt>
                <c:pt idx="34">
                  <c:v>17</c:v>
                </c:pt>
                <c:pt idx="35">
                  <c:v>18</c:v>
                </c:pt>
              </c:numCache>
            </c:numRef>
          </c:xVal>
          <c:yVal>
            <c:numRef>
              <c:f>'Chart Data'!$B$2:$B$37</c:f>
              <c:numCache>
                <c:formatCode>General</c:formatCode>
                <c:ptCount val="36"/>
                <c:pt idx="0">
                  <c:v>0</c:v>
                </c:pt>
                <c:pt idx="1">
                  <c:v>0</c:v>
                </c:pt>
                <c:pt idx="2">
                  <c:v>1</c:v>
                </c:pt>
                <c:pt idx="3">
                  <c:v>1</c:v>
                </c:pt>
                <c:pt idx="4">
                  <c:v>0</c:v>
                </c:pt>
                <c:pt idx="5">
                  <c:v>0</c:v>
                </c:pt>
                <c:pt idx="6">
                  <c:v>1</c:v>
                </c:pt>
                <c:pt idx="7">
                  <c:v>1</c:v>
                </c:pt>
                <c:pt idx="8">
                  <c:v>0</c:v>
                </c:pt>
                <c:pt idx="9">
                  <c:v>0</c:v>
                </c:pt>
                <c:pt idx="10">
                  <c:v>1</c:v>
                </c:pt>
                <c:pt idx="11">
                  <c:v>1</c:v>
                </c:pt>
                <c:pt idx="12">
                  <c:v>0</c:v>
                </c:pt>
                <c:pt idx="13">
                  <c:v>0</c:v>
                </c:pt>
                <c:pt idx="14">
                  <c:v>1</c:v>
                </c:pt>
                <c:pt idx="15">
                  <c:v>1</c:v>
                </c:pt>
                <c:pt idx="16">
                  <c:v>0</c:v>
                </c:pt>
                <c:pt idx="17">
                  <c:v>0</c:v>
                </c:pt>
                <c:pt idx="18">
                  <c:v>1</c:v>
                </c:pt>
                <c:pt idx="19">
                  <c:v>1</c:v>
                </c:pt>
                <c:pt idx="20">
                  <c:v>0</c:v>
                </c:pt>
                <c:pt idx="21">
                  <c:v>0</c:v>
                </c:pt>
                <c:pt idx="22">
                  <c:v>1</c:v>
                </c:pt>
                <c:pt idx="23">
                  <c:v>1</c:v>
                </c:pt>
                <c:pt idx="24">
                  <c:v>0</c:v>
                </c:pt>
                <c:pt idx="25">
                  <c:v>0</c:v>
                </c:pt>
                <c:pt idx="26">
                  <c:v>1</c:v>
                </c:pt>
                <c:pt idx="27">
                  <c:v>1</c:v>
                </c:pt>
                <c:pt idx="28">
                  <c:v>0</c:v>
                </c:pt>
                <c:pt idx="29">
                  <c:v>0</c:v>
                </c:pt>
                <c:pt idx="30">
                  <c:v>1</c:v>
                </c:pt>
                <c:pt idx="31">
                  <c:v>1</c:v>
                </c:pt>
                <c:pt idx="32">
                  <c:v>0</c:v>
                </c:pt>
                <c:pt idx="33">
                  <c:v>0</c:v>
                </c:pt>
                <c:pt idx="34">
                  <c:v>0</c:v>
                </c:pt>
                <c:pt idx="35">
                  <c:v>0</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8"/>
          <c:min val="0"/>
        </c:scaling>
        <c:delete val="0"/>
        <c:axPos val="b"/>
        <c:majorGridlines>
          <c:spPr>
            <a:ln xmlns:a="http://schemas.openxmlformats.org/drawingml/2006/main" w="4763">
              <a:solidFill>
                <a:srgbClr val="35353C"/>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MOSI</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MOSI</c:v>
          </c:tx>
          <c:spPr>
            <a:ln xmlns:a="http://schemas.openxmlformats.org/drawingml/2006/main" w="28575">
              <a:solidFill>
                <a:srgbClr val="EDEDED"/>
              </a:solidFill>
              <a:prstDash val="solid"/>
            </a:ln>
          </c:spPr>
          <c:marker>
            <c:symbol val="none"/>
          </c:marker>
          <c:xVal>
            <c:numRef>
              <c:f>'Chart Data'!$A$2:$A$37</c:f>
              <c:numCache>
                <c:formatCode>General</c:formatCode>
                <c:ptCount val="36"/>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pt idx="24">
                  <c:v>12</c:v>
                </c:pt>
                <c:pt idx="25">
                  <c:v>13</c:v>
                </c:pt>
                <c:pt idx="26">
                  <c:v>13</c:v>
                </c:pt>
                <c:pt idx="27">
                  <c:v>14</c:v>
                </c:pt>
                <c:pt idx="28">
                  <c:v>14</c:v>
                </c:pt>
                <c:pt idx="29">
                  <c:v>15</c:v>
                </c:pt>
                <c:pt idx="30">
                  <c:v>15</c:v>
                </c:pt>
                <c:pt idx="31">
                  <c:v>16</c:v>
                </c:pt>
                <c:pt idx="32">
                  <c:v>16</c:v>
                </c:pt>
                <c:pt idx="33">
                  <c:v>17</c:v>
                </c:pt>
                <c:pt idx="34">
                  <c:v>17</c:v>
                </c:pt>
                <c:pt idx="35">
                  <c:v>18</c:v>
                </c:pt>
              </c:numCache>
            </c:numRef>
          </c:xVal>
          <c:yVal>
            <c:numRef>
              <c:f>'Chart Data'!$B$2:$B$37</c:f>
              <c:numCache>
                <c:formatCode>General</c:formatCode>
                <c:ptCount val="36"/>
                <c:pt idx="0">
                  <c:v>1</c:v>
                </c:pt>
                <c:pt idx="1">
                  <c:v>1</c:v>
                </c:pt>
                <c:pt idx="2">
                  <c:v>1</c:v>
                </c:pt>
                <c:pt idx="3">
                  <c:v>1</c:v>
                </c:pt>
                <c:pt idx="4">
                  <c:v>0</c:v>
                </c:pt>
                <c:pt idx="5">
                  <c:v>0</c:v>
                </c:pt>
                <c:pt idx="6">
                  <c:v>0</c:v>
                </c:pt>
                <c:pt idx="7">
                  <c:v>0</c:v>
                </c:pt>
                <c:pt idx="8">
                  <c:v>1</c:v>
                </c:pt>
                <c:pt idx="9">
                  <c:v>1</c:v>
                </c:pt>
                <c:pt idx="10">
                  <c:v>1</c:v>
                </c:pt>
                <c:pt idx="11">
                  <c:v>1</c:v>
                </c:pt>
                <c:pt idx="12">
                  <c:v>0</c:v>
                </c:pt>
                <c:pt idx="13">
                  <c:v>0</c:v>
                </c:pt>
                <c:pt idx="14">
                  <c:v>0</c:v>
                </c:pt>
                <c:pt idx="15">
                  <c:v>0</c:v>
                </c:pt>
                <c:pt idx="16">
                  <c:v>0</c:v>
                </c:pt>
                <c:pt idx="17">
                  <c:v>0</c:v>
                </c:pt>
                <c:pt idx="18">
                  <c:v>0</c:v>
                </c:pt>
                <c:pt idx="19">
                  <c:v>0</c:v>
                </c:pt>
                <c:pt idx="20">
                  <c:v>1</c:v>
                </c:pt>
                <c:pt idx="21">
                  <c:v>1</c:v>
                </c:pt>
                <c:pt idx="22">
                  <c:v>1</c:v>
                </c:pt>
                <c:pt idx="23">
                  <c:v>1</c:v>
                </c:pt>
                <c:pt idx="24">
                  <c:v>0</c:v>
                </c:pt>
                <c:pt idx="25">
                  <c:v>0</c:v>
                </c:pt>
                <c:pt idx="26">
                  <c:v>0</c:v>
                </c:pt>
                <c:pt idx="27">
                  <c:v>0</c:v>
                </c:pt>
                <c:pt idx="28">
                  <c:v>1</c:v>
                </c:pt>
                <c:pt idx="29">
                  <c:v>1</c:v>
                </c:pt>
                <c:pt idx="30">
                  <c:v>1</c:v>
                </c:pt>
                <c:pt idx="31">
                  <c:v>1</c:v>
                </c:pt>
                <c:pt idx="32">
                  <c:v>1</c:v>
                </c:pt>
                <c:pt idx="33">
                  <c:v>1</c:v>
                </c:pt>
                <c:pt idx="34">
                  <c:v>1</c:v>
                </c:pt>
                <c:pt idx="35">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8"/>
          <c:min val="0"/>
        </c:scaling>
        <c:delete val="0"/>
        <c:axPos val="b"/>
        <c:majorGridlines>
          <c:spPr>
            <a:ln xmlns:a="http://schemas.openxmlformats.org/drawingml/2006/main" w="4763">
              <a:solidFill>
                <a:srgbClr val="35353C"/>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MISO</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MISO</c:v>
          </c:tx>
          <c:spPr>
            <a:ln xmlns:a="http://schemas.openxmlformats.org/drawingml/2006/main" w="28575">
              <a:solidFill>
                <a:srgbClr val="EF9529"/>
              </a:solidFill>
              <a:prstDash val="solid"/>
            </a:ln>
          </c:spPr>
          <c:marker>
            <c:symbol val="none"/>
          </c:marker>
          <c:xVal>
            <c:numRef>
              <c:f>'Chart Data'!$A$2:$A$37</c:f>
              <c:numCache>
                <c:formatCode>General</c:formatCode>
                <c:ptCount val="36"/>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pt idx="24">
                  <c:v>12</c:v>
                </c:pt>
                <c:pt idx="25">
                  <c:v>13</c:v>
                </c:pt>
                <c:pt idx="26">
                  <c:v>13</c:v>
                </c:pt>
                <c:pt idx="27">
                  <c:v>14</c:v>
                </c:pt>
                <c:pt idx="28">
                  <c:v>14</c:v>
                </c:pt>
                <c:pt idx="29">
                  <c:v>15</c:v>
                </c:pt>
                <c:pt idx="30">
                  <c:v>15</c:v>
                </c:pt>
                <c:pt idx="31">
                  <c:v>16</c:v>
                </c:pt>
                <c:pt idx="32">
                  <c:v>16</c:v>
                </c:pt>
                <c:pt idx="33">
                  <c:v>17</c:v>
                </c:pt>
                <c:pt idx="34">
                  <c:v>17</c:v>
                </c:pt>
                <c:pt idx="35">
                  <c:v>18</c:v>
                </c:pt>
              </c:numCache>
            </c:numRef>
          </c:xVal>
          <c:yVal>
            <c:numRef>
              <c:f>'Chart Data'!$B$2:$B$37</c:f>
              <c:numCache>
                <c:formatCode>General</c:formatCode>
                <c:ptCount val="36"/>
                <c:pt idx="0">
                  <c:v>0</c:v>
                </c:pt>
                <c:pt idx="1">
                  <c:v>0</c:v>
                </c:pt>
                <c:pt idx="2">
                  <c:v>0</c:v>
                </c:pt>
                <c:pt idx="3">
                  <c:v>0</c:v>
                </c:pt>
                <c:pt idx="4">
                  <c:v>0</c:v>
                </c:pt>
                <c:pt idx="5">
                  <c:v>0</c:v>
                </c:pt>
                <c:pt idx="6">
                  <c:v>0</c:v>
                </c:pt>
                <c:pt idx="7">
                  <c:v>0</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0</c:v>
                </c:pt>
                <c:pt idx="25">
                  <c:v>0</c:v>
                </c:pt>
                <c:pt idx="26">
                  <c:v>0</c:v>
                </c:pt>
                <c:pt idx="27">
                  <c:v>0</c:v>
                </c:pt>
                <c:pt idx="28">
                  <c:v>0</c:v>
                </c:pt>
                <c:pt idx="29">
                  <c:v>0</c:v>
                </c:pt>
                <c:pt idx="30">
                  <c:v>0</c:v>
                </c:pt>
                <c:pt idx="31">
                  <c:v>0</c:v>
                </c:pt>
                <c:pt idx="32">
                  <c:v>0</c:v>
                </c:pt>
                <c:pt idx="33">
                  <c:v>0</c:v>
                </c:pt>
                <c:pt idx="34">
                  <c:v>0</c:v>
                </c:pt>
                <c:pt idx="35">
                  <c:v>0</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8"/>
          <c:min val="0"/>
        </c:scaling>
        <c:delete val="0"/>
        <c:axPos val="b"/>
        <c:majorGridlines>
          <c:spPr>
            <a:ln xmlns:a="http://schemas.openxmlformats.org/drawingml/2006/main" w="4763">
              <a:solidFill>
                <a:srgbClr val="35353C"/>
              </a:solidFill>
            </a:ln>
          </c:spPr>
        </c:majorGridlines>
        <c:title>
          <c:tx>
            <c:rich>
              <a:bodyPr xmlns:a="http://schemas.openxmlformats.org/drawingml/2006/main"/>
              <a:lstStyle xmlns:a="http://schemas.openxmlformats.org/drawingml/2006/main"/>
              <a:p xmlns:a="http://schemas.openxmlformats.org/drawingml/2006/main">
                <a:r>
                  <a:rPr sz="1350">
                    <a:solidFill>
                      <a:srgbClr val="9A9AA2"/>
                    </a:solidFill>
                    <a:latin typeface="Segoe UI"/>
                    <a:ea typeface="Segoe UI"/>
                    <a:cs typeface="Segoe UI"/>
                  </a:rPr>
                  <a:t>Half-bit slots</a:t>
                </a:r>
              </a:p>
            </c:rich>
          </c:tx>
          <c:overlay val="0"/>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title>
        <c:numFmt formatCode="General"/>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SCLK</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SCLK</c:v>
          </c:tx>
          <c:spPr>
            <a:ln xmlns:a="http://schemas.openxmlformats.org/drawingml/2006/main" w="28575">
              <a:solidFill>
                <a:srgbClr val="EF9529"/>
              </a:solidFill>
              <a:prstDash val="solid"/>
            </a:ln>
          </c:spPr>
          <c:marker>
            <c:symbol val="none"/>
          </c:marker>
          <c:xVal>
            <c:numRef>
              <c:f>'Chart Data'!$A$2:$A$37</c:f>
              <c:numCache>
                <c:formatCode>General</c:formatCode>
                <c:ptCount val="36"/>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pt idx="24">
                  <c:v>12</c:v>
                </c:pt>
                <c:pt idx="25">
                  <c:v>13</c:v>
                </c:pt>
                <c:pt idx="26">
                  <c:v>13</c:v>
                </c:pt>
                <c:pt idx="27">
                  <c:v>14</c:v>
                </c:pt>
                <c:pt idx="28">
                  <c:v>14</c:v>
                </c:pt>
                <c:pt idx="29">
                  <c:v>15</c:v>
                </c:pt>
                <c:pt idx="30">
                  <c:v>15</c:v>
                </c:pt>
                <c:pt idx="31">
                  <c:v>16</c:v>
                </c:pt>
                <c:pt idx="32">
                  <c:v>16</c:v>
                </c:pt>
                <c:pt idx="33">
                  <c:v>17</c:v>
                </c:pt>
                <c:pt idx="34">
                  <c:v>17</c:v>
                </c:pt>
                <c:pt idx="35">
                  <c:v>18</c:v>
                </c:pt>
              </c:numCache>
            </c:numRef>
          </c:xVal>
          <c:yVal>
            <c:numRef>
              <c:f>'Chart Data'!$B$2:$B$37</c:f>
              <c:numCache>
                <c:formatCode>General</c:formatCode>
                <c:ptCount val="36"/>
                <c:pt idx="0">
                  <c:v>0</c:v>
                </c:pt>
                <c:pt idx="1">
                  <c:v>0</c:v>
                </c:pt>
                <c:pt idx="2">
                  <c:v>1</c:v>
                </c:pt>
                <c:pt idx="3">
                  <c:v>1</c:v>
                </c:pt>
                <c:pt idx="4">
                  <c:v>0</c:v>
                </c:pt>
                <c:pt idx="5">
                  <c:v>0</c:v>
                </c:pt>
                <c:pt idx="6">
                  <c:v>1</c:v>
                </c:pt>
                <c:pt idx="7">
                  <c:v>1</c:v>
                </c:pt>
                <c:pt idx="8">
                  <c:v>0</c:v>
                </c:pt>
                <c:pt idx="9">
                  <c:v>0</c:v>
                </c:pt>
                <c:pt idx="10">
                  <c:v>1</c:v>
                </c:pt>
                <c:pt idx="11">
                  <c:v>1</c:v>
                </c:pt>
                <c:pt idx="12">
                  <c:v>0</c:v>
                </c:pt>
                <c:pt idx="13">
                  <c:v>0</c:v>
                </c:pt>
                <c:pt idx="14">
                  <c:v>1</c:v>
                </c:pt>
                <c:pt idx="15">
                  <c:v>1</c:v>
                </c:pt>
                <c:pt idx="16">
                  <c:v>0</c:v>
                </c:pt>
                <c:pt idx="17">
                  <c:v>0</c:v>
                </c:pt>
                <c:pt idx="18">
                  <c:v>1</c:v>
                </c:pt>
                <c:pt idx="19">
                  <c:v>1</c:v>
                </c:pt>
                <c:pt idx="20">
                  <c:v>0</c:v>
                </c:pt>
                <c:pt idx="21">
                  <c:v>0</c:v>
                </c:pt>
                <c:pt idx="22">
                  <c:v>1</c:v>
                </c:pt>
                <c:pt idx="23">
                  <c:v>1</c:v>
                </c:pt>
                <c:pt idx="24">
                  <c:v>0</c:v>
                </c:pt>
                <c:pt idx="25">
                  <c:v>0</c:v>
                </c:pt>
                <c:pt idx="26">
                  <c:v>1</c:v>
                </c:pt>
                <c:pt idx="27">
                  <c:v>1</c:v>
                </c:pt>
                <c:pt idx="28">
                  <c:v>0</c:v>
                </c:pt>
                <c:pt idx="29">
                  <c:v>0</c:v>
                </c:pt>
                <c:pt idx="30">
                  <c:v>1</c:v>
                </c:pt>
                <c:pt idx="31">
                  <c:v>1</c:v>
                </c:pt>
                <c:pt idx="32">
                  <c:v>0</c:v>
                </c:pt>
                <c:pt idx="33">
                  <c:v>0</c:v>
                </c:pt>
                <c:pt idx="34">
                  <c:v>0</c:v>
                </c:pt>
                <c:pt idx="35">
                  <c:v>0</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8"/>
          <c:min val="0"/>
        </c:scaling>
        <c:delete val="0"/>
        <c:axPos val="b"/>
        <c:majorGridlines>
          <c:spPr>
            <a:ln xmlns:a="http://schemas.openxmlformats.org/drawingml/2006/main" w="4763">
              <a:solidFill>
                <a:srgbClr val="35353C"/>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MOSI</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MOSI</c:v>
          </c:tx>
          <c:spPr>
            <a:ln xmlns:a="http://schemas.openxmlformats.org/drawingml/2006/main" w="28575">
              <a:solidFill>
                <a:srgbClr val="EDEDED"/>
              </a:solidFill>
              <a:prstDash val="solid"/>
            </a:ln>
          </c:spPr>
          <c:marker>
            <c:symbol val="none"/>
          </c:marker>
          <c:xVal>
            <c:numRef>
              <c:f>'Chart Data'!$A$2:$A$37</c:f>
              <c:numCache>
                <c:formatCode>General</c:formatCode>
                <c:ptCount val="36"/>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pt idx="24">
                  <c:v>12</c:v>
                </c:pt>
                <c:pt idx="25">
                  <c:v>13</c:v>
                </c:pt>
                <c:pt idx="26">
                  <c:v>13</c:v>
                </c:pt>
                <c:pt idx="27">
                  <c:v>14</c:v>
                </c:pt>
                <c:pt idx="28">
                  <c:v>14</c:v>
                </c:pt>
                <c:pt idx="29">
                  <c:v>15</c:v>
                </c:pt>
                <c:pt idx="30">
                  <c:v>15</c:v>
                </c:pt>
                <c:pt idx="31">
                  <c:v>16</c:v>
                </c:pt>
                <c:pt idx="32">
                  <c:v>16</c:v>
                </c:pt>
                <c:pt idx="33">
                  <c:v>17</c:v>
                </c:pt>
                <c:pt idx="34">
                  <c:v>17</c:v>
                </c:pt>
                <c:pt idx="35">
                  <c:v>18</c:v>
                </c:pt>
              </c:numCache>
            </c:numRef>
          </c:xVal>
          <c:yVal>
            <c:numRef>
              <c:f>'Chart Data'!$B$2:$B$37</c:f>
              <c:numCache>
                <c:formatCode>General</c:formatCode>
                <c:ptCount val="36"/>
                <c:pt idx="0">
                  <c:v>0</c:v>
                </c:pt>
                <c:pt idx="1">
                  <c:v>0</c:v>
                </c:pt>
                <c:pt idx="2">
                  <c:v>1</c:v>
                </c:pt>
                <c:pt idx="3">
                  <c:v>1</c:v>
                </c:pt>
                <c:pt idx="4">
                  <c:v>1</c:v>
                </c:pt>
                <c:pt idx="5">
                  <c:v>1</c:v>
                </c:pt>
                <c:pt idx="6">
                  <c:v>0</c:v>
                </c:pt>
                <c:pt idx="7">
                  <c:v>0</c:v>
                </c:pt>
                <c:pt idx="8">
                  <c:v>0</c:v>
                </c:pt>
                <c:pt idx="9">
                  <c:v>0</c:v>
                </c:pt>
                <c:pt idx="10">
                  <c:v>1</c:v>
                </c:pt>
                <c:pt idx="11">
                  <c:v>1</c:v>
                </c:pt>
                <c:pt idx="12">
                  <c:v>1</c:v>
                </c:pt>
                <c:pt idx="13">
                  <c:v>1</c:v>
                </c:pt>
                <c:pt idx="14">
                  <c:v>0</c:v>
                </c:pt>
                <c:pt idx="15">
                  <c:v>0</c:v>
                </c:pt>
                <c:pt idx="16">
                  <c:v>0</c:v>
                </c:pt>
                <c:pt idx="17">
                  <c:v>0</c:v>
                </c:pt>
                <c:pt idx="18">
                  <c:v>0</c:v>
                </c:pt>
                <c:pt idx="19">
                  <c:v>0</c:v>
                </c:pt>
                <c:pt idx="20">
                  <c:v>0</c:v>
                </c:pt>
                <c:pt idx="21">
                  <c:v>0</c:v>
                </c:pt>
                <c:pt idx="22">
                  <c:v>1</c:v>
                </c:pt>
                <c:pt idx="23">
                  <c:v>1</c:v>
                </c:pt>
                <c:pt idx="24">
                  <c:v>1</c:v>
                </c:pt>
                <c:pt idx="25">
                  <c:v>1</c:v>
                </c:pt>
                <c:pt idx="26">
                  <c:v>0</c:v>
                </c:pt>
                <c:pt idx="27">
                  <c:v>0</c:v>
                </c:pt>
                <c:pt idx="28">
                  <c:v>0</c:v>
                </c:pt>
                <c:pt idx="29">
                  <c:v>0</c:v>
                </c:pt>
                <c:pt idx="30">
                  <c:v>1</c:v>
                </c:pt>
                <c:pt idx="31">
                  <c:v>1</c:v>
                </c:pt>
                <c:pt idx="32">
                  <c:v>1</c:v>
                </c:pt>
                <c:pt idx="33">
                  <c:v>1</c:v>
                </c:pt>
                <c:pt idx="34">
                  <c:v>1</c:v>
                </c:pt>
                <c:pt idx="35">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8"/>
          <c:min val="0"/>
        </c:scaling>
        <c:delete val="0"/>
        <c:axPos val="b"/>
        <c:majorGridlines>
          <c:spPr>
            <a:ln xmlns:a="http://schemas.openxmlformats.org/drawingml/2006/main" w="4763">
              <a:solidFill>
                <a:srgbClr val="35353C"/>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MISO</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MISO</c:v>
          </c:tx>
          <c:spPr>
            <a:ln xmlns:a="http://schemas.openxmlformats.org/drawingml/2006/main" w="28575">
              <a:solidFill>
                <a:srgbClr val="EF9529"/>
              </a:solidFill>
              <a:prstDash val="solid"/>
            </a:ln>
          </c:spPr>
          <c:marker>
            <c:symbol val="none"/>
          </c:marker>
          <c:xVal>
            <c:numRef>
              <c:f>'Chart Data'!$A$2:$A$37</c:f>
              <c:numCache>
                <c:formatCode>General</c:formatCode>
                <c:ptCount val="36"/>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pt idx="24">
                  <c:v>12</c:v>
                </c:pt>
                <c:pt idx="25">
                  <c:v>13</c:v>
                </c:pt>
                <c:pt idx="26">
                  <c:v>13</c:v>
                </c:pt>
                <c:pt idx="27">
                  <c:v>14</c:v>
                </c:pt>
                <c:pt idx="28">
                  <c:v>14</c:v>
                </c:pt>
                <c:pt idx="29">
                  <c:v>15</c:v>
                </c:pt>
                <c:pt idx="30">
                  <c:v>15</c:v>
                </c:pt>
                <c:pt idx="31">
                  <c:v>16</c:v>
                </c:pt>
                <c:pt idx="32">
                  <c:v>16</c:v>
                </c:pt>
                <c:pt idx="33">
                  <c:v>17</c:v>
                </c:pt>
                <c:pt idx="34">
                  <c:v>17</c:v>
                </c:pt>
                <c:pt idx="35">
                  <c:v>18</c:v>
                </c:pt>
              </c:numCache>
            </c:numRef>
          </c:xVal>
          <c:yVal>
            <c:numRef>
              <c:f>'Chart Data'!$B$2:$B$37</c:f>
              <c:numCache>
                <c:formatCode>General</c:formatCode>
                <c:ptCount val="36"/>
                <c:pt idx="0">
                  <c:v>0</c:v>
                </c:pt>
                <c:pt idx="1">
                  <c:v>0</c:v>
                </c:pt>
                <c:pt idx="2">
                  <c:v>0</c:v>
                </c:pt>
                <c:pt idx="3">
                  <c:v>0</c:v>
                </c:pt>
                <c:pt idx="4">
                  <c:v>0</c:v>
                </c:pt>
                <c:pt idx="5">
                  <c:v>0</c:v>
                </c:pt>
                <c:pt idx="6">
                  <c:v>0</c:v>
                </c:pt>
                <c:pt idx="7">
                  <c:v>0</c:v>
                </c:pt>
                <c:pt idx="8">
                  <c:v>0</c:v>
                </c:pt>
                <c:pt idx="9">
                  <c:v>0</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0</c:v>
                </c:pt>
                <c:pt idx="27">
                  <c:v>0</c:v>
                </c:pt>
                <c:pt idx="28">
                  <c:v>0</c:v>
                </c:pt>
                <c:pt idx="29">
                  <c:v>0</c:v>
                </c:pt>
                <c:pt idx="30">
                  <c:v>0</c:v>
                </c:pt>
                <c:pt idx="31">
                  <c:v>0</c:v>
                </c:pt>
                <c:pt idx="32">
                  <c:v>0</c:v>
                </c:pt>
                <c:pt idx="33">
                  <c:v>0</c:v>
                </c:pt>
                <c:pt idx="34">
                  <c:v>0</c:v>
                </c:pt>
                <c:pt idx="35">
                  <c:v>0</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8"/>
          <c:min val="0"/>
        </c:scaling>
        <c:delete val="0"/>
        <c:axPos val="b"/>
        <c:majorGridlines>
          <c:spPr>
            <a:ln xmlns:a="http://schemas.openxmlformats.org/drawingml/2006/main" w="4763">
              <a:solidFill>
                <a:srgbClr val="35353C"/>
              </a:solidFill>
            </a:ln>
          </c:spPr>
        </c:majorGridlines>
        <c:title>
          <c:tx>
            <c:rich>
              <a:bodyPr xmlns:a="http://schemas.openxmlformats.org/drawingml/2006/main"/>
              <a:lstStyle xmlns:a="http://schemas.openxmlformats.org/drawingml/2006/main"/>
              <a:p xmlns:a="http://schemas.openxmlformats.org/drawingml/2006/main">
                <a:r>
                  <a:rPr sz="1350">
                    <a:solidFill>
                      <a:srgbClr val="9A9AA2"/>
                    </a:solidFill>
                    <a:latin typeface="Segoe UI"/>
                    <a:ea typeface="Segoe UI"/>
                    <a:cs typeface="Segoe UI"/>
                  </a:rPr>
                  <a:t>Half-bit slots</a:t>
                </a:r>
              </a:p>
            </c:rich>
          </c:tx>
          <c:overlay val="0"/>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title>
        <c:numFmt formatCode="General"/>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SCLK</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SCLK</c:v>
          </c:tx>
          <c:spPr>
            <a:ln xmlns:a="http://schemas.openxmlformats.org/drawingml/2006/main" w="28575">
              <a:solidFill>
                <a:srgbClr val="EF9529"/>
              </a:solidFill>
              <a:prstDash val="solid"/>
            </a:ln>
          </c:spPr>
          <c:marker>
            <c:symbol val="none"/>
          </c:marker>
          <c:xVal>
            <c:numRef>
              <c:f>'Chart Data'!$A$2:$A$37</c:f>
              <c:numCache>
                <c:formatCode>General</c:formatCode>
                <c:ptCount val="36"/>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pt idx="24">
                  <c:v>12</c:v>
                </c:pt>
                <c:pt idx="25">
                  <c:v>13</c:v>
                </c:pt>
                <c:pt idx="26">
                  <c:v>13</c:v>
                </c:pt>
                <c:pt idx="27">
                  <c:v>14</c:v>
                </c:pt>
                <c:pt idx="28">
                  <c:v>14</c:v>
                </c:pt>
                <c:pt idx="29">
                  <c:v>15</c:v>
                </c:pt>
                <c:pt idx="30">
                  <c:v>15</c:v>
                </c:pt>
                <c:pt idx="31">
                  <c:v>16</c:v>
                </c:pt>
                <c:pt idx="32">
                  <c:v>16</c:v>
                </c:pt>
                <c:pt idx="33">
                  <c:v>17</c:v>
                </c:pt>
                <c:pt idx="34">
                  <c:v>17</c:v>
                </c:pt>
                <c:pt idx="35">
                  <c:v>18</c:v>
                </c:pt>
              </c:numCache>
            </c:numRef>
          </c:xVal>
          <c:yVal>
            <c:numRef>
              <c:f>'Chart Data'!$B$2:$B$37</c:f>
              <c:numCache>
                <c:formatCode>General</c:formatCode>
                <c:ptCount val="36"/>
                <c:pt idx="0">
                  <c:v>1</c:v>
                </c:pt>
                <c:pt idx="1">
                  <c:v>1</c:v>
                </c:pt>
                <c:pt idx="2">
                  <c:v>0</c:v>
                </c:pt>
                <c:pt idx="3">
                  <c:v>0</c:v>
                </c:pt>
                <c:pt idx="4">
                  <c:v>1</c:v>
                </c:pt>
                <c:pt idx="5">
                  <c:v>1</c:v>
                </c:pt>
                <c:pt idx="6">
                  <c:v>0</c:v>
                </c:pt>
                <c:pt idx="7">
                  <c:v>0</c:v>
                </c:pt>
                <c:pt idx="8">
                  <c:v>1</c:v>
                </c:pt>
                <c:pt idx="9">
                  <c:v>1</c:v>
                </c:pt>
                <c:pt idx="10">
                  <c:v>0</c:v>
                </c:pt>
                <c:pt idx="11">
                  <c:v>0</c:v>
                </c:pt>
                <c:pt idx="12">
                  <c:v>1</c:v>
                </c:pt>
                <c:pt idx="13">
                  <c:v>1</c:v>
                </c:pt>
                <c:pt idx="14">
                  <c:v>0</c:v>
                </c:pt>
                <c:pt idx="15">
                  <c:v>0</c:v>
                </c:pt>
                <c:pt idx="16">
                  <c:v>1</c:v>
                </c:pt>
                <c:pt idx="17">
                  <c:v>1</c:v>
                </c:pt>
                <c:pt idx="18">
                  <c:v>0</c:v>
                </c:pt>
                <c:pt idx="19">
                  <c:v>0</c:v>
                </c:pt>
                <c:pt idx="20">
                  <c:v>1</c:v>
                </c:pt>
                <c:pt idx="21">
                  <c:v>1</c:v>
                </c:pt>
                <c:pt idx="22">
                  <c:v>0</c:v>
                </c:pt>
                <c:pt idx="23">
                  <c:v>0</c:v>
                </c:pt>
                <c:pt idx="24">
                  <c:v>1</c:v>
                </c:pt>
                <c:pt idx="25">
                  <c:v>1</c:v>
                </c:pt>
                <c:pt idx="26">
                  <c:v>0</c:v>
                </c:pt>
                <c:pt idx="27">
                  <c:v>0</c:v>
                </c:pt>
                <c:pt idx="28">
                  <c:v>1</c:v>
                </c:pt>
                <c:pt idx="29">
                  <c:v>1</c:v>
                </c:pt>
                <c:pt idx="30">
                  <c:v>0</c:v>
                </c:pt>
                <c:pt idx="31">
                  <c:v>0</c:v>
                </c:pt>
                <c:pt idx="32">
                  <c:v>1</c:v>
                </c:pt>
                <c:pt idx="33">
                  <c:v>1</c:v>
                </c:pt>
                <c:pt idx="34">
                  <c:v>1</c:v>
                </c:pt>
                <c:pt idx="35">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8"/>
          <c:min val="0"/>
        </c:scaling>
        <c:delete val="0"/>
        <c:axPos val="b"/>
        <c:majorGridlines>
          <c:spPr>
            <a:ln xmlns:a="http://schemas.openxmlformats.org/drawingml/2006/main" w="4763">
              <a:solidFill>
                <a:srgbClr val="35353C"/>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MOSI</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MOSI</c:v>
          </c:tx>
          <c:spPr>
            <a:ln xmlns:a="http://schemas.openxmlformats.org/drawingml/2006/main" w="28575">
              <a:solidFill>
                <a:srgbClr val="EDEDED"/>
              </a:solidFill>
              <a:prstDash val="solid"/>
            </a:ln>
          </c:spPr>
          <c:marker>
            <c:symbol val="none"/>
          </c:marker>
          <c:xVal>
            <c:numRef>
              <c:f>'Chart Data'!$A$2:$A$37</c:f>
              <c:numCache>
                <c:formatCode>General</c:formatCode>
                <c:ptCount val="36"/>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pt idx="24">
                  <c:v>12</c:v>
                </c:pt>
                <c:pt idx="25">
                  <c:v>13</c:v>
                </c:pt>
                <c:pt idx="26">
                  <c:v>13</c:v>
                </c:pt>
                <c:pt idx="27">
                  <c:v>14</c:v>
                </c:pt>
                <c:pt idx="28">
                  <c:v>14</c:v>
                </c:pt>
                <c:pt idx="29">
                  <c:v>15</c:v>
                </c:pt>
                <c:pt idx="30">
                  <c:v>15</c:v>
                </c:pt>
                <c:pt idx="31">
                  <c:v>16</c:v>
                </c:pt>
                <c:pt idx="32">
                  <c:v>16</c:v>
                </c:pt>
                <c:pt idx="33">
                  <c:v>17</c:v>
                </c:pt>
                <c:pt idx="34">
                  <c:v>17</c:v>
                </c:pt>
                <c:pt idx="35">
                  <c:v>18</c:v>
                </c:pt>
              </c:numCache>
            </c:numRef>
          </c:xVal>
          <c:yVal>
            <c:numRef>
              <c:f>'Chart Data'!$B$2:$B$37</c:f>
              <c:numCache>
                <c:formatCode>General</c:formatCode>
                <c:ptCount val="36"/>
                <c:pt idx="0">
                  <c:v>1</c:v>
                </c:pt>
                <c:pt idx="1">
                  <c:v>1</c:v>
                </c:pt>
                <c:pt idx="2">
                  <c:v>1</c:v>
                </c:pt>
                <c:pt idx="3">
                  <c:v>1</c:v>
                </c:pt>
                <c:pt idx="4">
                  <c:v>0</c:v>
                </c:pt>
                <c:pt idx="5">
                  <c:v>0</c:v>
                </c:pt>
                <c:pt idx="6">
                  <c:v>0</c:v>
                </c:pt>
                <c:pt idx="7">
                  <c:v>0</c:v>
                </c:pt>
                <c:pt idx="8">
                  <c:v>1</c:v>
                </c:pt>
                <c:pt idx="9">
                  <c:v>1</c:v>
                </c:pt>
                <c:pt idx="10">
                  <c:v>1</c:v>
                </c:pt>
                <c:pt idx="11">
                  <c:v>1</c:v>
                </c:pt>
                <c:pt idx="12">
                  <c:v>0</c:v>
                </c:pt>
                <c:pt idx="13">
                  <c:v>0</c:v>
                </c:pt>
                <c:pt idx="14">
                  <c:v>0</c:v>
                </c:pt>
                <c:pt idx="15">
                  <c:v>0</c:v>
                </c:pt>
                <c:pt idx="16">
                  <c:v>0</c:v>
                </c:pt>
                <c:pt idx="17">
                  <c:v>0</c:v>
                </c:pt>
                <c:pt idx="18">
                  <c:v>0</c:v>
                </c:pt>
                <c:pt idx="19">
                  <c:v>0</c:v>
                </c:pt>
                <c:pt idx="20">
                  <c:v>1</c:v>
                </c:pt>
                <c:pt idx="21">
                  <c:v>1</c:v>
                </c:pt>
                <c:pt idx="22">
                  <c:v>1</c:v>
                </c:pt>
                <c:pt idx="23">
                  <c:v>1</c:v>
                </c:pt>
                <c:pt idx="24">
                  <c:v>0</c:v>
                </c:pt>
                <c:pt idx="25">
                  <c:v>0</c:v>
                </c:pt>
                <c:pt idx="26">
                  <c:v>0</c:v>
                </c:pt>
                <c:pt idx="27">
                  <c:v>0</c:v>
                </c:pt>
                <c:pt idx="28">
                  <c:v>1</c:v>
                </c:pt>
                <c:pt idx="29">
                  <c:v>1</c:v>
                </c:pt>
                <c:pt idx="30">
                  <c:v>1</c:v>
                </c:pt>
                <c:pt idx="31">
                  <c:v>1</c:v>
                </c:pt>
                <c:pt idx="32">
                  <c:v>1</c:v>
                </c:pt>
                <c:pt idx="33">
                  <c:v>1</c:v>
                </c:pt>
                <c:pt idx="34">
                  <c:v>1</c:v>
                </c:pt>
                <c:pt idx="35">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8"/>
          <c:min val="0"/>
        </c:scaling>
        <c:delete val="0"/>
        <c:axPos val="b"/>
        <c:majorGridlines>
          <c:spPr>
            <a:ln xmlns:a="http://schemas.openxmlformats.org/drawingml/2006/main" w="4763">
              <a:solidFill>
                <a:srgbClr val="35353C"/>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MISO</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MISO</c:v>
          </c:tx>
          <c:spPr>
            <a:ln xmlns:a="http://schemas.openxmlformats.org/drawingml/2006/main" w="28575">
              <a:solidFill>
                <a:srgbClr val="EF9529"/>
              </a:solidFill>
              <a:prstDash val="solid"/>
            </a:ln>
          </c:spPr>
          <c:marker>
            <c:symbol val="none"/>
          </c:marker>
          <c:xVal>
            <c:numRef>
              <c:f>'Chart Data'!$A$2:$A$37</c:f>
              <c:numCache>
                <c:formatCode>General</c:formatCode>
                <c:ptCount val="36"/>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pt idx="24">
                  <c:v>12</c:v>
                </c:pt>
                <c:pt idx="25">
                  <c:v>13</c:v>
                </c:pt>
                <c:pt idx="26">
                  <c:v>13</c:v>
                </c:pt>
                <c:pt idx="27">
                  <c:v>14</c:v>
                </c:pt>
                <c:pt idx="28">
                  <c:v>14</c:v>
                </c:pt>
                <c:pt idx="29">
                  <c:v>15</c:v>
                </c:pt>
                <c:pt idx="30">
                  <c:v>15</c:v>
                </c:pt>
                <c:pt idx="31">
                  <c:v>16</c:v>
                </c:pt>
                <c:pt idx="32">
                  <c:v>16</c:v>
                </c:pt>
                <c:pt idx="33">
                  <c:v>17</c:v>
                </c:pt>
                <c:pt idx="34">
                  <c:v>17</c:v>
                </c:pt>
                <c:pt idx="35">
                  <c:v>18</c:v>
                </c:pt>
              </c:numCache>
            </c:numRef>
          </c:xVal>
          <c:yVal>
            <c:numRef>
              <c:f>'Chart Data'!$B$2:$B$37</c:f>
              <c:numCache>
                <c:formatCode>General</c:formatCode>
                <c:ptCount val="36"/>
                <c:pt idx="0">
                  <c:v>0</c:v>
                </c:pt>
                <c:pt idx="1">
                  <c:v>0</c:v>
                </c:pt>
                <c:pt idx="2">
                  <c:v>0</c:v>
                </c:pt>
                <c:pt idx="3">
                  <c:v>0</c:v>
                </c:pt>
                <c:pt idx="4">
                  <c:v>0</c:v>
                </c:pt>
                <c:pt idx="5">
                  <c:v>0</c:v>
                </c:pt>
                <c:pt idx="6">
                  <c:v>0</c:v>
                </c:pt>
                <c:pt idx="7">
                  <c:v>0</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0</c:v>
                </c:pt>
                <c:pt idx="25">
                  <c:v>0</c:v>
                </c:pt>
                <c:pt idx="26">
                  <c:v>0</c:v>
                </c:pt>
                <c:pt idx="27">
                  <c:v>0</c:v>
                </c:pt>
                <c:pt idx="28">
                  <c:v>0</c:v>
                </c:pt>
                <c:pt idx="29">
                  <c:v>0</c:v>
                </c:pt>
                <c:pt idx="30">
                  <c:v>0</c:v>
                </c:pt>
                <c:pt idx="31">
                  <c:v>0</c:v>
                </c:pt>
                <c:pt idx="32">
                  <c:v>0</c:v>
                </c:pt>
                <c:pt idx="33">
                  <c:v>0</c:v>
                </c:pt>
                <c:pt idx="34">
                  <c:v>0</c:v>
                </c:pt>
                <c:pt idx="35">
                  <c:v>0</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8"/>
          <c:min val="0"/>
        </c:scaling>
        <c:delete val="0"/>
        <c:axPos val="b"/>
        <c:majorGridlines>
          <c:spPr>
            <a:ln xmlns:a="http://schemas.openxmlformats.org/drawingml/2006/main" w="4763">
              <a:solidFill>
                <a:srgbClr val="35353C"/>
              </a:solidFill>
            </a:ln>
          </c:spPr>
        </c:majorGridlines>
        <c:title>
          <c:tx>
            <c:rich>
              <a:bodyPr xmlns:a="http://schemas.openxmlformats.org/drawingml/2006/main"/>
              <a:lstStyle xmlns:a="http://schemas.openxmlformats.org/drawingml/2006/main"/>
              <a:p xmlns:a="http://schemas.openxmlformats.org/drawingml/2006/main">
                <a:r>
                  <a:rPr sz="1350">
                    <a:solidFill>
                      <a:srgbClr val="9A9AA2"/>
                    </a:solidFill>
                    <a:latin typeface="Segoe UI"/>
                    <a:ea typeface="Segoe UI"/>
                    <a:cs typeface="Segoe UI"/>
                  </a:rPr>
                  <a:t>Half-bit slots</a:t>
                </a:r>
              </a:p>
            </c:rich>
          </c:tx>
          <c:overlay val="0"/>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title>
        <c:numFmt formatCode="General"/>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SCLK</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SCLK</c:v>
          </c:tx>
          <c:spPr>
            <a:ln xmlns:a="http://schemas.openxmlformats.org/drawingml/2006/main" w="28575">
              <a:solidFill>
                <a:srgbClr val="EF9529"/>
              </a:solidFill>
              <a:prstDash val="solid"/>
            </a:ln>
          </c:spPr>
          <c:marker>
            <c:symbol val="none"/>
          </c:marker>
          <c:xVal>
            <c:numRef>
              <c:f>'Chart Data'!$A$2:$A$37</c:f>
              <c:numCache>
                <c:formatCode>General</c:formatCode>
                <c:ptCount val="36"/>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pt idx="24">
                  <c:v>12</c:v>
                </c:pt>
                <c:pt idx="25">
                  <c:v>13</c:v>
                </c:pt>
                <c:pt idx="26">
                  <c:v>13</c:v>
                </c:pt>
                <c:pt idx="27">
                  <c:v>14</c:v>
                </c:pt>
                <c:pt idx="28">
                  <c:v>14</c:v>
                </c:pt>
                <c:pt idx="29">
                  <c:v>15</c:v>
                </c:pt>
                <c:pt idx="30">
                  <c:v>15</c:v>
                </c:pt>
                <c:pt idx="31">
                  <c:v>16</c:v>
                </c:pt>
                <c:pt idx="32">
                  <c:v>16</c:v>
                </c:pt>
                <c:pt idx="33">
                  <c:v>17</c:v>
                </c:pt>
                <c:pt idx="34">
                  <c:v>17</c:v>
                </c:pt>
                <c:pt idx="35">
                  <c:v>18</c:v>
                </c:pt>
              </c:numCache>
            </c:numRef>
          </c:xVal>
          <c:yVal>
            <c:numRef>
              <c:f>'Chart Data'!$B$2:$B$37</c:f>
              <c:numCache>
                <c:formatCode>General</c:formatCode>
                <c:ptCount val="36"/>
                <c:pt idx="0">
                  <c:v>1</c:v>
                </c:pt>
                <c:pt idx="1">
                  <c:v>1</c:v>
                </c:pt>
                <c:pt idx="2">
                  <c:v>0</c:v>
                </c:pt>
                <c:pt idx="3">
                  <c:v>0</c:v>
                </c:pt>
                <c:pt idx="4">
                  <c:v>1</c:v>
                </c:pt>
                <c:pt idx="5">
                  <c:v>1</c:v>
                </c:pt>
                <c:pt idx="6">
                  <c:v>0</c:v>
                </c:pt>
                <c:pt idx="7">
                  <c:v>0</c:v>
                </c:pt>
                <c:pt idx="8">
                  <c:v>1</c:v>
                </c:pt>
                <c:pt idx="9">
                  <c:v>1</c:v>
                </c:pt>
                <c:pt idx="10">
                  <c:v>0</c:v>
                </c:pt>
                <c:pt idx="11">
                  <c:v>0</c:v>
                </c:pt>
                <c:pt idx="12">
                  <c:v>1</c:v>
                </c:pt>
                <c:pt idx="13">
                  <c:v>1</c:v>
                </c:pt>
                <c:pt idx="14">
                  <c:v>0</c:v>
                </c:pt>
                <c:pt idx="15">
                  <c:v>0</c:v>
                </c:pt>
                <c:pt idx="16">
                  <c:v>1</c:v>
                </c:pt>
                <c:pt idx="17">
                  <c:v>1</c:v>
                </c:pt>
                <c:pt idx="18">
                  <c:v>0</c:v>
                </c:pt>
                <c:pt idx="19">
                  <c:v>0</c:v>
                </c:pt>
                <c:pt idx="20">
                  <c:v>1</c:v>
                </c:pt>
                <c:pt idx="21">
                  <c:v>1</c:v>
                </c:pt>
                <c:pt idx="22">
                  <c:v>0</c:v>
                </c:pt>
                <c:pt idx="23">
                  <c:v>0</c:v>
                </c:pt>
                <c:pt idx="24">
                  <c:v>1</c:v>
                </c:pt>
                <c:pt idx="25">
                  <c:v>1</c:v>
                </c:pt>
                <c:pt idx="26">
                  <c:v>0</c:v>
                </c:pt>
                <c:pt idx="27">
                  <c:v>0</c:v>
                </c:pt>
                <c:pt idx="28">
                  <c:v>1</c:v>
                </c:pt>
                <c:pt idx="29">
                  <c:v>1</c:v>
                </c:pt>
                <c:pt idx="30">
                  <c:v>0</c:v>
                </c:pt>
                <c:pt idx="31">
                  <c:v>0</c:v>
                </c:pt>
                <c:pt idx="32">
                  <c:v>1</c:v>
                </c:pt>
                <c:pt idx="33">
                  <c:v>1</c:v>
                </c:pt>
                <c:pt idx="34">
                  <c:v>1</c:v>
                </c:pt>
                <c:pt idx="35">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8"/>
          <c:min val="0"/>
        </c:scaling>
        <c:delete val="0"/>
        <c:axPos val="b"/>
        <c:majorGridlines>
          <c:spPr>
            <a:ln xmlns:a="http://schemas.openxmlformats.org/drawingml/2006/main" w="4763">
              <a:solidFill>
                <a:srgbClr val="35353C"/>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MOSI</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MOSI</c:v>
          </c:tx>
          <c:spPr>
            <a:ln xmlns:a="http://schemas.openxmlformats.org/drawingml/2006/main" w="28575">
              <a:solidFill>
                <a:srgbClr val="EDEDED"/>
              </a:solidFill>
              <a:prstDash val="solid"/>
            </a:ln>
          </c:spPr>
          <c:marker>
            <c:symbol val="none"/>
          </c:marker>
          <c:xVal>
            <c:numRef>
              <c:f>'Chart Data'!$A$2:$A$37</c:f>
              <c:numCache>
                <c:formatCode>General</c:formatCode>
                <c:ptCount val="36"/>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pt idx="24">
                  <c:v>12</c:v>
                </c:pt>
                <c:pt idx="25">
                  <c:v>13</c:v>
                </c:pt>
                <c:pt idx="26">
                  <c:v>13</c:v>
                </c:pt>
                <c:pt idx="27">
                  <c:v>14</c:v>
                </c:pt>
                <c:pt idx="28">
                  <c:v>14</c:v>
                </c:pt>
                <c:pt idx="29">
                  <c:v>15</c:v>
                </c:pt>
                <c:pt idx="30">
                  <c:v>15</c:v>
                </c:pt>
                <c:pt idx="31">
                  <c:v>16</c:v>
                </c:pt>
                <c:pt idx="32">
                  <c:v>16</c:v>
                </c:pt>
                <c:pt idx="33">
                  <c:v>17</c:v>
                </c:pt>
                <c:pt idx="34">
                  <c:v>17</c:v>
                </c:pt>
                <c:pt idx="35">
                  <c:v>18</c:v>
                </c:pt>
              </c:numCache>
            </c:numRef>
          </c:xVal>
          <c:yVal>
            <c:numRef>
              <c:f>'Chart Data'!$B$2:$B$37</c:f>
              <c:numCache>
                <c:formatCode>General</c:formatCode>
                <c:ptCount val="36"/>
                <c:pt idx="0">
                  <c:v>0</c:v>
                </c:pt>
                <c:pt idx="1">
                  <c:v>0</c:v>
                </c:pt>
                <c:pt idx="2">
                  <c:v>1</c:v>
                </c:pt>
                <c:pt idx="3">
                  <c:v>1</c:v>
                </c:pt>
                <c:pt idx="4">
                  <c:v>1</c:v>
                </c:pt>
                <c:pt idx="5">
                  <c:v>1</c:v>
                </c:pt>
                <c:pt idx="6">
                  <c:v>0</c:v>
                </c:pt>
                <c:pt idx="7">
                  <c:v>0</c:v>
                </c:pt>
                <c:pt idx="8">
                  <c:v>0</c:v>
                </c:pt>
                <c:pt idx="9">
                  <c:v>0</c:v>
                </c:pt>
                <c:pt idx="10">
                  <c:v>1</c:v>
                </c:pt>
                <c:pt idx="11">
                  <c:v>1</c:v>
                </c:pt>
                <c:pt idx="12">
                  <c:v>1</c:v>
                </c:pt>
                <c:pt idx="13">
                  <c:v>1</c:v>
                </c:pt>
                <c:pt idx="14">
                  <c:v>0</c:v>
                </c:pt>
                <c:pt idx="15">
                  <c:v>0</c:v>
                </c:pt>
                <c:pt idx="16">
                  <c:v>0</c:v>
                </c:pt>
                <c:pt idx="17">
                  <c:v>0</c:v>
                </c:pt>
                <c:pt idx="18">
                  <c:v>0</c:v>
                </c:pt>
                <c:pt idx="19">
                  <c:v>0</c:v>
                </c:pt>
                <c:pt idx="20">
                  <c:v>0</c:v>
                </c:pt>
                <c:pt idx="21">
                  <c:v>0</c:v>
                </c:pt>
                <c:pt idx="22">
                  <c:v>1</c:v>
                </c:pt>
                <c:pt idx="23">
                  <c:v>1</c:v>
                </c:pt>
                <c:pt idx="24">
                  <c:v>1</c:v>
                </c:pt>
                <c:pt idx="25">
                  <c:v>1</c:v>
                </c:pt>
                <c:pt idx="26">
                  <c:v>0</c:v>
                </c:pt>
                <c:pt idx="27">
                  <c:v>0</c:v>
                </c:pt>
                <c:pt idx="28">
                  <c:v>0</c:v>
                </c:pt>
                <c:pt idx="29">
                  <c:v>0</c:v>
                </c:pt>
                <c:pt idx="30">
                  <c:v>1</c:v>
                </c:pt>
                <c:pt idx="31">
                  <c:v>1</c:v>
                </c:pt>
                <c:pt idx="32">
                  <c:v>1</c:v>
                </c:pt>
                <c:pt idx="33">
                  <c:v>1</c:v>
                </c:pt>
                <c:pt idx="34">
                  <c:v>1</c:v>
                </c:pt>
                <c:pt idx="35">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8"/>
          <c:min val="0"/>
        </c:scaling>
        <c:delete val="0"/>
        <c:axPos val="b"/>
        <c:majorGridlines>
          <c:spPr>
            <a:ln xmlns:a="http://schemas.openxmlformats.org/drawingml/2006/main" w="4763">
              <a:solidFill>
                <a:srgbClr val="35353C"/>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MISO</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MISO</c:v>
          </c:tx>
          <c:spPr>
            <a:ln xmlns:a="http://schemas.openxmlformats.org/drawingml/2006/main" w="28575">
              <a:solidFill>
                <a:srgbClr val="EF9529"/>
              </a:solidFill>
              <a:prstDash val="solid"/>
            </a:ln>
          </c:spPr>
          <c:marker>
            <c:symbol val="none"/>
          </c:marker>
          <c:xVal>
            <c:numRef>
              <c:f>'Chart Data'!$A$2:$A$37</c:f>
              <c:numCache>
                <c:formatCode>General</c:formatCode>
                <c:ptCount val="36"/>
                <c:pt idx="0">
                  <c:v>0</c:v>
                </c:pt>
                <c:pt idx="1">
                  <c:v>1</c:v>
                </c:pt>
                <c:pt idx="2">
                  <c:v>1</c:v>
                </c:pt>
                <c:pt idx="3">
                  <c:v>2</c:v>
                </c:pt>
                <c:pt idx="4">
                  <c:v>2</c:v>
                </c:pt>
                <c:pt idx="5">
                  <c:v>3</c:v>
                </c:pt>
                <c:pt idx="6">
                  <c:v>3</c:v>
                </c:pt>
                <c:pt idx="7">
                  <c:v>4</c:v>
                </c:pt>
                <c:pt idx="8">
                  <c:v>4</c:v>
                </c:pt>
                <c:pt idx="9">
                  <c:v>5</c:v>
                </c:pt>
                <c:pt idx="10">
                  <c:v>5</c:v>
                </c:pt>
                <c:pt idx="11">
                  <c:v>6</c:v>
                </c:pt>
                <c:pt idx="12">
                  <c:v>6</c:v>
                </c:pt>
                <c:pt idx="13">
                  <c:v>7</c:v>
                </c:pt>
                <c:pt idx="14">
                  <c:v>7</c:v>
                </c:pt>
                <c:pt idx="15">
                  <c:v>8</c:v>
                </c:pt>
                <c:pt idx="16">
                  <c:v>8</c:v>
                </c:pt>
                <c:pt idx="17">
                  <c:v>9</c:v>
                </c:pt>
                <c:pt idx="18">
                  <c:v>9</c:v>
                </c:pt>
                <c:pt idx="19">
                  <c:v>10</c:v>
                </c:pt>
                <c:pt idx="20">
                  <c:v>10</c:v>
                </c:pt>
                <c:pt idx="21">
                  <c:v>11</c:v>
                </c:pt>
                <c:pt idx="22">
                  <c:v>11</c:v>
                </c:pt>
                <c:pt idx="23">
                  <c:v>12</c:v>
                </c:pt>
                <c:pt idx="24">
                  <c:v>12</c:v>
                </c:pt>
                <c:pt idx="25">
                  <c:v>13</c:v>
                </c:pt>
                <c:pt idx="26">
                  <c:v>13</c:v>
                </c:pt>
                <c:pt idx="27">
                  <c:v>14</c:v>
                </c:pt>
                <c:pt idx="28">
                  <c:v>14</c:v>
                </c:pt>
                <c:pt idx="29">
                  <c:v>15</c:v>
                </c:pt>
                <c:pt idx="30">
                  <c:v>15</c:v>
                </c:pt>
                <c:pt idx="31">
                  <c:v>16</c:v>
                </c:pt>
                <c:pt idx="32">
                  <c:v>16</c:v>
                </c:pt>
                <c:pt idx="33">
                  <c:v>17</c:v>
                </c:pt>
                <c:pt idx="34">
                  <c:v>17</c:v>
                </c:pt>
                <c:pt idx="35">
                  <c:v>18</c:v>
                </c:pt>
              </c:numCache>
            </c:numRef>
          </c:xVal>
          <c:yVal>
            <c:numRef>
              <c:f>'Chart Data'!$B$2:$B$37</c:f>
              <c:numCache>
                <c:formatCode>General</c:formatCode>
                <c:ptCount val="36"/>
                <c:pt idx="0">
                  <c:v>0</c:v>
                </c:pt>
                <c:pt idx="1">
                  <c:v>0</c:v>
                </c:pt>
                <c:pt idx="2">
                  <c:v>0</c:v>
                </c:pt>
                <c:pt idx="3">
                  <c:v>0</c:v>
                </c:pt>
                <c:pt idx="4">
                  <c:v>0</c:v>
                </c:pt>
                <c:pt idx="5">
                  <c:v>0</c:v>
                </c:pt>
                <c:pt idx="6">
                  <c:v>0</c:v>
                </c:pt>
                <c:pt idx="7">
                  <c:v>0</c:v>
                </c:pt>
                <c:pt idx="8">
                  <c:v>0</c:v>
                </c:pt>
                <c:pt idx="9">
                  <c:v>0</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0</c:v>
                </c:pt>
                <c:pt idx="27">
                  <c:v>0</c:v>
                </c:pt>
                <c:pt idx="28">
                  <c:v>0</c:v>
                </c:pt>
                <c:pt idx="29">
                  <c:v>0</c:v>
                </c:pt>
                <c:pt idx="30">
                  <c:v>0</c:v>
                </c:pt>
                <c:pt idx="31">
                  <c:v>0</c:v>
                </c:pt>
                <c:pt idx="32">
                  <c:v>0</c:v>
                </c:pt>
                <c:pt idx="33">
                  <c:v>0</c:v>
                </c:pt>
                <c:pt idx="34">
                  <c:v>0</c:v>
                </c:pt>
                <c:pt idx="35">
                  <c:v>0</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18"/>
          <c:min val="0"/>
        </c:scaling>
        <c:delete val="0"/>
        <c:axPos val="b"/>
        <c:majorGridlines>
          <c:spPr>
            <a:ln xmlns:a="http://schemas.openxmlformats.org/drawingml/2006/main" w="4763">
              <a:solidFill>
                <a:srgbClr val="35353C"/>
              </a:solidFill>
            </a:ln>
          </c:spPr>
        </c:majorGridlines>
        <c:title>
          <c:tx>
            <c:rich>
              <a:bodyPr xmlns:a="http://schemas.openxmlformats.org/drawingml/2006/main"/>
              <a:lstStyle xmlns:a="http://schemas.openxmlformats.org/drawingml/2006/main"/>
              <a:p xmlns:a="http://schemas.openxmlformats.org/drawingml/2006/main">
                <a:r>
                  <a:rPr sz="1350">
                    <a:solidFill>
                      <a:srgbClr val="9A9AA2"/>
                    </a:solidFill>
                    <a:latin typeface="Segoe UI"/>
                    <a:ea typeface="Segoe UI"/>
                    <a:cs typeface="Segoe UI"/>
                  </a:rPr>
                  <a:t>Half-bit slots</a:t>
                </a:r>
              </a:p>
            </c:rich>
          </c:tx>
          <c:overlay val="0"/>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title>
        <c:numFmt formatCode="General"/>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CS_n</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CS_n</c:v>
          </c:tx>
          <c:spPr>
            <a:ln xmlns:a="http://schemas.openxmlformats.org/drawingml/2006/main" w="28575">
              <a:solidFill>
                <a:srgbClr val="EF9529"/>
              </a:solidFill>
              <a:prstDash val="solid"/>
            </a:ln>
          </c:spPr>
          <c:marker>
            <c:symbol val="none"/>
          </c:marker>
          <c:xVal>
            <c:numRef>
              <c:f>'Chart Data'!$A$2:$A$11</c:f>
              <c:numCache>
                <c:formatCode>General</c:formatCode>
                <c:ptCount val="10"/>
                <c:pt idx="0">
                  <c:v>0</c:v>
                </c:pt>
                <c:pt idx="1">
                  <c:v>0.015</c:v>
                </c:pt>
                <c:pt idx="2">
                  <c:v>0.015</c:v>
                </c:pt>
                <c:pt idx="3">
                  <c:v>0.04</c:v>
                </c:pt>
                <c:pt idx="4">
                  <c:v>0.04</c:v>
                </c:pt>
                <c:pt idx="5">
                  <c:v>0.375</c:v>
                </c:pt>
                <c:pt idx="6">
                  <c:v>0.375</c:v>
                </c:pt>
                <c:pt idx="7">
                  <c:v>0.4</c:v>
                </c:pt>
                <c:pt idx="8">
                  <c:v>0.4</c:v>
                </c:pt>
                <c:pt idx="9">
                  <c:v>0.415</c:v>
                </c:pt>
              </c:numCache>
            </c:numRef>
          </c:xVal>
          <c:yVal>
            <c:numRef>
              <c:f>'Chart Data'!$B$2:$B$11</c:f>
              <c:numCache>
                <c:formatCode>General</c:formatCode>
                <c:ptCount val="10"/>
                <c:pt idx="0">
                  <c:v>0</c:v>
                </c:pt>
                <c:pt idx="1">
                  <c:v>0</c:v>
                </c:pt>
                <c:pt idx="2">
                  <c:v>1</c:v>
                </c:pt>
                <c:pt idx="3">
                  <c:v>1</c:v>
                </c:pt>
                <c:pt idx="4">
                  <c:v>0</c:v>
                </c:pt>
                <c:pt idx="5">
                  <c:v>0</c:v>
                </c:pt>
                <c:pt idx="6">
                  <c:v>1</c:v>
                </c:pt>
                <c:pt idx="7">
                  <c:v>1</c:v>
                </c:pt>
                <c:pt idx="8">
                  <c:v>0</c:v>
                </c:pt>
                <c:pt idx="9">
                  <c:v>0</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0.415"/>
          <c:min val="0"/>
        </c:scaling>
        <c:delete val="0"/>
        <c:axPos val="b"/>
        <c:majorGridlines>
          <c:spPr>
            <a:ln xmlns:a="http://schemas.openxmlformats.org/drawingml/2006/main" w="4763">
              <a:solidFill>
                <a:srgbClr val="35353C"/>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SCLK</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SCLK</c:v>
          </c:tx>
          <c:spPr>
            <a:ln xmlns:a="http://schemas.openxmlformats.org/drawingml/2006/main" w="28575">
              <a:solidFill>
                <a:srgbClr val="EDEDED"/>
              </a:solidFill>
              <a:prstDash val="solid"/>
            </a:ln>
          </c:spPr>
          <c:marker>
            <c:symbol val="none"/>
          </c:marker>
          <c:xVal>
            <c:numRef>
              <c:f>'Chart Data'!$A$2:$A$37</c:f>
              <c:numCache>
                <c:formatCode>General</c:formatCode>
                <c:ptCount val="36"/>
                <c:pt idx="0">
                  <c:v>0</c:v>
                </c:pt>
                <c:pt idx="1">
                  <c:v>0.015</c:v>
                </c:pt>
                <c:pt idx="2">
                  <c:v>0.015</c:v>
                </c:pt>
                <c:pt idx="3">
                  <c:v>0.075</c:v>
                </c:pt>
                <c:pt idx="4">
                  <c:v>0.075</c:v>
                </c:pt>
                <c:pt idx="5">
                  <c:v>0.095</c:v>
                </c:pt>
                <c:pt idx="6">
                  <c:v>0.095</c:v>
                </c:pt>
                <c:pt idx="7">
                  <c:v>0.115</c:v>
                </c:pt>
                <c:pt idx="8">
                  <c:v>0.115</c:v>
                </c:pt>
                <c:pt idx="9">
                  <c:v>0.135</c:v>
                </c:pt>
                <c:pt idx="10">
                  <c:v>0.135</c:v>
                </c:pt>
                <c:pt idx="11">
                  <c:v>0.155</c:v>
                </c:pt>
                <c:pt idx="12">
                  <c:v>0.155</c:v>
                </c:pt>
                <c:pt idx="13">
                  <c:v>0.175</c:v>
                </c:pt>
                <c:pt idx="14">
                  <c:v>0.175</c:v>
                </c:pt>
                <c:pt idx="15">
                  <c:v>0.195</c:v>
                </c:pt>
                <c:pt idx="16">
                  <c:v>0.195</c:v>
                </c:pt>
                <c:pt idx="17">
                  <c:v>0.215</c:v>
                </c:pt>
                <c:pt idx="18">
                  <c:v>0.215</c:v>
                </c:pt>
                <c:pt idx="19">
                  <c:v>0.235</c:v>
                </c:pt>
                <c:pt idx="20">
                  <c:v>0.235</c:v>
                </c:pt>
                <c:pt idx="21">
                  <c:v>0.255</c:v>
                </c:pt>
                <c:pt idx="22">
                  <c:v>0.255</c:v>
                </c:pt>
                <c:pt idx="23">
                  <c:v>0.275</c:v>
                </c:pt>
                <c:pt idx="24">
                  <c:v>0.275</c:v>
                </c:pt>
                <c:pt idx="25">
                  <c:v>0.295</c:v>
                </c:pt>
                <c:pt idx="26">
                  <c:v>0.295</c:v>
                </c:pt>
                <c:pt idx="27">
                  <c:v>0.315</c:v>
                </c:pt>
                <c:pt idx="28">
                  <c:v>0.315</c:v>
                </c:pt>
                <c:pt idx="29">
                  <c:v>0.335</c:v>
                </c:pt>
                <c:pt idx="30">
                  <c:v>0.335</c:v>
                </c:pt>
                <c:pt idx="31">
                  <c:v>0.355</c:v>
                </c:pt>
                <c:pt idx="32">
                  <c:v>0.355</c:v>
                </c:pt>
                <c:pt idx="33">
                  <c:v>0.375</c:v>
                </c:pt>
                <c:pt idx="34">
                  <c:v>0.375</c:v>
                </c:pt>
                <c:pt idx="35">
                  <c:v>0.415</c:v>
                </c:pt>
              </c:numCache>
            </c:numRef>
          </c:xVal>
          <c:yVal>
            <c:numRef>
              <c:f>'Chart Data'!$B$2:$B$37</c:f>
              <c:numCache>
                <c:formatCode>General</c:formatCode>
                <c:ptCount val="36"/>
                <c:pt idx="0">
                  <c:v>1</c:v>
                </c:pt>
                <c:pt idx="1">
                  <c:v>1</c:v>
                </c:pt>
                <c:pt idx="2">
                  <c:v>0</c:v>
                </c:pt>
                <c:pt idx="3">
                  <c:v>0</c:v>
                </c:pt>
                <c:pt idx="4">
                  <c:v>1</c:v>
                </c:pt>
                <c:pt idx="5">
                  <c:v>1</c:v>
                </c:pt>
                <c:pt idx="6">
                  <c:v>0</c:v>
                </c:pt>
                <c:pt idx="7">
                  <c:v>0</c:v>
                </c:pt>
                <c:pt idx="8">
                  <c:v>1</c:v>
                </c:pt>
                <c:pt idx="9">
                  <c:v>1</c:v>
                </c:pt>
                <c:pt idx="10">
                  <c:v>0</c:v>
                </c:pt>
                <c:pt idx="11">
                  <c:v>0</c:v>
                </c:pt>
                <c:pt idx="12">
                  <c:v>1</c:v>
                </c:pt>
                <c:pt idx="13">
                  <c:v>1</c:v>
                </c:pt>
                <c:pt idx="14">
                  <c:v>0</c:v>
                </c:pt>
                <c:pt idx="15">
                  <c:v>0</c:v>
                </c:pt>
                <c:pt idx="16">
                  <c:v>1</c:v>
                </c:pt>
                <c:pt idx="17">
                  <c:v>1</c:v>
                </c:pt>
                <c:pt idx="18">
                  <c:v>0</c:v>
                </c:pt>
                <c:pt idx="19">
                  <c:v>0</c:v>
                </c:pt>
                <c:pt idx="20">
                  <c:v>1</c:v>
                </c:pt>
                <c:pt idx="21">
                  <c:v>1</c:v>
                </c:pt>
                <c:pt idx="22">
                  <c:v>0</c:v>
                </c:pt>
                <c:pt idx="23">
                  <c:v>0</c:v>
                </c:pt>
                <c:pt idx="24">
                  <c:v>1</c:v>
                </c:pt>
                <c:pt idx="25">
                  <c:v>1</c:v>
                </c:pt>
                <c:pt idx="26">
                  <c:v>0</c:v>
                </c:pt>
                <c:pt idx="27">
                  <c:v>0</c:v>
                </c:pt>
                <c:pt idx="28">
                  <c:v>1</c:v>
                </c:pt>
                <c:pt idx="29">
                  <c:v>1</c:v>
                </c:pt>
                <c:pt idx="30">
                  <c:v>0</c:v>
                </c:pt>
                <c:pt idx="31">
                  <c:v>0</c:v>
                </c:pt>
                <c:pt idx="32">
                  <c:v>1</c:v>
                </c:pt>
                <c:pt idx="33">
                  <c:v>1</c:v>
                </c:pt>
                <c:pt idx="34">
                  <c:v>0</c:v>
                </c:pt>
                <c:pt idx="35">
                  <c:v>0</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0.415"/>
          <c:min val="0"/>
        </c:scaling>
        <c:delete val="0"/>
        <c:axPos val="b"/>
        <c:majorGridlines>
          <c:spPr>
            <a:ln xmlns:a="http://schemas.openxmlformats.org/drawingml/2006/main" w="4763">
              <a:solidFill>
                <a:srgbClr val="35353C"/>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MOSI</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MOSI</c:v>
          </c:tx>
          <c:spPr>
            <a:ln xmlns:a="http://schemas.openxmlformats.org/drawingml/2006/main" w="28575">
              <a:solidFill>
                <a:srgbClr val="EF9529"/>
              </a:solidFill>
              <a:prstDash val="solid"/>
            </a:ln>
          </c:spPr>
          <c:marker>
            <c:symbol val="none"/>
          </c:marker>
          <c:xVal>
            <c:numRef>
              <c:f>'Chart Data'!$A$2:$A$17</c:f>
              <c:numCache>
                <c:formatCode>General</c:formatCode>
                <c:ptCount val="16"/>
                <c:pt idx="0">
                  <c:v>0</c:v>
                </c:pt>
                <c:pt idx="1">
                  <c:v>0.015</c:v>
                </c:pt>
                <c:pt idx="2">
                  <c:v>0.015</c:v>
                </c:pt>
                <c:pt idx="3">
                  <c:v>0.095</c:v>
                </c:pt>
                <c:pt idx="4">
                  <c:v>0.095</c:v>
                </c:pt>
                <c:pt idx="5">
                  <c:v>0.135</c:v>
                </c:pt>
                <c:pt idx="6">
                  <c:v>0.135</c:v>
                </c:pt>
                <c:pt idx="7">
                  <c:v>0.175</c:v>
                </c:pt>
                <c:pt idx="8">
                  <c:v>0.175</c:v>
                </c:pt>
                <c:pt idx="9">
                  <c:v>0.255</c:v>
                </c:pt>
                <c:pt idx="10">
                  <c:v>0.255</c:v>
                </c:pt>
                <c:pt idx="11">
                  <c:v>0.295</c:v>
                </c:pt>
                <c:pt idx="12">
                  <c:v>0.295</c:v>
                </c:pt>
                <c:pt idx="13">
                  <c:v>0.335</c:v>
                </c:pt>
                <c:pt idx="14">
                  <c:v>0.335</c:v>
                </c:pt>
                <c:pt idx="15">
                  <c:v>0.415</c:v>
                </c:pt>
              </c:numCache>
            </c:numRef>
          </c:xVal>
          <c:yVal>
            <c:numRef>
              <c:f>'Chart Data'!$B$2:$B$17</c:f>
              <c:numCache>
                <c:formatCode>General</c:formatCode>
                <c:ptCount val="16"/>
                <c:pt idx="0">
                  <c:v>0</c:v>
                </c:pt>
                <c:pt idx="1">
                  <c:v>0</c:v>
                </c:pt>
                <c:pt idx="2">
                  <c:v>1</c:v>
                </c:pt>
                <c:pt idx="3">
                  <c:v>1</c:v>
                </c:pt>
                <c:pt idx="4">
                  <c:v>0</c:v>
                </c:pt>
                <c:pt idx="5">
                  <c:v>0</c:v>
                </c:pt>
                <c:pt idx="6">
                  <c:v>1</c:v>
                </c:pt>
                <c:pt idx="7">
                  <c:v>1</c:v>
                </c:pt>
                <c:pt idx="8">
                  <c:v>0</c:v>
                </c:pt>
                <c:pt idx="9">
                  <c:v>0</c:v>
                </c:pt>
                <c:pt idx="10">
                  <c:v>1</c:v>
                </c:pt>
                <c:pt idx="11">
                  <c:v>1</c:v>
                </c:pt>
                <c:pt idx="12">
                  <c:v>0</c:v>
                </c:pt>
                <c:pt idx="13">
                  <c:v>0</c:v>
                </c:pt>
                <c:pt idx="14">
                  <c:v>1</c:v>
                </c:pt>
                <c:pt idx="15">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0.415"/>
          <c:min val="0"/>
        </c:scaling>
        <c:delete val="0"/>
        <c:axPos val="b"/>
        <c:majorGridlines>
          <c:spPr>
            <a:ln xmlns:a="http://schemas.openxmlformats.org/drawingml/2006/main" w="4763">
              <a:solidFill>
                <a:srgbClr val="35353C"/>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EDEDED"/>
                </a:solidFill>
                <a:latin typeface="Consolas"/>
                <a:ea typeface="Consolas"/>
                <a:cs typeface="Consolas"/>
              </a:rPr>
              <a:t>MISO</a:t>
            </a:r>
          </a:p>
        </c:rich>
      </c:tx>
      <c:overlay val="0"/>
      <c:txPr>
        <a:bodyPr xmlns:a="http://schemas.openxmlformats.org/drawingml/2006/main" anchorCtr="1"/>
        <a:lstStyle xmlns:a="http://schemas.openxmlformats.org/drawingml/2006/main"/>
        <a:p xmlns:a="http://schemas.openxmlformats.org/drawingml/2006/main">
          <a:pPr>
            <a:defRPr sz="1500">
              <a:solidFill>
                <a:srgbClr val="EDEDED"/>
              </a:solidFill>
              <a:latin typeface="Consolas"/>
              <a:ea typeface="Consolas"/>
              <a:cs typeface="Consolas"/>
            </a:defRPr>
          </a:pPr>
        </a:p>
      </c:txPr>
    </c:title>
    <c:plotArea>
      <c:scatterChart>
        <c:scatterStyle val="line"/>
        <c:ser>
          <c:idx val="0"/>
          <c:order val="0"/>
          <c:tx>
            <c:v>MISO</c:v>
          </c:tx>
          <c:spPr>
            <a:ln xmlns:a="http://schemas.openxmlformats.org/drawingml/2006/main" w="28575">
              <a:solidFill>
                <a:srgbClr val="EDEDED"/>
              </a:solidFill>
              <a:prstDash val="solid"/>
            </a:ln>
          </c:spPr>
          <c:marker>
            <c:symbol val="none"/>
          </c:marker>
          <c:xVal>
            <c:numRef>
              <c:f>'Chart Data'!$A$2:$A$17</c:f>
              <c:numCache>
                <c:formatCode>General</c:formatCode>
                <c:ptCount val="16"/>
                <c:pt idx="0">
                  <c:v>0</c:v>
                </c:pt>
                <c:pt idx="1">
                  <c:v>0.04</c:v>
                </c:pt>
                <c:pt idx="2">
                  <c:v>0.04</c:v>
                </c:pt>
                <c:pt idx="3">
                  <c:v>0.095</c:v>
                </c:pt>
                <c:pt idx="4">
                  <c:v>0.095</c:v>
                </c:pt>
                <c:pt idx="5">
                  <c:v>0.135</c:v>
                </c:pt>
                <c:pt idx="6">
                  <c:v>0.135</c:v>
                </c:pt>
                <c:pt idx="7">
                  <c:v>0.175</c:v>
                </c:pt>
                <c:pt idx="8">
                  <c:v>0.175</c:v>
                </c:pt>
                <c:pt idx="9">
                  <c:v>0.255</c:v>
                </c:pt>
                <c:pt idx="10">
                  <c:v>0.255</c:v>
                </c:pt>
                <c:pt idx="11">
                  <c:v>0.295</c:v>
                </c:pt>
                <c:pt idx="12">
                  <c:v>0.295</c:v>
                </c:pt>
                <c:pt idx="13">
                  <c:v>0.335</c:v>
                </c:pt>
                <c:pt idx="14">
                  <c:v>0.335</c:v>
                </c:pt>
                <c:pt idx="15">
                  <c:v>0.415</c:v>
                </c:pt>
              </c:numCache>
            </c:numRef>
          </c:xVal>
          <c:yVal>
            <c:numRef>
              <c:f>'Chart Data'!$B$2:$B$17</c:f>
              <c:numCache>
                <c:formatCode>General</c:formatCode>
                <c:ptCount val="16"/>
                <c:pt idx="0">
                  <c:v>1</c:v>
                </c:pt>
                <c:pt idx="1">
                  <c:v>1</c:v>
                </c:pt>
                <c:pt idx="2">
                  <c:v>0</c:v>
                </c:pt>
                <c:pt idx="3">
                  <c:v>0</c:v>
                </c:pt>
                <c:pt idx="4">
                  <c:v>1</c:v>
                </c:pt>
                <c:pt idx="5">
                  <c:v>1</c:v>
                </c:pt>
                <c:pt idx="6">
                  <c:v>0</c:v>
                </c:pt>
                <c:pt idx="7">
                  <c:v>0</c:v>
                </c:pt>
                <c:pt idx="8">
                  <c:v>1</c:v>
                </c:pt>
                <c:pt idx="9">
                  <c:v>1</c:v>
                </c:pt>
                <c:pt idx="10">
                  <c:v>0</c:v>
                </c:pt>
                <c:pt idx="11">
                  <c:v>0</c:v>
                </c:pt>
                <c:pt idx="12">
                  <c:v>1</c:v>
                </c:pt>
                <c:pt idx="13">
                  <c:v>1</c:v>
                </c:pt>
                <c:pt idx="14">
                  <c:v>0</c:v>
                </c:pt>
                <c:pt idx="15">
                  <c:v>0</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50112"/>
        <c:majorUnit val="1"/>
      </c:valAx>
      <c:valAx>
        <c:axId val="48650112"/>
        <c:scaling>
          <c:orientation val="minMax"/>
          <c:max val="0.415"/>
          <c:min val="0"/>
        </c:scaling>
        <c:delete val="0"/>
        <c:axPos val="b"/>
        <c:majorGridlines>
          <c:spPr>
            <a:ln xmlns:a="http://schemas.openxmlformats.org/drawingml/2006/main" w="4763">
              <a:solidFill>
                <a:srgbClr val="35353C"/>
              </a:solidFill>
            </a:ln>
          </c:spPr>
        </c:majorGridlines>
        <c:title>
          <c:tx>
            <c:rich>
              <a:bodyPr xmlns:a="http://schemas.openxmlformats.org/drawingml/2006/main"/>
              <a:lstStyle xmlns:a="http://schemas.openxmlformats.org/drawingml/2006/main"/>
              <a:p xmlns:a="http://schemas.openxmlformats.org/drawingml/2006/main">
                <a:r>
                  <a:rPr sz="1350">
                    <a:solidFill>
                      <a:srgbClr val="9A9AA2"/>
                    </a:solidFill>
                    <a:latin typeface="Segoe UI"/>
                    <a:ea typeface="Segoe UI"/>
                    <a:cs typeface="Segoe UI"/>
                  </a:rPr>
                  <a:t>Time from crop start (us)</a:t>
                </a:r>
              </a:p>
            </c:rich>
          </c:tx>
          <c:overlay val="0"/>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title>
        <c:numFmt formatCode="General"/>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9A9AA2"/>
                </a:solidFill>
                <a:latin typeface="Segoe UI"/>
                <a:ea typeface="Segoe UI"/>
                <a:cs typeface="Segoe UI"/>
              </a:defRPr>
            </a:pPr>
          </a:p>
        </c:txPr>
        <c:crossAx val="48672768"/>
      </c:valAx>
      <c:spPr>
        <a:solidFill xmlns:a="http://schemas.openxmlformats.org/drawingml/2006/main">
          <a:srgbClr val="0B0B0C"/>
        </a:solidFill>
        <a:ln xmlns:a="http://schemas.openxmlformats.org/drawingml/2006/main" w="0">
          <a:noFill/>
        </a:ln>
      </c:spPr>
    </c:plotArea>
    <c:plotVisOnly val="1"/>
  </c:chart>
  <c:spPr>
    <a:solidFill xmlns:a="http://schemas.openxmlformats.org/drawingml/2006/main">
      <a:srgbClr val="0B0B0C"/>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01/44</a:t>
            </a:r>
          </a:p>
        </p:txBody>
      </p:sp>
      <p:sp>
        <p:nvSpPr>
          <p:cNvPr id="7" name="lesson-title">
            <a:extLst xmlns:a="http://schemas.openxmlformats.org/drawingml/2006/main">
              <a:ext uri="{FF2B5EF4-FFF2-40B4-BE49-F238E27FC236}">
                <a16:creationId xmlns:a16="http://schemas.microsoft.com/office/drawing/2014/main" id="{961D704E-0EBA-4E09-96E9-5293471E4003}"/>
              </a:ext>
            </a:extLst>
          </p:cNvPr>
          <p:cNvSpPr>
            <a:spLocks xmlns:a="http://schemas.openxmlformats.org/drawingml/2006/main" noGrp="1"/>
          </p:cNvSpPr>
          <p:nvPr/>
        </p:nvSpPr>
        <p:spPr>
          <a:xfrm xmlns:a="http://schemas.openxmlformats.org/drawingml/2006/main">
            <a:off x="609600" y="14287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EDEDED"/>
                </a:solidFill>
                <a:latin typeface="Segoe UI"/>
                <a:ea typeface="Segoe UI"/>
                <a:cs typeface="Segoe UI"/>
              </a:defRPr>
            </a:pPr>
            <a:r>
              <a:rPr sz="4050" b="1">
                <a:solidFill>
                  <a:srgbClr val="EDEDED"/>
                </a:solidFill>
                <a:latin typeface="Segoe UI"/>
                <a:ea typeface="Segoe UI"/>
                <a:cs typeface="Segoe UI"/>
              </a:rPr>
              <a:t>SPI protocol and ASIC build</a:t>
            </a:r>
          </a:p>
        </p:txBody>
      </p:sp>
      <p:sp>
        <p:nvSpPr>
          <p:cNvPr id="8" name="cover-summary-0">
            <a:extLst xmlns:a="http://schemas.openxmlformats.org/drawingml/2006/main">
              <a:ext uri="{FF2B5EF4-FFF2-40B4-BE49-F238E27FC236}">
                <a16:creationId xmlns:a16="http://schemas.microsoft.com/office/drawing/2014/main" id="{C894363A-5C33-492A-B2F3-53A64BFA707D}"/>
              </a:ext>
            </a:extLst>
          </p:cNvPr>
          <p:cNvSpPr>
            <a:spLocks xmlns:a="http://schemas.openxmlformats.org/drawingml/2006/main" noGrp="1"/>
          </p:cNvSpPr>
          <p:nvPr/>
        </p:nvSpPr>
        <p:spPr>
          <a:xfrm xmlns:a="http://schemas.openxmlformats.org/drawingml/2006/main">
            <a:off x="647700" y="27241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A student lesson on clocked serial transfers</a:t>
            </a:r>
          </a:p>
        </p:txBody>
      </p:sp>
      <p:sp>
        <p:nvSpPr>
          <p:cNvPr id="9" name="cover-summary-1">
            <a:extLst xmlns:a="http://schemas.openxmlformats.org/drawingml/2006/main">
              <a:ext uri="{FF2B5EF4-FFF2-40B4-BE49-F238E27FC236}">
                <a16:creationId xmlns:a16="http://schemas.microsoft.com/office/drawing/2014/main" id="{2FD8204B-6C5D-490E-BE87-59FC8668B99D}"/>
              </a:ext>
            </a:extLst>
          </p:cNvPr>
          <p:cNvSpPr>
            <a:spLocks xmlns:a="http://schemas.openxmlformats.org/drawingml/2006/main" noGrp="1"/>
          </p:cNvSpPr>
          <p:nvPr/>
        </p:nvSpPr>
        <p:spPr>
          <a:xfrm xmlns:a="http://schemas.openxmlformats.org/drawingml/2006/main">
            <a:off x="647700" y="335280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9A9AA2"/>
                </a:solidFill>
                <a:latin typeface="Segoe UI"/>
                <a:ea typeface="Segoe UI"/>
                <a:cs typeface="Segoe UI"/>
              </a:defRPr>
            </a:pPr>
            <a:r>
              <a:rPr sz="2175" b="0">
                <a:solidFill>
                  <a:srgbClr val="9A9AA2"/>
                </a:solidFill>
                <a:latin typeface="Segoe UI"/>
                <a:ea typeface="Segoe UI"/>
                <a:cs typeface="Segoe UI"/>
              </a:rPr>
              <a:t>Clock modes, byte interfaces, verification and routed GDS</a:t>
            </a:r>
          </a:p>
        </p:txBody>
      </p:sp>
      <p:sp>
        <p:nvSpPr>
          <p:cNvPr id="10" name="author">
            <a:extLst xmlns:a="http://schemas.openxmlformats.org/drawingml/2006/main">
              <a:ext uri="{FF2B5EF4-FFF2-40B4-BE49-F238E27FC236}">
                <a16:creationId xmlns:a16="http://schemas.microsoft.com/office/drawing/2014/main" id="{6CC6E926-5486-4279-8529-470B6E0007B7}"/>
              </a:ext>
            </a:extLst>
          </p:cNvPr>
          <p:cNvSpPr>
            <a:spLocks xmlns:a="http://schemas.openxmlformats.org/drawingml/2006/main" noGrp="1"/>
          </p:cNvSpPr>
          <p:nvPr/>
        </p:nvSpPr>
        <p:spPr>
          <a:xfrm xmlns:a="http://schemas.openxmlformats.org/drawingml/2006/main">
            <a:off x="647700" y="520065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9A9AA2"/>
                </a:solidFill>
                <a:latin typeface="Segoe UI"/>
                <a:ea typeface="Segoe UI"/>
                <a:cs typeface="Segoe UI"/>
              </a:defRPr>
            </a:pPr>
            <a:r>
              <a:rPr sz="1650" b="0">
                <a:solidFill>
                  <a:srgbClr val="9A9AA2"/>
                </a:solidFill>
                <a:latin typeface="Segoe UI"/>
                <a:ea typeface="Segoe UI"/>
                <a:cs typeface="Segoe UI"/>
              </a:rPr>
              <a:t>IGNYTION_TECH    October 2026</a:t>
            </a:r>
          </a:p>
        </p:txBody>
      </p:sp>
      <p:sp>
        <p:nvSpPr>
          <p:cNvPr id="11" name="scope">
            <a:extLst xmlns:a="http://schemas.openxmlformats.org/drawingml/2006/main">
              <a:ext uri="{FF2B5EF4-FFF2-40B4-BE49-F238E27FC236}">
                <a16:creationId xmlns:a16="http://schemas.microsoft.com/office/drawing/2014/main" id="{D76FA6A1-B432-4CCF-836A-7EB2529849DB}"/>
              </a:ext>
            </a:extLst>
          </p:cNvPr>
          <p:cNvSpPr>
            <a:spLocks xmlns:a="http://schemas.openxmlformats.org/drawingml/2006/main" noGrp="1"/>
          </p:cNvSpPr>
          <p:nvPr/>
        </p:nvSpPr>
        <p:spPr>
          <a:xfrm xmlns:a="http://schemas.openxmlformats.org/drawingml/2006/main">
            <a:off x="647700" y="56578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9A9AA2"/>
                </a:solidFill>
                <a:latin typeface="Segoe UI"/>
                <a:ea typeface="Segoe UI"/>
                <a:cs typeface="Segoe UI"/>
              </a:defRPr>
            </a:pPr>
            <a:r>
              <a:rPr sz="1575" b="0">
                <a:solidFill>
                  <a:srgbClr val="9A9AA2"/>
                </a:solidFill>
                <a:latin typeface="Segoe UI"/>
                <a:ea typeface="Segoe UI"/>
                <a:cs typeface="Segoe UI"/>
              </a:rPr>
              <a:t>Reference build. Foundry DRC/LVS and full-chip signoff are unperformed.</a:t>
            </a:r>
          </a:p>
        </p:txBody>
      </p:sp>
    </p:spTree>
    <p:extLst>
      <p:ext uri="{BB962C8B-B14F-4D97-AF65-F5344CB8AC3E}">
        <p14:creationId xmlns:p14="http://schemas.microsoft.com/office/powerpoint/2010/main" val="76044829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02/44</a:t>
            </a:r>
          </a:p>
        </p:txBody>
      </p:sp>
      <p:sp>
        <p:nvSpPr>
          <p:cNvPr id="7" name="lesson-title">
            <a:extLst xmlns:a="http://schemas.openxmlformats.org/drawingml/2006/main">
              <a:ext uri="{FF2B5EF4-FFF2-40B4-BE49-F238E27FC236}">
                <a16:creationId xmlns:a16="http://schemas.microsoft.com/office/drawing/2014/main" id="{8E32A48C-0585-4C3D-8662-E59A47378D0A}"/>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SPI communication rules</a:t>
            </a:r>
          </a:p>
        </p:txBody>
      </p:sp>
      <p:sp>
        <p:nvSpPr>
          <p:cNvPr id="8" name="explanation-0">
            <a:extLst xmlns:a="http://schemas.openxmlformats.org/drawingml/2006/main">
              <a:ext uri="{FF2B5EF4-FFF2-40B4-BE49-F238E27FC236}">
                <a16:creationId xmlns:a16="http://schemas.microsoft.com/office/drawing/2014/main" id="{C65E60FF-5F36-431D-8513-59669B70DE3A}"/>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A controller supplies the clock and selects a peripheral.</a:t>
            </a:r>
          </a:p>
        </p:txBody>
      </p:sp>
      <p:sp>
        <p:nvSpPr>
          <p:cNvPr id="9" name="explanation-1">
            <a:extLst xmlns:a="http://schemas.openxmlformats.org/drawingml/2006/main">
              <a:ext uri="{FF2B5EF4-FFF2-40B4-BE49-F238E27FC236}">
                <a16:creationId xmlns:a16="http://schemas.microsoft.com/office/drawing/2014/main" id="{CC297482-E743-4523-8CCD-6E0D8EC9E856}"/>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Both directions can shift data during the same clock cycles.</a:t>
            </a:r>
          </a:p>
        </p:txBody>
      </p:sp>
      <p:sp>
        <p:nvSpPr>
          <p:cNvPr id="10" name="explanation-2">
            <a:extLst xmlns:a="http://schemas.openxmlformats.org/drawingml/2006/main">
              <a:ext uri="{FF2B5EF4-FFF2-40B4-BE49-F238E27FC236}">
                <a16:creationId xmlns:a16="http://schemas.microsoft.com/office/drawing/2014/main" id="{D17CD113-050E-4F8A-91B1-E5560E5F7B5A}"/>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peripheral datasheet defines commands and transaction length.</a:t>
            </a:r>
          </a:p>
        </p:txBody>
      </p:sp>
    </p:spTree>
    <p:extLst>
      <p:ext uri="{BB962C8B-B14F-4D97-AF65-F5344CB8AC3E}">
        <p14:creationId xmlns:p14="http://schemas.microsoft.com/office/powerpoint/2010/main" val="76044829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03/44</a:t>
            </a:r>
          </a:p>
        </p:txBody>
      </p:sp>
      <p:sp>
        <p:nvSpPr>
          <p:cNvPr id="7" name="lesson-title">
            <a:extLst xmlns:a="http://schemas.openxmlformats.org/drawingml/2006/main">
              <a:ext uri="{FF2B5EF4-FFF2-40B4-BE49-F238E27FC236}">
                <a16:creationId xmlns:a16="http://schemas.microsoft.com/office/drawing/2014/main" id="{52462CB7-C486-4692-8249-AC9E7228A951}"/>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The interface wires</a:t>
            </a:r>
          </a:p>
        </p:txBody>
      </p:sp>
      <p:sp>
        <p:nvSpPr>
          <p:cNvPr id="8" name="explanation-0">
            <a:extLst xmlns:a="http://schemas.openxmlformats.org/drawingml/2006/main">
              <a:ext uri="{FF2B5EF4-FFF2-40B4-BE49-F238E27FC236}">
                <a16:creationId xmlns:a16="http://schemas.microsoft.com/office/drawing/2014/main" id="{6F4C2488-B39E-4A1C-9C65-96A8EDE4C3A9}"/>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SCLK is the serial clock. CS_n selects this peripheral.</a:t>
            </a:r>
          </a:p>
        </p:txBody>
      </p:sp>
      <p:sp>
        <p:nvSpPr>
          <p:cNvPr id="9" name="explanation-1">
            <a:extLst xmlns:a="http://schemas.openxmlformats.org/drawingml/2006/main">
              <a:ext uri="{FF2B5EF4-FFF2-40B4-BE49-F238E27FC236}">
                <a16:creationId xmlns:a16="http://schemas.microsoft.com/office/drawing/2014/main" id="{D26AB9D0-3A5A-460A-9706-69D5AFB826B6}"/>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MOSI carries controller output. MISO carries peripheral output.</a:t>
            </a:r>
          </a:p>
        </p:txBody>
      </p:sp>
      <p:sp>
        <p:nvSpPr>
          <p:cNvPr id="10" name="explanation-2">
            <a:extLst xmlns:a="http://schemas.openxmlformats.org/drawingml/2006/main">
              <a:ext uri="{FF2B5EF4-FFF2-40B4-BE49-F238E27FC236}">
                <a16:creationId xmlns:a16="http://schemas.microsoft.com/office/drawing/2014/main" id="{596CF5A3-07E7-4A20-AB31-3D7BB74770B4}"/>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Voltage compatibility and a shared ground are still required.</a:t>
            </a:r>
          </a:p>
        </p:txBody>
      </p:sp>
      <p:graphicFrame>
        <p:nvGraphicFramePr>
          <p:cNvPr id="21" name=""/>
          <p:cNvGraphicFramePr/>
          <p:nvPr/>
        </p:nvGraphicFramePr>
        <p:xfrm>
          <a:off xmlns:a="http://schemas.openxmlformats.org/drawingml/2006/main" x="609600" y="2914650"/>
          <a:ext xmlns:a="http://schemas.openxmlformats.org/drawingml/2006/main" cx="10972800" cy="3238500"/>
        </p:xfrm>
        <a:graphic xmlns:a="http://schemas.openxmlformats.org/drawingml/2006/main">
          <a:graphicData uri="http://schemas.openxmlformats.org/drawingml/2006/table">
            <a:tbl>
              <a:tblPr/>
              <a:tblGrid>
                <a:gridCol w="3657600"/>
                <a:gridCol w="3657600"/>
                <a:gridCol w="3657600"/>
              </a:tblGrid>
              <a:tr h="647700">
                <a:tc>
                  <a:txBody>
                    <a:bodyPr>
                      <a:noAutofit/>
                    </a:bodyPr>
                    <a:lstStyle/>
                    <a:p>
                      <a:r>
                        <a:rPr sz="1650" b="1">
                          <a:solidFill>
                            <a:srgbClr val="EF9529"/>
                          </a:solidFill>
                          <a:latin typeface="Segoe UI"/>
                          <a:ea typeface="Segoe UI"/>
                          <a:cs typeface="Segoe UI"/>
                        </a:rPr>
                        <a:t>Wire</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Driver</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Receiver</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SCLK</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Controller</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Peripheral</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MOSI</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Controller</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Peripheral</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MISO</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Selected peripheral</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Controller</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CS_n</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Controller</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Peripheral select</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76044829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04/44</a:t>
            </a:r>
          </a:p>
        </p:txBody>
      </p:sp>
      <p:sp>
        <p:nvSpPr>
          <p:cNvPr id="7" name="lesson-title">
            <a:extLst xmlns:a="http://schemas.openxmlformats.org/drawingml/2006/main">
              <a:ext uri="{FF2B5EF4-FFF2-40B4-BE49-F238E27FC236}">
                <a16:creationId xmlns:a16="http://schemas.microsoft.com/office/drawing/2014/main" id="{4038E7B7-3FA2-4BCA-824C-264A7A089A39}"/>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Full-duplex shifting</a:t>
            </a:r>
          </a:p>
        </p:txBody>
      </p:sp>
      <p:sp>
        <p:nvSpPr>
          <p:cNvPr id="8" name="explanation-0">
            <a:extLst xmlns:a="http://schemas.openxmlformats.org/drawingml/2006/main">
              <a:ext uri="{FF2B5EF4-FFF2-40B4-BE49-F238E27FC236}">
                <a16:creationId xmlns:a16="http://schemas.microsoft.com/office/drawing/2014/main" id="{EB471FA9-C125-4912-9D53-2E6CA24099B3}"/>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Each clock cycle can exchange one bit in both directions.</a:t>
            </a:r>
          </a:p>
        </p:txBody>
      </p:sp>
      <p:sp>
        <p:nvSpPr>
          <p:cNvPr id="9" name="explanation-1">
            <a:extLst xmlns:a="http://schemas.openxmlformats.org/drawingml/2006/main">
              <a:ext uri="{FF2B5EF4-FFF2-40B4-BE49-F238E27FC236}">
                <a16:creationId xmlns:a16="http://schemas.microsoft.com/office/drawing/2014/main" id="{FD209D19-8778-44BB-A5E3-5599F60B31FE}"/>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Transmit and receive bytes may contain entirely different values.</a:t>
            </a:r>
          </a:p>
        </p:txBody>
      </p:sp>
      <p:sp>
        <p:nvSpPr>
          <p:cNvPr id="10" name="explanation-2">
            <a:extLst xmlns:a="http://schemas.openxmlformats.org/drawingml/2006/main">
              <a:ext uri="{FF2B5EF4-FFF2-40B4-BE49-F238E27FC236}">
                <a16:creationId xmlns:a16="http://schemas.microsoft.com/office/drawing/2014/main" id="{F23936B6-A747-41DF-AB7C-0310CB616AC5}"/>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Some devices require dummy transmit bytes to clock out a response.</a:t>
            </a:r>
          </a:p>
        </p:txBody>
      </p:sp>
    </p:spTree>
    <p:extLst>
      <p:ext uri="{BB962C8B-B14F-4D97-AF65-F5344CB8AC3E}">
        <p14:creationId xmlns:p14="http://schemas.microsoft.com/office/powerpoint/2010/main" val="76044829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05/44</a:t>
            </a:r>
          </a:p>
        </p:txBody>
      </p:sp>
      <p:sp>
        <p:nvSpPr>
          <p:cNvPr id="7" name="lesson-title">
            <a:extLst xmlns:a="http://schemas.openxmlformats.org/drawingml/2006/main">
              <a:ext uri="{FF2B5EF4-FFF2-40B4-BE49-F238E27FC236}">
                <a16:creationId xmlns:a16="http://schemas.microsoft.com/office/drawing/2014/main" id="{CC0D2685-3935-4624-93B4-A5E4A013EF22}"/>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Full-duplex shift: worked receive register</a:t>
            </a:r>
          </a:p>
        </p:txBody>
      </p:sp>
      <p:sp>
        <p:nvSpPr>
          <p:cNvPr id="8" name="explanation-0">
            <a:extLst xmlns:a="http://schemas.openxmlformats.org/drawingml/2006/main">
              <a:ext uri="{FF2B5EF4-FFF2-40B4-BE49-F238E27FC236}">
                <a16:creationId xmlns:a16="http://schemas.microsoft.com/office/drawing/2014/main" id="{2B790370-F06A-47FD-AAA8-4505A305540C}"/>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MOSI sends A5 while MISO sends 3C in the same eight clock periods.</a:t>
            </a:r>
          </a:p>
        </p:txBody>
      </p:sp>
      <p:sp>
        <p:nvSpPr>
          <p:cNvPr id="9" name="explanation-1">
            <a:extLst xmlns:a="http://schemas.openxmlformats.org/drawingml/2006/main">
              <a:ext uri="{FF2B5EF4-FFF2-40B4-BE49-F238E27FC236}">
                <a16:creationId xmlns:a16="http://schemas.microsoft.com/office/drawing/2014/main" id="{119E1B1D-2275-4FC8-9F30-4DBC02E2BFD6}"/>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Incoming MISO bits are 0 0 1 1 1 1 0 0.</a:t>
            </a:r>
          </a:p>
        </p:txBody>
      </p:sp>
      <p:graphicFrame>
        <p:nvGraphicFramePr>
          <p:cNvPr id="19" name=""/>
          <p:cNvGraphicFramePr/>
          <p:nvPr/>
        </p:nvGraphicFramePr>
        <p:xfrm>
          <a:off xmlns:a="http://schemas.openxmlformats.org/drawingml/2006/main" x="609600" y="2914650"/>
          <a:ext xmlns:a="http://schemas.openxmlformats.org/drawingml/2006/main" cx="10972800" cy="3238500"/>
        </p:xfrm>
        <a:graphic xmlns:a="http://schemas.openxmlformats.org/drawingml/2006/main">
          <a:graphicData uri="http://schemas.openxmlformats.org/drawingml/2006/table">
            <a:tbl>
              <a:tblPr/>
              <a:tblGrid>
                <a:gridCol w="3333750"/>
                <a:gridCol w="7639050"/>
              </a:tblGrid>
              <a:tr h="647700">
                <a:tc>
                  <a:txBody>
                    <a:bodyPr>
                      <a:noAutofit/>
                    </a:bodyPr>
                    <a:lstStyle/>
                    <a:p>
                      <a:r>
                        <a:rPr sz="1650" b="1">
                          <a:solidFill>
                            <a:srgbClr val="EF9529"/>
                          </a:solidFill>
                          <a:latin typeface="Segoe UI"/>
                          <a:ea typeface="Segoe UI"/>
                          <a:cs typeface="Segoe UI"/>
                        </a:rPr>
                        <a:t>Samples consumed</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RX accumulated</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0 0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00</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0 0 1 1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03</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0 0 1 1 1 1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0F</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0 0 1 1 1 1 0 0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3C</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76044829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06/44</a:t>
            </a:r>
          </a:p>
        </p:txBody>
      </p:sp>
      <p:sp>
        <p:nvSpPr>
          <p:cNvPr id="7" name="lesson-title">
            <a:extLst xmlns:a="http://schemas.openxmlformats.org/drawingml/2006/main">
              <a:ext uri="{FF2B5EF4-FFF2-40B4-BE49-F238E27FC236}">
                <a16:creationId xmlns:a16="http://schemas.microsoft.com/office/drawing/2014/main" id="{26A80065-E75E-4B75-B91F-A40C2966CDD3}"/>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Clock polarity</a:t>
            </a:r>
          </a:p>
        </p:txBody>
      </p:sp>
      <p:sp>
        <p:nvSpPr>
          <p:cNvPr id="8" name="explanation-0">
            <a:extLst xmlns:a="http://schemas.openxmlformats.org/drawingml/2006/main">
              <a:ext uri="{FF2B5EF4-FFF2-40B4-BE49-F238E27FC236}">
                <a16:creationId xmlns:a16="http://schemas.microsoft.com/office/drawing/2014/main" id="{0F8C5906-4584-4C33-B144-EC78C2D855B4}"/>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CPOL defines SCLK’s idle level.</a:t>
            </a:r>
          </a:p>
        </p:txBody>
      </p:sp>
      <p:sp>
        <p:nvSpPr>
          <p:cNvPr id="9" name="explanation-1">
            <a:extLst xmlns:a="http://schemas.openxmlformats.org/drawingml/2006/main">
              <a:ext uri="{FF2B5EF4-FFF2-40B4-BE49-F238E27FC236}">
                <a16:creationId xmlns:a16="http://schemas.microsoft.com/office/drawing/2014/main" id="{7AF9E7C4-86C0-4E9F-B795-DBA791762012}"/>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Leading edge means the first transition away from idle.</a:t>
            </a:r>
          </a:p>
        </p:txBody>
      </p:sp>
      <p:sp>
        <p:nvSpPr>
          <p:cNvPr id="10" name="explanation-2">
            <a:extLst xmlns:a="http://schemas.openxmlformats.org/drawingml/2006/main">
              <a:ext uri="{FF2B5EF4-FFF2-40B4-BE49-F238E27FC236}">
                <a16:creationId xmlns:a16="http://schemas.microsoft.com/office/drawing/2014/main" id="{DC67C84F-0184-4400-B8E2-7661499FD304}"/>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Trailing edge means the return toward idle.</a:t>
            </a:r>
          </a:p>
        </p:txBody>
      </p:sp>
      <p:graphicFrame>
        <p:nvGraphicFramePr>
          <p:cNvPr id="21" name=""/>
          <p:cNvGraphicFramePr/>
          <p:nvPr/>
        </p:nvGraphicFramePr>
        <p:xfrm>
          <a:off xmlns:a="http://schemas.openxmlformats.org/drawingml/2006/main" x="609600" y="2914650"/>
          <a:ext xmlns:a="http://schemas.openxmlformats.org/drawingml/2006/main" cx="10972800" cy="1943100"/>
        </p:xfrm>
        <a:graphic xmlns:a="http://schemas.openxmlformats.org/drawingml/2006/main">
          <a:graphicData uri="http://schemas.openxmlformats.org/drawingml/2006/table">
            <a:tbl>
              <a:tblPr/>
              <a:tblGrid>
                <a:gridCol w="2743200"/>
                <a:gridCol w="2743200"/>
                <a:gridCol w="2743200"/>
                <a:gridCol w="2743200"/>
              </a:tblGrid>
              <a:tr h="647700">
                <a:tc>
                  <a:txBody>
                    <a:bodyPr>
                      <a:noAutofit/>
                    </a:bodyPr>
                    <a:lstStyle/>
                    <a:p>
                      <a:r>
                        <a:rPr sz="1650" b="1">
                          <a:solidFill>
                            <a:srgbClr val="EF9529"/>
                          </a:solidFill>
                          <a:latin typeface="Segoe UI"/>
                          <a:ea typeface="Segoe UI"/>
                          <a:cs typeface="Segoe UI"/>
                        </a:rPr>
                        <a:t>CPOL</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Idle</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Leading edge</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Trailing edge</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Low</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Rising</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Falling</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High</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Falling</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Rising</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76044829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07/44</a:t>
            </a:r>
          </a:p>
        </p:txBody>
      </p:sp>
      <p:sp>
        <p:nvSpPr>
          <p:cNvPr id="7" name="lesson-title">
            <a:extLst xmlns:a="http://schemas.openxmlformats.org/drawingml/2006/main">
              <a:ext uri="{FF2B5EF4-FFF2-40B4-BE49-F238E27FC236}">
                <a16:creationId xmlns:a16="http://schemas.microsoft.com/office/drawing/2014/main" id="{645223E2-2F41-46D5-B3C0-E0C12363F1ED}"/>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Clock phase</a:t>
            </a:r>
          </a:p>
        </p:txBody>
      </p:sp>
      <p:sp>
        <p:nvSpPr>
          <p:cNvPr id="8" name="explanation-0">
            <a:extLst xmlns:a="http://schemas.openxmlformats.org/drawingml/2006/main">
              <a:ext uri="{FF2B5EF4-FFF2-40B4-BE49-F238E27FC236}">
                <a16:creationId xmlns:a16="http://schemas.microsoft.com/office/drawing/2014/main" id="{F9413E74-1A8F-4C37-AB24-CCBA0EF5188C}"/>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CPHA 0 samples on the leading edge.</a:t>
            </a:r>
          </a:p>
        </p:txBody>
      </p:sp>
      <p:sp>
        <p:nvSpPr>
          <p:cNvPr id="9" name="explanation-1">
            <a:extLst xmlns:a="http://schemas.openxmlformats.org/drawingml/2006/main">
              <a:ext uri="{FF2B5EF4-FFF2-40B4-BE49-F238E27FC236}">
                <a16:creationId xmlns:a16="http://schemas.microsoft.com/office/drawing/2014/main" id="{D9F32AFC-B98D-40B4-8874-ADA6E1A62148}"/>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CPHA 1 samples on the trailing edge.</a:t>
            </a:r>
          </a:p>
        </p:txBody>
      </p:sp>
      <p:sp>
        <p:nvSpPr>
          <p:cNvPr id="10" name="explanation-2">
            <a:extLst xmlns:a="http://schemas.openxmlformats.org/drawingml/2006/main">
              <a:ext uri="{FF2B5EF4-FFF2-40B4-BE49-F238E27FC236}">
                <a16:creationId xmlns:a16="http://schemas.microsoft.com/office/drawing/2014/main" id="{55D5E76E-6C2D-43D1-9B5F-6ECED0E50828}"/>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opposite edge prepares or shifts the next bit.</a:t>
            </a:r>
          </a:p>
        </p:txBody>
      </p:sp>
    </p:spTree>
    <p:extLst>
      <p:ext uri="{BB962C8B-B14F-4D97-AF65-F5344CB8AC3E}">
        <p14:creationId xmlns:p14="http://schemas.microsoft.com/office/powerpoint/2010/main" val="76044829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08/44</a:t>
            </a:r>
          </a:p>
        </p:txBody>
      </p:sp>
      <p:sp>
        <p:nvSpPr>
          <p:cNvPr id="7" name="lesson-title">
            <a:extLst xmlns:a="http://schemas.openxmlformats.org/drawingml/2006/main">
              <a:ext uri="{FF2B5EF4-FFF2-40B4-BE49-F238E27FC236}">
                <a16:creationId xmlns:a16="http://schemas.microsoft.com/office/drawing/2014/main" id="{E4545EDF-B601-4725-B9AB-DA9A3AA99221}"/>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The four SPI modes</a:t>
            </a:r>
          </a:p>
        </p:txBody>
      </p:sp>
      <p:sp>
        <p:nvSpPr>
          <p:cNvPr id="8" name="explanation-0">
            <a:extLst xmlns:a="http://schemas.openxmlformats.org/drawingml/2006/main">
              <a:ext uri="{FF2B5EF4-FFF2-40B4-BE49-F238E27FC236}">
                <a16:creationId xmlns:a16="http://schemas.microsoft.com/office/drawing/2014/main" id="{15EECDCD-E545-48E1-9F9E-0B5A1C726C0D}"/>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Mode is a pairing of polarity and phase.</a:t>
            </a:r>
          </a:p>
        </p:txBody>
      </p:sp>
      <p:sp>
        <p:nvSpPr>
          <p:cNvPr id="9" name="explanation-1">
            <a:extLst xmlns:a="http://schemas.openxmlformats.org/drawingml/2006/main">
              <a:ext uri="{FF2B5EF4-FFF2-40B4-BE49-F238E27FC236}">
                <a16:creationId xmlns:a16="http://schemas.microsoft.com/office/drawing/2014/main" id="{6BD725C6-07F7-4347-95A8-E89B988F20AC}"/>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Both ends must use the same pairing.</a:t>
            </a:r>
          </a:p>
        </p:txBody>
      </p:sp>
      <p:sp>
        <p:nvSpPr>
          <p:cNvPr id="10" name="explanation-2">
            <a:extLst xmlns:a="http://schemas.openxmlformats.org/drawingml/2006/main">
              <a:ext uri="{FF2B5EF4-FFF2-40B4-BE49-F238E27FC236}">
                <a16:creationId xmlns:a16="http://schemas.microsoft.com/office/drawing/2014/main" id="{C6D1DA23-A75B-4CD4-ADAD-D9C286660089}"/>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Our routed implementation is mode 0.</a:t>
            </a:r>
          </a:p>
        </p:txBody>
      </p:sp>
      <p:graphicFrame>
        <p:nvGraphicFramePr>
          <p:cNvPr id="21" name=""/>
          <p:cNvGraphicFramePr/>
          <p:nvPr/>
        </p:nvGraphicFramePr>
        <p:xfrm>
          <a:off xmlns:a="http://schemas.openxmlformats.org/drawingml/2006/main" x="609600" y="2914650"/>
          <a:ext xmlns:a="http://schemas.openxmlformats.org/drawingml/2006/main" cx="10972800" cy="3238500"/>
        </p:xfrm>
        <a:graphic xmlns:a="http://schemas.openxmlformats.org/drawingml/2006/main">
          <a:graphicData uri="http://schemas.openxmlformats.org/drawingml/2006/table">
            <a:tbl>
              <a:tblPr/>
              <a:tblGrid>
                <a:gridCol w="2743200"/>
                <a:gridCol w="2743200"/>
                <a:gridCol w="2743200"/>
                <a:gridCol w="2743200"/>
              </a:tblGrid>
              <a:tr h="647700">
                <a:tc>
                  <a:txBody>
                    <a:bodyPr>
                      <a:noAutofit/>
                    </a:bodyPr>
                    <a:lstStyle/>
                    <a:p>
                      <a:r>
                        <a:rPr sz="1650" b="1">
                          <a:solidFill>
                            <a:srgbClr val="EF9529"/>
                          </a:solidFill>
                          <a:latin typeface="Segoe UI"/>
                          <a:ea typeface="Segoe UI"/>
                          <a:cs typeface="Segoe UI"/>
                        </a:rPr>
                        <a:t>Mode</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CPOL</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CPHA</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Sample edge</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Rising</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Falling</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2</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Falling</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3</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Rising</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76044829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09/44</a:t>
            </a:r>
          </a:p>
        </p:txBody>
      </p:sp>
      <p:sp>
        <p:nvSpPr>
          <p:cNvPr id="7" name="lesson-title">
            <a:extLst xmlns:a="http://schemas.openxmlformats.org/drawingml/2006/main">
              <a:ext uri="{FF2B5EF4-FFF2-40B4-BE49-F238E27FC236}">
                <a16:creationId xmlns:a16="http://schemas.microsoft.com/office/drawing/2014/main" id="{47CE6278-94C1-41A3-9AD1-D064BB2BBE39}"/>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Mode 0: preload then rising-edge sample</a:t>
            </a:r>
          </a:p>
        </p:txBody>
      </p:sp>
      <p:sp>
        <p:nvSpPr>
          <p:cNvPr id="8" name="explanation-0">
            <a:extLst xmlns:a="http://schemas.openxmlformats.org/drawingml/2006/main">
              <a:ext uri="{FF2B5EF4-FFF2-40B4-BE49-F238E27FC236}">
                <a16:creationId xmlns:a16="http://schemas.microsoft.com/office/drawing/2014/main" id="{272860ED-714D-4B6C-AF22-C9F7DD540549}"/>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CPOL=0, CPHA=0. SCLK idles low.</a:t>
            </a:r>
          </a:p>
        </p:txBody>
      </p:sp>
      <p:sp>
        <p:nvSpPr>
          <p:cNvPr id="9" name="explanation-1">
            <a:extLst xmlns:a="http://schemas.openxmlformats.org/drawingml/2006/main">
              <a:ext uri="{FF2B5EF4-FFF2-40B4-BE49-F238E27FC236}">
                <a16:creationId xmlns:a16="http://schemas.microsoft.com/office/drawing/2014/main" id="{D2BB28CA-1478-4A9F-81A1-05CD2CCB10C5}"/>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MOSI A5 and MISO 3C are valid before the first leading edge.</a:t>
            </a:r>
          </a:p>
        </p:txBody>
      </p:sp>
      <p:graphicFrame>
        <p:nvGraphicFramePr>
          <p:cNvPr id="22" name="Chart"/>
          <p:cNvGraphicFramePr/>
          <p:nvPr/>
        </p:nvGraphicFramePr>
        <p:xfrm>
          <a:off xmlns:a="http://schemas.openxmlformats.org/drawingml/2006/main" x="609600" y="2381250"/>
          <a:ext xmlns:a="http://schemas.openxmlformats.org/drawingml/2006/main" cx="10972800" cy="984250"/>
        </p:xfrm>
        <a:graphic xmlns:a="http://schemas.openxmlformats.org/drawingml/2006/main">
          <a:graphicData uri="http://schemas.openxmlformats.org/drawingml/2006/chart">
            <c:chart xmlns:r="http://schemas.openxmlformats.org/officeDocument/2006/relationships" xmlns:c="http://schemas.openxmlformats.org/drawingml/2006/chart" r:id="R4ff6b697525846e3"/>
          </a:graphicData>
        </a:graphic>
      </p:graphicFrame>
      <p:graphicFrame>
        <p:nvGraphicFramePr>
          <p:cNvPr id="23" name="Chart"/>
          <p:cNvGraphicFramePr/>
          <p:nvPr/>
        </p:nvGraphicFramePr>
        <p:xfrm>
          <a:off xmlns:a="http://schemas.openxmlformats.org/drawingml/2006/main" x="609600" y="3365500"/>
          <a:ext xmlns:a="http://schemas.openxmlformats.org/drawingml/2006/main" cx="10972800" cy="984250"/>
        </p:xfrm>
        <a:graphic xmlns:a="http://schemas.openxmlformats.org/drawingml/2006/main">
          <a:graphicData uri="http://schemas.openxmlformats.org/drawingml/2006/chart">
            <c:chart xmlns:r="http://schemas.openxmlformats.org/officeDocument/2006/relationships" xmlns:c="http://schemas.openxmlformats.org/drawingml/2006/chart" r:id="R28153833a2f64051"/>
          </a:graphicData>
        </a:graphic>
      </p:graphicFrame>
      <p:graphicFrame>
        <p:nvGraphicFramePr>
          <p:cNvPr id="24" name="Chart"/>
          <p:cNvGraphicFramePr/>
          <p:nvPr/>
        </p:nvGraphicFramePr>
        <p:xfrm>
          <a:off xmlns:a="http://schemas.openxmlformats.org/drawingml/2006/main" x="609600" y="4349750"/>
          <a:ext xmlns:a="http://schemas.openxmlformats.org/drawingml/2006/main" cx="10972800" cy="1460500"/>
        </p:xfrm>
        <a:graphic xmlns:a="http://schemas.openxmlformats.org/drawingml/2006/main">
          <a:graphicData uri="http://schemas.openxmlformats.org/drawingml/2006/chart">
            <c:chart xmlns:r="http://schemas.openxmlformats.org/officeDocument/2006/relationships" xmlns:c="http://schemas.openxmlformats.org/drawingml/2006/chart" r:id="Rc0d556d901494661"/>
          </a:graphicData>
        </a:graphic>
      </p:graphicFrame>
      <p:sp>
        <p:nvSpPr>
          <p:cNvPr id="13" name="trace-kind">
            <a:extLst xmlns:a="http://schemas.openxmlformats.org/drawingml/2006/main">
              <a:ext uri="{FF2B5EF4-FFF2-40B4-BE49-F238E27FC236}">
                <a16:creationId xmlns:a16="http://schemas.microsoft.com/office/drawing/2014/main" id="{5FF70622-15A3-45E9-AF40-76BD9DD8BF7A}"/>
              </a:ext>
            </a:extLst>
          </p:cNvPr>
          <p:cNvSpPr>
            <a:spLocks xmlns:a="http://schemas.openxmlformats.org/drawingml/2006/main" noGrp="1"/>
          </p:cNvSpPr>
          <p:nvPr/>
        </p:nvSpPr>
        <p:spPr>
          <a:xfrm xmlns:a="http://schemas.openxmlformats.org/drawingml/2006/main">
            <a:off x="609600" y="60007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Logic levels: HIGH=1, LOW=0. IDEAL WORKED EXAMPLE: logic values, not a measured trace</a:t>
            </a:r>
          </a:p>
        </p:txBody>
      </p:sp>
    </p:spTree>
    <p:extLst>
      <p:ext uri="{BB962C8B-B14F-4D97-AF65-F5344CB8AC3E}">
        <p14:creationId xmlns:p14="http://schemas.microsoft.com/office/powerpoint/2010/main" val="76044829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10/44</a:t>
            </a:r>
          </a:p>
        </p:txBody>
      </p:sp>
      <p:sp>
        <p:nvSpPr>
          <p:cNvPr id="7" name="lesson-title">
            <a:extLst xmlns:a="http://schemas.openxmlformats.org/drawingml/2006/main">
              <a:ext uri="{FF2B5EF4-FFF2-40B4-BE49-F238E27FC236}">
                <a16:creationId xmlns:a16="http://schemas.microsoft.com/office/drawing/2014/main" id="{00C4A4E1-3335-4527-92A7-65723D26E264}"/>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Mode 1: launch then falling-edge sample</a:t>
            </a:r>
          </a:p>
        </p:txBody>
      </p:sp>
      <p:sp>
        <p:nvSpPr>
          <p:cNvPr id="8" name="explanation-0">
            <a:extLst xmlns:a="http://schemas.openxmlformats.org/drawingml/2006/main">
              <a:ext uri="{FF2B5EF4-FFF2-40B4-BE49-F238E27FC236}">
                <a16:creationId xmlns:a16="http://schemas.microsoft.com/office/drawing/2014/main" id="{BBAA4B96-68F4-45D0-8584-6BAC561DA8BD}"/>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CPOL=0, CPHA=1. The first rising edge launches bit 7.</a:t>
            </a:r>
          </a:p>
        </p:txBody>
      </p:sp>
      <p:sp>
        <p:nvSpPr>
          <p:cNvPr id="9" name="explanation-1">
            <a:extLst xmlns:a="http://schemas.openxmlformats.org/drawingml/2006/main">
              <a:ext uri="{FF2B5EF4-FFF2-40B4-BE49-F238E27FC236}">
                <a16:creationId xmlns:a16="http://schemas.microsoft.com/office/drawing/2014/main" id="{056DD70B-9300-49D3-8365-656BFDFC98A4}"/>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Falling edges sample A5 and 3C.</a:t>
            </a:r>
          </a:p>
        </p:txBody>
      </p:sp>
      <p:graphicFrame>
        <p:nvGraphicFramePr>
          <p:cNvPr id="22" name="Chart"/>
          <p:cNvGraphicFramePr/>
          <p:nvPr/>
        </p:nvGraphicFramePr>
        <p:xfrm>
          <a:off xmlns:a="http://schemas.openxmlformats.org/drawingml/2006/main" x="609600" y="2381250"/>
          <a:ext xmlns:a="http://schemas.openxmlformats.org/drawingml/2006/main" cx="10972800" cy="984250"/>
        </p:xfrm>
        <a:graphic xmlns:a="http://schemas.openxmlformats.org/drawingml/2006/main">
          <a:graphicData uri="http://schemas.openxmlformats.org/drawingml/2006/chart">
            <c:chart xmlns:r="http://schemas.openxmlformats.org/officeDocument/2006/relationships" xmlns:c="http://schemas.openxmlformats.org/drawingml/2006/chart" r:id="Rc758efb75cd6477a"/>
          </a:graphicData>
        </a:graphic>
      </p:graphicFrame>
      <p:graphicFrame>
        <p:nvGraphicFramePr>
          <p:cNvPr id="23" name="Chart"/>
          <p:cNvGraphicFramePr/>
          <p:nvPr/>
        </p:nvGraphicFramePr>
        <p:xfrm>
          <a:off xmlns:a="http://schemas.openxmlformats.org/drawingml/2006/main" x="609600" y="3365500"/>
          <a:ext xmlns:a="http://schemas.openxmlformats.org/drawingml/2006/main" cx="10972800" cy="984250"/>
        </p:xfrm>
        <a:graphic xmlns:a="http://schemas.openxmlformats.org/drawingml/2006/main">
          <a:graphicData uri="http://schemas.openxmlformats.org/drawingml/2006/chart">
            <c:chart xmlns:r="http://schemas.openxmlformats.org/officeDocument/2006/relationships" xmlns:c="http://schemas.openxmlformats.org/drawingml/2006/chart" r:id="Rd29ecfaa90654a60"/>
          </a:graphicData>
        </a:graphic>
      </p:graphicFrame>
      <p:graphicFrame>
        <p:nvGraphicFramePr>
          <p:cNvPr id="24" name="Chart"/>
          <p:cNvGraphicFramePr/>
          <p:nvPr/>
        </p:nvGraphicFramePr>
        <p:xfrm>
          <a:off xmlns:a="http://schemas.openxmlformats.org/drawingml/2006/main" x="609600" y="4349750"/>
          <a:ext xmlns:a="http://schemas.openxmlformats.org/drawingml/2006/main" cx="10972800" cy="1460500"/>
        </p:xfrm>
        <a:graphic xmlns:a="http://schemas.openxmlformats.org/drawingml/2006/main">
          <a:graphicData uri="http://schemas.openxmlformats.org/drawingml/2006/chart">
            <c:chart xmlns:r="http://schemas.openxmlformats.org/officeDocument/2006/relationships" xmlns:c="http://schemas.openxmlformats.org/drawingml/2006/chart" r:id="R25fac9377e214b55"/>
          </a:graphicData>
        </a:graphic>
      </p:graphicFrame>
      <p:sp>
        <p:nvSpPr>
          <p:cNvPr id="13" name="trace-kind">
            <a:extLst xmlns:a="http://schemas.openxmlformats.org/drawingml/2006/main">
              <a:ext uri="{FF2B5EF4-FFF2-40B4-BE49-F238E27FC236}">
                <a16:creationId xmlns:a16="http://schemas.microsoft.com/office/drawing/2014/main" id="{489F5F56-949D-465F-A5F3-5269BAC7B8CD}"/>
              </a:ext>
            </a:extLst>
          </p:cNvPr>
          <p:cNvSpPr>
            <a:spLocks xmlns:a="http://schemas.openxmlformats.org/drawingml/2006/main" noGrp="1"/>
          </p:cNvSpPr>
          <p:nvPr/>
        </p:nvSpPr>
        <p:spPr>
          <a:xfrm xmlns:a="http://schemas.openxmlformats.org/drawingml/2006/main">
            <a:off x="609600" y="60007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Logic levels: HIGH=1, LOW=0. IDEAL WORKED EXAMPLE: logic values, not a measured trace</a:t>
            </a:r>
          </a:p>
        </p:txBody>
      </p:sp>
    </p:spTree>
    <p:extLst>
      <p:ext uri="{BB962C8B-B14F-4D97-AF65-F5344CB8AC3E}">
        <p14:creationId xmlns:p14="http://schemas.microsoft.com/office/powerpoint/2010/main" val="76044829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11/44</a:t>
            </a:r>
          </a:p>
        </p:txBody>
      </p:sp>
      <p:sp>
        <p:nvSpPr>
          <p:cNvPr id="7" name="lesson-title">
            <a:extLst xmlns:a="http://schemas.openxmlformats.org/drawingml/2006/main">
              <a:ext uri="{FF2B5EF4-FFF2-40B4-BE49-F238E27FC236}">
                <a16:creationId xmlns:a16="http://schemas.microsoft.com/office/drawing/2014/main" id="{F8AFC294-B982-4723-801A-7B6E05B61F7D}"/>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Mode 2: high idle, falling-edge sample</a:t>
            </a:r>
          </a:p>
        </p:txBody>
      </p:sp>
      <p:sp>
        <p:nvSpPr>
          <p:cNvPr id="8" name="explanation-0">
            <a:extLst xmlns:a="http://schemas.openxmlformats.org/drawingml/2006/main">
              <a:ext uri="{FF2B5EF4-FFF2-40B4-BE49-F238E27FC236}">
                <a16:creationId xmlns:a16="http://schemas.microsoft.com/office/drawing/2014/main" id="{00534B20-0F38-43D4-9D0E-8AC14273CAEE}"/>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CPOL=1, CPHA=0. SCLK idles high.</a:t>
            </a:r>
          </a:p>
        </p:txBody>
      </p:sp>
      <p:sp>
        <p:nvSpPr>
          <p:cNvPr id="9" name="explanation-1">
            <a:extLst xmlns:a="http://schemas.openxmlformats.org/drawingml/2006/main">
              <a:ext uri="{FF2B5EF4-FFF2-40B4-BE49-F238E27FC236}">
                <a16:creationId xmlns:a16="http://schemas.microsoft.com/office/drawing/2014/main" id="{864DB097-BC75-4F28-A62B-68F6438436C5}"/>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The first falling edge samples preloaded bit 7.</a:t>
            </a:r>
          </a:p>
        </p:txBody>
      </p:sp>
      <p:graphicFrame>
        <p:nvGraphicFramePr>
          <p:cNvPr id="22" name="Chart"/>
          <p:cNvGraphicFramePr/>
          <p:nvPr/>
        </p:nvGraphicFramePr>
        <p:xfrm>
          <a:off xmlns:a="http://schemas.openxmlformats.org/drawingml/2006/main" x="609600" y="2381250"/>
          <a:ext xmlns:a="http://schemas.openxmlformats.org/drawingml/2006/main" cx="10972800" cy="984250"/>
        </p:xfrm>
        <a:graphic xmlns:a="http://schemas.openxmlformats.org/drawingml/2006/main">
          <a:graphicData uri="http://schemas.openxmlformats.org/drawingml/2006/chart">
            <c:chart xmlns:r="http://schemas.openxmlformats.org/officeDocument/2006/relationships" xmlns:c="http://schemas.openxmlformats.org/drawingml/2006/chart" r:id="R45ca17e38aad4a20"/>
          </a:graphicData>
        </a:graphic>
      </p:graphicFrame>
      <p:graphicFrame>
        <p:nvGraphicFramePr>
          <p:cNvPr id="23" name="Chart"/>
          <p:cNvGraphicFramePr/>
          <p:nvPr/>
        </p:nvGraphicFramePr>
        <p:xfrm>
          <a:off xmlns:a="http://schemas.openxmlformats.org/drawingml/2006/main" x="609600" y="3365500"/>
          <a:ext xmlns:a="http://schemas.openxmlformats.org/drawingml/2006/main" cx="10972800" cy="984250"/>
        </p:xfrm>
        <a:graphic xmlns:a="http://schemas.openxmlformats.org/drawingml/2006/main">
          <a:graphicData uri="http://schemas.openxmlformats.org/drawingml/2006/chart">
            <c:chart xmlns:r="http://schemas.openxmlformats.org/officeDocument/2006/relationships" xmlns:c="http://schemas.openxmlformats.org/drawingml/2006/chart" r:id="R891515ec23fb4c03"/>
          </a:graphicData>
        </a:graphic>
      </p:graphicFrame>
      <p:graphicFrame>
        <p:nvGraphicFramePr>
          <p:cNvPr id="24" name="Chart"/>
          <p:cNvGraphicFramePr/>
          <p:nvPr/>
        </p:nvGraphicFramePr>
        <p:xfrm>
          <a:off xmlns:a="http://schemas.openxmlformats.org/drawingml/2006/main" x="609600" y="4349750"/>
          <a:ext xmlns:a="http://schemas.openxmlformats.org/drawingml/2006/main" cx="10972800" cy="1460500"/>
        </p:xfrm>
        <a:graphic xmlns:a="http://schemas.openxmlformats.org/drawingml/2006/main">
          <a:graphicData uri="http://schemas.openxmlformats.org/drawingml/2006/chart">
            <c:chart xmlns:r="http://schemas.openxmlformats.org/officeDocument/2006/relationships" xmlns:c="http://schemas.openxmlformats.org/drawingml/2006/chart" r:id="R1245c2f39be845d7"/>
          </a:graphicData>
        </a:graphic>
      </p:graphicFrame>
      <p:sp>
        <p:nvSpPr>
          <p:cNvPr id="13" name="trace-kind">
            <a:extLst xmlns:a="http://schemas.openxmlformats.org/drawingml/2006/main">
              <a:ext uri="{FF2B5EF4-FFF2-40B4-BE49-F238E27FC236}">
                <a16:creationId xmlns:a16="http://schemas.microsoft.com/office/drawing/2014/main" id="{33FD1A73-BCA9-4A13-82F0-AC3DB1700B42}"/>
              </a:ext>
            </a:extLst>
          </p:cNvPr>
          <p:cNvSpPr>
            <a:spLocks xmlns:a="http://schemas.openxmlformats.org/drawingml/2006/main" noGrp="1"/>
          </p:cNvSpPr>
          <p:nvPr/>
        </p:nvSpPr>
        <p:spPr>
          <a:xfrm xmlns:a="http://schemas.openxmlformats.org/drawingml/2006/main">
            <a:off x="609600" y="60007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Logic levels: HIGH=1, LOW=0. IDEAL WORKED EXAMPLE: logic values, not a measured trace</a:t>
            </a:r>
          </a:p>
        </p:txBody>
      </p:sp>
    </p:spTree>
    <p:extLst>
      <p:ext uri="{BB962C8B-B14F-4D97-AF65-F5344CB8AC3E}">
        <p14:creationId xmlns:p14="http://schemas.microsoft.com/office/powerpoint/2010/main" val="76044829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12/44</a:t>
            </a:r>
          </a:p>
        </p:txBody>
      </p:sp>
      <p:sp>
        <p:nvSpPr>
          <p:cNvPr id="7" name="lesson-title">
            <a:extLst xmlns:a="http://schemas.openxmlformats.org/drawingml/2006/main">
              <a:ext uri="{FF2B5EF4-FFF2-40B4-BE49-F238E27FC236}">
                <a16:creationId xmlns:a16="http://schemas.microsoft.com/office/drawing/2014/main" id="{64EAB13B-84FC-4FFA-B3E3-11D325D2A63C}"/>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Mode 3: high idle, rising-edge sample</a:t>
            </a:r>
          </a:p>
        </p:txBody>
      </p:sp>
      <p:sp>
        <p:nvSpPr>
          <p:cNvPr id="8" name="explanation-0">
            <a:extLst xmlns:a="http://schemas.openxmlformats.org/drawingml/2006/main">
              <a:ext uri="{FF2B5EF4-FFF2-40B4-BE49-F238E27FC236}">
                <a16:creationId xmlns:a16="http://schemas.microsoft.com/office/drawing/2014/main" id="{2193CA7F-4E48-4114-9ABA-AF2957EE47EF}"/>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CPOL=1, CPHA=1. A falling edge launches bit 7.</a:t>
            </a:r>
          </a:p>
        </p:txBody>
      </p:sp>
      <p:sp>
        <p:nvSpPr>
          <p:cNvPr id="9" name="explanation-1">
            <a:extLst xmlns:a="http://schemas.openxmlformats.org/drawingml/2006/main">
              <a:ext uri="{FF2B5EF4-FFF2-40B4-BE49-F238E27FC236}">
                <a16:creationId xmlns:a16="http://schemas.microsoft.com/office/drawing/2014/main" id="{D0176D03-D62F-4B27-87CC-1DB7AE63D0F3}"/>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The following rising edge samples it.</a:t>
            </a:r>
          </a:p>
        </p:txBody>
      </p:sp>
      <p:graphicFrame>
        <p:nvGraphicFramePr>
          <p:cNvPr id="22" name="Chart"/>
          <p:cNvGraphicFramePr/>
          <p:nvPr/>
        </p:nvGraphicFramePr>
        <p:xfrm>
          <a:off xmlns:a="http://schemas.openxmlformats.org/drawingml/2006/main" x="609600" y="2381250"/>
          <a:ext xmlns:a="http://schemas.openxmlformats.org/drawingml/2006/main" cx="10972800" cy="984250"/>
        </p:xfrm>
        <a:graphic xmlns:a="http://schemas.openxmlformats.org/drawingml/2006/main">
          <a:graphicData uri="http://schemas.openxmlformats.org/drawingml/2006/chart">
            <c:chart xmlns:r="http://schemas.openxmlformats.org/officeDocument/2006/relationships" xmlns:c="http://schemas.openxmlformats.org/drawingml/2006/chart" r:id="Ra6f801dc6a304955"/>
          </a:graphicData>
        </a:graphic>
      </p:graphicFrame>
      <p:graphicFrame>
        <p:nvGraphicFramePr>
          <p:cNvPr id="23" name="Chart"/>
          <p:cNvGraphicFramePr/>
          <p:nvPr/>
        </p:nvGraphicFramePr>
        <p:xfrm>
          <a:off xmlns:a="http://schemas.openxmlformats.org/drawingml/2006/main" x="609600" y="3365500"/>
          <a:ext xmlns:a="http://schemas.openxmlformats.org/drawingml/2006/main" cx="10972800" cy="984250"/>
        </p:xfrm>
        <a:graphic xmlns:a="http://schemas.openxmlformats.org/drawingml/2006/main">
          <a:graphicData uri="http://schemas.openxmlformats.org/drawingml/2006/chart">
            <c:chart xmlns:r="http://schemas.openxmlformats.org/officeDocument/2006/relationships" xmlns:c="http://schemas.openxmlformats.org/drawingml/2006/chart" r:id="R14f764c553b745b7"/>
          </a:graphicData>
        </a:graphic>
      </p:graphicFrame>
      <p:graphicFrame>
        <p:nvGraphicFramePr>
          <p:cNvPr id="24" name="Chart"/>
          <p:cNvGraphicFramePr/>
          <p:nvPr/>
        </p:nvGraphicFramePr>
        <p:xfrm>
          <a:off xmlns:a="http://schemas.openxmlformats.org/drawingml/2006/main" x="609600" y="4349750"/>
          <a:ext xmlns:a="http://schemas.openxmlformats.org/drawingml/2006/main" cx="10972800" cy="1460500"/>
        </p:xfrm>
        <a:graphic xmlns:a="http://schemas.openxmlformats.org/drawingml/2006/main">
          <a:graphicData uri="http://schemas.openxmlformats.org/drawingml/2006/chart">
            <c:chart xmlns:r="http://schemas.openxmlformats.org/officeDocument/2006/relationships" xmlns:c="http://schemas.openxmlformats.org/drawingml/2006/chart" r:id="R6c53d947c4204509"/>
          </a:graphicData>
        </a:graphic>
      </p:graphicFrame>
      <p:sp>
        <p:nvSpPr>
          <p:cNvPr id="13" name="trace-kind">
            <a:extLst xmlns:a="http://schemas.openxmlformats.org/drawingml/2006/main">
              <a:ext uri="{FF2B5EF4-FFF2-40B4-BE49-F238E27FC236}">
                <a16:creationId xmlns:a16="http://schemas.microsoft.com/office/drawing/2014/main" id="{F45A86D4-9F4B-447A-96A1-4B43791701D0}"/>
              </a:ext>
            </a:extLst>
          </p:cNvPr>
          <p:cNvSpPr>
            <a:spLocks xmlns:a="http://schemas.openxmlformats.org/drawingml/2006/main" noGrp="1"/>
          </p:cNvSpPr>
          <p:nvPr/>
        </p:nvSpPr>
        <p:spPr>
          <a:xfrm xmlns:a="http://schemas.openxmlformats.org/drawingml/2006/main">
            <a:off x="609600" y="60007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Logic levels: HIGH=1, LOW=0. IDEAL WORKED EXAMPLE: logic values, not a measured trace</a:t>
            </a:r>
          </a:p>
        </p:txBody>
      </p:sp>
    </p:spTree>
    <p:extLst>
      <p:ext uri="{BB962C8B-B14F-4D97-AF65-F5344CB8AC3E}">
        <p14:creationId xmlns:p14="http://schemas.microsoft.com/office/powerpoint/2010/main" val="76044829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13/44</a:t>
            </a:r>
          </a:p>
        </p:txBody>
      </p:sp>
      <p:sp>
        <p:nvSpPr>
          <p:cNvPr id="7" name="lesson-title">
            <a:extLst xmlns:a="http://schemas.openxmlformats.org/drawingml/2006/main">
              <a:ext uri="{FF2B5EF4-FFF2-40B4-BE49-F238E27FC236}">
                <a16:creationId xmlns:a16="http://schemas.microsoft.com/office/drawing/2014/main" id="{B2CA49A8-A678-4ADE-B22C-39728101B55F}"/>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Worked mode-0 byte exchange</a:t>
            </a:r>
          </a:p>
        </p:txBody>
      </p:sp>
      <p:sp>
        <p:nvSpPr>
          <p:cNvPr id="8" name="explanation-0">
            <a:extLst xmlns:a="http://schemas.openxmlformats.org/drawingml/2006/main">
              <a:ext uri="{FF2B5EF4-FFF2-40B4-BE49-F238E27FC236}">
                <a16:creationId xmlns:a16="http://schemas.microsoft.com/office/drawing/2014/main" id="{D6AC8A62-C9F7-47B4-86D9-1EEC13B33966}"/>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Controller transmits 0xA5, peripheral returns 0x5A.</a:t>
            </a:r>
          </a:p>
        </p:txBody>
      </p:sp>
      <p:sp>
        <p:nvSpPr>
          <p:cNvPr id="9" name="explanation-1">
            <a:extLst xmlns:a="http://schemas.openxmlformats.org/drawingml/2006/main">
              <a:ext uri="{FF2B5EF4-FFF2-40B4-BE49-F238E27FC236}">
                <a16:creationId xmlns:a16="http://schemas.microsoft.com/office/drawing/2014/main" id="{5E59C4B5-7D76-4D30-A357-6BE53EAB84CB}"/>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Data order in this implementation is MSB first.</a:t>
            </a:r>
          </a:p>
        </p:txBody>
      </p:sp>
      <p:sp>
        <p:nvSpPr>
          <p:cNvPr id="10" name="explanation-2">
            <a:extLst xmlns:a="http://schemas.openxmlformats.org/drawingml/2006/main">
              <a:ext uri="{FF2B5EF4-FFF2-40B4-BE49-F238E27FC236}">
                <a16:creationId xmlns:a16="http://schemas.microsoft.com/office/drawing/2014/main" id="{0DB21952-89A9-424C-BB9B-63096EB016D5}"/>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Eight SCLK periods contain 16 transitions.</a:t>
            </a:r>
          </a:p>
        </p:txBody>
      </p:sp>
      <p:graphicFrame>
        <p:nvGraphicFramePr>
          <p:cNvPr id="21" name=""/>
          <p:cNvGraphicFramePr/>
          <p:nvPr/>
        </p:nvGraphicFramePr>
        <p:xfrm>
          <a:off xmlns:a="http://schemas.openxmlformats.org/drawingml/2006/main" x="609600" y="2914650"/>
          <a:ext xmlns:a="http://schemas.openxmlformats.org/drawingml/2006/main" cx="10972800" cy="1943100"/>
        </p:xfrm>
        <a:graphic xmlns:a="http://schemas.openxmlformats.org/drawingml/2006/main">
          <a:graphicData uri="http://schemas.openxmlformats.org/drawingml/2006/table">
            <a:tbl>
              <a:tblPr/>
              <a:tblGrid>
                <a:gridCol w="1714500"/>
                <a:gridCol w="1104900"/>
                <a:gridCol w="1104900"/>
                <a:gridCol w="1104900"/>
                <a:gridCol w="1104900"/>
                <a:gridCol w="1104900"/>
                <a:gridCol w="1104900"/>
                <a:gridCol w="1104900"/>
                <a:gridCol w="1524000"/>
              </a:tblGrid>
              <a:tr h="647700">
                <a:tc>
                  <a:txBody>
                    <a:bodyPr>
                      <a:noAutofit/>
                    </a:bodyPr>
                    <a:lstStyle/>
                    <a:p>
                      <a:r>
                        <a:rPr sz="1500" b="1">
                          <a:solidFill>
                            <a:srgbClr val="EF9529"/>
                          </a:solidFill>
                          <a:latin typeface="Segoe UI"/>
                          <a:ea typeface="Segoe UI"/>
                          <a:cs typeface="Segoe UI"/>
                        </a:rPr>
                        <a:t>Bit position</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7</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6</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5</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4</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3</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2</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1</a:t>
                      </a:r>
                    </a:p>
                  </a:txBody>
                  <a:tcPr marL="91440" marR="91440" marT="45720" marB="45720">
                    <a:solidFill>
                      <a:srgbClr val="24242B"/>
                    </a:solidFill>
                  </a:tcPr>
                </a:tc>
                <a:tc>
                  <a:txBody>
                    <a:bodyPr>
                      <a:noAutofit/>
                    </a:bodyPr>
                    <a:lstStyle/>
                    <a:p>
                      <a:r>
                        <a:rPr sz="1500" b="1">
                          <a:solidFill>
                            <a:srgbClr val="EF9529"/>
                          </a:solidFill>
                          <a:latin typeface="Segoe UI"/>
                          <a:ea typeface="Segoe UI"/>
                          <a:cs typeface="Segoe UI"/>
                        </a:rPr>
                        <a:t>0</a:t>
                      </a:r>
                    </a:p>
                  </a:txBody>
                  <a:tcPr marL="91440" marR="91440" marT="45720" marB="45720">
                    <a:solidFill>
                      <a:srgbClr val="24242B"/>
                    </a:solidFill>
                  </a:tcPr>
                </a:tc>
              </a:tr>
              <a:tr h="647700">
                <a:tc>
                  <a:txBody>
                    <a:bodyPr>
                      <a:noAutofit/>
                    </a:bodyPr>
                    <a:lstStyle/>
                    <a:p>
                      <a:r>
                        <a:rPr sz="1500" b="0">
                          <a:solidFill>
                            <a:srgbClr val="EDEDED"/>
                          </a:solidFill>
                          <a:latin typeface="Segoe UI"/>
                          <a:ea typeface="Segoe UI"/>
                          <a:cs typeface="Segoe UI"/>
                        </a:rPr>
                        <a:t>MOSI 0xA5</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1</a:t>
                      </a:r>
                    </a:p>
                  </a:txBody>
                  <a:tcPr marL="91440" marR="91440" marT="45720" marB="45720">
                    <a:solidFill>
                      <a:srgbClr val="16161A"/>
                    </a:solidFill>
                  </a:tcPr>
                </a:tc>
              </a:tr>
              <a:tr h="647700">
                <a:tc>
                  <a:txBody>
                    <a:bodyPr>
                      <a:noAutofit/>
                    </a:bodyPr>
                    <a:lstStyle/>
                    <a:p>
                      <a:r>
                        <a:rPr sz="1500" b="0">
                          <a:solidFill>
                            <a:srgbClr val="EDEDED"/>
                          </a:solidFill>
                          <a:latin typeface="Segoe UI"/>
                          <a:ea typeface="Segoe UI"/>
                          <a:cs typeface="Segoe UI"/>
                        </a:rPr>
                        <a:t>MISO 0x5A</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500" b="0">
                          <a:solidFill>
                            <a:srgbClr val="EDEDED"/>
                          </a:solidFill>
                          <a:latin typeface="Segoe UI"/>
                          <a:ea typeface="Segoe UI"/>
                          <a:cs typeface="Segoe UI"/>
                        </a:rPr>
                        <a:t>0</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76044829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14/44</a:t>
            </a:r>
          </a:p>
        </p:txBody>
      </p:sp>
      <p:sp>
        <p:nvSpPr>
          <p:cNvPr id="7" name="lesson-title">
            <a:extLst xmlns:a="http://schemas.openxmlformats.org/drawingml/2006/main">
              <a:ext uri="{FF2B5EF4-FFF2-40B4-BE49-F238E27FC236}">
                <a16:creationId xmlns:a16="http://schemas.microsoft.com/office/drawing/2014/main" id="{7D69C57D-10A1-4554-9C4F-F52886EA1EBE}"/>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Mode decode: edge-by-edge reasoning</a:t>
            </a:r>
          </a:p>
        </p:txBody>
      </p:sp>
      <p:sp>
        <p:nvSpPr>
          <p:cNvPr id="8" name="explanation-0">
            <a:extLst xmlns:a="http://schemas.openxmlformats.org/drawingml/2006/main">
              <a:ext uri="{FF2B5EF4-FFF2-40B4-BE49-F238E27FC236}">
                <a16:creationId xmlns:a16="http://schemas.microsoft.com/office/drawing/2014/main" id="{70838FA3-0403-4216-86C7-6216C1DE50CF}"/>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Leading means the first edge away from idle, not always rising.</a:t>
            </a:r>
          </a:p>
        </p:txBody>
      </p:sp>
      <p:sp>
        <p:nvSpPr>
          <p:cNvPr id="9" name="explanation-1">
            <a:extLst xmlns:a="http://schemas.openxmlformats.org/drawingml/2006/main">
              <a:ext uri="{FF2B5EF4-FFF2-40B4-BE49-F238E27FC236}">
                <a16:creationId xmlns:a16="http://schemas.microsoft.com/office/drawing/2014/main" id="{C71F8E1E-7C68-4333-B931-FBA3A1D743F0}"/>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Trailing means the return edge toward idle.</a:t>
            </a:r>
          </a:p>
        </p:txBody>
      </p:sp>
      <p:graphicFrame>
        <p:nvGraphicFramePr>
          <p:cNvPr id="19" name=""/>
          <p:cNvGraphicFramePr/>
          <p:nvPr/>
        </p:nvGraphicFramePr>
        <p:xfrm>
          <a:off xmlns:a="http://schemas.openxmlformats.org/drawingml/2006/main" x="609600" y="2914650"/>
          <a:ext xmlns:a="http://schemas.openxmlformats.org/drawingml/2006/main" cx="10972800" cy="3238500"/>
        </p:xfrm>
        <a:graphic xmlns:a="http://schemas.openxmlformats.org/drawingml/2006/main">
          <a:graphicData uri="http://schemas.openxmlformats.org/drawingml/2006/table">
            <a:tbl>
              <a:tblPr/>
              <a:tblGrid>
                <a:gridCol w="2743200"/>
                <a:gridCol w="2743200"/>
                <a:gridCol w="2743200"/>
                <a:gridCol w="2743200"/>
              </a:tblGrid>
              <a:tr h="647700">
                <a:tc>
                  <a:txBody>
                    <a:bodyPr>
                      <a:noAutofit/>
                    </a:bodyPr>
                    <a:lstStyle/>
                    <a:p>
                      <a:r>
                        <a:rPr sz="1650" b="1">
                          <a:solidFill>
                            <a:srgbClr val="EF9529"/>
                          </a:solidFill>
                          <a:latin typeface="Segoe UI"/>
                          <a:ea typeface="Segoe UI"/>
                          <a:cs typeface="Segoe UI"/>
                        </a:rPr>
                        <a:t>Mode</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Idle</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Launch/update</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Sample</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Low</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Falling, first bit preloaded</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Rising</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Low</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Rising</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Falling</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2</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High</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Rising, first bit preloaded</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Falling</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3</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High</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Falling</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Rising</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76044829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15/44</a:t>
            </a:r>
          </a:p>
        </p:txBody>
      </p:sp>
      <p:sp>
        <p:nvSpPr>
          <p:cNvPr id="7" name="lesson-title">
            <a:extLst xmlns:a="http://schemas.openxmlformats.org/drawingml/2006/main">
              <a:ext uri="{FF2B5EF4-FFF2-40B4-BE49-F238E27FC236}">
                <a16:creationId xmlns:a16="http://schemas.microsoft.com/office/drawing/2014/main" id="{379246E6-1472-4959-B6F5-4839D501EDB3}"/>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Chip select and transaction boundaries</a:t>
            </a:r>
          </a:p>
        </p:txBody>
      </p:sp>
      <p:sp>
        <p:nvSpPr>
          <p:cNvPr id="8" name="explanation-0">
            <a:extLst xmlns:a="http://schemas.openxmlformats.org/drawingml/2006/main">
              <a:ext uri="{FF2B5EF4-FFF2-40B4-BE49-F238E27FC236}">
                <a16:creationId xmlns:a16="http://schemas.microsoft.com/office/drawing/2014/main" id="{306F5459-42D8-40FC-A8D4-212783882255}"/>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CS_n is active low in this wrapper.</a:t>
            </a:r>
          </a:p>
        </p:txBody>
      </p:sp>
      <p:sp>
        <p:nvSpPr>
          <p:cNvPr id="9" name="explanation-1">
            <a:extLst xmlns:a="http://schemas.openxmlformats.org/drawingml/2006/main">
              <a:ext uri="{FF2B5EF4-FFF2-40B4-BE49-F238E27FC236}">
                <a16:creationId xmlns:a16="http://schemas.microsoft.com/office/drawing/2014/main" id="{B7E0CB58-1258-4830-B8AE-F85EB1155639}"/>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wrapper selects a peripheral during a byte transfer.</a:t>
            </a:r>
          </a:p>
        </p:txBody>
      </p:sp>
      <p:sp>
        <p:nvSpPr>
          <p:cNvPr id="10" name="explanation-2">
            <a:extLst xmlns:a="http://schemas.openxmlformats.org/drawingml/2006/main">
              <a:ext uri="{FF2B5EF4-FFF2-40B4-BE49-F238E27FC236}">
                <a16:creationId xmlns:a16="http://schemas.microsoft.com/office/drawing/2014/main" id="{5D1B9A28-5A88-4DE0-A02F-D02BAC82070C}"/>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Multi-byte command envelopes may require another integration layer.</a:t>
            </a:r>
          </a:p>
        </p:txBody>
      </p:sp>
    </p:spTree>
    <p:extLst>
      <p:ext uri="{BB962C8B-B14F-4D97-AF65-F5344CB8AC3E}">
        <p14:creationId xmlns:p14="http://schemas.microsoft.com/office/powerpoint/2010/main" val="76044829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16/44</a:t>
            </a:r>
          </a:p>
        </p:txBody>
      </p:sp>
      <p:sp>
        <p:nvSpPr>
          <p:cNvPr id="7" name="lesson-title">
            <a:extLst xmlns:a="http://schemas.openxmlformats.org/drawingml/2006/main">
              <a:ext uri="{FF2B5EF4-FFF2-40B4-BE49-F238E27FC236}">
                <a16:creationId xmlns:a16="http://schemas.microsoft.com/office/drawing/2014/main" id="{27E87685-0E13-4FE8-BF1D-2A8E8DF57955}"/>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Byte envelope versus a device command</a:t>
            </a:r>
          </a:p>
        </p:txBody>
      </p:sp>
      <p:sp>
        <p:nvSpPr>
          <p:cNvPr id="8" name="explanation-0">
            <a:extLst xmlns:a="http://schemas.openxmlformats.org/drawingml/2006/main">
              <a:ext uri="{FF2B5EF4-FFF2-40B4-BE49-F238E27FC236}">
                <a16:creationId xmlns:a16="http://schemas.microsoft.com/office/drawing/2014/main" id="{998C079D-9B73-42D1-B144-6C311AAC0C5C}"/>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Example flash read: command 03, address 00 20 10, then dummy clocks.</a:t>
            </a:r>
          </a:p>
        </p:txBody>
      </p:sp>
      <p:sp>
        <p:nvSpPr>
          <p:cNvPr id="9" name="explanation-1">
            <a:extLst xmlns:a="http://schemas.openxmlformats.org/drawingml/2006/main">
              <a:ext uri="{FF2B5EF4-FFF2-40B4-BE49-F238E27FC236}">
                <a16:creationId xmlns:a16="http://schemas.microsoft.com/office/drawing/2014/main" id="{45721DA4-2D96-499B-8E9C-63B27C7B2640}"/>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The peripheral may require CS low across the entire command sequence.</a:t>
            </a:r>
          </a:p>
        </p:txBody>
      </p:sp>
      <p:graphicFrame>
        <p:nvGraphicFramePr>
          <p:cNvPr id="19" name=""/>
          <p:cNvGraphicFramePr/>
          <p:nvPr/>
        </p:nvGraphicFramePr>
        <p:xfrm>
          <a:off xmlns:a="http://schemas.openxmlformats.org/drawingml/2006/main" x="609600" y="2914650"/>
          <a:ext xmlns:a="http://schemas.openxmlformats.org/drawingml/2006/main" cx="10972800" cy="2590800"/>
        </p:xfrm>
        <a:graphic xmlns:a="http://schemas.openxmlformats.org/drawingml/2006/main">
          <a:graphicData uri="http://schemas.openxmlformats.org/drawingml/2006/table">
            <a:tbl>
              <a:tblPr/>
              <a:tblGrid>
                <a:gridCol w="3657600"/>
                <a:gridCol w="3657600"/>
                <a:gridCol w="3657600"/>
              </a:tblGrid>
              <a:tr h="647700">
                <a:tc>
                  <a:txBody>
                    <a:bodyPr>
                      <a:noAutofit/>
                    </a:bodyPr>
                    <a:lstStyle/>
                    <a:p>
                      <a:r>
                        <a:rPr sz="1650" b="1">
                          <a:solidFill>
                            <a:srgbClr val="EF9529"/>
                          </a:solidFill>
                          <a:latin typeface="Segoe UI"/>
                          <a:ea typeface="Segoe UI"/>
                          <a:cs typeface="Segoe UI"/>
                        </a:rPr>
                        <a:t>Byte</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MOSI</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MISO meaning</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03, read opcode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Device-dependent</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2-4</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00 20 10, address</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Device-dependent</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5</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00, dummy data</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First requested data byte</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76044829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17/44</a:t>
            </a:r>
          </a:p>
        </p:txBody>
      </p:sp>
      <p:sp>
        <p:nvSpPr>
          <p:cNvPr id="7" name="lesson-title">
            <a:extLst xmlns:a="http://schemas.openxmlformats.org/drawingml/2006/main">
              <a:ext uri="{FF2B5EF4-FFF2-40B4-BE49-F238E27FC236}">
                <a16:creationId xmlns:a16="http://schemas.microsoft.com/office/drawing/2014/main" id="{8CCF6278-85F4-46C2-8E75-356BE674EB3B}"/>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Bit order and device commands</a:t>
            </a:r>
          </a:p>
        </p:txBody>
      </p:sp>
      <p:sp>
        <p:nvSpPr>
          <p:cNvPr id="8" name="explanation-0">
            <a:extLst xmlns:a="http://schemas.openxmlformats.org/drawingml/2006/main">
              <a:ext uri="{FF2B5EF4-FFF2-40B4-BE49-F238E27FC236}">
                <a16:creationId xmlns:a16="http://schemas.microsoft.com/office/drawing/2014/main" id="{FE59C7B9-4B04-43D0-B7BE-FD08C191E324}"/>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This core shifts the most significant bit first.</a:t>
            </a:r>
          </a:p>
        </p:txBody>
      </p:sp>
      <p:sp>
        <p:nvSpPr>
          <p:cNvPr id="9" name="explanation-1">
            <a:extLst xmlns:a="http://schemas.openxmlformats.org/drawingml/2006/main">
              <a:ext uri="{FF2B5EF4-FFF2-40B4-BE49-F238E27FC236}">
                <a16:creationId xmlns:a16="http://schemas.microsoft.com/office/drawing/2014/main" id="{1B076CFD-5EC4-4B12-B100-838449380576}"/>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 byte value and its wire order are different concepts.</a:t>
            </a:r>
          </a:p>
        </p:txBody>
      </p:sp>
      <p:sp>
        <p:nvSpPr>
          <p:cNvPr id="10" name="explanation-2">
            <a:extLst xmlns:a="http://schemas.openxmlformats.org/drawingml/2006/main">
              <a:ext uri="{FF2B5EF4-FFF2-40B4-BE49-F238E27FC236}">
                <a16:creationId xmlns:a16="http://schemas.microsoft.com/office/drawing/2014/main" id="{E908A061-E7F8-4E3F-957F-BCE4612B4527}"/>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Opcode, address and dummy-cycle rules come from the device.</a:t>
            </a:r>
          </a:p>
        </p:txBody>
      </p:sp>
    </p:spTree>
    <p:extLst>
      <p:ext uri="{BB962C8B-B14F-4D97-AF65-F5344CB8AC3E}">
        <p14:creationId xmlns:p14="http://schemas.microsoft.com/office/powerpoint/2010/main" val="76044829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18/44</a:t>
            </a:r>
          </a:p>
        </p:txBody>
      </p:sp>
      <p:sp>
        <p:nvSpPr>
          <p:cNvPr id="7" name="lesson-title">
            <a:extLst xmlns:a="http://schemas.openxmlformats.org/drawingml/2006/main">
              <a:ext uri="{FF2B5EF4-FFF2-40B4-BE49-F238E27FC236}">
                <a16:creationId xmlns:a16="http://schemas.microsoft.com/office/drawing/2014/main" id="{069710EA-9BFB-4AED-87E6-A3CD1E4F55D1}"/>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Clock division</a:t>
            </a:r>
          </a:p>
        </p:txBody>
      </p:sp>
      <p:sp>
        <p:nvSpPr>
          <p:cNvPr id="8" name="explanation-0">
            <a:extLst xmlns:a="http://schemas.openxmlformats.org/drawingml/2006/main">
              <a:ext uri="{FF2B5EF4-FFF2-40B4-BE49-F238E27FC236}">
                <a16:creationId xmlns:a16="http://schemas.microsoft.com/office/drawing/2014/main" id="{CD7246EF-EE15-4E3F-A192-8928C2560784}"/>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SCLK period is twice the half-bit divider in core clocks.</a:t>
            </a:r>
          </a:p>
        </p:txBody>
      </p:sp>
      <p:sp>
        <p:nvSpPr>
          <p:cNvPr id="9" name="explanation-1">
            <a:extLst xmlns:a="http://schemas.openxmlformats.org/drawingml/2006/main">
              <a:ext uri="{FF2B5EF4-FFF2-40B4-BE49-F238E27FC236}">
                <a16:creationId xmlns:a16="http://schemas.microsoft.com/office/drawing/2014/main" id="{025BED56-1D6F-4498-8F2B-D2860D75CEF9}"/>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At 50 MHz and divider 2, SCLK is 12.5 MHz.</a:t>
            </a:r>
          </a:p>
        </p:txBody>
      </p:sp>
      <p:sp>
        <p:nvSpPr>
          <p:cNvPr id="10" name="explanation-2">
            <a:extLst xmlns:a="http://schemas.openxmlformats.org/drawingml/2006/main">
              <a:ext uri="{FF2B5EF4-FFF2-40B4-BE49-F238E27FC236}">
                <a16:creationId xmlns:a16="http://schemas.microsoft.com/office/drawing/2014/main" id="{512B99C2-4540-4B97-8A6E-A03F6716F562}"/>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 byte uses 32 core cycles for its 16 half-bit intervals.</a:t>
            </a:r>
          </a:p>
        </p:txBody>
      </p:sp>
    </p:spTree>
    <p:extLst>
      <p:ext uri="{BB962C8B-B14F-4D97-AF65-F5344CB8AC3E}">
        <p14:creationId xmlns:p14="http://schemas.microsoft.com/office/powerpoint/2010/main" val="76044829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19/44</a:t>
            </a:r>
          </a:p>
        </p:txBody>
      </p:sp>
      <p:sp>
        <p:nvSpPr>
          <p:cNvPr id="7" name="lesson-title">
            <a:extLst xmlns:a="http://schemas.openxmlformats.org/drawingml/2006/main">
              <a:ext uri="{FF2B5EF4-FFF2-40B4-BE49-F238E27FC236}">
                <a16:creationId xmlns:a16="http://schemas.microsoft.com/office/drawing/2014/main" id="{EC8D66FD-68EA-471C-A1C6-6AE683DB42AC}"/>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Divider and byte-time calculation</a:t>
            </a:r>
          </a:p>
        </p:txBody>
      </p:sp>
      <p:sp>
        <p:nvSpPr>
          <p:cNvPr id="8" name="explanation-0">
            <a:extLst xmlns:a="http://schemas.openxmlformats.org/drawingml/2006/main">
              <a:ext uri="{FF2B5EF4-FFF2-40B4-BE49-F238E27FC236}">
                <a16:creationId xmlns:a16="http://schemas.microsoft.com/office/drawing/2014/main" id="{E35A65C8-9F86-4F61-A240-49CCFD9F6B0A}"/>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At 50 MHz, one core cycle is 20 ns. Divider 2 gives 40 ns half-period.</a:t>
            </a:r>
          </a:p>
        </p:txBody>
      </p:sp>
      <p:sp>
        <p:nvSpPr>
          <p:cNvPr id="9" name="explanation-1">
            <a:extLst xmlns:a="http://schemas.openxmlformats.org/drawingml/2006/main">
              <a:ext uri="{FF2B5EF4-FFF2-40B4-BE49-F238E27FC236}">
                <a16:creationId xmlns:a16="http://schemas.microsoft.com/office/drawing/2014/main" id="{854A7AD1-FB61-4CE6-B108-922F8F7B0AF9}"/>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SCLK = 50 MHz / (2 x 2) = 12.5 MHz. Eight periods take 640 ns.</a:t>
            </a:r>
          </a:p>
        </p:txBody>
      </p:sp>
      <p:sp>
        <p:nvSpPr>
          <p:cNvPr id="10" name="explanation-2">
            <a:extLst xmlns:a="http://schemas.openxmlformats.org/drawingml/2006/main">
              <a:ext uri="{FF2B5EF4-FFF2-40B4-BE49-F238E27FC236}">
                <a16:creationId xmlns:a16="http://schemas.microsoft.com/office/drawing/2014/main" id="{F28E6CAB-E4F1-4BCD-9FAA-034B065BC292}"/>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Divider 3 gives 8.333 MHz and a nominal 960 ns byte.</a:t>
            </a:r>
          </a:p>
        </p:txBody>
      </p:sp>
    </p:spTree>
    <p:extLst>
      <p:ext uri="{BB962C8B-B14F-4D97-AF65-F5344CB8AC3E}">
        <p14:creationId xmlns:p14="http://schemas.microsoft.com/office/powerpoint/2010/main" val="76044829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20/44</a:t>
            </a:r>
          </a:p>
        </p:txBody>
      </p:sp>
      <p:sp>
        <p:nvSpPr>
          <p:cNvPr id="7" name="lesson-title">
            <a:extLst xmlns:a="http://schemas.openxmlformats.org/drawingml/2006/main">
              <a:ext uri="{FF2B5EF4-FFF2-40B4-BE49-F238E27FC236}">
                <a16:creationId xmlns:a16="http://schemas.microsoft.com/office/drawing/2014/main" id="{1BF2921A-925A-4205-B2EC-DCDAD4A5AABF}"/>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Return-path timing budget</a:t>
            </a:r>
          </a:p>
        </p:txBody>
      </p:sp>
      <p:sp>
        <p:nvSpPr>
          <p:cNvPr id="8" name="explanation-0">
            <a:extLst xmlns:a="http://schemas.openxmlformats.org/drawingml/2006/main">
              <a:ext uri="{FF2B5EF4-FFF2-40B4-BE49-F238E27FC236}">
                <a16:creationId xmlns:a16="http://schemas.microsoft.com/office/drawing/2014/main" id="{F751CD37-345C-461B-8B9C-393DA4CB7799}"/>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Assume SCLK half-period 40 ns, peripheral clock-to-output 5 ns.</a:t>
            </a:r>
          </a:p>
        </p:txBody>
      </p:sp>
      <p:sp>
        <p:nvSpPr>
          <p:cNvPr id="9" name="explanation-1">
            <a:extLst xmlns:a="http://schemas.openxmlformats.org/drawingml/2006/main">
              <a:ext uri="{FF2B5EF4-FFF2-40B4-BE49-F238E27FC236}">
                <a16:creationId xmlns:a16="http://schemas.microsoft.com/office/drawing/2014/main" id="{02634059-1AE8-44C2-8D5C-C9E25F1D3DBC}"/>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Round-trip board delay 2 ns plus receiver setup 3 ns uses 10 ns.</a:t>
            </a:r>
          </a:p>
        </p:txBody>
      </p:sp>
      <p:sp>
        <p:nvSpPr>
          <p:cNvPr id="10" name="explanation-2">
            <a:extLst xmlns:a="http://schemas.openxmlformats.org/drawingml/2006/main">
              <a:ext uri="{FF2B5EF4-FFF2-40B4-BE49-F238E27FC236}">
                <a16:creationId xmlns:a16="http://schemas.microsoft.com/office/drawing/2014/main" id="{B75E8E05-DAC2-4276-B2CE-1BB2F43A39DE}"/>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Remaining sample margin = 40 - 5 - 2 - 3 = 30 ns.</a:t>
            </a:r>
          </a:p>
        </p:txBody>
      </p:sp>
    </p:spTree>
    <p:extLst>
      <p:ext uri="{BB962C8B-B14F-4D97-AF65-F5344CB8AC3E}">
        <p14:creationId xmlns:p14="http://schemas.microsoft.com/office/powerpoint/2010/main" val="76044829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21/44</a:t>
            </a:r>
          </a:p>
        </p:txBody>
      </p:sp>
      <p:sp>
        <p:nvSpPr>
          <p:cNvPr id="7" name="lesson-title">
            <a:extLst xmlns:a="http://schemas.openxmlformats.org/drawingml/2006/main">
              <a:ext uri="{FF2B5EF4-FFF2-40B4-BE49-F238E27FC236}">
                <a16:creationId xmlns:a16="http://schemas.microsoft.com/office/drawing/2014/main" id="{7717DBA4-BD09-4825-B988-0D7658A9C1E3}"/>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Sampling the peripheral response</a:t>
            </a:r>
          </a:p>
        </p:txBody>
      </p:sp>
      <p:sp>
        <p:nvSpPr>
          <p:cNvPr id="8" name="explanation-0">
            <a:extLst xmlns:a="http://schemas.openxmlformats.org/drawingml/2006/main">
              <a:ext uri="{FF2B5EF4-FFF2-40B4-BE49-F238E27FC236}">
                <a16:creationId xmlns:a16="http://schemas.microsoft.com/office/drawing/2014/main" id="{7DF8B484-5066-4AF1-BBF1-AC9EBAAC43F9}"/>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MISO must settle before the selected capture edge.</a:t>
            </a:r>
          </a:p>
        </p:txBody>
      </p:sp>
      <p:sp>
        <p:nvSpPr>
          <p:cNvPr id="9" name="explanation-1">
            <a:extLst xmlns:a="http://schemas.openxmlformats.org/drawingml/2006/main">
              <a:ext uri="{FF2B5EF4-FFF2-40B4-BE49-F238E27FC236}">
                <a16:creationId xmlns:a16="http://schemas.microsoft.com/office/drawing/2014/main" id="{4BB628F3-177B-45CA-8DC0-4C6598E4FC2C}"/>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Board and peripheral delay consume part of the timing budget.</a:t>
            </a:r>
          </a:p>
        </p:txBody>
      </p:sp>
      <p:sp>
        <p:nvSpPr>
          <p:cNvPr id="10" name="explanation-2">
            <a:extLst xmlns:a="http://schemas.openxmlformats.org/drawingml/2006/main">
              <a:ext uri="{FF2B5EF4-FFF2-40B4-BE49-F238E27FC236}">
                <a16:creationId xmlns:a16="http://schemas.microsoft.com/office/drawing/2014/main" id="{CF833FC4-BA4E-41E9-8B72-9B8D32828D39}"/>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 fast core clock alone does not certify external SPI timing.</a:t>
            </a:r>
          </a:p>
        </p:txBody>
      </p:sp>
    </p:spTree>
    <p:extLst>
      <p:ext uri="{BB962C8B-B14F-4D97-AF65-F5344CB8AC3E}">
        <p14:creationId xmlns:p14="http://schemas.microsoft.com/office/powerpoint/2010/main" val="76044829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22/44</a:t>
            </a:r>
          </a:p>
        </p:txBody>
      </p:sp>
      <p:sp>
        <p:nvSpPr>
          <p:cNvPr id="7" name="lesson-title">
            <a:extLst xmlns:a="http://schemas.openxmlformats.org/drawingml/2006/main">
              <a:ext uri="{FF2B5EF4-FFF2-40B4-BE49-F238E27FC236}">
                <a16:creationId xmlns:a16="http://schemas.microsoft.com/office/drawing/2014/main" id="{0789B8B1-6688-4257-ABBD-B7B6E8CDBA48}"/>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RTL walkthrough: receive sample edge</a:t>
            </a:r>
          </a:p>
        </p:txBody>
      </p:sp>
      <p:sp>
        <p:nvSpPr>
          <p:cNvPr id="8" name="explanation-0">
            <a:extLst xmlns:a="http://schemas.openxmlformats.org/drawingml/2006/main">
              <a:ext uri="{FF2B5EF4-FFF2-40B4-BE49-F238E27FC236}">
                <a16:creationId xmlns:a16="http://schemas.microsoft.com/office/drawing/2014/main" id="{89B86D33-6C4E-4FF3-8A3D-7A2694C21D6D}"/>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CPHA chooses leading or trailing edge capture.</a:t>
            </a:r>
          </a:p>
        </p:txBody>
      </p:sp>
      <p:sp>
        <p:nvSpPr>
          <p:cNvPr id="9" name="explanation-1">
            <a:extLst xmlns:a="http://schemas.openxmlformats.org/drawingml/2006/main">
              <a:ext uri="{FF2B5EF4-FFF2-40B4-BE49-F238E27FC236}">
                <a16:creationId xmlns:a16="http://schemas.microsoft.com/office/drawing/2014/main" id="{B4B9AB12-BA50-40C3-B01A-E406402CCE2D}"/>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The register writes bit 7 first and pulses valid after bit 0.</a:t>
            </a:r>
          </a:p>
        </p:txBody>
      </p:sp>
      <p:sp>
        <p:nvSpPr>
          <p:cNvPr id="10" name="rtl-excerpt">
            <a:extLst xmlns:a="http://schemas.openxmlformats.org/drawingml/2006/main">
              <a:ext uri="{FF2B5EF4-FFF2-40B4-BE49-F238E27FC236}">
                <a16:creationId xmlns:a16="http://schemas.microsoft.com/office/drawing/2014/main" id="{3B871FDA-9717-46E8-8D32-CD9780CD7920}"/>
              </a:ext>
            </a:extLst>
          </p:cNvPr>
          <p:cNvSpPr>
            <a:spLocks xmlns:a="http://schemas.openxmlformats.org/drawingml/2006/main" noGrp="1"/>
          </p:cNvSpPr>
          <p:nvPr/>
        </p:nvSpPr>
        <p:spPr>
          <a:xfrm xmlns:a="http://schemas.openxmlformats.org/drawingml/2006/main">
            <a:off x="609600" y="2809875"/>
            <a:ext cx="109728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else if ((r_Leading_Edge &amp; ~w_CPHA) | (r_Trailing_Edge &amp; w_CPHA))</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begin</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o_RX_Byte[r_RX_Bit_Count] &lt;= i_SPI_MISO;  // Sample data</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r_RX_Bit_Count            &lt;= r_RX_Bit_Count - 1'b1;</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if (r_RX_Bit_Count == 3'b000)</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begin</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o_RX_DV   &lt;= 1'b1;   // Byte done, pulse Data Valid</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end</a:t>
            </a:r>
          </a:p>
        </p:txBody>
      </p:sp>
      <p:sp>
        <p:nvSpPr>
          <p:cNvPr id="11" name="rtl-source">
            <a:extLst xmlns:a="http://schemas.openxmlformats.org/drawingml/2006/main">
              <a:ext uri="{FF2B5EF4-FFF2-40B4-BE49-F238E27FC236}">
                <a16:creationId xmlns:a16="http://schemas.microsoft.com/office/drawing/2014/main" id="{171B863A-ABC9-44B5-9375-1069D13031DC}"/>
              </a:ext>
            </a:extLst>
          </p:cNvPr>
          <p:cNvSpPr>
            <a:spLocks xmlns:a="http://schemas.openxmlformats.org/drawingml/2006/main" noGrp="1"/>
          </p:cNvSpPr>
          <p:nvPr/>
        </p:nvSpPr>
        <p:spPr>
          <a:xfrm xmlns:a="http://schemas.openxmlformats.org/drawingml/2006/main">
            <a:off x="609600" y="59531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hw/protocols/spi/01_rtl/SPI_Master.v:221</a:t>
            </a:r>
          </a:p>
        </p:txBody>
      </p:sp>
    </p:spTree>
    <p:extLst>
      <p:ext uri="{BB962C8B-B14F-4D97-AF65-F5344CB8AC3E}">
        <p14:creationId xmlns:p14="http://schemas.microsoft.com/office/powerpoint/2010/main" val="76044829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23/44</a:t>
            </a:r>
          </a:p>
        </p:txBody>
      </p:sp>
      <p:sp>
        <p:nvSpPr>
          <p:cNvPr id="7" name="lesson-title">
            <a:extLst xmlns:a="http://schemas.openxmlformats.org/drawingml/2006/main">
              <a:ext uri="{FF2B5EF4-FFF2-40B4-BE49-F238E27FC236}">
                <a16:creationId xmlns:a16="http://schemas.microsoft.com/office/drawing/2014/main" id="{C571A5BB-4A2C-474B-92BE-AEC59D245F41}"/>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The local byte interface</a:t>
            </a:r>
          </a:p>
        </p:txBody>
      </p:sp>
      <p:sp>
        <p:nvSpPr>
          <p:cNvPr id="8" name="explanation-0">
            <a:extLst xmlns:a="http://schemas.openxmlformats.org/drawingml/2006/main">
              <a:ext uri="{FF2B5EF4-FFF2-40B4-BE49-F238E27FC236}">
                <a16:creationId xmlns:a16="http://schemas.microsoft.com/office/drawing/2014/main" id="{FD39939B-083E-4806-91AB-FEFDB72C8E16}"/>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Present tx_byte and pulse tx_valid only while tx_ready is high.</a:t>
            </a:r>
          </a:p>
        </p:txBody>
      </p:sp>
      <p:sp>
        <p:nvSpPr>
          <p:cNvPr id="9" name="explanation-1">
            <a:extLst xmlns:a="http://schemas.openxmlformats.org/drawingml/2006/main">
              <a:ext uri="{FF2B5EF4-FFF2-40B4-BE49-F238E27FC236}">
                <a16:creationId xmlns:a16="http://schemas.microsoft.com/office/drawing/2014/main" id="{804D1068-0863-4744-8B67-D9A8D3049F71}"/>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rx_byte is meaningful when rx_valid asserts.</a:t>
            </a:r>
          </a:p>
        </p:txBody>
      </p:sp>
      <p:sp>
        <p:nvSpPr>
          <p:cNvPr id="10" name="explanation-2">
            <a:extLst xmlns:a="http://schemas.openxmlformats.org/drawingml/2006/main">
              <a:ext uri="{FF2B5EF4-FFF2-40B4-BE49-F238E27FC236}">
                <a16:creationId xmlns:a16="http://schemas.microsoft.com/office/drawing/2014/main" id="{E5297FBE-861C-4FE7-BE9A-9605DDEB751F}"/>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Mode and divider are compile-time parameters.</a:t>
            </a:r>
          </a:p>
        </p:txBody>
      </p:sp>
      <p:graphicFrame>
        <p:nvGraphicFramePr>
          <p:cNvPr id="21" name=""/>
          <p:cNvGraphicFramePr/>
          <p:nvPr/>
        </p:nvGraphicFramePr>
        <p:xfrm>
          <a:off xmlns:a="http://schemas.openxmlformats.org/drawingml/2006/main" x="609600" y="2914650"/>
          <a:ext xmlns:a="http://schemas.openxmlformats.org/drawingml/2006/main" cx="10972800" cy="3238500"/>
        </p:xfrm>
        <a:graphic xmlns:a="http://schemas.openxmlformats.org/drawingml/2006/main">
          <a:graphicData uri="http://schemas.openxmlformats.org/drawingml/2006/table">
            <a:tbl>
              <a:tblPr/>
              <a:tblGrid>
                <a:gridCol w="3333750"/>
                <a:gridCol w="7639050"/>
              </a:tblGrid>
              <a:tr h="647700">
                <a:tc>
                  <a:txBody>
                    <a:bodyPr>
                      <a:noAutofit/>
                    </a:bodyPr>
                    <a:lstStyle/>
                    <a:p>
                      <a:r>
                        <a:rPr sz="1650" b="1">
                          <a:solidFill>
                            <a:srgbClr val="EF9529"/>
                          </a:solidFill>
                          <a:latin typeface="Segoe UI"/>
                          <a:ea typeface="Segoe UI"/>
                          <a:cs typeface="Segoe UI"/>
                        </a:rPr>
                        <a:t>Signal</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Meaning</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tx_byte / tx_valid</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Byte and one-cycle launch pulse</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tx_ready</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Controller may accept a new byte</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rx_byte / rx_valid</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Received byte and completion pulse</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SPI_MODE / CLKS_PER_HALF_BIT</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Elaboration parameters</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76044829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24/44</a:t>
            </a:r>
          </a:p>
        </p:txBody>
      </p:sp>
      <p:sp>
        <p:nvSpPr>
          <p:cNvPr id="7" name="lesson-title">
            <a:extLst xmlns:a="http://schemas.openxmlformats.org/drawingml/2006/main">
              <a:ext uri="{FF2B5EF4-FFF2-40B4-BE49-F238E27FC236}">
                <a16:creationId xmlns:a16="http://schemas.microsoft.com/office/drawing/2014/main" id="{E0F4FB8A-EBBD-45B1-B99E-E610AFF009D2}"/>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RTL walkthrough: the latched TX byte</a:t>
            </a:r>
          </a:p>
        </p:txBody>
      </p:sp>
      <p:sp>
        <p:nvSpPr>
          <p:cNvPr id="8" name="explanation-0">
            <a:extLst xmlns:a="http://schemas.openxmlformats.org/drawingml/2006/main">
              <a:ext uri="{FF2B5EF4-FFF2-40B4-BE49-F238E27FC236}">
                <a16:creationId xmlns:a16="http://schemas.microsoft.com/office/drawing/2014/main" id="{03184419-C7A2-4AD2-AC9C-D295392DEDD7}"/>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The module stores i_TX_Byte when i_TX_DV pulses.</a:t>
            </a:r>
          </a:p>
        </p:txBody>
      </p:sp>
      <p:sp>
        <p:nvSpPr>
          <p:cNvPr id="9" name="explanation-1">
            <a:extLst xmlns:a="http://schemas.openxmlformats.org/drawingml/2006/main">
              <a:ext uri="{FF2B5EF4-FFF2-40B4-BE49-F238E27FC236}">
                <a16:creationId xmlns:a16="http://schemas.microsoft.com/office/drawing/2014/main" id="{732D04F0-5A3B-43D9-944F-B11FB1F6D61F}"/>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Later MOSI updates read the stored byte, not a changing external input.</a:t>
            </a:r>
          </a:p>
        </p:txBody>
      </p:sp>
      <p:sp>
        <p:nvSpPr>
          <p:cNvPr id="10" name="rtl-excerpt">
            <a:extLst xmlns:a="http://schemas.openxmlformats.org/drawingml/2006/main">
              <a:ext uri="{FF2B5EF4-FFF2-40B4-BE49-F238E27FC236}">
                <a16:creationId xmlns:a16="http://schemas.microsoft.com/office/drawing/2014/main" id="{4B131886-5216-44F2-ADD2-5BB144251758}"/>
              </a:ext>
            </a:extLst>
          </p:cNvPr>
          <p:cNvSpPr>
            <a:spLocks xmlns:a="http://schemas.openxmlformats.org/drawingml/2006/main" noGrp="1"/>
          </p:cNvSpPr>
          <p:nvPr/>
        </p:nvSpPr>
        <p:spPr>
          <a:xfrm xmlns:a="http://schemas.openxmlformats.org/drawingml/2006/main">
            <a:off x="609600" y="2809875"/>
            <a:ext cx="109728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r_TX_DV &lt;= i_TX_DV; // 1 clock cycle delay</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if (i_TX_DV)</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begin</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r_TX_Byte &lt;= i_TX_Byte;</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  end</a:t>
            </a:r>
          </a:p>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end // else: !if(~i_Rst_L)</a:t>
            </a:r>
          </a:p>
        </p:txBody>
      </p:sp>
      <p:sp>
        <p:nvSpPr>
          <p:cNvPr id="11" name="rtl-source">
            <a:extLst xmlns:a="http://schemas.openxmlformats.org/drawingml/2006/main">
              <a:ext uri="{FF2B5EF4-FFF2-40B4-BE49-F238E27FC236}">
                <a16:creationId xmlns:a16="http://schemas.microsoft.com/office/drawing/2014/main" id="{6E99F54F-7573-4B18-A874-DEAADADECEC0}"/>
              </a:ext>
            </a:extLst>
          </p:cNvPr>
          <p:cNvSpPr>
            <a:spLocks xmlns:a="http://schemas.openxmlformats.org/drawingml/2006/main" noGrp="1"/>
          </p:cNvSpPr>
          <p:nvPr/>
        </p:nvSpPr>
        <p:spPr>
          <a:xfrm xmlns:a="http://schemas.openxmlformats.org/drawingml/2006/main">
            <a:off x="609600" y="59531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hw/protocols/spi/01_rtl/SPI_Master.v:162</a:t>
            </a:r>
          </a:p>
        </p:txBody>
      </p:sp>
    </p:spTree>
    <p:extLst>
      <p:ext uri="{BB962C8B-B14F-4D97-AF65-F5344CB8AC3E}">
        <p14:creationId xmlns:p14="http://schemas.microsoft.com/office/powerpoint/2010/main" val="760448296"/>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25/44</a:t>
            </a:r>
          </a:p>
        </p:txBody>
      </p:sp>
      <p:sp>
        <p:nvSpPr>
          <p:cNvPr id="7" name="lesson-title">
            <a:extLst xmlns:a="http://schemas.openxmlformats.org/drawingml/2006/main">
              <a:ext uri="{FF2B5EF4-FFF2-40B4-BE49-F238E27FC236}">
                <a16:creationId xmlns:a16="http://schemas.microsoft.com/office/drawing/2014/main" id="{A7B855E8-A2F0-43D7-9F2D-F9F39B1DDEBE}"/>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RTL walkthrough: CS generation</a:t>
            </a:r>
          </a:p>
        </p:txBody>
      </p:sp>
      <p:sp>
        <p:nvSpPr>
          <p:cNvPr id="8" name="explanation-0">
            <a:extLst xmlns:a="http://schemas.openxmlformats.org/drawingml/2006/main">
              <a:ext uri="{FF2B5EF4-FFF2-40B4-BE49-F238E27FC236}">
                <a16:creationId xmlns:a16="http://schemas.microsoft.com/office/drawing/2014/main" id="{89CC5944-F1D7-4EA9-9C1E-E0871446F501}"/>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The wrapper releases CS during reset and idle.</a:t>
            </a:r>
          </a:p>
        </p:txBody>
      </p:sp>
      <p:sp>
        <p:nvSpPr>
          <p:cNvPr id="9" name="explanation-1">
            <a:extLst xmlns:a="http://schemas.openxmlformats.org/drawingml/2006/main">
              <a:ext uri="{FF2B5EF4-FFF2-40B4-BE49-F238E27FC236}">
                <a16:creationId xmlns:a16="http://schemas.microsoft.com/office/drawing/2014/main" id="{F47CECCC-B178-408B-B43B-8DED875B9C0D}"/>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tx_valid starts the byte envelope while the engine leaves ready.</a:t>
            </a:r>
          </a:p>
        </p:txBody>
      </p:sp>
      <p:sp>
        <p:nvSpPr>
          <p:cNvPr id="10" name="rtl-excerpt">
            <a:extLst xmlns:a="http://schemas.openxmlformats.org/drawingml/2006/main">
              <a:ext uri="{FF2B5EF4-FFF2-40B4-BE49-F238E27FC236}">
                <a16:creationId xmlns:a16="http://schemas.microsoft.com/office/drawing/2014/main" id="{AAFAF454-3465-48CA-A731-38996F648EE7}"/>
              </a:ext>
            </a:extLst>
          </p:cNvPr>
          <p:cNvSpPr>
            <a:spLocks xmlns:a="http://schemas.openxmlformats.org/drawingml/2006/main" noGrp="1"/>
          </p:cNvSpPr>
          <p:nvPr/>
        </p:nvSpPr>
        <p:spPr>
          <a:xfrm xmlns:a="http://schemas.openxmlformats.org/drawingml/2006/main">
            <a:off x="609600" y="2809875"/>
            <a:ext cx="109728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Consolas"/>
                <a:ea typeface="Consolas"/>
                <a:cs typeface="Consolas"/>
              </a:defRPr>
            </a:pPr>
            <a:r>
              <a:rPr sz="1800" b="0">
                <a:solidFill>
                  <a:srgbClr val="EDEDED"/>
                </a:solidFill>
                <a:latin typeface="Consolas"/>
                <a:ea typeface="Consolas"/>
                <a:cs typeface="Consolas"/>
              </a:rPr>
              <a:t>assign cs_n = !reset_release[1] || (tx_ready &amp;&amp; !tx_valid);</a:t>
            </a:r>
          </a:p>
        </p:txBody>
      </p:sp>
      <p:sp>
        <p:nvSpPr>
          <p:cNvPr id="11" name="rtl-source">
            <a:extLst xmlns:a="http://schemas.openxmlformats.org/drawingml/2006/main">
              <a:ext uri="{FF2B5EF4-FFF2-40B4-BE49-F238E27FC236}">
                <a16:creationId xmlns:a16="http://schemas.microsoft.com/office/drawing/2014/main" id="{0399AF3F-D320-4281-A53C-A10AA633E11A}"/>
              </a:ext>
            </a:extLst>
          </p:cNvPr>
          <p:cNvSpPr>
            <a:spLocks xmlns:a="http://schemas.openxmlformats.org/drawingml/2006/main" noGrp="1"/>
          </p:cNvSpPr>
          <p:nvPr/>
        </p:nvSpPr>
        <p:spPr>
          <a:xfrm xmlns:a="http://schemas.openxmlformats.org/drawingml/2006/main">
            <a:off x="609600" y="59531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hw/protocols/spi/01_rtl/spi_core.v:32</a:t>
            </a:r>
          </a:p>
        </p:txBody>
      </p:sp>
    </p:spTree>
    <p:extLst>
      <p:ext uri="{BB962C8B-B14F-4D97-AF65-F5344CB8AC3E}">
        <p14:creationId xmlns:p14="http://schemas.microsoft.com/office/powerpoint/2010/main" val="760448296"/>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26/44</a:t>
            </a:r>
          </a:p>
        </p:txBody>
      </p:sp>
      <p:sp>
        <p:nvSpPr>
          <p:cNvPr id="7" name="lesson-title">
            <a:extLst xmlns:a="http://schemas.openxmlformats.org/drawingml/2006/main">
              <a:ext uri="{FF2B5EF4-FFF2-40B4-BE49-F238E27FC236}">
                <a16:creationId xmlns:a16="http://schemas.microsoft.com/office/drawing/2014/main" id="{EBD0C5AE-5FF7-4A05-9F2B-6D1CDD206EDB}"/>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Counter-based SPI control sequence</a:t>
            </a:r>
          </a:p>
        </p:txBody>
      </p:sp>
      <p:sp>
        <p:nvSpPr>
          <p:cNvPr id="8" name="explanation-0">
            <a:extLst xmlns:a="http://schemas.openxmlformats.org/drawingml/2006/main">
              <a:ext uri="{FF2B5EF4-FFF2-40B4-BE49-F238E27FC236}">
                <a16:creationId xmlns:a16="http://schemas.microsoft.com/office/drawing/2014/main" id="{02CE3027-8600-43B0-9204-6FC63500B362}"/>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The real engine uses an edge counter, divider and edge flags.</a:t>
            </a:r>
          </a:p>
        </p:txBody>
      </p:sp>
      <p:sp>
        <p:nvSpPr>
          <p:cNvPr id="9" name="explanation-1">
            <a:extLst xmlns:a="http://schemas.openxmlformats.org/drawingml/2006/main">
              <a:ext uri="{FF2B5EF4-FFF2-40B4-BE49-F238E27FC236}">
                <a16:creationId xmlns:a16="http://schemas.microsoft.com/office/drawing/2014/main" id="{73C52EF0-ADED-4E0E-8D90-4491662DBA5E}"/>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tx_valid is a one-cycle request while ready, not a held stream valid.</a:t>
            </a:r>
          </a:p>
        </p:txBody>
      </p:sp>
      <p:graphicFrame>
        <p:nvGraphicFramePr>
          <p:cNvPr id="19" name=""/>
          <p:cNvGraphicFramePr/>
          <p:nvPr/>
        </p:nvGraphicFramePr>
        <p:xfrm>
          <a:off xmlns:a="http://schemas.openxmlformats.org/drawingml/2006/main" x="609600" y="2914650"/>
          <a:ext xmlns:a="http://schemas.openxmlformats.org/drawingml/2006/main" cx="10972800" cy="3238500"/>
        </p:xfrm>
        <a:graphic xmlns:a="http://schemas.openxmlformats.org/drawingml/2006/main">
          <a:graphicData uri="http://schemas.openxmlformats.org/drawingml/2006/table">
            <a:tbl>
              <a:tblPr/>
              <a:tblGrid>
                <a:gridCol w="3657600"/>
                <a:gridCol w="3657600"/>
                <a:gridCol w="3657600"/>
              </a:tblGrid>
              <a:tr h="647700">
                <a:tc>
                  <a:txBody>
                    <a:bodyPr>
                      <a:noAutofit/>
                    </a:bodyPr>
                    <a:lstStyle/>
                    <a:p>
                      <a:r>
                        <a:rPr sz="1650" b="1">
                          <a:solidFill>
                            <a:srgbClr val="EF9529"/>
                          </a:solidFill>
                          <a:latin typeface="Segoe UI"/>
                          <a:ea typeface="Segoe UI"/>
                          <a:cs typeface="Segoe UI"/>
                        </a:rPr>
                        <a:t>Phase</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State condition</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Action</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Accept</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i_TX_DV pulse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Load 16 edge events, clear ready</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Leading edge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Half-period count reached</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Toggle clock, pulse leading flag</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Trailing edge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Full-period count reached</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Toggle clock, pulse trailing flag</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Complete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Edge count zero</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Return ready, RX valid pulses</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760448296"/>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27/44</a:t>
            </a:r>
          </a:p>
        </p:txBody>
      </p:sp>
      <p:sp>
        <p:nvSpPr>
          <p:cNvPr id="7" name="lesson-title">
            <a:extLst xmlns:a="http://schemas.openxmlformats.org/drawingml/2006/main">
              <a:ext uri="{FF2B5EF4-FFF2-40B4-BE49-F238E27FC236}">
                <a16:creationId xmlns:a16="http://schemas.microsoft.com/office/drawing/2014/main" id="{B14505DD-C62F-4297-8FE9-75DFFEEC3BC7}"/>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Reset behaviour</a:t>
            </a:r>
          </a:p>
        </p:txBody>
      </p:sp>
      <p:sp>
        <p:nvSpPr>
          <p:cNvPr id="8" name="explanation-0">
            <a:extLst xmlns:a="http://schemas.openxmlformats.org/drawingml/2006/main">
              <a:ext uri="{FF2B5EF4-FFF2-40B4-BE49-F238E27FC236}">
                <a16:creationId xmlns:a16="http://schemas.microsoft.com/office/drawing/2014/main" id="{95B28DC6-155C-45A5-9C93-99C0708845A4}"/>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rst_n asserts low asynchronously.</a:t>
            </a:r>
          </a:p>
        </p:txBody>
      </p:sp>
      <p:sp>
        <p:nvSpPr>
          <p:cNvPr id="9" name="explanation-1">
            <a:extLst xmlns:a="http://schemas.openxmlformats.org/drawingml/2006/main">
              <a:ext uri="{FF2B5EF4-FFF2-40B4-BE49-F238E27FC236}">
                <a16:creationId xmlns:a16="http://schemas.microsoft.com/office/drawing/2014/main" id="{EF736923-2485-40F4-8077-FF6F602A65C5}"/>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 two-flop chain releases the controller reset in the clock domain.</a:t>
            </a:r>
          </a:p>
        </p:txBody>
      </p:sp>
      <p:sp>
        <p:nvSpPr>
          <p:cNvPr id="10" name="explanation-2">
            <a:extLst xmlns:a="http://schemas.openxmlformats.org/drawingml/2006/main">
              <a:ext uri="{FF2B5EF4-FFF2-40B4-BE49-F238E27FC236}">
                <a16:creationId xmlns:a16="http://schemas.microsoft.com/office/drawing/2014/main" id="{8B79B8AF-9F76-476A-8619-D3EA08CA9BE2}"/>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Reset aborts a transfer and deselects the peripheral.</a:t>
            </a:r>
          </a:p>
        </p:txBody>
      </p:sp>
    </p:spTree>
    <p:extLst>
      <p:ext uri="{BB962C8B-B14F-4D97-AF65-F5344CB8AC3E}">
        <p14:creationId xmlns:p14="http://schemas.microsoft.com/office/powerpoint/2010/main" val="760448296"/>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28/44</a:t>
            </a:r>
          </a:p>
        </p:txBody>
      </p:sp>
      <p:sp>
        <p:nvSpPr>
          <p:cNvPr id="7" name="lesson-title">
            <a:extLst xmlns:a="http://schemas.openxmlformats.org/drawingml/2006/main">
              <a:ext uri="{FF2B5EF4-FFF2-40B4-BE49-F238E27FC236}">
                <a16:creationId xmlns:a16="http://schemas.microsoft.com/office/drawing/2014/main" id="{C677118B-C902-4E4C-B6C8-13DE740C0828}"/>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The independent peripheral model</a:t>
            </a:r>
          </a:p>
        </p:txBody>
      </p:sp>
      <p:sp>
        <p:nvSpPr>
          <p:cNvPr id="8" name="explanation-0">
            <a:extLst xmlns:a="http://schemas.openxmlformats.org/drawingml/2006/main">
              <a:ext uri="{FF2B5EF4-FFF2-40B4-BE49-F238E27FC236}">
                <a16:creationId xmlns:a16="http://schemas.microsoft.com/office/drawing/2014/main" id="{2E9639D5-BB49-4301-B200-7FE73A8C3F71}"/>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The model checks every transmitted MOSI bit.</a:t>
            </a:r>
          </a:p>
        </p:txBody>
      </p:sp>
      <p:sp>
        <p:nvSpPr>
          <p:cNvPr id="9" name="explanation-1">
            <a:extLst xmlns:a="http://schemas.openxmlformats.org/drawingml/2006/main">
              <a:ext uri="{FF2B5EF4-FFF2-40B4-BE49-F238E27FC236}">
                <a16:creationId xmlns:a16="http://schemas.microsoft.com/office/drawing/2014/main" id="{25D2488E-29CD-45F2-9A72-D098BA892941}"/>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Its MISO response is independent complementary data.</a:t>
            </a:r>
          </a:p>
        </p:txBody>
      </p:sp>
      <p:sp>
        <p:nvSpPr>
          <p:cNvPr id="10" name="explanation-2">
            <a:extLst xmlns:a="http://schemas.openxmlformats.org/drawingml/2006/main">
              <a:ext uri="{FF2B5EF4-FFF2-40B4-BE49-F238E27FC236}">
                <a16:creationId xmlns:a16="http://schemas.microsoft.com/office/drawing/2014/main" id="{21F1A918-A189-44F8-83BB-1CDA75C51460}"/>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Clock count, idle polarity and chip-select release are assertions.</a:t>
            </a:r>
          </a:p>
        </p:txBody>
      </p:sp>
    </p:spTree>
    <p:extLst>
      <p:ext uri="{BB962C8B-B14F-4D97-AF65-F5344CB8AC3E}">
        <p14:creationId xmlns:p14="http://schemas.microsoft.com/office/powerpoint/2010/main" val="760448296"/>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29/44</a:t>
            </a:r>
          </a:p>
        </p:txBody>
      </p:sp>
      <p:sp>
        <p:nvSpPr>
          <p:cNvPr id="7" name="lesson-title">
            <a:extLst xmlns:a="http://schemas.openxmlformats.org/drawingml/2006/main">
              <a:ext uri="{FF2B5EF4-FFF2-40B4-BE49-F238E27FC236}">
                <a16:creationId xmlns:a16="http://schemas.microsoft.com/office/drawing/2014/main" id="{C7838AFF-1F01-490E-95CF-CDA516D49FE5}"/>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Measured SPI trace: A5 and independent 5A</a:t>
            </a:r>
          </a:p>
        </p:txBody>
      </p:sp>
      <p:sp>
        <p:nvSpPr>
          <p:cNvPr id="8" name="explanation-0">
            <a:extLst xmlns:a="http://schemas.openxmlformats.org/drawingml/2006/main">
              <a:ext uri="{FF2B5EF4-FFF2-40B4-BE49-F238E27FC236}">
                <a16:creationId xmlns:a16="http://schemas.microsoft.com/office/drawing/2014/main" id="{2B1B4D7A-732E-485B-AEEF-C634C7D964C1}"/>
              </a:ext>
            </a:extLst>
          </p:cNvPr>
          <p:cNvSpPr>
            <a:spLocks xmlns:a="http://schemas.openxmlformats.org/drawingml/2006/main" noGrp="1"/>
          </p:cNvSpPr>
          <p:nvPr/>
        </p:nvSpPr>
        <p:spPr>
          <a:xfrm xmlns:a="http://schemas.openxmlformats.org/drawingml/2006/main">
            <a:off x="609600" y="16954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100 MHz simulation core, divider 2: measured SCLK is 25 MHz.</a:t>
            </a:r>
          </a:p>
        </p:txBody>
      </p:sp>
      <p:sp>
        <p:nvSpPr>
          <p:cNvPr id="9" name="explanation-1">
            <a:extLst xmlns:a="http://schemas.openxmlformats.org/drawingml/2006/main">
              <a:ext uri="{FF2B5EF4-FFF2-40B4-BE49-F238E27FC236}">
                <a16:creationId xmlns:a16="http://schemas.microsoft.com/office/drawing/2014/main" id="{83955F52-3D04-4512-B22F-D04FE0FCD8A8}"/>
              </a:ext>
            </a:extLst>
          </p:cNvPr>
          <p:cNvSpPr>
            <a:spLocks xmlns:a="http://schemas.openxmlformats.org/drawingml/2006/main" noGrp="1"/>
          </p:cNvSpPr>
          <p:nvPr/>
        </p:nvSpPr>
        <p:spPr>
          <a:xfrm xmlns:a="http://schemas.openxmlformats.org/drawingml/2006/main">
            <a:off x="609600" y="20574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Eight rising edges decode MOSI A5 and MISO 5A.</a:t>
            </a:r>
          </a:p>
        </p:txBody>
      </p:sp>
      <p:graphicFrame>
        <p:nvGraphicFramePr>
          <p:cNvPr id="23" name="Chart"/>
          <p:cNvGraphicFramePr/>
          <p:nvPr/>
        </p:nvGraphicFramePr>
        <p:xfrm>
          <a:off xmlns:a="http://schemas.openxmlformats.org/drawingml/2006/main" x="609600" y="2381250"/>
          <a:ext xmlns:a="http://schemas.openxmlformats.org/drawingml/2006/main" cx="10972800" cy="738188"/>
        </p:xfrm>
        <a:graphic xmlns:a="http://schemas.openxmlformats.org/drawingml/2006/main">
          <a:graphicData uri="http://schemas.openxmlformats.org/drawingml/2006/chart">
            <c:chart xmlns:r="http://schemas.openxmlformats.org/officeDocument/2006/relationships" xmlns:c="http://schemas.openxmlformats.org/drawingml/2006/chart" r:id="R9c4c3bae99804e02"/>
          </a:graphicData>
        </a:graphic>
      </p:graphicFrame>
      <p:graphicFrame>
        <p:nvGraphicFramePr>
          <p:cNvPr id="24" name="Chart"/>
          <p:cNvGraphicFramePr/>
          <p:nvPr/>
        </p:nvGraphicFramePr>
        <p:xfrm>
          <a:off xmlns:a="http://schemas.openxmlformats.org/drawingml/2006/main" x="609600" y="3119438"/>
          <a:ext xmlns:a="http://schemas.openxmlformats.org/drawingml/2006/main" cx="10972800" cy="738188"/>
        </p:xfrm>
        <a:graphic xmlns:a="http://schemas.openxmlformats.org/drawingml/2006/main">
          <a:graphicData uri="http://schemas.openxmlformats.org/drawingml/2006/chart">
            <c:chart xmlns:r="http://schemas.openxmlformats.org/officeDocument/2006/relationships" xmlns:c="http://schemas.openxmlformats.org/drawingml/2006/chart" r:id="R9963dde70c4d48c4"/>
          </a:graphicData>
        </a:graphic>
      </p:graphicFrame>
      <p:graphicFrame>
        <p:nvGraphicFramePr>
          <p:cNvPr id="25" name="Chart"/>
          <p:cNvGraphicFramePr/>
          <p:nvPr/>
        </p:nvGraphicFramePr>
        <p:xfrm>
          <a:off xmlns:a="http://schemas.openxmlformats.org/drawingml/2006/main" x="609600" y="3857625"/>
          <a:ext xmlns:a="http://schemas.openxmlformats.org/drawingml/2006/main" cx="10972800" cy="738188"/>
        </p:xfrm>
        <a:graphic xmlns:a="http://schemas.openxmlformats.org/drawingml/2006/main">
          <a:graphicData uri="http://schemas.openxmlformats.org/drawingml/2006/chart">
            <c:chart xmlns:r="http://schemas.openxmlformats.org/officeDocument/2006/relationships" xmlns:c="http://schemas.openxmlformats.org/drawingml/2006/chart" r:id="Rbef841d642c04ebd"/>
          </a:graphicData>
        </a:graphic>
      </p:graphicFrame>
      <p:graphicFrame>
        <p:nvGraphicFramePr>
          <p:cNvPr id="26" name="Chart"/>
          <p:cNvGraphicFramePr/>
          <p:nvPr/>
        </p:nvGraphicFramePr>
        <p:xfrm>
          <a:off xmlns:a="http://schemas.openxmlformats.org/drawingml/2006/main" x="609600" y="4595813"/>
          <a:ext xmlns:a="http://schemas.openxmlformats.org/drawingml/2006/main" cx="10972800" cy="1214438"/>
        </p:xfrm>
        <a:graphic xmlns:a="http://schemas.openxmlformats.org/drawingml/2006/main">
          <a:graphicData uri="http://schemas.openxmlformats.org/drawingml/2006/chart">
            <c:chart xmlns:r="http://schemas.openxmlformats.org/officeDocument/2006/relationships" xmlns:c="http://schemas.openxmlformats.org/drawingml/2006/chart" r:id="R8daa1d1222a349a5"/>
          </a:graphicData>
        </a:graphic>
      </p:graphicFrame>
      <p:sp>
        <p:nvSpPr>
          <p:cNvPr id="14" name="trace-kind">
            <a:extLst xmlns:a="http://schemas.openxmlformats.org/drawingml/2006/main">
              <a:ext uri="{FF2B5EF4-FFF2-40B4-BE49-F238E27FC236}">
                <a16:creationId xmlns:a16="http://schemas.microsoft.com/office/drawing/2014/main" id="{089FC857-7D4F-447E-9340-A334C5198027}"/>
              </a:ext>
            </a:extLst>
          </p:cNvPr>
          <p:cNvSpPr>
            <a:spLocks xmlns:a="http://schemas.openxmlformats.org/drawingml/2006/main" noGrp="1"/>
          </p:cNvSpPr>
          <p:nvPr/>
        </p:nvSpPr>
        <p:spPr>
          <a:xfrm xmlns:a="http://schemas.openxmlformats.org/drawingml/2006/main">
            <a:off x="609600" y="60007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A9AA2"/>
                </a:solidFill>
                <a:latin typeface="Segoe UI"/>
                <a:ea typeface="Segoe UI"/>
                <a:cs typeface="Segoe UI"/>
              </a:defRPr>
            </a:pPr>
            <a:r>
              <a:rPr sz="1350" b="0">
                <a:solidFill>
                  <a:srgbClr val="9A9AA2"/>
                </a:solidFill>
                <a:latin typeface="Segoe UI"/>
                <a:ea typeface="Segoe UI"/>
                <a:cs typeface="Segoe UI"/>
              </a:rPr>
              <a:t>Logic levels: HIGH=1, LOW=0. MEASURED: positive Icarus regression</a:t>
            </a:r>
          </a:p>
        </p:txBody>
      </p:sp>
    </p:spTree>
    <p:extLst>
      <p:ext uri="{BB962C8B-B14F-4D97-AF65-F5344CB8AC3E}">
        <p14:creationId xmlns:p14="http://schemas.microsoft.com/office/powerpoint/2010/main" val="760448296"/>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30/44</a:t>
            </a:r>
          </a:p>
        </p:txBody>
      </p:sp>
      <p:sp>
        <p:nvSpPr>
          <p:cNvPr id="7" name="lesson-title">
            <a:extLst xmlns:a="http://schemas.openxmlformats.org/drawingml/2006/main">
              <a:ext uri="{FF2B5EF4-FFF2-40B4-BE49-F238E27FC236}">
                <a16:creationId xmlns:a16="http://schemas.microsoft.com/office/drawing/2014/main" id="{95FAAF3B-4110-49E7-8573-F9DE1D6B8A0A}"/>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What the SPI regression proves</a:t>
            </a:r>
          </a:p>
        </p:txBody>
      </p:sp>
      <p:sp>
        <p:nvSpPr>
          <p:cNvPr id="8" name="explanation-0">
            <a:extLst xmlns:a="http://schemas.openxmlformats.org/drawingml/2006/main">
              <a:ext uri="{FF2B5EF4-FFF2-40B4-BE49-F238E27FC236}">
                <a16:creationId xmlns:a16="http://schemas.microsoft.com/office/drawing/2014/main" id="{3EE5620B-4272-4061-9374-AB827A17319A}"/>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All 256 byte values pass in each of four modes.</a:t>
            </a:r>
          </a:p>
        </p:txBody>
      </p:sp>
      <p:sp>
        <p:nvSpPr>
          <p:cNvPr id="9" name="explanation-1">
            <a:extLst xmlns:a="http://schemas.openxmlformats.org/drawingml/2006/main">
              <a:ext uri="{FF2B5EF4-FFF2-40B4-BE49-F238E27FC236}">
                <a16:creationId xmlns:a16="http://schemas.microsoft.com/office/drawing/2014/main" id="{717AE491-8809-4816-AF91-CBB8AB854979}"/>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Divider, CS envelope and reset-abort checks pass.</a:t>
            </a:r>
          </a:p>
        </p:txBody>
      </p:sp>
      <p:sp>
        <p:nvSpPr>
          <p:cNvPr id="10" name="explanation-2">
            <a:extLst xmlns:a="http://schemas.openxmlformats.org/drawingml/2006/main">
              <a:ext uri="{FF2B5EF4-FFF2-40B4-BE49-F238E27FC236}">
                <a16:creationId xmlns:a16="http://schemas.microsoft.com/office/drawing/2014/main" id="{125C3BEB-2ACA-4F9F-BAF6-76E4F1AF8F9B}"/>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injected receive mismatch exits with a fatal error.</a:t>
            </a:r>
          </a:p>
        </p:txBody>
      </p:sp>
    </p:spTree>
    <p:extLst>
      <p:ext uri="{BB962C8B-B14F-4D97-AF65-F5344CB8AC3E}">
        <p14:creationId xmlns:p14="http://schemas.microsoft.com/office/powerpoint/2010/main" val="760448296"/>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31/44</a:t>
            </a:r>
          </a:p>
        </p:txBody>
      </p:sp>
      <p:sp>
        <p:nvSpPr>
          <p:cNvPr id="7" name="lesson-title">
            <a:extLst xmlns:a="http://schemas.openxmlformats.org/drawingml/2006/main">
              <a:ext uri="{FF2B5EF4-FFF2-40B4-BE49-F238E27FC236}">
                <a16:creationId xmlns:a16="http://schemas.microsoft.com/office/drawing/2014/main" id="{6D2A61CA-DE57-4D60-AF05-87D08B98877C}"/>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Multiple peripherals: MISO ownership</a:t>
            </a:r>
          </a:p>
        </p:txBody>
      </p:sp>
      <p:sp>
        <p:nvSpPr>
          <p:cNvPr id="8" name="explanation-0">
            <a:extLst xmlns:a="http://schemas.openxmlformats.org/drawingml/2006/main">
              <a:ext uri="{FF2B5EF4-FFF2-40B4-BE49-F238E27FC236}">
                <a16:creationId xmlns:a16="http://schemas.microsoft.com/office/drawing/2014/main" id="{F2F8E714-2C02-4031-AF90-71D3C634925F}"/>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The controller can share SCLK and MOSI while giving each peripheral its own CS.</a:t>
            </a:r>
          </a:p>
        </p:txBody>
      </p:sp>
      <p:sp>
        <p:nvSpPr>
          <p:cNvPr id="9" name="explanation-1">
            <a:extLst xmlns:a="http://schemas.openxmlformats.org/drawingml/2006/main">
              <a:ext uri="{FF2B5EF4-FFF2-40B4-BE49-F238E27FC236}">
                <a16:creationId xmlns:a16="http://schemas.microsoft.com/office/drawing/2014/main" id="{A22ED752-F1A4-4479-8C21-59E96F20793A}"/>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Only the selected peripheral should drive the shared MISO wire.</a:t>
            </a:r>
          </a:p>
        </p:txBody>
      </p:sp>
      <p:graphicFrame>
        <p:nvGraphicFramePr>
          <p:cNvPr id="19" name=""/>
          <p:cNvGraphicFramePr/>
          <p:nvPr/>
        </p:nvGraphicFramePr>
        <p:xfrm>
          <a:off xmlns:a="http://schemas.openxmlformats.org/drawingml/2006/main" x="609600" y="2914650"/>
          <a:ext xmlns:a="http://schemas.openxmlformats.org/drawingml/2006/main" cx="10972800" cy="3238500"/>
        </p:xfrm>
        <a:graphic xmlns:a="http://schemas.openxmlformats.org/drawingml/2006/main">
          <a:graphicData uri="http://schemas.openxmlformats.org/drawingml/2006/table">
            <a:tbl>
              <a:tblPr/>
              <a:tblGrid>
                <a:gridCol w="3657600"/>
                <a:gridCol w="3657600"/>
                <a:gridCol w="3657600"/>
              </a:tblGrid>
              <a:tr h="647700">
                <a:tc>
                  <a:txBody>
                    <a:bodyPr>
                      <a:noAutofit/>
                    </a:bodyPr>
                    <a:lstStyle/>
                    <a:p>
                      <a:r>
                        <a:rPr sz="1650" b="1">
                          <a:solidFill>
                            <a:srgbClr val="EF9529"/>
                          </a:solidFill>
                          <a:latin typeface="Segoe UI"/>
                          <a:ea typeface="Segoe UI"/>
                          <a:cs typeface="Segoe UI"/>
                        </a:rPr>
                        <a:t>CS0</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CS1</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Allowed MISO driver</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Neither peripheral</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Peripheral 0</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1</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Peripheral 1</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Potential contention, avoid</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760448296"/>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32/44</a:t>
            </a:r>
          </a:p>
        </p:txBody>
      </p:sp>
      <p:sp>
        <p:nvSpPr>
          <p:cNvPr id="7" name="lesson-title">
            <a:extLst xmlns:a="http://schemas.openxmlformats.org/drawingml/2006/main">
              <a:ext uri="{FF2B5EF4-FFF2-40B4-BE49-F238E27FC236}">
                <a16:creationId xmlns:a16="http://schemas.microsoft.com/office/drawing/2014/main" id="{C4DD0AD5-5A03-461B-AD3D-4FF0D86C854F}"/>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Guided lab: unknown mode and transfer time</a:t>
            </a:r>
          </a:p>
        </p:txBody>
      </p:sp>
      <p:sp>
        <p:nvSpPr>
          <p:cNvPr id="8" name="explanation-0">
            <a:extLst xmlns:a="http://schemas.openxmlformats.org/drawingml/2006/main">
              <a:ext uri="{FF2B5EF4-FFF2-40B4-BE49-F238E27FC236}">
                <a16:creationId xmlns:a16="http://schemas.microsoft.com/office/drawing/2014/main" id="{186E01D1-7ECB-4E74-A021-F99517F8A637}"/>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An unknown trace idles high and samples at falling edges. Which mode?</a:t>
            </a:r>
          </a:p>
        </p:txBody>
      </p:sp>
      <p:sp>
        <p:nvSpPr>
          <p:cNvPr id="9" name="explanation-1">
            <a:extLst xmlns:a="http://schemas.openxmlformats.org/drawingml/2006/main">
              <a:ext uri="{FF2B5EF4-FFF2-40B4-BE49-F238E27FC236}">
                <a16:creationId xmlns:a16="http://schemas.microsoft.com/office/drawing/2014/main" id="{1FA2BC92-D9A7-4275-8D52-F410BB2C0980}"/>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At 50 MHz and divider 3, calculate SCLK and eight-bit wire time.</a:t>
            </a:r>
          </a:p>
        </p:txBody>
      </p:sp>
      <p:sp>
        <p:nvSpPr>
          <p:cNvPr id="10" name="explanation-2">
            <a:extLst xmlns:a="http://schemas.openxmlformats.org/drawingml/2006/main">
              <a:ext uri="{FF2B5EF4-FFF2-40B4-BE49-F238E27FC236}">
                <a16:creationId xmlns:a16="http://schemas.microsoft.com/office/drawing/2014/main" id="{498905B9-FD83-4530-8AA6-B1359D51A015}"/>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Explain why a missing peripheral can still produce a completed byte.</a:t>
            </a:r>
          </a:p>
        </p:txBody>
      </p:sp>
    </p:spTree>
    <p:extLst>
      <p:ext uri="{BB962C8B-B14F-4D97-AF65-F5344CB8AC3E}">
        <p14:creationId xmlns:p14="http://schemas.microsoft.com/office/powerpoint/2010/main" val="760448296"/>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33/44</a:t>
            </a:r>
          </a:p>
        </p:txBody>
      </p:sp>
      <p:sp>
        <p:nvSpPr>
          <p:cNvPr id="7" name="lesson-title">
            <a:extLst xmlns:a="http://schemas.openxmlformats.org/drawingml/2006/main">
              <a:ext uri="{FF2B5EF4-FFF2-40B4-BE49-F238E27FC236}">
                <a16:creationId xmlns:a16="http://schemas.microsoft.com/office/drawing/2014/main" id="{0A8F99BD-BFA6-43DC-95C5-DE3F58CADA93}"/>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Lab solution: mode 2 and 960 ns</a:t>
            </a:r>
          </a:p>
        </p:txBody>
      </p:sp>
      <p:sp>
        <p:nvSpPr>
          <p:cNvPr id="8" name="explanation-0">
            <a:extLst xmlns:a="http://schemas.openxmlformats.org/drawingml/2006/main">
              <a:ext uri="{FF2B5EF4-FFF2-40B4-BE49-F238E27FC236}">
                <a16:creationId xmlns:a16="http://schemas.microsoft.com/office/drawing/2014/main" id="{58F7F539-05FB-426A-9A92-C462D6418265}"/>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Idle high means CPOL=1. Falling leading-edge sample means CPHA=0.</a:t>
            </a:r>
          </a:p>
        </p:txBody>
      </p:sp>
      <p:sp>
        <p:nvSpPr>
          <p:cNvPr id="9" name="explanation-1">
            <a:extLst xmlns:a="http://schemas.openxmlformats.org/drawingml/2006/main">
              <a:ext uri="{FF2B5EF4-FFF2-40B4-BE49-F238E27FC236}">
                <a16:creationId xmlns:a16="http://schemas.microsoft.com/office/drawing/2014/main" id="{59D7DDE6-61B3-4B3A-A1EB-E9FC45202724}"/>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Mode 2. SCLK = 50 / 6 = 8.333 MHz. Byte time = 8 / SCLK = 960 ns.</a:t>
            </a:r>
          </a:p>
        </p:txBody>
      </p:sp>
      <p:sp>
        <p:nvSpPr>
          <p:cNvPr id="10" name="explanation-2">
            <a:extLst xmlns:a="http://schemas.openxmlformats.org/drawingml/2006/main">
              <a:ext uri="{FF2B5EF4-FFF2-40B4-BE49-F238E27FC236}">
                <a16:creationId xmlns:a16="http://schemas.microsoft.com/office/drawing/2014/main" id="{42FD8BBB-DF29-4EC1-A331-879ABF806F00}"/>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A completed clock sequence proves progress, not that a peripheral accepted a command.</a:t>
            </a:r>
          </a:p>
        </p:txBody>
      </p:sp>
    </p:spTree>
    <p:extLst>
      <p:ext uri="{BB962C8B-B14F-4D97-AF65-F5344CB8AC3E}">
        <p14:creationId xmlns:p14="http://schemas.microsoft.com/office/powerpoint/2010/main" val="760448296"/>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34/44</a:t>
            </a:r>
          </a:p>
        </p:txBody>
      </p:sp>
      <p:sp>
        <p:nvSpPr>
          <p:cNvPr id="7" name="lesson-title">
            <a:extLst xmlns:a="http://schemas.openxmlformats.org/drawingml/2006/main">
              <a:ext uri="{FF2B5EF4-FFF2-40B4-BE49-F238E27FC236}">
                <a16:creationId xmlns:a16="http://schemas.microsoft.com/office/drawing/2014/main" id="{33046711-1D46-4C5B-B322-02958CE7DB3F}"/>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Fault diagnosis: mode, selection and timing</a:t>
            </a:r>
          </a:p>
        </p:txBody>
      </p:sp>
      <p:sp>
        <p:nvSpPr>
          <p:cNvPr id="8" name="explanation-0">
            <a:extLst xmlns:a="http://schemas.openxmlformats.org/drawingml/2006/main">
              <a:ext uri="{FF2B5EF4-FFF2-40B4-BE49-F238E27FC236}">
                <a16:creationId xmlns:a16="http://schemas.microsoft.com/office/drawing/2014/main" id="{06748921-317D-4FE5-9A73-3DFF048BC11E}"/>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Wrong bytes often repeat a pattern that identifies the fault.</a:t>
            </a:r>
          </a:p>
        </p:txBody>
      </p:sp>
      <p:sp>
        <p:nvSpPr>
          <p:cNvPr id="9" name="explanation-1">
            <a:extLst xmlns:a="http://schemas.openxmlformats.org/drawingml/2006/main">
              <a:ext uri="{FF2B5EF4-FFF2-40B4-BE49-F238E27FC236}">
                <a16:creationId xmlns:a16="http://schemas.microsoft.com/office/drawing/2014/main" id="{54364986-57E2-4CF1-B4D9-54D7196AA0AA}"/>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A passed byte-level regression does not validate a new board/peripheral.</a:t>
            </a:r>
          </a:p>
        </p:txBody>
      </p:sp>
      <p:graphicFrame>
        <p:nvGraphicFramePr>
          <p:cNvPr id="19" name=""/>
          <p:cNvGraphicFramePr/>
          <p:nvPr/>
        </p:nvGraphicFramePr>
        <p:xfrm>
          <a:off xmlns:a="http://schemas.openxmlformats.org/drawingml/2006/main" x="609600" y="2914650"/>
          <a:ext xmlns:a="http://schemas.openxmlformats.org/drawingml/2006/main" cx="10972800" cy="3238500"/>
        </p:xfrm>
        <a:graphic xmlns:a="http://schemas.openxmlformats.org/drawingml/2006/main">
          <a:graphicData uri="http://schemas.openxmlformats.org/drawingml/2006/table">
            <a:tbl>
              <a:tblPr/>
              <a:tblGrid>
                <a:gridCol w="3333750"/>
                <a:gridCol w="7639050"/>
              </a:tblGrid>
              <a:tr h="647700">
                <a:tc>
                  <a:txBody>
                    <a:bodyPr>
                      <a:noAutofit/>
                    </a:bodyPr>
                    <a:lstStyle/>
                    <a:p>
                      <a:r>
                        <a:rPr sz="1650" b="1">
                          <a:solidFill>
                            <a:srgbClr val="EF9529"/>
                          </a:solidFill>
                          <a:latin typeface="Segoe UI"/>
                          <a:ea typeface="Segoe UI"/>
                          <a:cs typeface="Segoe UI"/>
                        </a:rPr>
                        <a:t>Observation</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First checks</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One-bit shifted byte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CPHA, first-bit preload, sample edge</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FF on every receive</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CS selection, MISO wiring, peripheral power</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Only high-speed failures</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Clock-to-output, setup budget, board loading</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Transfer never finishes</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tx_valid pulse contract and reset release</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760448296"/>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35/44</a:t>
            </a:r>
          </a:p>
        </p:txBody>
      </p:sp>
      <p:sp>
        <p:nvSpPr>
          <p:cNvPr id="7" name="lesson-title">
            <a:extLst xmlns:a="http://schemas.openxmlformats.org/drawingml/2006/main">
              <a:ext uri="{FF2B5EF4-FFF2-40B4-BE49-F238E27FC236}">
                <a16:creationId xmlns:a16="http://schemas.microsoft.com/office/drawing/2014/main" id="{440A87DB-1855-4E55-A48C-5A895D232EF3}"/>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Source and reproducible workspace</a:t>
            </a:r>
          </a:p>
        </p:txBody>
      </p:sp>
      <p:sp>
        <p:nvSpPr>
          <p:cNvPr id="8" name="explanation-0">
            <a:extLst xmlns:a="http://schemas.openxmlformats.org/drawingml/2006/main">
              <a:ext uri="{FF2B5EF4-FFF2-40B4-BE49-F238E27FC236}">
                <a16:creationId xmlns:a16="http://schemas.microsoft.com/office/drawing/2014/main" id="{DF468801-D88B-4982-A998-AAB145173DB4}"/>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nandland/spi-master at 1ab581969f8ea2f794072a144b55cd74e5a54f34</a:t>
            </a:r>
          </a:p>
        </p:txBody>
      </p:sp>
      <p:sp>
        <p:nvSpPr>
          <p:cNvPr id="9" name="explanation-1">
            <a:extLst xmlns:a="http://schemas.openxmlformats.org/drawingml/2006/main">
              <a:ext uri="{FF2B5EF4-FFF2-40B4-BE49-F238E27FC236}">
                <a16:creationId xmlns:a16="http://schemas.microsoft.com/office/drawing/2014/main" id="{3A17E6E9-1776-4F1E-B447-2266D07251B1}"/>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Original upstream notices and licences remain in the repository.</a:t>
            </a:r>
          </a:p>
        </p:txBody>
      </p:sp>
      <p:sp>
        <p:nvSpPr>
          <p:cNvPr id="10" name="explanation-2">
            <a:extLst xmlns:a="http://schemas.openxmlformats.org/drawingml/2006/main">
              <a:ext uri="{FF2B5EF4-FFF2-40B4-BE49-F238E27FC236}">
                <a16:creationId xmlns:a16="http://schemas.microsoft.com/office/drawing/2014/main" id="{DE8945C0-C2F0-407A-B133-7BDCAC9F04E1}"/>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crucible.toml selects the protocol environment and crucible.lock pins its tools.</a:t>
            </a:r>
          </a:p>
        </p:txBody>
      </p:sp>
    </p:spTree>
    <p:extLst>
      <p:ext uri="{BB962C8B-B14F-4D97-AF65-F5344CB8AC3E}">
        <p14:creationId xmlns:p14="http://schemas.microsoft.com/office/powerpoint/2010/main" val="760448296"/>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36/44</a:t>
            </a:r>
          </a:p>
        </p:txBody>
      </p:sp>
      <p:sp>
        <p:nvSpPr>
          <p:cNvPr id="7" name="lesson-title">
            <a:extLst xmlns:a="http://schemas.openxmlformats.org/drawingml/2006/main">
              <a:ext uri="{FF2B5EF4-FFF2-40B4-BE49-F238E27FC236}">
                <a16:creationId xmlns:a16="http://schemas.microsoft.com/office/drawing/2014/main" id="{9B13B7D4-B18D-46BC-87FD-2EED3FB76A02}"/>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WSL Igny laboratory commands</a:t>
            </a:r>
          </a:p>
        </p:txBody>
      </p:sp>
      <p:sp>
        <p:nvSpPr>
          <p:cNvPr id="8" name="explanation-0">
            <a:extLst xmlns:a="http://schemas.openxmlformats.org/drawingml/2006/main">
              <a:ext uri="{FF2B5EF4-FFF2-40B4-BE49-F238E27FC236}">
                <a16:creationId xmlns:a16="http://schemas.microsoft.com/office/drawing/2014/main" id="{D7A137E5-ADE2-4048-9E56-5BC23A56BFDE}"/>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F9529"/>
                </a:solidFill>
                <a:latin typeface="Consolas"/>
                <a:ea typeface="Consolas"/>
                <a:cs typeface="Consolas"/>
              </a:defRPr>
            </a:pPr>
            <a:r>
              <a:rPr sz="2100" b="0">
                <a:solidFill>
                  <a:srgbClr val="EF9529"/>
                </a:solidFill>
                <a:latin typeface="Consolas"/>
                <a:ea typeface="Consolas"/>
                <a:cs typeface="Consolas"/>
              </a:rPr>
              <a:t>igny init</a:t>
            </a:r>
          </a:p>
        </p:txBody>
      </p:sp>
      <p:sp>
        <p:nvSpPr>
          <p:cNvPr id="9" name="explanation-1">
            <a:extLst xmlns:a="http://schemas.openxmlformats.org/drawingml/2006/main">
              <a:ext uri="{FF2B5EF4-FFF2-40B4-BE49-F238E27FC236}">
                <a16:creationId xmlns:a16="http://schemas.microsoft.com/office/drawing/2014/main" id="{F2B9F12F-50BE-4594-A869-907DD80131E8}"/>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DEDED"/>
                </a:solidFill>
                <a:latin typeface="Consolas"/>
                <a:ea typeface="Consolas"/>
                <a:cs typeface="Consolas"/>
              </a:defRPr>
            </a:pPr>
            <a:r>
              <a:rPr sz="2100" b="0">
                <a:solidFill>
                  <a:srgbClr val="EDEDED"/>
                </a:solidFill>
                <a:latin typeface="Consolas"/>
                <a:ea typeface="Consolas"/>
                <a:cs typeface="Consolas"/>
              </a:rPr>
              <a:t>unset CRUCIBLE_ENV</a:t>
            </a:r>
          </a:p>
        </p:txBody>
      </p:sp>
      <p:sp>
        <p:nvSpPr>
          <p:cNvPr id="10" name="explanation-2">
            <a:extLst xmlns:a="http://schemas.openxmlformats.org/drawingml/2006/main">
              <a:ext uri="{FF2B5EF4-FFF2-40B4-BE49-F238E27FC236}">
                <a16:creationId xmlns:a16="http://schemas.microsoft.com/office/drawing/2014/main" id="{A60541C6-0141-41EB-98FC-74819E57E645}"/>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DEDED"/>
                </a:solidFill>
                <a:latin typeface="Consolas"/>
                <a:ea typeface="Consolas"/>
                <a:cs typeface="Consolas"/>
              </a:defRPr>
            </a:pPr>
            <a:r>
              <a:rPr sz="2100" b="0">
                <a:solidFill>
                  <a:srgbClr val="EDEDED"/>
                </a:solidFill>
                <a:latin typeface="Consolas"/>
                <a:ea typeface="Consolas"/>
                <a:cs typeface="Consolas"/>
              </a:rPr>
              <a:t>cd &lt;repository&gt;/hw/protocols/spi</a:t>
            </a:r>
          </a:p>
        </p:txBody>
      </p:sp>
      <p:sp>
        <p:nvSpPr>
          <p:cNvPr id="11" name="explanation-3">
            <a:extLst xmlns:a="http://schemas.openxmlformats.org/drawingml/2006/main">
              <a:ext uri="{FF2B5EF4-FFF2-40B4-BE49-F238E27FC236}">
                <a16:creationId xmlns:a16="http://schemas.microsoft.com/office/drawing/2014/main" id="{019D42E7-2CF3-4BBE-869C-F4DF45EB6DDE}"/>
              </a:ext>
            </a:extLst>
          </p:cNvPr>
          <p:cNvSpPr>
            <a:spLocks xmlns:a="http://schemas.openxmlformats.org/drawingml/2006/main" noGrp="1"/>
          </p:cNvSpPr>
          <p:nvPr/>
        </p:nvSpPr>
        <p:spPr>
          <a:xfrm xmlns:a="http://schemas.openxmlformats.org/drawingml/2006/main">
            <a:off x="609600" y="43815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DEDED"/>
                </a:solidFill>
                <a:latin typeface="Consolas"/>
                <a:ea typeface="Consolas"/>
                <a:cs typeface="Consolas"/>
              </a:defRPr>
            </a:pPr>
            <a:r>
              <a:rPr sz="2100" b="0">
                <a:solidFill>
                  <a:srgbClr val="EDEDED"/>
                </a:solidFill>
                <a:latin typeface="Consolas"/>
                <a:ea typeface="Consolas"/>
                <a:cs typeface="Consolas"/>
              </a:rPr>
              <a:t>make flow</a:t>
            </a:r>
          </a:p>
        </p:txBody>
      </p:sp>
    </p:spTree>
    <p:extLst>
      <p:ext uri="{BB962C8B-B14F-4D97-AF65-F5344CB8AC3E}">
        <p14:creationId xmlns:p14="http://schemas.microsoft.com/office/powerpoint/2010/main" val="760448296"/>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37/44</a:t>
            </a:r>
          </a:p>
        </p:txBody>
      </p:sp>
      <p:sp>
        <p:nvSpPr>
          <p:cNvPr id="7" name="lesson-title">
            <a:extLst xmlns:a="http://schemas.openxmlformats.org/drawingml/2006/main">
              <a:ext uri="{FF2B5EF4-FFF2-40B4-BE49-F238E27FC236}">
                <a16:creationId xmlns:a16="http://schemas.microsoft.com/office/drawing/2014/main" id="{61B6EFEC-FBE4-448A-AABA-F728A8239274}"/>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Lint and functional verification</a:t>
            </a:r>
          </a:p>
        </p:txBody>
      </p:sp>
      <p:sp>
        <p:nvSpPr>
          <p:cNvPr id="8" name="explanation-0">
            <a:extLst xmlns:a="http://schemas.openxmlformats.org/drawingml/2006/main">
              <a:ext uri="{FF2B5EF4-FFF2-40B4-BE49-F238E27FC236}">
                <a16:creationId xmlns:a16="http://schemas.microsoft.com/office/drawing/2014/main" id="{EAE76981-C7CD-41D4-9437-14F4F9CA4385}"/>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make lint elaborates every RTL source for the selected top.</a:t>
            </a:r>
          </a:p>
        </p:txBody>
      </p:sp>
      <p:sp>
        <p:nvSpPr>
          <p:cNvPr id="9" name="explanation-1">
            <a:extLst xmlns:a="http://schemas.openxmlformats.org/drawingml/2006/main">
              <a:ext uri="{FF2B5EF4-FFF2-40B4-BE49-F238E27FC236}">
                <a16:creationId xmlns:a16="http://schemas.microsoft.com/office/drawing/2014/main" id="{40950FA2-147A-4164-B9FC-7C4F6F203B11}"/>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make sim runs assertions and deliberate negative controls.</a:t>
            </a:r>
          </a:p>
        </p:txBody>
      </p:sp>
      <p:sp>
        <p:nvSpPr>
          <p:cNvPr id="10" name="explanation-2">
            <a:extLst xmlns:a="http://schemas.openxmlformats.org/drawingml/2006/main">
              <a:ext uri="{FF2B5EF4-FFF2-40B4-BE49-F238E27FC236}">
                <a16:creationId xmlns:a16="http://schemas.microsoft.com/office/drawing/2014/main" id="{41EF9B47-E47F-4F1A-9529-A9BE42669E1D}"/>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Warnings remain visible and need review.</a:t>
            </a:r>
          </a:p>
        </p:txBody>
      </p:sp>
    </p:spTree>
    <p:extLst>
      <p:ext uri="{BB962C8B-B14F-4D97-AF65-F5344CB8AC3E}">
        <p14:creationId xmlns:p14="http://schemas.microsoft.com/office/powerpoint/2010/main" val="760448296"/>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38/44</a:t>
            </a:r>
          </a:p>
        </p:txBody>
      </p:sp>
      <p:sp>
        <p:nvSpPr>
          <p:cNvPr id="7" name="lesson-title">
            <a:extLst xmlns:a="http://schemas.openxmlformats.org/drawingml/2006/main">
              <a:ext uri="{FF2B5EF4-FFF2-40B4-BE49-F238E27FC236}">
                <a16:creationId xmlns:a16="http://schemas.microsoft.com/office/drawing/2014/main" id="{2A61C8A5-F34D-4233-BFFC-9A380103E1AB}"/>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Technology-mapped synthesis</a:t>
            </a:r>
          </a:p>
        </p:txBody>
      </p:sp>
      <p:sp>
        <p:nvSpPr>
          <p:cNvPr id="8" name="explanation-0">
            <a:extLst xmlns:a="http://schemas.openxmlformats.org/drawingml/2006/main">
              <a:ext uri="{FF2B5EF4-FFF2-40B4-BE49-F238E27FC236}">
                <a16:creationId xmlns:a16="http://schemas.microsoft.com/office/drawing/2014/main" id="{36E3C89B-E15A-4F3C-B41A-23A9908CB8DA}"/>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make synth maps spi_core to SG13G2 standard cells.</a:t>
            </a:r>
          </a:p>
        </p:txBody>
      </p:sp>
      <p:sp>
        <p:nvSpPr>
          <p:cNvPr id="9" name="explanation-1">
            <a:extLst xmlns:a="http://schemas.openxmlformats.org/drawingml/2006/main">
              <a:ext uri="{FF2B5EF4-FFF2-40B4-BE49-F238E27FC236}">
                <a16:creationId xmlns:a16="http://schemas.microsoft.com/office/drawing/2014/main" id="{6707EA8A-2805-43EC-9313-318FFEF83BB1}"/>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mapped design contains 131 functional cells.</a:t>
            </a:r>
          </a:p>
        </p:txBody>
      </p:sp>
      <p:sp>
        <p:nvSpPr>
          <p:cNvPr id="10" name="explanation-2">
            <a:extLst xmlns:a="http://schemas.openxmlformats.org/drawingml/2006/main">
              <a:ext uri="{FF2B5EF4-FFF2-40B4-BE49-F238E27FC236}">
                <a16:creationId xmlns:a16="http://schemas.microsoft.com/office/drawing/2014/main" id="{BFB1429F-D7EC-4177-9DDB-CFE12137F742}"/>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build inserts technology tie cells for constant nets.</a:t>
            </a:r>
          </a:p>
        </p:txBody>
      </p:sp>
    </p:spTree>
    <p:extLst>
      <p:ext uri="{BB962C8B-B14F-4D97-AF65-F5344CB8AC3E}">
        <p14:creationId xmlns:p14="http://schemas.microsoft.com/office/powerpoint/2010/main" val="760448296"/>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39/44</a:t>
            </a:r>
          </a:p>
        </p:txBody>
      </p:sp>
      <p:sp>
        <p:nvSpPr>
          <p:cNvPr id="7" name="lesson-title">
            <a:extLst xmlns:a="http://schemas.openxmlformats.org/drawingml/2006/main">
              <a:ext uri="{FF2B5EF4-FFF2-40B4-BE49-F238E27FC236}">
                <a16:creationId xmlns:a16="http://schemas.microsoft.com/office/drawing/2014/main" id="{22744683-9520-4458-AAE3-CE6A946A31D0}"/>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Floorplan, placement and clock tree</a:t>
            </a:r>
          </a:p>
        </p:txBody>
      </p:sp>
      <p:sp>
        <p:nvSpPr>
          <p:cNvPr id="8" name="explanation-0">
            <a:extLst xmlns:a="http://schemas.openxmlformats.org/drawingml/2006/main">
              <a:ext uri="{FF2B5EF4-FFF2-40B4-BE49-F238E27FC236}">
                <a16:creationId xmlns:a16="http://schemas.microsoft.com/office/drawing/2014/main" id="{8E227E7C-393C-4FD6-BB87-376B0F5971C4}"/>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Reference die is 300 by 300 micrometres.</a:t>
            </a:r>
          </a:p>
        </p:txBody>
      </p:sp>
      <p:sp>
        <p:nvSpPr>
          <p:cNvPr id="9" name="explanation-1">
            <a:extLst xmlns:a="http://schemas.openxmlformats.org/drawingml/2006/main">
              <a:ext uri="{FF2B5EF4-FFF2-40B4-BE49-F238E27FC236}">
                <a16:creationId xmlns:a16="http://schemas.microsoft.com/office/drawing/2014/main" id="{3AC10AE6-A8D5-4B4B-9D6C-03A709E4B9ED}"/>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Placement chooses legal cell locations and builds the power grid.</a:t>
            </a:r>
          </a:p>
        </p:txBody>
      </p:sp>
      <p:sp>
        <p:nvSpPr>
          <p:cNvPr id="10" name="explanation-2">
            <a:extLst xmlns:a="http://schemas.openxmlformats.org/drawingml/2006/main">
              <a:ext uri="{FF2B5EF4-FFF2-40B4-BE49-F238E27FC236}">
                <a16:creationId xmlns:a16="http://schemas.microsoft.com/office/drawing/2014/main" id="{46D074F0-B156-455E-883E-87D35A698BD3}"/>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Clock-tree synthesis buffers the clock before detailed routing.</a:t>
            </a:r>
          </a:p>
        </p:txBody>
      </p:sp>
    </p:spTree>
    <p:extLst>
      <p:ext uri="{BB962C8B-B14F-4D97-AF65-F5344CB8AC3E}">
        <p14:creationId xmlns:p14="http://schemas.microsoft.com/office/powerpoint/2010/main" val="760448296"/>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40/44</a:t>
            </a:r>
          </a:p>
        </p:txBody>
      </p:sp>
      <p:sp>
        <p:nvSpPr>
          <p:cNvPr id="7" name="lesson-title">
            <a:extLst xmlns:a="http://schemas.openxmlformats.org/drawingml/2006/main">
              <a:ext uri="{FF2B5EF4-FFF2-40B4-BE49-F238E27FC236}">
                <a16:creationId xmlns:a16="http://schemas.microsoft.com/office/drawing/2014/main" id="{E70B7FAF-F451-45E9-B036-F7521F7F9B52}"/>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Routing and extracted timing</a:t>
            </a:r>
          </a:p>
        </p:txBody>
      </p:sp>
      <p:sp>
        <p:nvSpPr>
          <p:cNvPr id="8" name="explanation-0">
            <a:extLst xmlns:a="http://schemas.openxmlformats.org/drawingml/2006/main">
              <a:ext uri="{FF2B5EF4-FFF2-40B4-BE49-F238E27FC236}">
                <a16:creationId xmlns:a16="http://schemas.microsoft.com/office/drawing/2014/main" id="{0F4A60D1-110F-47FA-97FC-5CB1C7C666FC}"/>
              </a:ext>
            </a:extLst>
          </p:cNvPr>
          <p:cNvSpPr>
            <a:spLocks xmlns:a="http://schemas.openxmlformats.org/drawingml/2006/main" noGrp="1"/>
          </p:cNvSpPr>
          <p:nvPr/>
        </p:nvSpPr>
        <p:spPr>
          <a:xfrm xmlns:a="http://schemas.openxmlformats.org/drawingml/2006/main">
            <a:off x="609600" y="17240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9529"/>
                </a:solidFill>
                <a:latin typeface="Segoe UI"/>
                <a:ea typeface="Segoe UI"/>
                <a:cs typeface="Segoe UI"/>
              </a:defRPr>
            </a:pPr>
            <a:r>
              <a:rPr sz="1800" b="0">
                <a:solidFill>
                  <a:srgbClr val="EF9529"/>
                </a:solidFill>
                <a:latin typeface="Segoe UI"/>
                <a:ea typeface="Segoe UI"/>
                <a:cs typeface="Segoe UI"/>
              </a:rPr>
              <a:t>Detailed routing connects placed cells using allowed layers.</a:t>
            </a:r>
          </a:p>
        </p:txBody>
      </p:sp>
      <p:sp>
        <p:nvSpPr>
          <p:cNvPr id="9" name="explanation-1">
            <a:extLst xmlns:a="http://schemas.openxmlformats.org/drawingml/2006/main">
              <a:ext uri="{FF2B5EF4-FFF2-40B4-BE49-F238E27FC236}">
                <a16:creationId xmlns:a16="http://schemas.microsoft.com/office/drawing/2014/main" id="{040A757A-6610-42F4-A6D9-F7D71CB8DEE8}"/>
              </a:ext>
            </a:extLst>
          </p:cNvPr>
          <p:cNvSpPr>
            <a:spLocks xmlns:a="http://schemas.openxmlformats.org/drawingml/2006/main" noGrp="1"/>
          </p:cNvSpPr>
          <p:nvPr/>
        </p:nvSpPr>
        <p:spPr>
          <a:xfrm xmlns:a="http://schemas.openxmlformats.org/drawingml/2006/main">
            <a:off x="609600" y="2076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Extraction provides routed parasitic resistance and capacitance.</a:t>
            </a:r>
          </a:p>
        </p:txBody>
      </p:sp>
      <p:sp>
        <p:nvSpPr>
          <p:cNvPr id="10" name="explanation-2">
            <a:extLst xmlns:a="http://schemas.openxmlformats.org/drawingml/2006/main">
              <a:ext uri="{FF2B5EF4-FFF2-40B4-BE49-F238E27FC236}">
                <a16:creationId xmlns:a16="http://schemas.microsoft.com/office/drawing/2014/main" id="{5E81398A-A310-4952-A6F1-380FBE8B2A7B}"/>
              </a:ext>
            </a:extLst>
          </p:cNvPr>
          <p:cNvSpPr>
            <a:spLocks xmlns:a="http://schemas.openxmlformats.org/drawingml/2006/main" noGrp="1"/>
          </p:cNvSpPr>
          <p:nvPr/>
        </p:nvSpPr>
        <p:spPr>
          <a:xfrm xmlns:a="http://schemas.openxmlformats.org/drawingml/2006/main">
            <a:off x="609600" y="2428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DEDED"/>
                </a:solidFill>
                <a:latin typeface="Segoe UI"/>
                <a:ea typeface="Segoe UI"/>
                <a:cs typeface="Segoe UI"/>
              </a:defRPr>
            </a:pPr>
            <a:r>
              <a:rPr sz="1800" b="0">
                <a:solidFill>
                  <a:srgbClr val="EDEDED"/>
                </a:solidFill>
                <a:latin typeface="Segoe UI"/>
                <a:ea typeface="Segoe UI"/>
                <a:cs typeface="Segoe UI"/>
              </a:rPr>
              <a:t>STA checks both typical and slow Liberty corners at 20 ns.</a:t>
            </a:r>
          </a:p>
        </p:txBody>
      </p:sp>
      <p:graphicFrame>
        <p:nvGraphicFramePr>
          <p:cNvPr id="21" name=""/>
          <p:cNvGraphicFramePr/>
          <p:nvPr/>
        </p:nvGraphicFramePr>
        <p:xfrm>
          <a:off xmlns:a="http://schemas.openxmlformats.org/drawingml/2006/main" x="609600" y="2914650"/>
          <a:ext xmlns:a="http://schemas.openxmlformats.org/drawingml/2006/main" cx="10972800" cy="1943100"/>
        </p:xfrm>
        <a:graphic xmlns:a="http://schemas.openxmlformats.org/drawingml/2006/main">
          <a:graphicData uri="http://schemas.openxmlformats.org/drawingml/2006/table">
            <a:tbl>
              <a:tblPr/>
              <a:tblGrid>
                <a:gridCol w="3657600"/>
                <a:gridCol w="3657600"/>
                <a:gridCol w="3657600"/>
              </a:tblGrid>
              <a:tr h="647700">
                <a:tc>
                  <a:txBody>
                    <a:bodyPr>
                      <a:noAutofit/>
                    </a:bodyPr>
                    <a:lstStyle/>
                    <a:p>
                      <a:r>
                        <a:rPr sz="1650" b="1">
                          <a:solidFill>
                            <a:srgbClr val="EF9529"/>
                          </a:solidFill>
                          <a:latin typeface="Segoe UI"/>
                          <a:ea typeface="Segoe UI"/>
                          <a:cs typeface="Segoe UI"/>
                        </a:rPr>
                        <a:t>Corner</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Setup slack ns</a:t>
                      </a:r>
                    </a:p>
                  </a:txBody>
                  <a:tcPr marL="91440" marR="91440" marT="45720" marB="45720">
                    <a:solidFill>
                      <a:srgbClr val="24242B"/>
                    </a:solidFill>
                  </a:tcPr>
                </a:tc>
                <a:tc>
                  <a:txBody>
                    <a:bodyPr>
                      <a:noAutofit/>
                    </a:bodyPr>
                    <a:lstStyle/>
                    <a:p>
                      <a:r>
                        <a:rPr sz="1650" b="1">
                          <a:solidFill>
                            <a:srgbClr val="EF9529"/>
                          </a:solidFill>
                          <a:latin typeface="Segoe UI"/>
                          <a:ea typeface="Segoe UI"/>
                          <a:cs typeface="Segoe UI"/>
                        </a:rPr>
                        <a:t>Hold slack ns</a:t>
                      </a:r>
                    </a:p>
                  </a:txBody>
                  <a:tcPr marL="91440" marR="91440" marT="45720" marB="45720">
                    <a:solidFill>
                      <a:srgbClr val="24242B"/>
                    </a:solidFill>
                  </a:tcPr>
                </a:tc>
              </a:tr>
              <a:tr h="647700">
                <a:tc>
                  <a:txBody>
                    <a:bodyPr>
                      <a:noAutofit/>
                    </a:bodyPr>
                    <a:lstStyle/>
                    <a:p>
                      <a:r>
                        <a:rPr sz="1650" b="0">
                          <a:solidFill>
                            <a:srgbClr val="EDEDED"/>
                          </a:solidFill>
                          <a:latin typeface="Segoe UI"/>
                          <a:ea typeface="Segoe UI"/>
                          <a:cs typeface="Segoe UI"/>
                        </a:rPr>
                        <a:t>Typical</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15.79</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0.17</a:t>
                      </a:r>
                    </a:p>
                  </a:txBody>
                  <a:tcPr marL="91440" marR="91440" marT="45720" marB="45720">
                    <a:solidFill>
                      <a:srgbClr val="16161A"/>
                    </a:solidFill>
                  </a:tcPr>
                </a:tc>
              </a:tr>
              <a:tr h="647700">
                <a:tc>
                  <a:txBody>
                    <a:bodyPr>
                      <a:noAutofit/>
                    </a:bodyPr>
                    <a:lstStyle/>
                    <a:p>
                      <a:r>
                        <a:rPr sz="1650" b="0">
                          <a:solidFill>
                            <a:srgbClr val="EDEDED"/>
                          </a:solidFill>
                          <a:latin typeface="Segoe UI"/>
                          <a:ea typeface="Segoe UI"/>
                          <a:cs typeface="Segoe UI"/>
                        </a:rPr>
                        <a:t>Slow</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15.73</a:t>
                      </a:r>
                    </a:p>
                  </a:txBody>
                  <a:tcPr marL="91440" marR="91440" marT="45720" marB="45720">
                    <a:solidFill>
                      <a:srgbClr val="16161A"/>
                    </a:solidFill>
                  </a:tcPr>
                </a:tc>
                <a:tc>
                  <a:txBody>
                    <a:bodyPr>
                      <a:noAutofit/>
                    </a:bodyPr>
                    <a:lstStyle/>
                    <a:p>
                      <a:r>
                        <a:rPr sz="1650" b="0">
                          <a:solidFill>
                            <a:srgbClr val="EDEDED"/>
                          </a:solidFill>
                          <a:latin typeface="Segoe UI"/>
                          <a:ea typeface="Segoe UI"/>
                          <a:cs typeface="Segoe UI"/>
                        </a:rPr>
                        <a:t>0.33</a:t>
                      </a:r>
                    </a:p>
                  </a:txBody>
                  <a:tcPr marL="91440" marR="91440" marT="45720" marB="45720">
                    <a:solidFill>
                      <a:srgbClr val="16161A"/>
                    </a:solidFill>
                  </a:tcPr>
                </a:tc>
              </a:tr>
            </a:tbl>
          </a:graphicData>
        </a:graphic>
      </p:graphicFrame>
    </p:spTree>
    <p:extLst>
      <p:ext uri="{BB962C8B-B14F-4D97-AF65-F5344CB8AC3E}">
        <p14:creationId xmlns:p14="http://schemas.microsoft.com/office/powerpoint/2010/main" val="760448296"/>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41/44</a:t>
            </a:r>
          </a:p>
        </p:txBody>
      </p:sp>
      <p:sp>
        <p:nvSpPr>
          <p:cNvPr id="7" name="lesson-title">
            <a:extLst xmlns:a="http://schemas.openxmlformats.org/drawingml/2006/main">
              <a:ext uri="{FF2B5EF4-FFF2-40B4-BE49-F238E27FC236}">
                <a16:creationId xmlns:a16="http://schemas.microsoft.com/office/drawing/2014/main" id="{53F465DB-2ED8-427E-9293-12FEFF0C886E}"/>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The routed GDS result</a:t>
            </a:r>
          </a:p>
        </p:txBody>
      </p:sp>
      <p:sp>
        <p:nvSpPr>
          <p:cNvPr id="8" name="explanation-0">
            <a:extLst xmlns:a="http://schemas.openxmlformats.org/drawingml/2006/main">
              <a:ext uri="{FF2B5EF4-FFF2-40B4-BE49-F238E27FC236}">
                <a16:creationId xmlns:a16="http://schemas.microsoft.com/office/drawing/2014/main" id="{C8EF1B85-3A87-4846-854C-1C879D60EBC4}"/>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10_gds/spi_core.gds contains 1,060,628 bytes.</a:t>
            </a:r>
          </a:p>
        </p:txBody>
      </p:sp>
      <p:sp>
        <p:nvSpPr>
          <p:cNvPr id="9" name="explanation-1">
            <a:extLst xmlns:a="http://schemas.openxmlformats.org/drawingml/2006/main">
              <a:ext uri="{FF2B5EF4-FFF2-40B4-BE49-F238E27FC236}">
                <a16:creationId xmlns:a16="http://schemas.microsoft.com/office/drawing/2014/main" id="{3D4BA6D2-13F9-4FBA-9A15-D823A90B7385}"/>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The decoder resolves 41 structures and compares 17,622 placed cell instances.</a:t>
            </a:r>
          </a:p>
        </p:txBody>
      </p:sp>
      <p:sp>
        <p:nvSpPr>
          <p:cNvPr id="10" name="explanation-2">
            <a:extLst xmlns:a="http://schemas.openxmlformats.org/drawingml/2006/main">
              <a:ext uri="{FF2B5EF4-FFF2-40B4-BE49-F238E27FC236}">
                <a16:creationId xmlns:a16="http://schemas.microsoft.com/office/drawing/2014/main" id="{9505D529-BBF5-43B5-A24E-2AAC82C9A415}"/>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Coordinates, orientations and referenced cell identities agree with DEF.</a:t>
            </a:r>
          </a:p>
        </p:txBody>
      </p:sp>
    </p:spTree>
    <p:extLst>
      <p:ext uri="{BB962C8B-B14F-4D97-AF65-F5344CB8AC3E}">
        <p14:creationId xmlns:p14="http://schemas.microsoft.com/office/powerpoint/2010/main" val="760448296"/>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42/44</a:t>
            </a:r>
          </a:p>
        </p:txBody>
      </p:sp>
      <p:sp>
        <p:nvSpPr>
          <p:cNvPr id="7" name="lesson-title">
            <a:extLst xmlns:a="http://schemas.openxmlformats.org/drawingml/2006/main">
              <a:ext uri="{FF2B5EF4-FFF2-40B4-BE49-F238E27FC236}">
                <a16:creationId xmlns:a16="http://schemas.microsoft.com/office/drawing/2014/main" id="{89FA5FC9-57E6-4EE2-84B1-22AC14526774}"/>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Evidence and signoff boundaries</a:t>
            </a:r>
          </a:p>
        </p:txBody>
      </p:sp>
      <p:sp>
        <p:nvSpPr>
          <p:cNvPr id="8" name="explanation-0">
            <a:extLst xmlns:a="http://schemas.openxmlformats.org/drawingml/2006/main">
              <a:ext uri="{FF2B5EF4-FFF2-40B4-BE49-F238E27FC236}">
                <a16:creationId xmlns:a16="http://schemas.microsoft.com/office/drawing/2014/main" id="{5A5B5FE4-F11B-4D7E-BCCD-05F51148C846}"/>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Functional tests, mapped synthesis and routed export have evidence.</a:t>
            </a:r>
          </a:p>
        </p:txBody>
      </p:sp>
      <p:sp>
        <p:nvSpPr>
          <p:cNvPr id="9" name="explanation-1">
            <a:extLst xmlns:a="http://schemas.openxmlformats.org/drawingml/2006/main">
              <a:ext uri="{FF2B5EF4-FFF2-40B4-BE49-F238E27FC236}">
                <a16:creationId xmlns:a16="http://schemas.microsoft.com/office/drawing/2014/main" id="{6A583DBC-AA66-4905-AC6A-0606D782E7AB}"/>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Foundry DRC, LVS, antenna and full-chip signoff have not run.</a:t>
            </a:r>
          </a:p>
        </p:txBody>
      </p:sp>
      <p:sp>
        <p:nvSpPr>
          <p:cNvPr id="10" name="explanation-2">
            <a:extLst xmlns:a="http://schemas.openxmlformats.org/drawingml/2006/main">
              <a:ext uri="{FF2B5EF4-FFF2-40B4-BE49-F238E27FC236}">
                <a16:creationId xmlns:a16="http://schemas.microsoft.com/office/drawing/2014/main" id="{BB56917B-C236-451B-805E-7907A2070DA1}"/>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Jane Street still requires a programmable emulator on its CMOS5L template.</a:t>
            </a:r>
          </a:p>
        </p:txBody>
      </p:sp>
    </p:spTree>
    <p:extLst>
      <p:ext uri="{BB962C8B-B14F-4D97-AF65-F5344CB8AC3E}">
        <p14:creationId xmlns:p14="http://schemas.microsoft.com/office/powerpoint/2010/main" val="760448296"/>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43/44</a:t>
            </a:r>
          </a:p>
        </p:txBody>
      </p:sp>
      <p:sp>
        <p:nvSpPr>
          <p:cNvPr id="7" name="lesson-title">
            <a:extLst xmlns:a="http://schemas.openxmlformats.org/drawingml/2006/main">
              <a:ext uri="{FF2B5EF4-FFF2-40B4-BE49-F238E27FC236}">
                <a16:creationId xmlns:a16="http://schemas.microsoft.com/office/drawing/2014/main" id="{77A02BA4-8FC7-4345-9381-64673BCF42D2}"/>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SPI laboratory exercises</a:t>
            </a:r>
          </a:p>
        </p:txBody>
      </p:sp>
      <p:sp>
        <p:nvSpPr>
          <p:cNvPr id="8" name="explanation-0">
            <a:extLst xmlns:a="http://schemas.openxmlformats.org/drawingml/2006/main">
              <a:ext uri="{FF2B5EF4-FFF2-40B4-BE49-F238E27FC236}">
                <a16:creationId xmlns:a16="http://schemas.microsoft.com/office/drawing/2014/main" id="{77211E6C-12FA-42F0-B9E6-8A7C991E94F9}"/>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Decode a byte using the protocol rules covered in this lesson.</a:t>
            </a:r>
          </a:p>
        </p:txBody>
      </p:sp>
      <p:sp>
        <p:nvSpPr>
          <p:cNvPr id="9" name="explanation-1">
            <a:extLst xmlns:a="http://schemas.openxmlformats.org/drawingml/2006/main">
              <a:ext uri="{FF2B5EF4-FFF2-40B4-BE49-F238E27FC236}">
                <a16:creationId xmlns:a16="http://schemas.microsoft.com/office/drawing/2014/main" id="{0CF4D39E-E196-4CE0-BCBE-933D10F0644B}"/>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Change one expected result and observe a fatal test failure.</a:t>
            </a:r>
          </a:p>
        </p:txBody>
      </p:sp>
      <p:sp>
        <p:nvSpPr>
          <p:cNvPr id="10" name="explanation-2">
            <a:extLst xmlns:a="http://schemas.openxmlformats.org/drawingml/2006/main">
              <a:ext uri="{FF2B5EF4-FFF2-40B4-BE49-F238E27FC236}">
                <a16:creationId xmlns:a16="http://schemas.microsoft.com/office/drawing/2014/main" id="{2C569B58-BC8C-42CA-8656-80CCC9575E15}"/>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Compare functional cell count with physical filler/buffer counts.</a:t>
            </a:r>
          </a:p>
        </p:txBody>
      </p:sp>
      <p:sp>
        <p:nvSpPr>
          <p:cNvPr id="11" name="explanation-3">
            <a:extLst xmlns:a="http://schemas.openxmlformats.org/drawingml/2006/main">
              <a:ext uri="{FF2B5EF4-FFF2-40B4-BE49-F238E27FC236}">
                <a16:creationId xmlns:a16="http://schemas.microsoft.com/office/drawing/2014/main" id="{1BF812E6-AC9D-4D07-8895-921ADE4D64B8}"/>
              </a:ext>
            </a:extLst>
          </p:cNvPr>
          <p:cNvSpPr>
            <a:spLocks xmlns:a="http://schemas.openxmlformats.org/drawingml/2006/main" noGrp="1"/>
          </p:cNvSpPr>
          <p:nvPr/>
        </p:nvSpPr>
        <p:spPr>
          <a:xfrm xmlns:a="http://schemas.openxmlformats.org/drawingml/2006/main">
            <a:off x="609600" y="43815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Locate the worst setup and hold paths in both timing reports.</a:t>
            </a:r>
          </a:p>
        </p:txBody>
      </p:sp>
    </p:spTree>
    <p:extLst>
      <p:ext uri="{BB962C8B-B14F-4D97-AF65-F5344CB8AC3E}">
        <p14:creationId xmlns:p14="http://schemas.microsoft.com/office/powerpoint/2010/main" val="760448296"/>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r2">
            <a:extLst xmlns:a="http://schemas.openxmlformats.org/drawingml/2006/main">
              <a:ext uri="{FF2B5EF4-FFF2-40B4-BE49-F238E27FC236}">
                <a16:creationId xmlns:a16="http://schemas.microsoft.com/office/drawing/2014/main" id="{F2E221C2-A20F-4810-8276-E31FB5E523B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0B0C"/>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3" name="r3">
            <a:extLst xmlns:a="http://schemas.openxmlformats.org/drawingml/2006/main">
              <a:ext uri="{FF2B5EF4-FFF2-40B4-BE49-F238E27FC236}">
                <a16:creationId xmlns:a16="http://schemas.microsoft.com/office/drawing/2014/main" id="{BFA16354-447D-4056-81DA-88248C9C4BAA}"/>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EF9529"/>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p:txBody>
      </p:sp>
      <p:sp>
        <p:nvSpPr>
          <p:cNvPr id="4" name="t4">
            <a:extLst xmlns:a="http://schemas.openxmlformats.org/drawingml/2006/main">
              <a:ext uri="{FF2B5EF4-FFF2-40B4-BE49-F238E27FC236}">
                <a16:creationId xmlns:a16="http://schemas.microsoft.com/office/drawing/2014/main" id="{385891EF-C836-46D6-970A-35CA07C9E972}"/>
              </a:ext>
            </a:extLst>
          </p:cNvPr>
          <p:cNvSpPr>
            <a:spLocks xmlns:a="http://schemas.openxmlformats.org/drawingml/2006/main" noGrp="1"/>
          </p:cNvSpPr>
          <p:nvPr/>
        </p:nvSpPr>
        <p:spPr>
          <a:xfrm xmlns:a="http://schemas.openxmlformats.org/drawingml/2006/main">
            <a:off x="502920" y="329184"/>
            <a:ext cx="5486400" cy="1828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buNone/>
            </a:pPr>
            <a:r>
              <a:rPr sz="850" spc="180">
                <a:solidFill>
                  <a:srgbClr val="6B6B74"/>
                </a:solidFill>
                <a:latin typeface="Segoe UI"/>
                <a:ea typeface="Segoe UI"/>
                <a:cs typeface="Segoe UI"/>
              </a:rPr>
              <a:t>SPI STUDENT LAB</a:t>
            </a:r>
          </a:p>
        </p:txBody>
      </p:sp>
      <p:sp>
        <p:nvSpPr>
          <p:cNvPr id="5" name="t5">
            <a:extLst xmlns:a="http://schemas.openxmlformats.org/drawingml/2006/main">
              <a:ext uri="{FF2B5EF4-FFF2-40B4-BE49-F238E27FC236}">
                <a16:creationId xmlns:a16="http://schemas.microsoft.com/office/drawing/2014/main" id="{D146C388-A4C0-4526-B03D-DFB97DFF682A}"/>
              </a:ext>
            </a:extLst>
          </p:cNvPr>
          <p:cNvSpPr>
            <a:spLocks xmlns:a="http://schemas.openxmlformats.org/drawingml/2006/main" noGrp="1"/>
          </p:cNvSpPr>
          <p:nvPr/>
        </p:nvSpPr>
        <p:spPr>
          <a:xfrm xmlns:a="http://schemas.openxmlformats.org/drawingml/2006/main">
            <a:off x="9814255" y="310896"/>
            <a:ext cx="1691640" cy="237744"/>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algn="r">
              <a:buNone/>
            </a:pPr>
            <a:r>
              <a:rPr sz="1300" b="1">
                <a:solidFill>
                  <a:srgbClr val="EDEDED"/>
                </a:solidFill>
                <a:latin typeface="Segoe UI"/>
                <a:ea typeface="Segoe UI"/>
                <a:cs typeface="Segoe UI"/>
              </a:rPr>
              <a:t>Ignytion</a:t>
            </a:r>
            <a:r>
              <a:rPr sz="1300" b="1">
                <a:solidFill>
                  <a:srgbClr val="EF9529"/>
                </a:solidFill>
                <a:latin typeface="Segoe UI"/>
                <a:ea typeface="Segoe UI"/>
                <a:cs typeface="Segoe UI"/>
              </a:rPr>
              <a:t> io</a:t>
            </a:r>
          </a:p>
        </p:txBody>
      </p:sp>
      <p:sp>
        <p:nvSpPr>
          <p:cNvPr id="6" name="t6">
            <a:extLst xmlns:a="http://schemas.openxmlformats.org/drawingml/2006/main">
              <a:ext uri="{FF2B5EF4-FFF2-40B4-BE49-F238E27FC236}">
                <a16:creationId xmlns:a16="http://schemas.microsoft.com/office/drawing/2014/main" id="{C6FB420E-5AC0-4491-88CD-2554ADE89A36}"/>
              </a:ext>
            </a:extLst>
          </p:cNvPr>
          <p:cNvSpPr>
            <a:spLocks xmlns:a="http://schemas.openxmlformats.org/drawingml/2006/main" noGrp="1"/>
          </p:cNvSpPr>
          <p:nvPr/>
        </p:nvSpPr>
        <p:spPr>
          <a:xfrm xmlns:a="http://schemas.openxmlformats.org/drawingml/2006/main">
            <a:off x="11002975" y="6528816"/>
            <a:ext cx="685800"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r">
              <a:buNone/>
            </a:pPr>
            <a:r>
              <a:rPr sz="800">
                <a:solidFill>
                  <a:srgbClr val="6B6B74"/>
                </a:solidFill>
                <a:latin typeface="Segoe UI"/>
                <a:ea typeface="Segoe UI"/>
                <a:cs typeface="Segoe UI"/>
              </a:rPr>
              <a:t>44/44</a:t>
            </a:r>
          </a:p>
        </p:txBody>
      </p:sp>
      <p:sp>
        <p:nvSpPr>
          <p:cNvPr id="7" name="lesson-title">
            <a:extLst xmlns:a="http://schemas.openxmlformats.org/drawingml/2006/main">
              <a:ext uri="{FF2B5EF4-FFF2-40B4-BE49-F238E27FC236}">
                <a16:creationId xmlns:a16="http://schemas.microsoft.com/office/drawing/2014/main" id="{F17488F9-B02A-4D33-A376-2136688C8981}"/>
              </a:ext>
            </a:extLst>
          </p:cNvPr>
          <p:cNvSpPr>
            <a:spLocks xmlns:a="http://schemas.openxmlformats.org/drawingml/2006/main" noGrp="1"/>
          </p:cNvSpPr>
          <p:nvPr/>
        </p:nvSpPr>
        <p:spPr>
          <a:xfrm xmlns:a="http://schemas.openxmlformats.org/drawingml/2006/main">
            <a:off x="609600" y="809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DEDED"/>
                </a:solidFill>
                <a:latin typeface="Segoe UI"/>
                <a:ea typeface="Segoe UI"/>
                <a:cs typeface="Segoe UI"/>
              </a:defRPr>
            </a:pPr>
            <a:r>
              <a:rPr sz="3150" b="1">
                <a:solidFill>
                  <a:srgbClr val="EDEDED"/>
                </a:solidFill>
                <a:latin typeface="Segoe UI"/>
                <a:ea typeface="Segoe UI"/>
                <a:cs typeface="Segoe UI"/>
              </a:rPr>
              <a:t>Review questions and reading</a:t>
            </a:r>
          </a:p>
        </p:txBody>
      </p:sp>
      <p:sp>
        <p:nvSpPr>
          <p:cNvPr id="8" name="explanation-0">
            <a:extLst xmlns:a="http://schemas.openxmlformats.org/drawingml/2006/main">
              <a:ext uri="{FF2B5EF4-FFF2-40B4-BE49-F238E27FC236}">
                <a16:creationId xmlns:a16="http://schemas.microsoft.com/office/drawing/2014/main" id="{2E9E254F-7971-4BE7-A50A-64CED6D774C4}"/>
              </a:ext>
            </a:extLst>
          </p:cNvPr>
          <p:cNvSpPr>
            <a:spLocks xmlns:a="http://schemas.openxmlformats.org/drawingml/2006/main" noGrp="1"/>
          </p:cNvSpPr>
          <p:nvPr/>
        </p:nvSpPr>
        <p:spPr>
          <a:xfrm xmlns:a="http://schemas.openxmlformats.org/drawingml/2006/main">
            <a:off x="609600" y="19240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9529"/>
                </a:solidFill>
                <a:latin typeface="Segoe UI"/>
                <a:ea typeface="Segoe UI"/>
                <a:cs typeface="Segoe UI"/>
              </a:defRPr>
            </a:pPr>
            <a:r>
              <a:rPr sz="2175" b="0">
                <a:solidFill>
                  <a:srgbClr val="EF9529"/>
                </a:solidFill>
                <a:latin typeface="Segoe UI"/>
                <a:ea typeface="Segoe UI"/>
                <a:cs typeface="Segoe UI"/>
              </a:rPr>
              <a:t>Which event establishes the first bit of a transfer?</a:t>
            </a:r>
          </a:p>
        </p:txBody>
      </p:sp>
      <p:sp>
        <p:nvSpPr>
          <p:cNvPr id="9" name="explanation-1">
            <a:extLst xmlns:a="http://schemas.openxmlformats.org/drawingml/2006/main">
              <a:ext uri="{FF2B5EF4-FFF2-40B4-BE49-F238E27FC236}">
                <a16:creationId xmlns:a16="http://schemas.microsoft.com/office/drawing/2014/main" id="{4F4CBD8F-C250-4984-91CC-04BCCE9DC71B}"/>
              </a:ext>
            </a:extLst>
          </p:cNvPr>
          <p:cNvSpPr>
            <a:spLocks xmlns:a="http://schemas.openxmlformats.org/drawingml/2006/main" noGrp="1"/>
          </p:cNvSpPr>
          <p:nvPr/>
        </p:nvSpPr>
        <p:spPr>
          <a:xfrm xmlns:a="http://schemas.openxmlformats.org/drawingml/2006/main">
            <a:off x="609600" y="27432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Who owns the data wire at each stage?</a:t>
            </a:r>
          </a:p>
        </p:txBody>
      </p:sp>
      <p:sp>
        <p:nvSpPr>
          <p:cNvPr id="10" name="explanation-2">
            <a:extLst xmlns:a="http://schemas.openxmlformats.org/drawingml/2006/main">
              <a:ext uri="{FF2B5EF4-FFF2-40B4-BE49-F238E27FC236}">
                <a16:creationId xmlns:a16="http://schemas.microsoft.com/office/drawing/2014/main" id="{9588C214-6461-4D25-9E4C-A08EAA7C7E75}"/>
              </a:ext>
            </a:extLst>
          </p:cNvPr>
          <p:cNvSpPr>
            <a:spLocks xmlns:a="http://schemas.openxmlformats.org/drawingml/2006/main" noGrp="1"/>
          </p:cNvSpPr>
          <p:nvPr/>
        </p:nvSpPr>
        <p:spPr>
          <a:xfrm xmlns:a="http://schemas.openxmlformats.org/drawingml/2006/main">
            <a:off x="609600" y="356235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What does the current regression leave untested?</a:t>
            </a:r>
          </a:p>
        </p:txBody>
      </p:sp>
      <p:sp>
        <p:nvSpPr>
          <p:cNvPr id="11" name="explanation-3">
            <a:extLst xmlns:a="http://schemas.openxmlformats.org/drawingml/2006/main">
              <a:ext uri="{FF2B5EF4-FFF2-40B4-BE49-F238E27FC236}">
                <a16:creationId xmlns:a16="http://schemas.microsoft.com/office/drawing/2014/main" id="{AC0B5489-07C9-498E-8213-024A6F28C1E5}"/>
              </a:ext>
            </a:extLst>
          </p:cNvPr>
          <p:cNvSpPr>
            <a:spLocks xmlns:a="http://schemas.openxmlformats.org/drawingml/2006/main" noGrp="1"/>
          </p:cNvSpPr>
          <p:nvPr/>
        </p:nvSpPr>
        <p:spPr>
          <a:xfrm xmlns:a="http://schemas.openxmlformats.org/drawingml/2006/main">
            <a:off x="609600" y="4381500"/>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EDED"/>
                </a:solidFill>
                <a:latin typeface="Segoe UI"/>
                <a:ea typeface="Segoe UI"/>
                <a:cs typeface="Segoe UI"/>
              </a:defRPr>
            </a:pPr>
            <a:r>
              <a:rPr sz="2175" b="0">
                <a:solidFill>
                  <a:srgbClr val="EDEDED"/>
                </a:solidFill>
                <a:latin typeface="Segoe UI"/>
                <a:ea typeface="Segoe UI"/>
                <a:cs typeface="Segoe UI"/>
              </a:rPr>
              <a:t>Why does an exported GDS not prove signoff?</a:t>
            </a:r>
          </a:p>
        </p:txBody>
      </p:sp>
    </p:spTree>
    <p:extLst>
      <p:ext uri="{BB962C8B-B14F-4D97-AF65-F5344CB8AC3E}">
        <p14:creationId xmlns:p14="http://schemas.microsoft.com/office/powerpoint/2010/main" val="76044829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2026-10-03T09:13:23.2840000Z</dcterms:created>
  <dcterms:modified xsi:type="dcterms:W3CDTF">2026-10-03T09:13:23.2840000Z</dcterms:modified>
</coreProperties>
</file>