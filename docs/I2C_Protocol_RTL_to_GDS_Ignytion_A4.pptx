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74ab9b41e1641af" /><Relationship Type="http://schemas.openxmlformats.org/officeDocument/2006/relationships/extended-properties" Target="/docProps/app.xml" Id="R050e092b790a457e" /><Relationship Type="http://schemas.openxmlformats.org/officeDocument/2006/relationships/officeDocument" Target="/ppt/presentation.xml" Id="Ra48d0420fe4248b8" /></Relationships>
</file>

<file path=ppt/presentation.xml><?xml version="1.0" encoding="utf-8"?>
<p:presentation xmlns:p="http://schemas.openxmlformats.org/presentationml/2006/main">
  <p:sldMasterIdLst>
    <p:sldMasterId xmlns:r="http://schemas.openxmlformats.org/officeDocument/2006/relationships" id="2147483648" r:id="Rcd8c881f9843479f"/>
  </p:sldMasterIdLst>
  <p:notesMasterIdLst>
    <p:notesMasterId xmlns:r="http://schemas.openxmlformats.org/officeDocument/2006/relationships" r:id="Rf6fb459f4ba844f5"/>
  </p:notesMasterIdLst>
  <p:sldIdLst>
    <p:sldId xmlns:r="http://schemas.openxmlformats.org/officeDocument/2006/relationships" id="256" r:id="R6ca1d686d43044f6"/>
    <p:sldId xmlns:r="http://schemas.openxmlformats.org/officeDocument/2006/relationships" id="257" r:id="R382d24fe8a32479c"/>
    <p:sldId xmlns:r="http://schemas.openxmlformats.org/officeDocument/2006/relationships" id="258" r:id="R2377adc1db964260"/>
    <p:sldId xmlns:r="http://schemas.openxmlformats.org/officeDocument/2006/relationships" id="259" r:id="Rb1b2d64524c74767"/>
    <p:sldId xmlns:r="http://schemas.openxmlformats.org/officeDocument/2006/relationships" id="260" r:id="Rbde23ffe5aaa4534"/>
    <p:sldId xmlns:r="http://schemas.openxmlformats.org/officeDocument/2006/relationships" id="261" r:id="R756cbc7e432e44ab"/>
    <p:sldId xmlns:r="http://schemas.openxmlformats.org/officeDocument/2006/relationships" id="262" r:id="Rf5c42b1034c54bb2"/>
    <p:sldId xmlns:r="http://schemas.openxmlformats.org/officeDocument/2006/relationships" id="263" r:id="Rc04efb4937df4f72"/>
    <p:sldId xmlns:r="http://schemas.openxmlformats.org/officeDocument/2006/relationships" id="264" r:id="R3e95e445c19b4a65"/>
    <p:sldId xmlns:r="http://schemas.openxmlformats.org/officeDocument/2006/relationships" id="265" r:id="R811d6747c1544680"/>
    <p:sldId xmlns:r="http://schemas.openxmlformats.org/officeDocument/2006/relationships" id="266" r:id="Rc5c6de0ea8aa4d7a"/>
    <p:sldId xmlns:r="http://schemas.openxmlformats.org/officeDocument/2006/relationships" id="267" r:id="Rfb14e80175224d2d"/>
    <p:sldId xmlns:r="http://schemas.openxmlformats.org/officeDocument/2006/relationships" id="268" r:id="Racdcc5a4e3c84718"/>
    <p:sldId xmlns:r="http://schemas.openxmlformats.org/officeDocument/2006/relationships" id="269" r:id="Rb25f6b8f27914a53"/>
    <p:sldId xmlns:r="http://schemas.openxmlformats.org/officeDocument/2006/relationships" id="270" r:id="R919dd48e943d4201"/>
    <p:sldId xmlns:r="http://schemas.openxmlformats.org/officeDocument/2006/relationships" id="271" r:id="Rf889b93e59c34181"/>
    <p:sldId xmlns:r="http://schemas.openxmlformats.org/officeDocument/2006/relationships" id="272" r:id="Rd32d107b69a54b56"/>
    <p:sldId xmlns:r="http://schemas.openxmlformats.org/officeDocument/2006/relationships" id="273" r:id="R30adb6739f10438c"/>
    <p:sldId xmlns:r="http://schemas.openxmlformats.org/officeDocument/2006/relationships" id="274" r:id="R54f809adf9fe4512"/>
    <p:sldId xmlns:r="http://schemas.openxmlformats.org/officeDocument/2006/relationships" id="275" r:id="Rf5df5d2e4f0b4a08"/>
    <p:sldId xmlns:r="http://schemas.openxmlformats.org/officeDocument/2006/relationships" id="276" r:id="R2698ad44a4494a38"/>
    <p:sldId xmlns:r="http://schemas.openxmlformats.org/officeDocument/2006/relationships" id="277" r:id="Ra9a8b2b7e09d4562"/>
    <p:sldId xmlns:r="http://schemas.openxmlformats.org/officeDocument/2006/relationships" id="278" r:id="R00f6b461bd0643c2"/>
    <p:sldId xmlns:r="http://schemas.openxmlformats.org/officeDocument/2006/relationships" id="279" r:id="R735c0964efb143ce"/>
  </p:sldIdLst>
  <p:sldSz cx="7562850" cy="10688638"/>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0ea7e2c61f14d27" /><Relationship Type="http://schemas.openxmlformats.org/officeDocument/2006/relationships/slideMaster" Target="/ppt/slideMasters/slideMaster1.xml" Id="Rcd8c881f9843479f" /><Relationship Type="http://schemas.openxmlformats.org/officeDocument/2006/relationships/notesMaster" Target="/ppt/notesMasters/notesMaster1.xml" Id="Rf6fb459f4ba844f5" /><Relationship Type="http://schemas.openxmlformats.org/officeDocument/2006/relationships/presProps" Target="/ppt/presProps.xml" Id="Rf2f858f8889c401f" /><Relationship Type="http://schemas.openxmlformats.org/officeDocument/2006/relationships/viewProps" Target="/ppt/viewProps.xml" Id="R56387785b20f4cce" /><Relationship Type="http://schemas.openxmlformats.org/officeDocument/2006/relationships/tableStyles" Target="/ppt/tableStyles.xml" Id="Raa284883e8d14737" /><Relationship Type="http://schemas.openxmlformats.org/officeDocument/2006/relationships/slide" Target="/ppt/slides/slide1.xml" Id="R6ca1d686d43044f6" /><Relationship Type="http://schemas.openxmlformats.org/officeDocument/2006/relationships/slide" Target="/ppt/slides/slide2.xml" Id="R382d24fe8a32479c" /><Relationship Type="http://schemas.openxmlformats.org/officeDocument/2006/relationships/slide" Target="/ppt/slides/slide3.xml" Id="R2377adc1db964260" /><Relationship Type="http://schemas.openxmlformats.org/officeDocument/2006/relationships/slide" Target="/ppt/slides/slide4.xml" Id="Rb1b2d64524c74767" /><Relationship Type="http://schemas.openxmlformats.org/officeDocument/2006/relationships/slide" Target="/ppt/slides/slide5.xml" Id="Rbde23ffe5aaa4534" /><Relationship Type="http://schemas.openxmlformats.org/officeDocument/2006/relationships/slide" Target="/ppt/slides/slide6.xml" Id="R756cbc7e432e44ab" /><Relationship Type="http://schemas.openxmlformats.org/officeDocument/2006/relationships/slide" Target="/ppt/slides/slide7.xml" Id="Rf5c42b1034c54bb2" /><Relationship Type="http://schemas.openxmlformats.org/officeDocument/2006/relationships/slide" Target="/ppt/slides/slide8.xml" Id="Rc04efb4937df4f72" /><Relationship Type="http://schemas.openxmlformats.org/officeDocument/2006/relationships/slide" Target="/ppt/slides/slide9.xml" Id="R3e95e445c19b4a65" /><Relationship Type="http://schemas.openxmlformats.org/officeDocument/2006/relationships/slide" Target="/ppt/slides/slide10.xml" Id="R811d6747c1544680" /><Relationship Type="http://schemas.openxmlformats.org/officeDocument/2006/relationships/slide" Target="/ppt/slides/slide11.xml" Id="Rc5c6de0ea8aa4d7a" /><Relationship Type="http://schemas.openxmlformats.org/officeDocument/2006/relationships/slide" Target="/ppt/slides/slide12.xml" Id="Rfb14e80175224d2d" /><Relationship Type="http://schemas.openxmlformats.org/officeDocument/2006/relationships/slide" Target="/ppt/slides/slide13.xml" Id="Racdcc5a4e3c84718" /><Relationship Type="http://schemas.openxmlformats.org/officeDocument/2006/relationships/slide" Target="/ppt/slides/slide14.xml" Id="Rb25f6b8f27914a53" /><Relationship Type="http://schemas.openxmlformats.org/officeDocument/2006/relationships/slide" Target="/ppt/slides/slide15.xml" Id="R919dd48e943d4201" /><Relationship Type="http://schemas.openxmlformats.org/officeDocument/2006/relationships/slide" Target="/ppt/slides/slide16.xml" Id="Rf889b93e59c34181" /><Relationship Type="http://schemas.openxmlformats.org/officeDocument/2006/relationships/slide" Target="/ppt/slides/slide17.xml" Id="Rd32d107b69a54b56" /><Relationship Type="http://schemas.openxmlformats.org/officeDocument/2006/relationships/slide" Target="/ppt/slides/slide18.xml" Id="R30adb6739f10438c" /><Relationship Type="http://schemas.openxmlformats.org/officeDocument/2006/relationships/slide" Target="/ppt/slides/slide19.xml" Id="R54f809adf9fe4512" /><Relationship Type="http://schemas.openxmlformats.org/officeDocument/2006/relationships/slide" Target="/ppt/slides/slide20.xml" Id="Rf5df5d2e4f0b4a08" /><Relationship Type="http://schemas.openxmlformats.org/officeDocument/2006/relationships/slide" Target="/ppt/slides/slide21.xml" Id="R2698ad44a4494a38" /><Relationship Type="http://schemas.openxmlformats.org/officeDocument/2006/relationships/slide" Target="/ppt/slides/slide22.xml" Id="Ra9a8b2b7e09d4562" /><Relationship Type="http://schemas.openxmlformats.org/officeDocument/2006/relationships/slide" Target="/ppt/slides/slide23.xml" Id="R00f6b461bd0643c2" /><Relationship Type="http://schemas.openxmlformats.org/officeDocument/2006/relationships/slide" Target="/ppt/slides/slide24.xml" Id="R735c0964efb143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fa88ae0d8443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c9800c58594f36" /><Relationship Type="http://schemas.openxmlformats.org/officeDocument/2006/relationships/notesMaster" Target="/ppt/notesMasters/notesMaster1.xml" Id="R3ca83a4116e246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e4b1e310514c6a" /><Relationship Type="http://schemas.openxmlformats.org/officeDocument/2006/relationships/notesMaster" Target="/ppt/notesMasters/notesMaster1.xml" Id="Rb7f4ffe308ff41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a2bf309551405c" /><Relationship Type="http://schemas.openxmlformats.org/officeDocument/2006/relationships/notesMaster" Target="/ppt/notesMasters/notesMaster1.xml" Id="Rb05dc4c4bc1343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d81635cd644051" /><Relationship Type="http://schemas.openxmlformats.org/officeDocument/2006/relationships/notesMaster" Target="/ppt/notesMasters/notesMaster1.xml" Id="R30dd99921ca74d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49dfe1c30f40ef" /><Relationship Type="http://schemas.openxmlformats.org/officeDocument/2006/relationships/notesMaster" Target="/ppt/notesMasters/notesMaster1.xml" Id="R647c1d6031dd4d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fe126d58d84b9a" /><Relationship Type="http://schemas.openxmlformats.org/officeDocument/2006/relationships/notesMaster" Target="/ppt/notesMasters/notesMaster1.xml" Id="R83d13d8d1ac84f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9620dda5ef44e5" /><Relationship Type="http://schemas.openxmlformats.org/officeDocument/2006/relationships/notesMaster" Target="/ppt/notesMasters/notesMaster1.xml" Id="R5d45f50e7f604f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57d5db35144bef" /><Relationship Type="http://schemas.openxmlformats.org/officeDocument/2006/relationships/notesMaster" Target="/ppt/notesMasters/notesMaster1.xml" Id="R8ddaf61330c649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5fe6e365924342" /><Relationship Type="http://schemas.openxmlformats.org/officeDocument/2006/relationships/notesMaster" Target="/ppt/notesMasters/notesMaster1.xml" Id="R0b38a59a1c2a46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535288b46d41b9" /><Relationship Type="http://schemas.openxmlformats.org/officeDocument/2006/relationships/notesMaster" Target="/ppt/notesMasters/notesMaster1.xml" Id="R968c5cc2520446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5f3c90405749cf" /><Relationship Type="http://schemas.openxmlformats.org/officeDocument/2006/relationships/notesMaster" Target="/ppt/notesMasters/notesMaster1.xml" Id="R3d6d96c4e8d64e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d20a81840a49b4" /><Relationship Type="http://schemas.openxmlformats.org/officeDocument/2006/relationships/notesMaster" Target="/ppt/notesMasters/notesMaster1.xml" Id="R92d212f37c514f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e18bd0eec54e01" /><Relationship Type="http://schemas.openxmlformats.org/officeDocument/2006/relationships/notesMaster" Target="/ppt/notesMasters/notesMaster1.xml" Id="R6ee8d06f5b814bd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d7ff9ce8cd48e9" /><Relationship Type="http://schemas.openxmlformats.org/officeDocument/2006/relationships/notesMaster" Target="/ppt/notesMasters/notesMaster1.xml" Id="R1b2f7494089441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4bef5d26264819" /><Relationship Type="http://schemas.openxmlformats.org/officeDocument/2006/relationships/notesMaster" Target="/ppt/notesMasters/notesMaster1.xml" Id="Rb19fb89437ea43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1d539bc7b2f4eef" /><Relationship Type="http://schemas.openxmlformats.org/officeDocument/2006/relationships/notesMaster" Target="/ppt/notesMasters/notesMaster1.xml" Id="R8979722ba1004f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85af47624a4820" /><Relationship Type="http://schemas.openxmlformats.org/officeDocument/2006/relationships/notesMaster" Target="/ppt/notesMasters/notesMaster1.xml" Id="R3e88299ebcb840f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8102e0c5714c09" /><Relationship Type="http://schemas.openxmlformats.org/officeDocument/2006/relationships/notesMaster" Target="/ppt/notesMasters/notesMaster1.xml" Id="R2a1bf125fcae4d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8c3ab83ff54e3a" /><Relationship Type="http://schemas.openxmlformats.org/officeDocument/2006/relationships/notesMaster" Target="/ppt/notesMasters/notesMaster1.xml" Id="Ra3069b578c6347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1618d7b35147fd" /><Relationship Type="http://schemas.openxmlformats.org/officeDocument/2006/relationships/notesMaster" Target="/ppt/notesMasters/notesMaster1.xml" Id="Refadda48a8ca47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5352e7de6bd435d" /><Relationship Type="http://schemas.openxmlformats.org/officeDocument/2006/relationships/notesMaster" Target="/ppt/notesMasters/notesMaster1.xml" Id="R8441f14e141149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62cfd330c9b4098" /><Relationship Type="http://schemas.openxmlformats.org/officeDocument/2006/relationships/notesMaster" Target="/ppt/notesMasters/notesMaster1.xml" Id="R5ac3bbf60489480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8471ace57b84eee" /><Relationship Type="http://schemas.openxmlformats.org/officeDocument/2006/relationships/notesMaster" Target="/ppt/notesMasters/notesMaster1.xml" Id="R88218c3cebe243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8ee605a90ea4cfa" /><Relationship Type="http://schemas.openxmlformats.org/officeDocument/2006/relationships/notesMaster" Target="/ppt/notesMasters/notesMaster1.xml" Id="R5294d862337040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Follow i2c_core from its communication rules and Verilog source to a routed IHP SG13G2 layout. Worked calculations, measured digital traces and tool results are identified separately. This is an educational block, not a manufactured chip or a signoff-ready design.</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A Verilog description represents circuits, not software instructions running one after another. Registers remember values; combinational logic calculates the next values. A clock advances the registered state. The next pages first explain this protocol at its wires, then connect those rules to the actual reference RTL.</a:t>
            </a:r>
          </a:p>
          <a:p xmlns:a="http://schemas.openxmlformats.org/drawingml/2006/main">
            <a:r>
              <a:t/>
            </a:r>
          </a:p>
          <a:p xmlns:a="http://schemas.openxmlformats.org/drawingml/2006/main">
            <a:r>
              <a:t>The implemented unit is i2c_core in hw/protocols/i2c. It is a fixed reference block, not the Jane Street programmable combined emulator or a Tiny Tapeout submission top. No new competition architecture, instruction set, pin map or authority decision is implied by these documents.</a:t>
            </a:r>
          </a:p>
          <a:p xmlns:a="http://schemas.openxmlformats.org/drawingml/2006/main">
            <a:r>
              <a:t/>
            </a:r>
          </a:p>
          <a:p xmlns:a="http://schemas.openxmlformats.org/drawingml/2006/main">
            <a:r>
              <a:t>Arbitration is not decisively tested. Stretching and repeated START have indirect data/completion coverage only. Later pages give the exact stimulus and the implementation evidence rather than using a broad protocol-compliant label. A successful mapped netlist, routed DEF and decoded GDS establish concrete implementation/export results, not readiness to manufacture.</a:t>
            </a:r>
          </a:p>
          <a:p xmlns:a="http://schemas.openxmlformats.org/drawingml/2006/main">
            <a:r>
              <a:t/>
            </a:r>
          </a:p>
          <a:p xmlns:a="http://schemas.openxmlformats.org/drawingml/2006/main">
            <a:r>
              <a:t>The reading path starts with chip-design vocabulary, then develops the protocol, calculations, local interface and failure cases. Separate sections explain lint, simulation, synthesis, placement, routing, timing and GDS. The last two pages define design and physical terms. No prior ASIC-flow experience is assumed.</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RTL states what hardware should do. A simulator checks selected input sequences before any silicon exists. Synthesis replaces that description with gates from a process library. Physical tools choose positions and metal routes. Timing analysis checks the resulting delays; stream-out writes the mask-layout geometry.</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When any open-drain participant pulls the shared wire low, the connected receivers observe a low. This supports shared ownership without opposing high and low drivers. Pull-up selection depends on rise time, bus capacitance and sink current. An RTL tri-state model is ideal digital behaviour and does not prove these analogue limits. The integration needs correct output-enable polarity.</a:t>
            </a:r>
          </a:p>
          <a:p xmlns:a="http://schemas.openxmlformats.org/drawingml/2006/main">
            <a:r>
              <a:t/>
            </a:r>
          </a:p>
          <a:p xmlns:a="http://schemas.openxmlformats.org/drawingml/2006/main">
            <a:r>
              <a:t>These are stated classroom assumptions, not measured board values. The 0.8473 factor describes the 30-to-70 percent RC rise interval. A real design must use the device data sheet limits and include wiring, connector and pin capacitance. NXP UM10204 section 7.1 describes this method. This calculation does not prove electrical compliance of the reference RTL pads.</a:t>
            </a:r>
          </a:p>
          <a:p xmlns:a="http://schemas.openxmlformats.org/drawingml/2006/main">
            <a:r>
              <a:t/>
            </a:r>
          </a:p>
          <a:p xmlns:a="http://schemas.openxmlformats.org/drawingml/2006/main">
            <a:r>
              <a:t>The pull-up can raise the line only when neither participant sinks current. A digital simulation does not model pull-up resistance or pad sink current.</a:t>
            </a:r>
          </a:p>
          <a:p xmlns:a="http://schemas.openxmlformats.org/drawingml/2006/main">
            <a:r>
              <a:t/>
            </a:r>
          </a:p>
          <a:p xmlns:a="http://schemas.openxmlformats.org/drawingml/2006/main">
            <a:r>
              <a:t>The pull-up bounds are Rmin = (VDD - VOL) / IOL and Rmax = tr / (0.8473 x Cbus). With the stated values these give 2.9 / 0.003 = 967 ohm and 300 ns / (0.8473 x 100 pF) = 3.54 kohm. Choosing 2.2 kohm predicts tr = 0.8473 x 2200 x 100 pF = 186 ns. Doubling the capacitance doubles that prediction to 373 ns and exceeds the assumed 300 ns budget.</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register index and auto-increment behaviour belong to the target’s application contract, not to I2C itself. The local target model stores bytes for this exercise. A real device datasheet determines whether this exact multi-byte sequence is valid.</a:t>
            </a:r>
          </a:p>
          <a:p xmlns:a="http://schemas.openxmlformats.org/drawingml/2006/main">
            <a:r>
              <a:t/>
            </a:r>
          </a:p>
          <a:p xmlns:a="http://schemas.openxmlformats.org/drawingml/2006/main">
            <a:r>
              <a:t>The first acknowledged read requests more bytes. The controller should NACK the final byte before STOP to tell the target that the receive phase is over. The regression checks A5 and 5A. Later uninitialised locations print unknown values but are not asserted, so they cannot count as extra verified payload bytes.</a:t>
            </a:r>
          </a:p>
          <a:p xmlns:a="http://schemas.openxmlformats.org/drawingml/2006/main">
            <a:r>
              <a:t/>
            </a:r>
          </a:p>
          <a:p xmlns:a="http://schemas.openxmlformats.org/drawingml/2006/main">
            <a:r>
              <a:t>Repeated START keeps the transaction active while changing direction. The target owns read data, and the controller owns the final response. Some devices use different register widths or pointer behaviour; this worked convention is not universal.</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five-phase divider gives nominal SCL = fwb / [5 x (PRER + 1)]. At 50 MHz, PRER 99 yields 100 kHz and PRER 24 yields 400 kHz before other delays. These are worked configurations, not independently measured board rates. The regression instead runs at 100 MHz with PRER 0x00C8, or 200: 1005 core clocks predict 10.05 us and 99.502 kHz.</a:t>
            </a:r>
          </a:p>
          <a:p xmlns:a="http://schemas.openxmlformats.org/drawingml/2006/main">
            <a:r>
              <a:t/>
            </a:r>
          </a:p>
          <a:p xmlns:a="http://schemas.openxmlformats.org/drawingml/2006/main">
            <a:r>
              <a:t>The positive VCD contains steady address-clock intervals of 10.71 us, or 1071 core cycles and 93.371 kHz. The observed difference is 66 clocks per period, approximately 6.57 percent extra period. Input filtering and synchronisation are possible contributors; the exact state-by-state attribution has not been established. No causal claim is made from the rate difference alone.</a:t>
            </a:r>
          </a:p>
          <a:p xmlns:a="http://schemas.openxmlformats.org/drawingml/2006/main">
            <a:r>
              <a:t/>
            </a:r>
          </a:p>
          <a:p xmlns:a="http://schemas.openxmlformats.org/drawingml/2006/main">
            <a:r>
              <a:t>Nine clocks are consumed by eight data bits plus ACK. The nominal maximum payload-bit fraction is therefore 8/9, before address, START, STOP and idle overhead. A hypothetical single-byte register read uses four nine-clock byte phases, giving 360 us at an ideal 100 kHz, excluding boundary gaps and stretching.</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i2c_core wraps i2c_master_top, followed by the byte and bit controllers. The wrapper adds synchronised reset release and preserves the existing port contract.</a:t>
            </a:r>
          </a:p>
          <a:p xmlns:a="http://schemas.openxmlformats.org/drawingml/2006/main">
            <a:r>
              <a:t/>
            </a:r>
          </a:p>
          <a:p xmlns:a="http://schemas.openxmlformats.org/drawingml/2006/main">
            <a:r>
              <a:t>Each command field has a separate bit assignment. Bit seven is START, bit six STOP, bit five READ, bit four WRITE, and bit three the response selection. The current bench uses these constants; verify status TIP clears before issuing the next command. A polling loop also needs a system timeout, which is separate from the bare peripheral logic.</a:t>
            </a:r>
          </a:p>
          <a:p xmlns:a="http://schemas.openxmlformats.org/drawingml/2006/main">
            <a:r>
              <a:t/>
            </a:r>
          </a:p>
          <a:p xmlns:a="http://schemas.openxmlformats.org/drawingml/2006/main">
            <a:r>
              <a:t>ARST_LVL is an elaboration parameter. The default is zero, so low arst_i asserts reset. The wrapper converts polarity and passes active-low reset to the upstream controller. A two-flop release improves clock-domain reset handling but is not a metastability or reset-domain signoff report. There is also a synchronous Wishbone reset input. Pad integration still needs an actual I/O cell and electrical design.</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table summarises the actual named states and output-enable assignments, not a newly invented controller. An enable of one releases the open-drain line; it does not force a high voltage. In wr_c the implementation checks SDA for arbitration. Command acknowledgement marks completion of the bit operation, which is separate from target acknowledgement on the ninth bus pulse.</a:t>
            </a:r>
          </a:p>
          <a:p xmlns:a="http://schemas.openxmlformats.org/drawingml/2006/main">
            <a:r>
              <a:t/>
            </a:r>
          </a:p>
          <a:p xmlns:a="http://schemas.openxmlformats.org/drawingml/2006/main">
            <a:r>
              <a:t>The Wishbone read returns the receive register at address three; writing there queues outgoing data. This shared address is not an error. The bus acknowledgement means the register operation completed, not that a remote I2C target acknowledged.</a:t>
            </a:r>
          </a:p>
          <a:p xmlns:a="http://schemas.openxmlformats.org/drawingml/2006/main">
            <a:r>
              <a:t/>
            </a:r>
          </a:p>
          <a:p xmlns:a="http://schemas.openxmlformats.org/drawingml/2006/main">
            <a:r>
              <a:t>The XOR converts the selected external assertion level into an internal active-low reset. While asserted, both release flops clear. Once the external reset becomes inactive, ones shift through on consecutive clock edges. The controller receives the second stage. This reduces release hazards inside this clock domain; it does not provide board-level reset sequencing for every pad or external target.</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bench probes an invalid address and asserts the NACK result. That test is useful because a controller can generate perfectly shaped clocks while communicating with no device. The simulation watchdog is a test safety mechanism, not proof of a hardware bus-recovery implementation.</a:t>
            </a:r>
          </a:p>
          <a:p xmlns:a="http://schemas.openxmlformats.org/drawingml/2006/main">
            <a:r>
              <a:t/>
            </a:r>
          </a:p>
          <a:p xmlns:a="http://schemas.openxmlformats.org/drawingml/2006/main">
            <a:r>
              <a:t>The actual bus can remain low because another participant holds it. The RTL samples the pad input. The inherited bench includes a stretching target, but its completion assertion does not certify arbitrary stretch durations or stuck-low recovery. This limitation belongs in an test report.</a:t>
            </a:r>
          </a:p>
          <a:p xmlns:a="http://schemas.openxmlformats.org/drawingml/2006/main">
            <a:r>
              <a:t/>
            </a:r>
          </a:p>
          <a:p xmlns:a="http://schemas.openxmlformats.org/drawingml/2006/main">
            <a:r>
              <a:t>The selected OpenCores design contains arbitration logic. Presence of that logic is different from test coverage. The second controller in this regression remains idle, so arbitration under contention is not validated.</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selected transaction sends address byte 0x20. Splitting it into a seven-bit address and one direction bit yields target 0x10 and write direction zero. The decoder reads SDA at the first eight rising SCL edges, then separately checks the ninth sample. That response is low, establishing ACK for the plotted address phase.</a:t>
            </a:r>
          </a:p>
          <a:p xmlns:a="http://schemas.openxmlformats.org/drawingml/2006/main">
            <a:r>
              <a:t/>
            </a:r>
          </a:p>
          <a:p xmlns:a="http://schemas.openxmlformats.org/drawingml/2006/main">
            <a:r>
              <a:t>The waveform is deliberately not relabelled as the hypothetical target 0x50 used in the register-read exercise. Its steady SCL interval is 10.71 us rather than the nominal 10.05 us calculated from the prescaler. Digital values in this trace cannot establish pull-up rise time, voltage thresholds, pad drive strength or electrical compliance. The source VCD hash is recorded in the document evidence manifest.</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Address byte 0x20 = target 0x10 plus write bit 0. Ninth SCL samples ACK=0. Measured steady SCL period 10.71 us, 93.371 kHz; nominal divider estimate 10.05 us, 99.502 kHz. Extra 66 core cycles per period are observed; their exact internal attribution is not established.</a:t>
            </a:r>
          </a:p>
          <a:p xmlns:a="http://schemas.openxmlformats.org/drawingml/2006/main">
            <a:r>
              <a:t>Source VCD hw/protocols/i2c/02_sim/i2c_core.vcd</a:t>
            </a:r>
          </a:p>
          <a:p xmlns:a="http://schemas.openxmlformats.org/drawingml/2006/main">
            <a:r>
              <a:t>SHA256 92a33c5d8fa011907725903c0a42a46363a0a713fcafd04ccbc1cf326bed4714</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retained report contains 3 warning messages and 0 error messages. Categories present: CASEINCOMPLETE, SYNCASYNCNET, UNUSEDSIGNAL. These figures count report message headers; repeated warnings are not necessarily independent defects. The report is hashed in this document evidence manifest.</a:t>
            </a:r>
          </a:p>
          <a:p xmlns:a="http://schemas.openxmlformats.org/drawingml/2006/main">
            <a:r>
              <a:t/>
            </a:r>
          </a:p>
          <a:p xmlns:a="http://schemas.openxmlformats.org/drawingml/2006/main">
            <a:r>
              <a:t>The invocation deliberately uses -Wno-fatal so warnings remain visible while lint execution can complete. A successful command therefore does not mean every warning was resolved. Width changes, incomplete cases, reset use and unconnected ports need review against the wrapper contract and directed tests.</a:t>
            </a:r>
          </a:p>
          <a:p xmlns:a="http://schemas.openxmlformats.org/drawingml/2006/main">
            <a:r>
              <a:t/>
            </a:r>
          </a:p>
          <a:p xmlns:a="http://schemas.openxmlformats.org/drawingml/2006/main">
            <a:r>
              <a:t>Lint cannot show that a receive byte is correct, that a transaction finishes, or that an external electrical interface is safe. Those questions require a checking testbench, implementation evidence and separate board or signoff work.</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bench checks register values, successful A5 and 5A byte transfers, and NACK when the target model receives an invalid memory address. The existing second controller remains idle. The flow adds timeout and fatal comparisons, separate interrupt wires and integration through the real local wrapper.</a:t>
            </a:r>
          </a:p>
          <a:p xmlns:a="http://schemas.openxmlformats.org/drawingml/2006/main">
            <a:r>
              <a:t/>
            </a:r>
          </a:p>
          <a:p xmlns:a="http://schemas.openxmlformats.org/drawingml/2006/main">
            <a:r>
              <a:t>Repeated START and forced clock stretching occur in the inherited sequence, but there is no independent edge-by-edge property proving every boundary or stretch duration. Third and fourth reads from uninitialised memory are not data-verified. These gaps remain visible rather than being folded into an exhaustive protocol claim.</a:t>
            </a:r>
          </a:p>
          <a:p xmlns:a="http://schemas.openxmlformats.org/drawingml/2006/main">
            <a:r>
              <a:t/>
            </a:r>
          </a:p>
          <a:p xmlns:a="http://schemas.openxmlformats.org/drawingml/2006/main">
            <a:r>
              <a:t>Negative controls deliberately change expected data or a register result. Their purpose is to show that the checker rejects a wrong result. A passing negative-control harness means the deliberately corrupted child run failed as intended; it does not mean the corrupted DUT transaction was correct.</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A process design kit, or PDK, contains the process-specific files used by implementation tools. This reference uses IHP SG13G2, not the SKY130 library used by the golden APB primer. Standard cells are predesigned gates and storage elements with characterised timing and physical views.</a:t>
            </a:r>
          </a:p>
          <a:p xmlns:a="http://schemas.openxmlformats.org/drawingml/2006/main">
            <a:r>
              <a:t/>
            </a:r>
          </a:p>
          <a:p xmlns:a="http://schemas.openxmlformats.org/drawingml/2006/main">
            <a:r>
              <a:t>The source is compiled and checked under the unit workspace before synthesis. Yosys maps the functional logic into the pinned IHP SG13G2 standard-cell library. The current netlist contains 1007 functional cells, excluding $scopeinfo metadata. The structural checker rejects remaining generic logic, latches or unresolved instances.</a:t>
            </a:r>
          </a:p>
          <a:p xmlns:a="http://schemas.openxmlformats.org/drawingml/2006/main">
            <a:r>
              <a:t/>
            </a:r>
          </a:p>
          <a:p xmlns:a="http://schemas.openxmlformats.org/drawingml/2006/main">
            <a:r>
              <a:t>The mapped count excludes $scopeinfo metadata. It is not the count of every placed instance after clock buffers, repair cells and fillers are added. It also does not mean that the original protocol has been independently proven for all possible transactions.</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die outline for this standalone block is 300 x 300 um. The floorplan establishes rows and reference power/pin geometry. The placer must fit cells legally without overlaps and with room for routing. This is a block-level educational layout, not a complete padframe or package design.</a:t>
            </a:r>
          </a:p>
          <a:p xmlns:a="http://schemas.openxmlformats.org/drawingml/2006/main">
            <a:r>
              <a:t/>
            </a:r>
          </a:p>
          <a:p xmlns:a="http://schemas.openxmlformats.org/drawingml/2006/main">
            <a:r>
              <a:t>Mapped functional logic has 1007 cells. After physical additions and fillers, the routed DEF contains 14,546 placed standard-cell instances. A filler occupies empty row sites; it is not another functional logic gate. That distinction explains why the two counts differ so much.</a:t>
            </a:r>
          </a:p>
          <a:p xmlns:a="http://schemas.openxmlformats.org/drawingml/2006/main">
            <a:r>
              <a:t/>
            </a:r>
          </a:p>
          <a:p xmlns:a="http://schemas.openxmlformats.org/drawingml/2006/main">
            <a:r>
              <a:t>Utilisation is the fraction of core area occupied by placed cell area. It is not simply functional-cell count divided by die size, and it changes between stages. This note does not substitute APB utilisation, row count or I/O count for unavailable protocol-specific measurements.</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A register samples its input at a clock edge. Clock buffers distribute that edge across the block; the difference in arrival times is called skew. The reference is constrained at 50 MHz / 20 ns.</a:t>
            </a:r>
          </a:p>
          <a:p xmlns:a="http://schemas.openxmlformats.org/drawingml/2006/main">
            <a:r>
              <a:t/>
            </a:r>
          </a:p>
          <a:p xmlns:a="http://schemas.openxmlformats.org/drawingml/2006/main">
            <a:r>
              <a:t>OpenROAD completes the staged physical flow. The reference die is 300 x 300 um. DEF records routed design geometry and cell placement; SPEF captures extracted parasitics used by the timing analysis. The scripts retain stage-specific output so the result can be investigated instead of relying on a final banner.</a:t>
            </a:r>
          </a:p>
          <a:p xmlns:a="http://schemas.openxmlformats.org/drawingml/2006/main">
            <a:r>
              <a:t/>
            </a:r>
          </a:p>
          <a:p xmlns:a="http://schemas.openxmlformats.org/drawingml/2006/main">
            <a:r>
              <a:t>Real interconnect has resistance and capacitance, called parasitics. Extraction writes these in SPEF for post-route timing. The retained router-rule DRC file is empty. That checks the router view of its work; it is not a full foundry-deck check of the exported polygons.</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physical clock constraint is 50 MHz / 20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a:p xmlns:a="http://schemas.openxmlformats.org/drawingml/2006/main">
            <a:r>
              <a:t/>
            </a:r>
          </a:p>
          <a:p xmlns:a="http://schemas.openxmlformats.org/drawingml/2006/main">
            <a:r>
              <a:t>Current TT setup/hold slack is +15.81 / +0.17 ns. The slow-corner values are +14.55 / +0.21 ns. Both reports contain no VIOLATED marker. These numbers are taken directly from the local report files at document build time; the evidence manifest retains their hashes.</a:t>
            </a:r>
          </a:p>
          <a:p xmlns:a="http://schemas.openxmlformats.org/drawingml/2006/main">
            <a:r>
              <a:t/>
            </a:r>
          </a:p>
          <a:p xmlns:a="http://schemas.openxmlformats.org/drawingml/2006/main">
            <a:r>
              <a:t>I/O delays are reference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GDS file contains 1,583,844 bytes and 48 structures. The independent decoder finds 14,546 placed standard-cell instances including fillers. That placement count is intentionally much larger than the 1007 mapped functional cells: filler instances occupy unused placement sites and structures are unique hierarchy definitions.</a:t>
            </a:r>
          </a:p>
          <a:p xmlns:a="http://schemas.openxmlformats.org/drawingml/2006/main">
            <a:r>
              <a:t/>
            </a:r>
          </a:p>
          <a:p xmlns:a="http://schemas.openxmlformats.org/drawingml/2006/main">
            <a:r>
              <a:t>The decoder compares exported cell identities, coordinates and orientations against the routed DEF. A deliberately altered placement/export expectation fails, including under Python optimisation, so acceptance is not implemented with removable assert-only checks. Raw file SHA256 is a run-specific fingerprint because stream-out timestamps can change.</a:t>
            </a:r>
          </a:p>
          <a:p xmlns:a="http://schemas.openxmlformats.org/drawingml/2006/main">
            <a:r>
              <a:t/>
            </a:r>
          </a:p>
          <a:p xmlns:a="http://schemas.openxmlformats.org/drawingml/2006/main">
            <a:r>
              <a:t>The OpenROAD router-rule DRC report is empty. It is not a foundry-deck DRC result. LVS, antenna, scan/DFT, power integrity, padframe, tap/endcap strategy and manufacturing signoff remain unperformed. No empty routing report is promoted into a DRC-clean tapeout claim.</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Foundry DRC requires the applicable, qualified rule deck and an inspected report on the final polygons. Typical checks include minimum widths, spacing and enclosure. No foundry-deck DRC result has been accepted for this protocol reference. The router report is narrower evidence.</a:t>
            </a:r>
          </a:p>
          <a:p xmlns:a="http://schemas.openxmlformats.org/drawingml/2006/main">
            <a:r>
              <a:t/>
            </a:r>
          </a:p>
          <a:p xmlns:a="http://schemas.openxmlformats.org/drawingml/2006/main">
            <a:r>
              <a:t>LVS requires extracting a circuit from the layout and comparing devices and connectivity with the intended circuit. A structural GDS decoder checking cell references, coordinates and orientations does not perform that extraction or connectivity comparison. No accepted LVS match is available.</a:t>
            </a:r>
          </a:p>
          <a:p xmlns:a="http://schemas.openxmlformats.org/drawingml/2006/main">
            <a:r>
              <a:t/>
            </a:r>
          </a:p>
          <a:p xmlns:a="http://schemas.openxmlformats.org/drawingml/2006/main">
            <a:r>
              <a:t>Antenna, scan/DFT, power integrity, padframe, tap/endcap strategy and manufacturing release remain unperformed. The golden APB primer reports its own separate checks; those results do not transfer to SG13G2 or to this design.</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directed functional result and the physical export result are both useful, but they prove different things. The physical build uses the fixed wrapper configuration and reference constraints. Additional modes, external peripherals, arbitrary clock relationships and board operation require their own evidence.</a:t>
            </a:r>
          </a:p>
          <a:p xmlns:a="http://schemas.openxmlformats.org/drawingml/2006/main">
            <a:r>
              <a:t/>
            </a:r>
          </a:p>
          <a:p xmlns:a="http://schemas.openxmlformats.org/drawingml/2006/main">
            <a:r>
              <a:t>Important protocol boundary: Arbitration is not decisively tested. Stretching and repeated START have indirect data/completion coverage only.</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The proven entry point is a WSL login Bash shell. igny init prepares the packaging runtime. Unsetting CRUCIBLE_ENV after initialisation allows the unit crucible.toml workspace selection to control tool resolution rather than an inherited environment override. This is the observed workflow, not a change to Crucible internals.</a:t>
            </a:r>
          </a:p>
          <a:p xmlns:a="http://schemas.openxmlformats.org/drawingml/2006/main">
            <a:r>
              <a:t/>
            </a:r>
          </a:p>
          <a:p xmlns:a="http://schemas.openxmlformats.org/drawingml/2006/main">
            <a:r>
              <a:t>Each unit has its existing environment and lock. The common tool set includes Icarus, Verilator, Yosys, OpenROAD and klayout-stream. The separate PDK checkout is IHP SG13G2 revision 22f43352dd8219f9007eb659e422e0d5fe28c5fb. A tool lock does not pin that external PDK by itself; IHP_PDK_ROOT must point to the matching installation.</a:t>
            </a:r>
          </a:p>
          <a:p xmlns:a="http://schemas.openxmlformats.org/drawingml/2006/main">
            <a:r>
              <a:t/>
            </a:r>
          </a:p>
          <a:p xmlns:a="http://schemas.openxmlformats.org/drawingml/2006/main">
            <a:r>
              <a:t>The documented machine could not use the pip klayout package as the expected stream-out executable; igny tool install klayout-stream supplies the proven converter. make lint sim checks functional behaviour, make flow executes the staged implementation, and node verify_build.mjs all inspects artifacts. Review normal and intentionally failing logs before accepting the result.</a:t>
            </a:r>
          </a:p>
          <a:p xmlns:a="http://schemas.openxmlformats.org/drawingml/2006/main">
            <a:r>
              <a:t/>
            </a:r>
          </a:p>
          <a:p xmlns:a="http://schemas.openxmlformats.org/drawingml/2006/main">
            <a:r>
              <a:t>Re-running a simulation can replace its VCD and invalidate an earlier document trace hash. Retain a document evidence manifest or regenerate the measured figures after the positive run. Do not silently preserve an old chart while claiming it is the newly generated waveform.</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Upstream: https://github.com/freecores/i2c</a:t>
            </a:r>
          </a:p>
          <a:p xmlns:a="http://schemas.openxmlformats.org/drawingml/2006/main">
            <a:r>
              <a:t>Pinned commit: 3b067f00ccced753b0502024766a51f58f3e04bc</a:t>
            </a:r>
          </a:p>
          <a:p xmlns:a="http://schemas.openxmlformats.org/drawingml/2006/main">
            <a:r>
              <a:t>Licence: Richard Herveille permission notice, 2001. Original source notices remain in the RTL. The document is authored by Ignytion; this does not transfer ownership of upstream code or remove its licence obligations.</a:t>
            </a:r>
          </a:p>
          <a:p xmlns:a="http://schemas.openxmlformats.org/drawingml/2006/main">
            <a:r>
              <a:t/>
            </a:r>
          </a:p>
          <a:p xmlns:a="http://schemas.openxmlformats.org/drawingml/2006/main">
            <a:r>
              <a:t>Local modifications, directed test stimulus and source boundaries are recorded in hw/protocols/i2c/README.md and the repository append-only .context.md. The first three protocol lessons have separate editable 16:9 student decks; this A4 technical note is a reading and evidence document, not a replacement for their instructor notes.</a:t>
            </a:r>
          </a:p>
          <a:p xmlns:a="http://schemas.openxmlformats.org/drawingml/2006/main">
            <a:r>
              <a:t/>
            </a:r>
          </a:p>
          <a:p xmlns:a="http://schemas.openxmlformats.org/drawingml/2006/main">
            <a:r>
              <a:t>Primary reading: NXP UM10204 Rev. 7 and TI SLVA689 for pull-up arithmetic.</a:t>
            </a:r>
          </a:p>
          <a:p xmlns:a="http://schemas.openxmlformats.org/drawingml/2006/main">
            <a:r>
              <a:t>Canonical reading: https://cache.nxp.com/docs/en/user-guide/UM10204.pdf and https://www.ti.com/lit/pdf/slva689</a:t>
            </a:r>
          </a:p>
          <a:p xmlns:a="http://schemas.openxmlformats.org/drawingml/2006/main">
            <a:r>
              <a:t/>
            </a:r>
          </a:p>
          <a:p xmlns:a="http://schemas.openxmlformats.org/drawingml/2006/main">
            <a:r>
              <a:t>Open work remains explicit: Arbitration is not decisively tested. Stretching and repeated START have indirect data/completion coverage only. Full-chip integration, manufacturing checks and board validation are not closed by the standalone reference flow. The reader can reproduce the listed evidence without assuming those larger obligations have already been completed.</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docs/I2C_Protocol_RTL_to_GDS_Ignytion_A4.pptx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hw/protocols/i2c</a:t>
            </a:r>
          </a:p>
          <a:p xmlns:a="http://schemas.openxmlformats.org/drawingml/2006/main">
            <a:r>
              <a:t>https://github.com/freecores/i2c</a:t>
            </a:r>
          </a:p>
          <a:p xmlns:a="http://schemas.openxmlformats.org/drawingml/2006/main">
            <a:r>
              <a:t>Pinned commit 3b067f00ccced753b0502024766a51f58f3e04bc</a:t>
            </a:r>
          </a:p>
          <a:p xmlns:a="http://schemas.openxmlformats.org/drawingml/2006/main">
            <a:r>
              <a:t>Original upstream notice:</a:t>
            </a:r>
          </a:p>
          <a:p xmlns:a="http://schemas.openxmlformats.org/drawingml/2006/main">
            <a:r>
              <a:t>////                                                             ////</a:t>
            </a:r>
          </a:p>
          <a:p xmlns:a="http://schemas.openxmlformats.org/drawingml/2006/main">
            <a:r>
              <a:t>//// Copyright (C) 2001 Richard Herveille                        ////</a:t>
            </a:r>
          </a:p>
          <a:p xmlns:a="http://schemas.openxmlformats.org/drawingml/2006/main">
            <a:r>
              <a:t>////                    richard@asics.ws                         ////</a:t>
            </a:r>
          </a:p>
          <a:p xmlns:a="http://schemas.openxmlformats.org/drawingml/2006/main">
            <a:r>
              <a:t>////                                                             ////</a:t>
            </a:r>
          </a:p>
          <a:p xmlns:a="http://schemas.openxmlformats.org/drawingml/2006/main">
            <a:r>
              <a:t>//// This source file may be used and distributed without        ////</a:t>
            </a:r>
          </a:p>
          <a:p xmlns:a="http://schemas.openxmlformats.org/drawingml/2006/main">
            <a:r>
              <a:t>//// restriction provided that this copyright statement is not   ////</a:t>
            </a:r>
          </a:p>
          <a:p xmlns:a="http://schemas.openxmlformats.org/drawingml/2006/main">
            <a:r>
              <a:t>//// removed from the file and that any derivative work contains ////</a:t>
            </a:r>
          </a:p>
          <a:p xmlns:a="http://schemas.openxmlformats.org/drawingml/2006/main">
            <a:r>
              <a:t>//// the original copyright notice and the associated disclaimer.////</a:t>
            </a:r>
          </a:p>
          <a:p xmlns:a="http://schemas.openxmlformats.org/drawingml/2006/main">
            <a:r>
              <a:t>////                                                             ////</a:t>
            </a:r>
          </a:p>
          <a:p xmlns:a="http://schemas.openxmlformats.org/drawingml/2006/main">
            <a:r>
              <a:t>////     THIS SOFTWARE IS PROVIDED ``AS IS'' AND WITHOUT ANY     ////</a:t>
            </a:r>
          </a:p>
          <a:p xmlns:a="http://schemas.openxmlformats.org/drawingml/2006/main">
            <a:r>
              <a:t>//// EXPRESS OR IMPLIED WARRANTIES, INCLUDING, BUT NOT LIMITED   ////</a:t>
            </a:r>
          </a:p>
          <a:p xmlns:a="http://schemas.openxmlformats.org/drawingml/2006/main">
            <a:r>
              <a:t>//// TO, THE IMPLIED WARRANTIES OF MERCHANTABILITY AND FITNESS   ////</a:t>
            </a:r>
          </a:p>
          <a:p xmlns:a="http://schemas.openxmlformats.org/drawingml/2006/main">
            <a:r>
              <a:t>//// FOR A PARTICULAR PURPOSE. IN NO EVENT SHALL THE AUTHOR      ////</a:t>
            </a:r>
          </a:p>
          <a:p xmlns:a="http://schemas.openxmlformats.org/drawingml/2006/main">
            <a:r>
              <a:t>//// OR CONTRIBUTORS BE LIABLE FOR ANY DIRECT, INDIRECT,         ////</a:t>
            </a:r>
          </a:p>
          <a:p xmlns:a="http://schemas.openxmlformats.org/drawingml/2006/main">
            <a:r>
              <a:t>//// INCIDENTAL, SPECIAL, EXEMPLARY, OR CONSEQUENTIAL DAMAGES    ////</a:t>
            </a:r>
          </a:p>
          <a:p xmlns:a="http://schemas.openxmlformats.org/drawingml/2006/main">
            <a:r>
              <a:t>//// (INCLUDING, BUT NOT LIMITED TO, PROCUREMENT OF SUBSTITUTE   ////</a:t>
            </a:r>
          </a:p>
          <a:p xmlns:a="http://schemas.openxmlformats.org/drawingml/2006/main">
            <a:r>
              <a:t>//// GOODS OR SERVICES; LOSS OF USE, DATA, OR PROFITS; OR        ////</a:t>
            </a:r>
          </a:p>
          <a:p xmlns:a="http://schemas.openxmlformats.org/drawingml/2006/main">
            <a:r>
              <a:t>//// BUSINESS INTERRUPTION) HOWEVER CAUSED AND ON ANY THEORY OF  ////</a:t>
            </a:r>
          </a:p>
          <a:p xmlns:a="http://schemas.openxmlformats.org/drawingml/2006/main">
            <a:r>
              <a:t>//// LIABILITY, WHETHER IN  CONTRACT, STRICT LIABILITY, OR TORT  ////</a:t>
            </a:r>
          </a:p>
          <a:p xmlns:a="http://schemas.openxmlformats.org/drawingml/2006/main">
            <a:r>
              <a:t>//// (INCLUDING NEGLIGENCE OR OTHERWISE) ARISING IN ANY WAY OUT  ////</a:t>
            </a:r>
          </a:p>
          <a:p xmlns:a="http://schemas.openxmlformats.org/drawingml/2006/main">
            <a:r>
              <a:t>//// OF THE USE OF THIS SOFTWARE, EVEN IF ADVISED OF THE         ////</a:t>
            </a:r>
          </a:p>
          <a:p xmlns:a="http://schemas.openxmlformats.org/drawingml/2006/main">
            <a:r>
              <a:t>//// POSSIBILITY OF SUCH DAMAGE.                                 ////</a:t>
            </a:r>
          </a:p>
          <a:p xmlns:a="http://schemas.openxmlformats.org/drawingml/2006/main">
            <a:r>
              <a:t>////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e71d76b42a45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f51103cf1d44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f72d2fcc3242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96115bbd1b4f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0261d6701c42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0c6fc67c7a425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825b693de4e481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5f4b377e2f94e7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6cabca2fa5640d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f33567ce8a84d8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eafae6b78414f5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89B182-A09F-48FA-9645-F9E5E4B338C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DBF446C-5E8A-4058-AD8E-AC606D67049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4EA19DDE-2504-43DD-9F57-223E9975DD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4C369CB4-263F-4975-8BA0-BB9DEC9807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BACEA03-44C7-4850-A997-116D93D68C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5EBD24-07FA-4159-9C39-6FC00FE7EA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E15746C-79E0-4530-8C0E-9C4ED837BAE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284255E-433D-40AA-85E2-08AC5F9C34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E7520B5B-B43C-4961-B968-9DCF443FEC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0788F51-E81B-43BF-B9F0-48702D7C01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C65F9B-C482-47AF-9D65-5AD2DB344942}"/>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09862DE-C89A-4A66-859A-269E8C94D4CB}"/>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268E1A4-29E3-4175-B9C2-E94A66362D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994906FE-3E0D-464E-BDA6-A3EC862A1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27F0009-41A7-4753-BD85-1122CD04D5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F4860B-0135-476A-A8C4-57C742432E1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85B00E1-7517-4613-8317-5BB71FBD13D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E59530D-D608-4C47-B6A6-2BF73CA0EA0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B1582E2-957E-48AD-8262-7486016DC8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0F1C82B7-788A-4440-8395-12D9596E81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F186F89-1EA9-4918-8448-4FFA27AE8F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C1FB9F-7941-47E3-810C-2D7FC0C5F1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9F7B08F-FD8A-4ACB-AF90-13ACDEE620B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20990DA-296B-4B7F-8ACE-1A6050C1469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3936F18-56A1-4117-8414-B70008944B6B}"/>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B8603EE-A71A-44F1-B34F-BA45929B0EA0}"/>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0E104361-9736-46C3-B8B9-3B075E6FB2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8" name="Footer Placeholder 7">
            <a:extLst xmlns:a="http://schemas.openxmlformats.org/drawingml/2006/main">
              <a:ext uri="{FF2B5EF4-FFF2-40B4-BE49-F238E27FC236}">
                <a16:creationId xmlns:a16="http://schemas.microsoft.com/office/drawing/2014/main" id="{8F5D8918-E725-4EC4-990E-02098144BB9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93C53D4-C535-416A-A12E-BD09C5BE2F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2A899A-8E30-4BE3-98EE-BD992C00B2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C9AC240C-D284-4865-A35B-9582308074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4" name="Footer Placeholder 3">
            <a:extLst xmlns:a="http://schemas.openxmlformats.org/drawingml/2006/main">
              <a:ext uri="{FF2B5EF4-FFF2-40B4-BE49-F238E27FC236}">
                <a16:creationId xmlns:a16="http://schemas.microsoft.com/office/drawing/2014/main" id="{54DB114E-DF97-45E7-AD6F-BB93151524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3175CBB-7B04-42F4-826C-EAB546670D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37F8765D-F888-4419-8E53-A38E50416D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3" name="Footer Placeholder 2">
            <a:extLst xmlns:a="http://schemas.openxmlformats.org/drawingml/2006/main">
              <a:ext uri="{FF2B5EF4-FFF2-40B4-BE49-F238E27FC236}">
                <a16:creationId xmlns:a16="http://schemas.microsoft.com/office/drawing/2014/main" id="{0CFF7460-08FF-473F-A75D-6BE594EC8E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E6F8B02-A860-4556-8C6A-364E44F7F5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02AAE75-2703-4066-8E8D-7AD6DD5F837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2D5BA08-4261-44E8-BEC3-4C02392219B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9064124-14E9-4DA4-AB18-B9D6D472C15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5001C42-01B2-4BB8-8BFB-E9E501ACBB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930D3FF1-0244-4F3A-8132-50A1ECE8A3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BE47A73-1790-4398-AA18-6858212E56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D4DEC5-A718-4366-BDED-4927B8A41C4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2540685-E9D8-46E5-9131-F2F3B3EF8B49}"/>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52DB6CD-457F-42B3-B909-5EB3BEAEFB28}"/>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188233E-815E-48F7-B72A-C2041EF1F9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DD096DBD-294E-4A48-A500-2A5CA0E840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81DE6EB-BED2-4243-856F-B20C100E369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0957A56-BD03-44BF-8E12-EFDDA50A0F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8988D32-1487-4F14-A0E1-9BA5FB77F1A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534321-9573-47A6-91A7-2CE1915DF7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EAB72AA1-2039-43F3-B819-E4FF3297B7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DC3557E-C346-4CB3-AC4A-DACD2E98ED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A518502-9455-4DF3-AFFF-617C05D81B7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4BD0F0A-C761-4D7D-8D49-D1617ADAEDA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CB0AB0A-CFB8-46BA-ACF0-9DF5451522B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8F3765E0-6C19-444A-989A-DC4A2B8948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DFA5B50-A2A4-4EAE-ADC6-142F771BC1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8058ecb7e24b8d" /><Relationship Type="http://schemas.openxmlformats.org/officeDocument/2006/relationships/slideLayout" Target="/ppt/slideLayouts/slideLayout1.xml" Id="R155ca3b1f2134ebf" /><Relationship Type="http://schemas.openxmlformats.org/officeDocument/2006/relationships/slideLayout" Target="/ppt/slideLayouts/slideLayout2.xml" Id="R0648655f21514507" /><Relationship Type="http://schemas.openxmlformats.org/officeDocument/2006/relationships/slideLayout" Target="/ppt/slideLayouts/slideLayout3.xml" Id="Rcbd95fe33e614a91" /><Relationship Type="http://schemas.openxmlformats.org/officeDocument/2006/relationships/slideLayout" Target="/ppt/slideLayouts/slideLayout4.xml" Id="R65fc336ea5584850" /><Relationship Type="http://schemas.openxmlformats.org/officeDocument/2006/relationships/slideLayout" Target="/ppt/slideLayouts/slideLayout5.xml" Id="R327035ec2c5f408f" /><Relationship Type="http://schemas.openxmlformats.org/officeDocument/2006/relationships/slideLayout" Target="/ppt/slideLayouts/slideLayout6.xml" Id="Rf54ab75583a34062" /><Relationship Type="http://schemas.openxmlformats.org/officeDocument/2006/relationships/slideLayout" Target="/ppt/slideLayouts/slideLayout7.xml" Id="R7ad4c5efc4824123" /><Relationship Type="http://schemas.openxmlformats.org/officeDocument/2006/relationships/slideLayout" Target="/ppt/slideLayouts/slideLayout8.xml" Id="Ra6c6faeb853c4a41" /><Relationship Type="http://schemas.openxmlformats.org/officeDocument/2006/relationships/slideLayout" Target="/ppt/slideLayouts/slideLayout9.xml" Id="R0e8a601a516640cc" /><Relationship Type="http://schemas.openxmlformats.org/officeDocument/2006/relationships/slideLayout" Target="/ppt/slideLayouts/slideLayout10.xml" Id="R4807eaa15dc04aaa" /><Relationship Type="http://schemas.openxmlformats.org/officeDocument/2006/relationships/slideLayout" Target="/ppt/slideLayouts/slideLayout11.xml" Id="Rd0867e0a86d54ee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EB76FDE-E057-465A-A213-15D75B073A6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65F8E62-48B2-4974-9877-126E8998F42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A452911-24A9-480A-AA4E-76C5A42FC22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C1008008-DF1C-420A-8C3A-C3DE8D57024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842A3D5-890B-4C39-AE32-3F978D5D290D}"/>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5ca3b1f2134ebf"/>
    <p:sldLayoutId xmlns:r="http://schemas.openxmlformats.org/officeDocument/2006/relationships" id="2147483650" r:id="R0648655f21514507"/>
    <p:sldLayoutId xmlns:r="http://schemas.openxmlformats.org/officeDocument/2006/relationships" id="2147483651" r:id="Rcbd95fe33e614a91"/>
    <p:sldLayoutId xmlns:r="http://schemas.openxmlformats.org/officeDocument/2006/relationships" id="2147483652" r:id="R65fc336ea5584850"/>
    <p:sldLayoutId xmlns:r="http://schemas.openxmlformats.org/officeDocument/2006/relationships" id="2147483653" r:id="R327035ec2c5f408f"/>
    <p:sldLayoutId xmlns:r="http://schemas.openxmlformats.org/officeDocument/2006/relationships" id="2147483654" r:id="Rf54ab75583a34062"/>
    <p:sldLayoutId xmlns:r="http://schemas.openxmlformats.org/officeDocument/2006/relationships" id="2147483655" r:id="R7ad4c5efc4824123"/>
    <p:sldLayoutId xmlns:r="http://schemas.openxmlformats.org/officeDocument/2006/relationships" id="2147483656" r:id="Ra6c6faeb853c4a41"/>
    <p:sldLayoutId xmlns:r="http://schemas.openxmlformats.org/officeDocument/2006/relationships" id="2147483657" r:id="R0e8a601a516640cc"/>
    <p:sldLayoutId xmlns:r="http://schemas.openxmlformats.org/officeDocument/2006/relationships" id="2147483658" r:id="R4807eaa15dc04aaa"/>
    <p:sldLayoutId xmlns:r="http://schemas.openxmlformats.org/officeDocument/2006/relationships" id="2147483659" r:id="Rd0867e0a86d54eea"/>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394fd4868b8426a" /><Relationship Type="http://schemas.openxmlformats.org/officeDocument/2006/relationships/image" Target="/ppt/media/image.png" Id="R2c9f573e3dc740b2" /><Relationship Type="http://schemas.openxmlformats.org/officeDocument/2006/relationships/notesSlide" Target="/ppt/notesSlides/notesSlide1.xml" Id="Reedec14b013840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39d3f0410714a48" /><Relationship Type="http://schemas.openxmlformats.org/officeDocument/2006/relationships/image" Target="/ppt/media/image.png" Id="R9a103f755b444784" /><Relationship Type="http://schemas.openxmlformats.org/officeDocument/2006/relationships/notesSlide" Target="/ppt/notesSlides/notesSlide2.xml" Id="R1f07ec9c564442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f6e34e617034ec8" /><Relationship Type="http://schemas.openxmlformats.org/officeDocument/2006/relationships/image" Target="/ppt/media/image.png" Id="Rf4d8b76e8d824ab2" /><Relationship Type="http://schemas.openxmlformats.org/officeDocument/2006/relationships/notesSlide" Target="/ppt/notesSlides/notesSlide3.xml" Id="Rc6619aea11a641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256287db88347d9" /><Relationship Type="http://schemas.openxmlformats.org/officeDocument/2006/relationships/image" Target="/ppt/media/image.png" Id="Rbb801eb651b74ba4" /><Relationship Type="http://schemas.openxmlformats.org/officeDocument/2006/relationships/notesSlide" Target="/ppt/notesSlides/notesSlide4.xml" Id="Rc644d8d9fa8e46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b0a0265d3d924e3e" /><Relationship Type="http://schemas.openxmlformats.org/officeDocument/2006/relationships/image" Target="/ppt/media/image.png" Id="R15ce00e155e34b2a" /><Relationship Type="http://schemas.openxmlformats.org/officeDocument/2006/relationships/notesSlide" Target="/ppt/notesSlides/notesSlide5.xml" Id="Raab96f6013fc40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2a686cc73724820" /><Relationship Type="http://schemas.openxmlformats.org/officeDocument/2006/relationships/image" Target="/ppt/media/image.png" Id="R47727e33584742b7" /><Relationship Type="http://schemas.openxmlformats.org/officeDocument/2006/relationships/notesSlide" Target="/ppt/notesSlides/notesSlide6.xml" Id="R33b63cf5ff504e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7c177d7e20fa44e5" /><Relationship Type="http://schemas.openxmlformats.org/officeDocument/2006/relationships/image" Target="/ppt/media/image.png" Id="Rb9a3160a5d9f4731" /><Relationship Type="http://schemas.openxmlformats.org/officeDocument/2006/relationships/notesSlide" Target="/ppt/notesSlides/notesSlide7.xml" Id="R0908fb2d245f49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585d3a03e0a4659" /><Relationship Type="http://schemas.openxmlformats.org/officeDocument/2006/relationships/image" Target="/ppt/media/image.png" Id="Ra38f87031aab4845" /><Relationship Type="http://schemas.openxmlformats.org/officeDocument/2006/relationships/notesSlide" Target="/ppt/notesSlides/notesSlide8.xml" Id="R4cefabd24f8b4d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01f7942e9a84e68" /><Relationship Type="http://schemas.openxmlformats.org/officeDocument/2006/relationships/image" Target="/ppt/media/image.png" Id="Rec31ba754e164c21" /><Relationship Type="http://schemas.openxmlformats.org/officeDocument/2006/relationships/notesSlide" Target="/ppt/notesSlides/notesSlide9.xml" Id="R86e2eb7bb18c45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f0018d5b5354c1e" /><Relationship Type="http://schemas.openxmlformats.org/officeDocument/2006/relationships/image" Target="/ppt/media/image.png" Id="R3a572c2bb6be4c10" /><Relationship Type="http://schemas.openxmlformats.org/officeDocument/2006/relationships/notesSlide" Target="/ppt/notesSlides/notesSlide10.xml" Id="Ra9481b782ab44d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7e80cb48673f46d8" /><Relationship Type="http://schemas.openxmlformats.org/officeDocument/2006/relationships/image" Target="/ppt/media/image.png" Id="R93db377d0cd34d13" /><Relationship Type="http://schemas.openxmlformats.org/officeDocument/2006/relationships/chart" Target="/ppt/slides/charts/chart1.xml" Id="Rb453373510984691" /><Relationship Type="http://schemas.openxmlformats.org/officeDocument/2006/relationships/chart" Target="/ppt/slides/charts/chart2.xml" Id="R1fecc91cc0504971" /><Relationship Type="http://schemas.openxmlformats.org/officeDocument/2006/relationships/notesSlide" Target="/ppt/notesSlides/notesSlide11.xml" Id="Rdeee1219262f42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f94bf5427ee74f39" /><Relationship Type="http://schemas.openxmlformats.org/officeDocument/2006/relationships/image" Target="/ppt/media/image.png" Id="Ra106208f6f724722" /><Relationship Type="http://schemas.openxmlformats.org/officeDocument/2006/relationships/notesSlide" Target="/ppt/notesSlides/notesSlide12.xml" Id="R56d58e3c704a4f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4b6dbe89f9404b96" /><Relationship Type="http://schemas.openxmlformats.org/officeDocument/2006/relationships/image" Target="/ppt/media/image.png" Id="Rfc99eb87beda4674" /><Relationship Type="http://schemas.openxmlformats.org/officeDocument/2006/relationships/notesSlide" Target="/ppt/notesSlides/notesSlide13.xml" Id="R134c05becc104b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9e33eca91de04351" /><Relationship Type="http://schemas.openxmlformats.org/officeDocument/2006/relationships/image" Target="/ppt/media/image.png" Id="R603a8b3f953e42a9" /><Relationship Type="http://schemas.openxmlformats.org/officeDocument/2006/relationships/notesSlide" Target="/ppt/notesSlides/notesSlide14.xml" Id="Rac6ed9007cfa47b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9799f325b5954787" /><Relationship Type="http://schemas.openxmlformats.org/officeDocument/2006/relationships/image" Target="/ppt/media/image.png" Id="Rbf63f607dc1442a0" /><Relationship Type="http://schemas.openxmlformats.org/officeDocument/2006/relationships/notesSlide" Target="/ppt/notesSlides/notesSlide15.xml" Id="R9c0cb0702e7c40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9a8fbf6b53eb4d29" /><Relationship Type="http://schemas.openxmlformats.org/officeDocument/2006/relationships/image" Target="/ppt/media/image.png" Id="R9496832459314928" /><Relationship Type="http://schemas.openxmlformats.org/officeDocument/2006/relationships/notesSlide" Target="/ppt/notesSlides/notesSlide16.xml" Id="R8039820b414e4f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176bb194c3224589" /><Relationship Type="http://schemas.openxmlformats.org/officeDocument/2006/relationships/image" Target="/ppt/media/image.png" Id="R15583fde86bc48dc" /><Relationship Type="http://schemas.openxmlformats.org/officeDocument/2006/relationships/notesSlide" Target="/ppt/notesSlides/notesSlide17.xml" Id="R11a053e8313c419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9ccf3ac9b6034b3f" /><Relationship Type="http://schemas.openxmlformats.org/officeDocument/2006/relationships/image" Target="/ppt/media/image.png" Id="R06b29219dae14b32" /><Relationship Type="http://schemas.openxmlformats.org/officeDocument/2006/relationships/notesSlide" Target="/ppt/notesSlides/notesSlide18.xml" Id="R374d603e3bfd4b1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dbc3ebe965d443cc" /><Relationship Type="http://schemas.openxmlformats.org/officeDocument/2006/relationships/image" Target="/ppt/media/image.png" Id="R6072145762b941b5" /><Relationship Type="http://schemas.openxmlformats.org/officeDocument/2006/relationships/notesSlide" Target="/ppt/notesSlides/notesSlide19.xml" Id="R1de98799cf7243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95430c63808542db" /><Relationship Type="http://schemas.openxmlformats.org/officeDocument/2006/relationships/image" Target="/ppt/media/image.png" Id="R5a916b768ea0442a" /><Relationship Type="http://schemas.openxmlformats.org/officeDocument/2006/relationships/notesSlide" Target="/ppt/notesSlides/notesSlide20.xml" Id="R64063a05e2f84d9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8b28558205134f13" /><Relationship Type="http://schemas.openxmlformats.org/officeDocument/2006/relationships/image" Target="/ppt/media/image.png" Id="R83f14a2b312c48dd" /><Relationship Type="http://schemas.openxmlformats.org/officeDocument/2006/relationships/notesSlide" Target="/ppt/notesSlides/notesSlide21.xml" Id="R219dfe99476644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17e9e2e5f6944a83" /><Relationship Type="http://schemas.openxmlformats.org/officeDocument/2006/relationships/image" Target="/ppt/media/image.png" Id="R946bc647948d4e20" /><Relationship Type="http://schemas.openxmlformats.org/officeDocument/2006/relationships/notesSlide" Target="/ppt/notesSlides/notesSlide22.xml" Id="Rae9659e7f82c4a1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5be0c9524aaa44f3" /><Relationship Type="http://schemas.openxmlformats.org/officeDocument/2006/relationships/image" Target="/ppt/media/image.png" Id="Rc4e7cba6b2154ff6" /><Relationship Type="http://schemas.openxmlformats.org/officeDocument/2006/relationships/notesSlide" Target="/ppt/notesSlides/notesSlide23.xml" Id="Ra1122438a37c44b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d3f191c585304318" /><Relationship Type="http://schemas.openxmlformats.org/officeDocument/2006/relationships/image" Target="/ppt/media/image.png" Id="R68dd2ebed2af4bed" /><Relationship Type="http://schemas.openxmlformats.org/officeDocument/2006/relationships/notesSlide" Target="/ppt/notesSlides/notesSlide24.xml" Id="Rfa3bc324792b4e4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a:solidFill>
                  <a:srgbClr val="111111"/>
                </a:solidFill>
                <a:latin typeface="Consolas"/>
                <a:ea typeface="Consolas"/>
                <a:cs typeface="Consolas"/>
              </a:rPr>
              <a:t>SCL</a:t>
            </a:r>
          </a:p>
        </c:rich>
      </c:tx>
      <c:overlay val="0"/>
      <c:txPr>
        <a:bodyPr xmlns:a="http://schemas.openxmlformats.org/drawingml/2006/main" anchorCtr="1"/>
        <a:lstStyle xmlns:a="http://schemas.openxmlformats.org/drawingml/2006/main"/>
        <a:p xmlns:a="http://schemas.openxmlformats.org/drawingml/2006/main">
          <a:pPr>
            <a:defRPr sz="975">
              <a:solidFill>
                <a:srgbClr val="111111"/>
              </a:solidFill>
              <a:latin typeface="Consolas"/>
              <a:ea typeface="Consolas"/>
              <a:cs typeface="Consolas"/>
            </a:defRPr>
          </a:pPr>
        </a:p>
      </c:txPr>
    </c:title>
    <c:plotArea>
      <c:scatterChart>
        <c:scatterStyle val="line"/>
        <c:ser>
          <c:idx val="0"/>
          <c:order val="0"/>
          <c:tx>
            <c:v>SCL</c:v>
          </c:tx>
          <c:spPr>
            <a:ln xmlns:a="http://schemas.openxmlformats.org/drawingml/2006/main" w="19050">
              <a:solidFill>
                <a:srgbClr val="EF9529"/>
              </a:solidFill>
            </a:ln>
          </c:spPr>
          <c:marker>
            <c:symbol val="none"/>
          </c:marker>
          <c:xVal>
            <c:numRef>
              <c:f>'Chart Data'!$A$2:$A$41</c:f>
              <c:numCache>
                <c:formatCode>General</c:formatCode>
                <c:ptCount val="40"/>
                <c:pt idx="0">
                  <c:v>0</c:v>
                </c:pt>
                <c:pt idx="1">
                  <c:v>9.02</c:v>
                </c:pt>
                <c:pt idx="2">
                  <c:v>9.02</c:v>
                </c:pt>
                <c:pt idx="3">
                  <c:v>15.05</c:v>
                </c:pt>
                <c:pt idx="4">
                  <c:v>15.05</c:v>
                </c:pt>
                <c:pt idx="5">
                  <c:v>19.91</c:v>
                </c:pt>
                <c:pt idx="6">
                  <c:v>19.91</c:v>
                </c:pt>
                <c:pt idx="7">
                  <c:v>25.94</c:v>
                </c:pt>
                <c:pt idx="8">
                  <c:v>25.94</c:v>
                </c:pt>
                <c:pt idx="9">
                  <c:v>30.62</c:v>
                </c:pt>
                <c:pt idx="10">
                  <c:v>30.62</c:v>
                </c:pt>
                <c:pt idx="11">
                  <c:v>36.65</c:v>
                </c:pt>
                <c:pt idx="12">
                  <c:v>36.65</c:v>
                </c:pt>
                <c:pt idx="13">
                  <c:v>41.33</c:v>
                </c:pt>
                <c:pt idx="14">
                  <c:v>41.33</c:v>
                </c:pt>
                <c:pt idx="15">
                  <c:v>47.36</c:v>
                </c:pt>
                <c:pt idx="16">
                  <c:v>47.36</c:v>
                </c:pt>
                <c:pt idx="17">
                  <c:v>52.04</c:v>
                </c:pt>
                <c:pt idx="18">
                  <c:v>52.04</c:v>
                </c:pt>
                <c:pt idx="19">
                  <c:v>58.07</c:v>
                </c:pt>
                <c:pt idx="20">
                  <c:v>58.07</c:v>
                </c:pt>
                <c:pt idx="21">
                  <c:v>62.75</c:v>
                </c:pt>
                <c:pt idx="22">
                  <c:v>62.75</c:v>
                </c:pt>
                <c:pt idx="23">
                  <c:v>68.78</c:v>
                </c:pt>
                <c:pt idx="24">
                  <c:v>68.78</c:v>
                </c:pt>
                <c:pt idx="25">
                  <c:v>73.46</c:v>
                </c:pt>
                <c:pt idx="26">
                  <c:v>73.46</c:v>
                </c:pt>
                <c:pt idx="27">
                  <c:v>79.49</c:v>
                </c:pt>
                <c:pt idx="28">
                  <c:v>79.49</c:v>
                </c:pt>
                <c:pt idx="29">
                  <c:v>84.17</c:v>
                </c:pt>
                <c:pt idx="30">
                  <c:v>84.17</c:v>
                </c:pt>
                <c:pt idx="31">
                  <c:v>90.2</c:v>
                </c:pt>
                <c:pt idx="32">
                  <c:v>90.2</c:v>
                </c:pt>
                <c:pt idx="33">
                  <c:v>94.88</c:v>
                </c:pt>
                <c:pt idx="34">
                  <c:v>94.88</c:v>
                </c:pt>
                <c:pt idx="35">
                  <c:v>100.91</c:v>
                </c:pt>
                <c:pt idx="36">
                  <c:v>100.91</c:v>
                </c:pt>
                <c:pt idx="37">
                  <c:v>105.59</c:v>
                </c:pt>
                <c:pt idx="38">
                  <c:v>105.59</c:v>
                </c:pt>
                <c:pt idx="39">
                  <c:v>106.91</c:v>
                </c:pt>
              </c:numCache>
            </c:numRef>
          </c:xVal>
          <c:yVal>
            <c:numRef>
              <c:f>'Chart Data'!$B$2:$B$41</c:f>
              <c:numCache>
                <c:formatCode>General</c:formatCode>
                <c:ptCount val="40"/>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pt idx="16">
                  <c:v>1</c:v>
                </c:pt>
                <c:pt idx="17">
                  <c:v>1</c:v>
                </c:pt>
                <c:pt idx="18">
                  <c:v>0</c:v>
                </c:pt>
                <c:pt idx="19">
                  <c:v>0</c:v>
                </c:pt>
                <c:pt idx="20">
                  <c:v>1</c:v>
                </c:pt>
                <c:pt idx="21">
                  <c:v>1</c:v>
                </c:pt>
                <c:pt idx="22">
                  <c:v>0</c:v>
                </c:pt>
                <c:pt idx="23">
                  <c:v>0</c:v>
                </c:pt>
                <c:pt idx="24">
                  <c:v>1</c:v>
                </c:pt>
                <c:pt idx="25">
                  <c:v>1</c:v>
                </c:pt>
                <c:pt idx="26">
                  <c:v>0</c:v>
                </c:pt>
                <c:pt idx="27">
                  <c:v>0</c:v>
                </c:pt>
                <c:pt idx="28">
                  <c:v>1</c:v>
                </c:pt>
                <c:pt idx="29">
                  <c:v>1</c:v>
                </c:pt>
                <c:pt idx="30">
                  <c:v>0</c:v>
                </c:pt>
                <c:pt idx="31">
                  <c:v>0</c:v>
                </c:pt>
                <c:pt idx="32">
                  <c:v>1</c:v>
                </c:pt>
                <c:pt idx="33">
                  <c:v>1</c:v>
                </c:pt>
                <c:pt idx="34">
                  <c:v>0</c:v>
                </c:pt>
                <c:pt idx="35">
                  <c:v>0</c:v>
                </c:pt>
                <c:pt idx="36">
                  <c:v>1</c:v>
                </c:pt>
                <c:pt idx="37">
                  <c:v>1</c:v>
                </c:pt>
                <c:pt idx="38">
                  <c:v>0</c:v>
                </c:pt>
                <c:pt idx="39">
                  <c:v>0</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50112"/>
        <c:majorUnit val="1"/>
      </c:valAx>
      <c:valAx>
        <c:axId val="48650112"/>
        <c:scaling>
          <c:orientation val="minMax"/>
          <c:max val="106.91"/>
          <c:min val="0"/>
        </c:scaling>
        <c:delete val="0"/>
        <c:axPos val="b"/>
        <c:majorGridlines>
          <c:spPr>
            <a:ln xmlns:a="http://schemas.openxmlformats.org/drawingml/2006/main" w="4763">
              <a:solidFill>
                <a:srgbClr val="EAEAEA"/>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a:solidFill>
                  <a:srgbClr val="111111"/>
                </a:solidFill>
                <a:latin typeface="Consolas"/>
                <a:ea typeface="Consolas"/>
                <a:cs typeface="Consolas"/>
              </a:rPr>
              <a:t>SDA</a:t>
            </a:r>
          </a:p>
        </c:rich>
      </c:tx>
      <c:overlay val="0"/>
      <c:txPr>
        <a:bodyPr xmlns:a="http://schemas.openxmlformats.org/drawingml/2006/main" anchorCtr="1"/>
        <a:lstStyle xmlns:a="http://schemas.openxmlformats.org/drawingml/2006/main"/>
        <a:p xmlns:a="http://schemas.openxmlformats.org/drawingml/2006/main">
          <a:pPr>
            <a:defRPr sz="975">
              <a:solidFill>
                <a:srgbClr val="111111"/>
              </a:solidFill>
              <a:latin typeface="Consolas"/>
              <a:ea typeface="Consolas"/>
              <a:cs typeface="Consolas"/>
            </a:defRPr>
          </a:pPr>
        </a:p>
      </c:txPr>
    </c:title>
    <c:plotArea>
      <c:scatterChart>
        <c:scatterStyle val="line"/>
        <c:ser>
          <c:idx val="0"/>
          <c:order val="0"/>
          <c:tx>
            <c:v>SDA</c:v>
          </c:tx>
          <c:spPr>
            <a:ln xmlns:a="http://schemas.openxmlformats.org/drawingml/2006/main" w="19050">
              <a:solidFill>
                <a:srgbClr val="444444"/>
              </a:solidFill>
            </a:ln>
          </c:spPr>
          <c:marker>
            <c:symbol val="none"/>
          </c:marker>
          <c:xVal>
            <c:numRef>
              <c:f>'Chart Data'!$A$2:$A$15</c:f>
              <c:numCache>
                <c:formatCode>General</c:formatCode>
                <c:ptCount val="14"/>
                <c:pt idx="0">
                  <c:v>0</c:v>
                </c:pt>
                <c:pt idx="1">
                  <c:v>5</c:v>
                </c:pt>
                <c:pt idx="2">
                  <c:v>5</c:v>
                </c:pt>
                <c:pt idx="3">
                  <c:v>5.71</c:v>
                </c:pt>
                <c:pt idx="4">
                  <c:v>5.71</c:v>
                </c:pt>
                <c:pt idx="5">
                  <c:v>5.72</c:v>
                </c:pt>
                <c:pt idx="6">
                  <c:v>5.72</c:v>
                </c:pt>
                <c:pt idx="7">
                  <c:v>34.64</c:v>
                </c:pt>
                <c:pt idx="8">
                  <c:v>34.64</c:v>
                </c:pt>
                <c:pt idx="9">
                  <c:v>45.35</c:v>
                </c:pt>
                <c:pt idx="10">
                  <c:v>45.35</c:v>
                </c:pt>
                <c:pt idx="11">
                  <c:v>105.591</c:v>
                </c:pt>
                <c:pt idx="12">
                  <c:v>105.591</c:v>
                </c:pt>
                <c:pt idx="13">
                  <c:v>106.91</c:v>
                </c:pt>
              </c:numCache>
            </c:numRef>
          </c:xVal>
          <c:yVal>
            <c:numRef>
              <c:f>'Chart Data'!$B$2:$B$15</c:f>
              <c:numCache>
                <c:formatCode>General</c:formatCode>
                <c:ptCount val="14"/>
                <c:pt idx="0">
                  <c:v>1</c:v>
                </c:pt>
                <c:pt idx="1">
                  <c:v>1</c:v>
                </c:pt>
                <c:pt idx="2">
                  <c:v>0</c:v>
                </c:pt>
                <c:pt idx="3">
                  <c:v>0</c:v>
                </c:pt>
                <c:pt idx="4">
                  <c:v>1</c:v>
                </c:pt>
                <c:pt idx="5">
                  <c:v>1</c:v>
                </c:pt>
                <c:pt idx="6">
                  <c:v>0</c:v>
                </c:pt>
                <c:pt idx="7">
                  <c:v>0</c:v>
                </c:pt>
                <c:pt idx="8">
                  <c:v>1</c:v>
                </c:pt>
                <c:pt idx="9">
                  <c:v>1</c:v>
                </c:pt>
                <c:pt idx="10">
                  <c:v>0</c:v>
                </c:pt>
                <c:pt idx="11">
                  <c:v>0</c:v>
                </c:pt>
                <c:pt idx="12">
                  <c:v>1</c:v>
                </c:pt>
                <c:pt idx="13">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50112"/>
        <c:majorUnit val="1"/>
      </c:valAx>
      <c:valAx>
        <c:axId val="48650112"/>
        <c:scaling>
          <c:orientation val="minMax"/>
          <c:max val="106.91"/>
          <c:min val="0"/>
        </c:scaling>
        <c:delete val="0"/>
        <c:axPos val="b"/>
        <c:majorGridlines>
          <c:spPr>
            <a:ln xmlns:a="http://schemas.openxmlformats.org/drawingml/2006/main" w="4763">
              <a:solidFill>
                <a:srgbClr val="EAEAEA"/>
              </a:solidFill>
            </a:ln>
          </c:spPr>
        </c:majorGridlines>
        <c:title>
          <c:tx>
            <c:rich>
              <a:bodyPr xmlns:a="http://schemas.openxmlformats.org/drawingml/2006/main"/>
              <a:lstStyle xmlns:a="http://schemas.openxmlformats.org/drawingml/2006/main"/>
              <a:p xmlns:a="http://schemas.openxmlformats.org/drawingml/2006/main">
                <a:r>
                  <a:rPr sz="900">
                    <a:solidFill>
                      <a:srgbClr val="777777"/>
                    </a:solidFill>
                    <a:latin typeface="Segoe UI"/>
                    <a:ea typeface="Segoe UI"/>
                    <a:cs typeface="Segoe UI"/>
                  </a:rPr>
                  <a:t>Time from crop start (us)</a:t>
                </a:r>
              </a:p>
            </c:rich>
          </c:tx>
          <c:overlay val="0"/>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F06D39C-6C44-49BB-A357-7446FB21654A}"/>
              </a:ext>
            </a:extLst>
          </p:cNvPr>
          <p:cNvSpPr>
            <a:spLocks xmlns:a="http://schemas.openxmlformats.org/drawingml/2006/main" noGrp="1"/>
          </p:cNvSpPr>
          <p:nvPr/>
        </p:nvSpPr>
        <p:spPr>
          <a:xfrm xmlns:a="http://schemas.openxmlformats.org/drawingml/2006/main">
            <a:off x="0" y="0"/>
            <a:ext cx="7562088" cy="73152"/>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5" name="Picture 2"/>
          <p:cNvPicPr>
            <a:picLocks xmlns:a="http://schemas.openxmlformats.org/drawingml/2006/main" noChangeAspect="1"/>
          </p:cNvPicPr>
          <p:nvPr/>
        </p:nvPicPr>
        <p:blipFill>
          <a:blip xmlns:r="http://schemas.openxmlformats.org/officeDocument/2006/relationships" xmlns:a="http://schemas.openxmlformats.org/drawingml/2006/main" r:embed="R2c9f573e3dc740b2"/>
          <a:stretch xmlns:a="http://schemas.openxmlformats.org/drawingml/2006/main">
            <a:fillRect l="0" t="0" r="0" b="0"/>
          </a:stretch>
        </p:blipFill>
        <p:spPr>
          <a:xfrm xmlns:a="http://schemas.openxmlformats.org/drawingml/2006/main">
            <a:off x="395935" y="425196"/>
            <a:ext cx="701344" cy="88699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BCCAC78-192C-4F73-94EE-74D682304432}"/>
              </a:ext>
            </a:extLst>
          </p:cNvPr>
          <p:cNvSpPr>
            <a:spLocks xmlns:a="http://schemas.openxmlformats.org/drawingml/2006/main" noGrp="1"/>
          </p:cNvSpPr>
          <p:nvPr/>
        </p:nvSpPr>
        <p:spPr>
          <a:xfrm xmlns:a="http://schemas.openxmlformats.org/drawingml/2006/main">
            <a:off x="1188720" y="813816"/>
            <a:ext cx="1801368"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2400" b="1">
                <a:solidFill>
                  <a:srgbClr val="111111"/>
                </a:solidFill>
                <a:latin typeface="Segoe UI"/>
                <a:ea typeface="Segoe UI"/>
                <a:cs typeface="Segoe UI"/>
              </a:rPr>
              <a:t>Ignytion </a:t>
            </a:r>
            <a:r>
              <a:rPr sz="2400" b="1">
                <a:solidFill>
                  <a:srgbClr val="EF9529"/>
                </a:solidFill>
                <a:latin typeface="Segoe UI"/>
                <a:ea typeface="Segoe UI"/>
                <a:cs typeface="Segoe UI"/>
              </a:rPr>
              <a:t>io</a:t>
            </a:r>
          </a:p>
        </p:txBody>
      </p:sp>
      <p:sp>
        <p:nvSpPr>
          <p:cNvPr id="35" name="Rectangle 34">
            <a:extLst xmlns:a="http://schemas.openxmlformats.org/drawingml/2006/main">
              <a:ext uri="{FF2B5EF4-FFF2-40B4-BE49-F238E27FC236}">
                <a16:creationId xmlns:a16="http://schemas.microsoft.com/office/drawing/2014/main" id="{85D39408-47A1-4FFE-AA99-D7637158E79E}"/>
              </a:ext>
            </a:extLst>
          </p:cNvPr>
          <p:cNvSpPr>
            <a:spLocks xmlns:a="http://schemas.openxmlformats.org/drawingml/2006/main" noGrp="1"/>
          </p:cNvSpPr>
          <p:nvPr/>
        </p:nvSpPr>
        <p:spPr>
          <a:xfrm xmlns:a="http://schemas.openxmlformats.org/drawingml/2006/main">
            <a:off x="502920" y="99669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14EEC2F-05F9-4EAA-AEE7-FC25298C1DAF}"/>
              </a:ext>
            </a:extLst>
          </p:cNvPr>
          <p:cNvSpPr>
            <a:spLocks xmlns:a="http://schemas.openxmlformats.org/drawingml/2006/main" noGrp="1"/>
          </p:cNvSpPr>
          <p:nvPr/>
        </p:nvSpPr>
        <p:spPr>
          <a:xfrm xmlns:a="http://schemas.openxmlformats.org/drawingml/2006/main">
            <a:off x="502920"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Ignytion IO · ignytion.io</a:t>
            </a:r>
          </a:p>
        </p:txBody>
      </p:sp>
      <p:sp>
        <p:nvSpPr>
          <p:cNvPr id="37" name="TextBox 36">
            <a:extLst xmlns:a="http://schemas.openxmlformats.org/drawingml/2006/main">
              <a:ext uri="{FF2B5EF4-FFF2-40B4-BE49-F238E27FC236}">
                <a16:creationId xmlns:a16="http://schemas.microsoft.com/office/drawing/2014/main" id="{18A6B0EF-8FED-40DF-AA0E-2203271CC839}"/>
              </a:ext>
            </a:extLst>
          </p:cNvPr>
          <p:cNvSpPr>
            <a:spLocks xmlns:a="http://schemas.openxmlformats.org/drawingml/2006/main" noGrp="1"/>
          </p:cNvSpPr>
          <p:nvPr/>
        </p:nvSpPr>
        <p:spPr>
          <a:xfrm xmlns:a="http://schemas.openxmlformats.org/drawingml/2006/main">
            <a:off x="4315968"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I2C PROTOCOL SERIES · OCTOBER 2026</a:t>
            </a:r>
          </a:p>
        </p:txBody>
      </p:sp>
      <p:sp>
        <p:nvSpPr>
          <p:cNvPr id="39" name="eyebrow">
            <a:extLst xmlns:a="http://schemas.openxmlformats.org/drawingml/2006/main">
              <a:ext uri="{FF2B5EF4-FFF2-40B4-BE49-F238E27FC236}">
                <a16:creationId xmlns:a16="http://schemas.microsoft.com/office/drawing/2014/main" id="{017152DF-CB30-46C9-8428-76670D0DA124}"/>
              </a:ext>
            </a:extLst>
          </p:cNvPr>
          <p:cNvSpPr>
            <a:spLocks xmlns:a="http://schemas.openxmlformats.org/drawingml/2006/main" noGrp="1"/>
          </p:cNvSpPr>
          <p:nvPr/>
        </p:nvSpPr>
        <p:spPr>
          <a:xfrm xmlns:a="http://schemas.openxmlformats.org/drawingml/2006/main">
            <a:off x="502920" y="1920240"/>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00" b="1">
                <a:solidFill>
                  <a:srgbClr val="EF9529"/>
                </a:solidFill>
                <a:latin typeface="Segoe UI"/>
                <a:ea typeface="Segoe UI"/>
                <a:cs typeface="Segoe UI"/>
              </a:defRPr>
            </a:pPr>
            <a:r>
              <a:rPr sz="1100" b="1">
                <a:solidFill>
                  <a:srgbClr val="EF9529"/>
                </a:solidFill>
                <a:latin typeface="Segoe UI"/>
                <a:ea typeface="Segoe UI"/>
                <a:cs typeface="Segoe UI"/>
              </a:rPr>
              <a:t>IGNYTION IO · TECHNICAL LAB NOTE</a:t>
            </a:r>
          </a:p>
        </p:txBody>
      </p:sp>
      <p:sp>
        <p:nvSpPr>
          <p:cNvPr id="40" name="cover-title">
            <a:extLst xmlns:a="http://schemas.openxmlformats.org/drawingml/2006/main">
              <a:ext uri="{FF2B5EF4-FFF2-40B4-BE49-F238E27FC236}">
                <a16:creationId xmlns:a16="http://schemas.microsoft.com/office/drawing/2014/main" id="{3DD6A747-C213-41CD-854D-5B6417F4B3DD}"/>
              </a:ext>
            </a:extLst>
          </p:cNvPr>
          <p:cNvSpPr>
            <a:spLocks xmlns:a="http://schemas.openxmlformats.org/drawingml/2006/main" noGrp="1"/>
          </p:cNvSpPr>
          <p:nvPr/>
        </p:nvSpPr>
        <p:spPr>
          <a:xfrm xmlns:a="http://schemas.openxmlformats.org/drawingml/2006/main">
            <a:off x="502920" y="2468880"/>
            <a:ext cx="6556248" cy="2011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I2C protocol:</a:t>
            </a:r>
          </a:p>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From RTL to routed GDS</a:t>
            </a:r>
          </a:p>
        </p:txBody>
      </p:sp>
      <p:sp>
        <p:nvSpPr>
          <p:cNvPr id="41" name="intro">
            <a:extLst xmlns:a="http://schemas.openxmlformats.org/drawingml/2006/main">
              <a:ext uri="{FF2B5EF4-FFF2-40B4-BE49-F238E27FC236}">
                <a16:creationId xmlns:a16="http://schemas.microsoft.com/office/drawing/2014/main" id="{64B095C0-2965-4757-89EA-45134EAB5B4E}"/>
              </a:ext>
            </a:extLst>
          </p:cNvPr>
          <p:cNvSpPr>
            <a:spLocks xmlns:a="http://schemas.openxmlformats.org/drawingml/2006/main" noGrp="1"/>
          </p:cNvSpPr>
          <p:nvPr/>
        </p:nvSpPr>
        <p:spPr>
          <a:xfrm xmlns:a="http://schemas.openxmlformats.org/drawingml/2006/main">
            <a:off x="502920" y="4754880"/>
            <a:ext cx="655624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00" b="0">
                <a:solidFill>
                  <a:srgbClr val="EF9529"/>
                </a:solidFill>
                <a:latin typeface="Segoe UI"/>
                <a:ea typeface="Segoe UI"/>
                <a:cs typeface="Segoe UI"/>
              </a:defRPr>
            </a:pPr>
            <a:r>
              <a:rPr sz="1400" b="0">
                <a:solidFill>
                  <a:srgbClr val="EF9529"/>
                </a:solidFill>
                <a:latin typeface="Segoe UI"/>
                <a:ea typeface="Segoe UI"/>
                <a:cs typeface="Segoe UI"/>
              </a:rPr>
              <a:t>A beginner's walkthrough of a checked open-source reference build</a:t>
            </a:r>
          </a:p>
        </p:txBody>
      </p:sp>
      <p:sp>
        <p:nvSpPr>
          <p:cNvPr id="42" name="body-0">
            <a:extLst xmlns:a="http://schemas.openxmlformats.org/drawingml/2006/main">
              <a:ext uri="{FF2B5EF4-FFF2-40B4-BE49-F238E27FC236}">
                <a16:creationId xmlns:a16="http://schemas.microsoft.com/office/drawing/2014/main" id="{36BAA91C-EEBF-45BF-A0CD-6B3CC8387C79}"/>
              </a:ext>
            </a:extLst>
          </p:cNvPr>
          <p:cNvSpPr>
            <a:spLocks xmlns:a="http://schemas.openxmlformats.org/drawingml/2006/main" noGrp="1"/>
          </p:cNvSpPr>
          <p:nvPr/>
        </p:nvSpPr>
        <p:spPr>
          <a:xfrm xmlns:a="http://schemas.openxmlformats.org/drawingml/2006/main">
            <a:off x="502920" y="5486400"/>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Follow i2c_core from its communication rules and Verilog </a:t>
            </a:r>
            <a:r>
              <a:rPr b="1"/>
              <a:t>source</a:t>
            </a:r>
            <a:r>
              <a:t> to a routed IHP SG13G2 layout.
Worked calculations, measured digital traces and tool results are identified separately. This is an
educational block, not a manufactured chip or a signoff-ready design.</a:t>
            </a:r>
          </a:p>
        </p:txBody>
      </p:sp>
      <p:graphicFrame>
        <p:nvGraphicFramePr>
          <p:cNvPr id="54" name=""/>
          <p:cNvGraphicFramePr/>
          <p:nvPr/>
        </p:nvGraphicFramePr>
        <p:xfrm>
          <a:off xmlns:a="http://schemas.openxmlformats.org/drawingml/2006/main" x="502920" y="6492240"/>
          <a:ext xmlns:a="http://schemas.openxmlformats.org/drawingml/2006/main" cx="6556248" cy="2122488"/>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PRODUCED</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directed checks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1007 mapped functional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Routed DEF and extracted SPEF</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Decoded placement agreement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result</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9383110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9a103f755b444784"/>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70B43D54-E10C-41F4-8C10-5A5BA8498DA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CONTENTS</a:t>
            </a:r>
          </a:p>
        </p:txBody>
      </p:sp>
      <p:sp>
        <p:nvSpPr>
          <p:cNvPr id="51" name="page-title">
            <a:extLst xmlns:a="http://schemas.openxmlformats.org/drawingml/2006/main">
              <a:ext uri="{FF2B5EF4-FFF2-40B4-BE49-F238E27FC236}">
                <a16:creationId xmlns:a16="http://schemas.microsoft.com/office/drawing/2014/main" id="{7EE886A8-6925-4F83-A825-7EAF7F351E9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What is in this document</a:t>
            </a:r>
          </a:p>
        </p:txBody>
      </p:sp>
      <p:sp>
        <p:nvSpPr>
          <p:cNvPr id="52" name="intro">
            <a:extLst xmlns:a="http://schemas.openxmlformats.org/drawingml/2006/main">
              <a:ext uri="{FF2B5EF4-FFF2-40B4-BE49-F238E27FC236}">
                <a16:creationId xmlns:a16="http://schemas.microsoft.com/office/drawing/2014/main" id="{991368D0-AFCD-40E8-8E1A-740406297B05}"/>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Start with the wire-level rules, then follow the same circuit through the tools. Each section has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specific evidence boundary.</a:t>
            </a:r>
          </a:p>
        </p:txBody>
      </p:sp>
      <p:sp>
        <p:nvSpPr>
          <p:cNvPr id="53" name="component-label-246.26666666666665">
            <a:extLst xmlns:a="http://schemas.openxmlformats.org/drawingml/2006/main">
              <a:ext uri="{FF2B5EF4-FFF2-40B4-BE49-F238E27FC236}">
                <a16:creationId xmlns:a16="http://schemas.microsoft.com/office/drawing/2014/main" id="{CDE7B60B-9C51-4843-A0EE-B4878927F74F}"/>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I N G   M A P</a:t>
            </a:r>
          </a:p>
        </p:txBody>
      </p:sp>
      <p:graphicFrame>
        <p:nvGraphicFramePr>
          <p:cNvPr id="68" name=""/>
          <p:cNvGraphicFramePr/>
          <p:nvPr/>
        </p:nvGraphicFramePr>
        <p:xfrm>
          <a:off xmlns:a="http://schemas.openxmlformats.org/drawingml/2006/main" x="502920" y="2610866"/>
          <a:ext xmlns:a="http://schemas.openxmlformats.org/drawingml/2006/main" cx="6556248" cy="6670675"/>
        </p:xfrm>
        <a:graphic xmlns:a="http://schemas.openxmlformats.org/drawingml/2006/main">
          <a:graphicData uri="http://schemas.openxmlformats.org/drawingml/2006/table">
            <a:tbl>
              <a:tblPr/>
              <a:tblGrid>
                <a:gridCol w="5507248"/>
                <a:gridCol w="1049000"/>
              </a:tblGrid>
              <a:tr h="303213">
                <a:tc>
                  <a:txBody>
                    <a:bodyPr lIns="76200" tIns="57150" rIns="76200" bIns="57150">
                      <a:noAutofit/>
                    </a:bodyPr>
                    <a:lstStyle/>
                    <a:p>
                      <a:r>
                        <a:rPr sz="950" b="1">
                          <a:solidFill>
                            <a:srgbClr val="EDEDED"/>
                          </a:solidFill>
                          <a:latin typeface="Segoe UI"/>
                          <a:ea typeface="Segoe UI"/>
                          <a:cs typeface="Segoe UI"/>
                        </a:rPr>
                        <a:t>SECTION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PAGE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Start here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Chip design in ten minutes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Drive low, or release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Read a register, not just a byte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Nominal rate versus wire rate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Registers, command bits and pads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Bit control has several phases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A NACK is an observation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An address and its acknowledgement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Lint: read code before running it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What the I2C regression establishes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 a description becomes gates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and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Clock tree and routing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Two measured reference corners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Count the right objects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 and LVS: what is still missing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Everything at a glance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Run it yourself in WSL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Sources, ownership and remaining work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Design and physical glossary</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23–24</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033229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f4d8b76e8d824ab2"/>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ACE9391-69AE-4EA9-ACA7-6B338E77009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 · START HERE</a:t>
            </a:r>
          </a:p>
        </p:txBody>
      </p:sp>
      <p:sp>
        <p:nvSpPr>
          <p:cNvPr id="51" name="page-title">
            <a:extLst xmlns:a="http://schemas.openxmlformats.org/drawingml/2006/main">
              <a:ext uri="{FF2B5EF4-FFF2-40B4-BE49-F238E27FC236}">
                <a16:creationId xmlns:a16="http://schemas.microsoft.com/office/drawing/2014/main" id="{13E6AE44-3EDD-4436-9273-18BF3E48BA0F}"/>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Start here</a:t>
            </a:r>
          </a:p>
        </p:txBody>
      </p:sp>
      <p:sp>
        <p:nvSpPr>
          <p:cNvPr id="52" name="intro">
            <a:extLst xmlns:a="http://schemas.openxmlformats.org/drawingml/2006/main">
              <a:ext uri="{FF2B5EF4-FFF2-40B4-BE49-F238E27FC236}">
                <a16:creationId xmlns:a16="http://schemas.microsoft.com/office/drawing/2014/main" id="{86B75B0E-A783-4F45-A2F6-8A85C2D5BFF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protocol is an agreement about how connected devices exchange information: which wire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carries each bit, when to sample it, and how to recognise a complete transfer.</a:t>
            </a:r>
          </a:p>
        </p:txBody>
      </p:sp>
      <p:sp>
        <p:nvSpPr>
          <p:cNvPr id="53" name="component-label-246.26666666666665">
            <a:extLst xmlns:a="http://schemas.openxmlformats.org/drawingml/2006/main">
              <a:ext uri="{FF2B5EF4-FFF2-40B4-BE49-F238E27FC236}">
                <a16:creationId xmlns:a16="http://schemas.microsoft.com/office/drawing/2014/main" id="{7282C9C4-E071-4871-AE30-7B96F2AF3DC7}"/>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H A T   W E   B U I L T   A N D   W H A T   I T   P R O V E S</a:t>
            </a:r>
          </a:p>
        </p:txBody>
      </p:sp>
      <p:sp>
        <p:nvSpPr>
          <p:cNvPr id="54" name="body-0">
            <a:extLst xmlns:a="http://schemas.openxmlformats.org/drawingml/2006/main">
              <a:ext uri="{FF2B5EF4-FFF2-40B4-BE49-F238E27FC236}">
                <a16:creationId xmlns:a16="http://schemas.microsoft.com/office/drawing/2014/main" id="{906772F0-552F-4857-A65A-519FC748AF0A}"/>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Verilog description represents circuits, not software instructions running one after another.
Registers remember values; combinational logic calculates the next values. A </a:t>
            </a:r>
            <a:r>
              <a:rPr b="1"/>
              <a:t>clock</a:t>
            </a:r>
            <a:r>
              <a:t> advances the
registered state. The next pages first explain this protocol at its wires, then connect those rules to
the actual reference RTL.</a:t>
            </a:r>
          </a:p>
        </p:txBody>
      </p:sp>
      <p:sp>
        <p:nvSpPr>
          <p:cNvPr id="55" name="body-1">
            <a:extLst xmlns:a="http://schemas.openxmlformats.org/drawingml/2006/main">
              <a:ext uri="{FF2B5EF4-FFF2-40B4-BE49-F238E27FC236}">
                <a16:creationId xmlns:a16="http://schemas.microsoft.com/office/drawing/2014/main" id="{93FA2FF5-978D-43DA-AD41-582CC42854EF}"/>
              </a:ext>
            </a:extLst>
          </p:cNvPr>
          <p:cNvSpPr>
            <a:spLocks xmlns:a="http://schemas.openxmlformats.org/drawingml/2006/main" noGrp="1"/>
          </p:cNvSpPr>
          <p:nvPr/>
        </p:nvSpPr>
        <p:spPr>
          <a:xfrm xmlns:a="http://schemas.openxmlformats.org/drawingml/2006/main">
            <a:off x="502920" y="350875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implemented unit is i2c_core in hw/protocols/i2c. It is a fixed </a:t>
            </a:r>
            <a:r>
              <a:rPr b="1"/>
              <a:t>reference</a:t>
            </a:r>
            <a:r>
              <a:t> block, not the Jane
Street programmable combined emulator or a Tiny Tapeout submission top. No new competition
architecture, instruction set, pin map or authority decision is implied by these documents.</a:t>
            </a:r>
          </a:p>
        </p:txBody>
      </p:sp>
      <p:sp>
        <p:nvSpPr>
          <p:cNvPr id="56" name="body-2">
            <a:extLst xmlns:a="http://schemas.openxmlformats.org/drawingml/2006/main">
              <a:ext uri="{FF2B5EF4-FFF2-40B4-BE49-F238E27FC236}">
                <a16:creationId xmlns:a16="http://schemas.microsoft.com/office/drawing/2014/main" id="{E5D37F65-5FFE-4959-BD1E-A00B23E5FD4D}"/>
              </a:ext>
            </a:extLst>
          </p:cNvPr>
          <p:cNvSpPr>
            <a:spLocks xmlns:a="http://schemas.openxmlformats.org/drawingml/2006/main" noGrp="1"/>
          </p:cNvSpPr>
          <p:nvPr/>
        </p:nvSpPr>
        <p:spPr>
          <a:xfrm xmlns:a="http://schemas.openxmlformats.org/drawingml/2006/main">
            <a:off x="502920" y="422846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Arbitration is not decisively tested. Stretching and repeated </a:t>
            </a:r>
            <a:r>
              <a:rPr b="1"/>
              <a:t>START</a:t>
            </a:r>
            <a:r>
              <a:t> have indirect data/completion
coverage only. Later pages give the exact stimulus and the implementation evidence rather than
using a broad protocol-compliant label. A successful mapped netlist, routed DEF and decoded
GDS establish concrete implementation/export results, not readiness to manufacture.</a:t>
            </a:r>
          </a:p>
        </p:txBody>
      </p:sp>
      <p:sp>
        <p:nvSpPr>
          <p:cNvPr id="57" name="body-3">
            <a:extLst xmlns:a="http://schemas.openxmlformats.org/drawingml/2006/main">
              <a:ext uri="{FF2B5EF4-FFF2-40B4-BE49-F238E27FC236}">
                <a16:creationId xmlns:a16="http://schemas.microsoft.com/office/drawing/2014/main" id="{6E883867-035F-432D-8877-A6986A473CCE}"/>
              </a:ext>
            </a:extLst>
          </p:cNvPr>
          <p:cNvSpPr>
            <a:spLocks xmlns:a="http://schemas.openxmlformats.org/drawingml/2006/main" noGrp="1"/>
          </p:cNvSpPr>
          <p:nvPr/>
        </p:nvSpPr>
        <p:spPr>
          <a:xfrm xmlns:a="http://schemas.openxmlformats.org/drawingml/2006/main">
            <a:off x="502920" y="512635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reading path starts with chip-design vocabulary, then develops the protocol, calculations,
local interface and failure cases. Separate sections explain lint, simulation, synthesis, placement,
routing, timing and </a:t>
            </a:r>
            <a:r>
              <a:rPr b="1"/>
              <a:t>GDS</a:t>
            </a:r>
            <a:r>
              <a:t>. The last two pages define design and physical terms. No prior ASIC-flow
experience is assumed.</a:t>
            </a:r>
          </a:p>
        </p:txBody>
      </p:sp>
      <p:sp>
        <p:nvSpPr>
          <p:cNvPr id="58" name="component-label-632.4666666666668">
            <a:extLst xmlns:a="http://schemas.openxmlformats.org/drawingml/2006/main">
              <a:ext uri="{FF2B5EF4-FFF2-40B4-BE49-F238E27FC236}">
                <a16:creationId xmlns:a16="http://schemas.microsoft.com/office/drawing/2014/main" id="{60C3C4F4-5A82-40F9-9408-43835AA31677}"/>
              </a:ext>
            </a:extLst>
          </p:cNvPr>
          <p:cNvSpPr>
            <a:spLocks xmlns:a="http://schemas.openxmlformats.org/drawingml/2006/main" noGrp="1"/>
          </p:cNvSpPr>
          <p:nvPr/>
        </p:nvSpPr>
        <p:spPr>
          <a:xfrm xmlns:a="http://schemas.openxmlformats.org/drawingml/2006/main">
            <a:off x="502920" y="602424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E V I D E N C E   V O C A B U L A R Y</a:t>
            </a:r>
          </a:p>
        </p:txBody>
      </p:sp>
      <p:graphicFrame>
        <p:nvGraphicFramePr>
          <p:cNvPr id="78" name=""/>
          <p:cNvGraphicFramePr/>
          <p:nvPr/>
        </p:nvGraphicFramePr>
        <p:xfrm>
          <a:off xmlns:a="http://schemas.openxmlformats.org/drawingml/2006/main" x="502920" y="6289421"/>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Label</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Meaning in this document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Worked example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Explicit assumptions; independently calculated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Measured trace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Positive digital regression VCD, where present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Directed PASS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assertions and negative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Routed / decoded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export and structural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performed or claimed</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0332290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8" name="Picture 2"/>
          <p:cNvPicPr>
            <a:picLocks xmlns:a="http://schemas.openxmlformats.org/drawingml/2006/main" noChangeAspect="1"/>
          </p:cNvPicPr>
          <p:nvPr/>
        </p:nvPicPr>
        <p:blipFill>
          <a:blip xmlns:r="http://schemas.openxmlformats.org/officeDocument/2006/relationships" xmlns:a="http://schemas.openxmlformats.org/drawingml/2006/main" r:embed="Rbb801eb651b74ba4"/>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2209DAC-FBBC-4670-BFC0-649F1754D5A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 · CHIP DESIGN</a:t>
            </a:r>
          </a:p>
        </p:txBody>
      </p:sp>
      <p:sp>
        <p:nvSpPr>
          <p:cNvPr id="51" name="page-title">
            <a:extLst xmlns:a="http://schemas.openxmlformats.org/drawingml/2006/main">
              <a:ext uri="{FF2B5EF4-FFF2-40B4-BE49-F238E27FC236}">
                <a16:creationId xmlns:a16="http://schemas.microsoft.com/office/drawing/2014/main" id="{1331F139-BF27-4EB8-AB26-8C8A33C8BA3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Chip design in ten minutes</a:t>
            </a:r>
          </a:p>
        </p:txBody>
      </p:sp>
      <p:sp>
        <p:nvSpPr>
          <p:cNvPr id="52" name="intro">
            <a:extLst xmlns:a="http://schemas.openxmlformats.org/drawingml/2006/main">
              <a:ext uri="{FF2B5EF4-FFF2-40B4-BE49-F238E27FC236}">
                <a16:creationId xmlns:a16="http://schemas.microsoft.com/office/drawing/2014/main" id="{D248DBDF-87D4-4B3F-B4A0-5AF17E2F206B}"/>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Each stage makes the same circuit more concrete. The folders below are the actual unit</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layout, not a copied APB command list.</a:t>
            </a:r>
          </a:p>
        </p:txBody>
      </p:sp>
      <p:sp>
        <p:nvSpPr>
          <p:cNvPr id="53" name="component-label-246.26666666666665">
            <a:extLst xmlns:a="http://schemas.openxmlformats.org/drawingml/2006/main">
              <a:ext uri="{FF2B5EF4-FFF2-40B4-BE49-F238E27FC236}">
                <a16:creationId xmlns:a16="http://schemas.microsoft.com/office/drawing/2014/main" id="{A04EA2B3-73C6-4EA8-AE54-3462D79E4F5D}"/>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H I P   D E S I G N</a:t>
            </a:r>
          </a:p>
        </p:txBody>
      </p:sp>
      <p:sp>
        <p:nvSpPr>
          <p:cNvPr id="54" name="body-0">
            <a:extLst xmlns:a="http://schemas.openxmlformats.org/drawingml/2006/main">
              <a:ext uri="{FF2B5EF4-FFF2-40B4-BE49-F238E27FC236}">
                <a16:creationId xmlns:a16="http://schemas.microsoft.com/office/drawing/2014/main" id="{2668F7D8-6B30-4C5C-AF51-44316DFEA906}"/>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RTL states what hardware should do. A simulator checks selected input sequences before any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silicon exists. Synthesis replaces that description with gates from a process library. Physical tools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choose positions and metal routes. Timing analysis checks the resulting delays; stream-out writes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mask-layout geometry.</a:t>
            </a:r>
          </a:p>
        </p:txBody>
      </p:sp>
      <p:sp>
        <p:nvSpPr>
          <p:cNvPr id="55" name="component-label-368.3733333333333">
            <a:extLst xmlns:a="http://schemas.openxmlformats.org/drawingml/2006/main">
              <a:ext uri="{FF2B5EF4-FFF2-40B4-BE49-F238E27FC236}">
                <a16:creationId xmlns:a16="http://schemas.microsoft.com/office/drawing/2014/main" id="{EA671A20-5497-4A16-8571-E3D30E3E2882}"/>
              </a:ext>
            </a:extLst>
          </p:cNvPr>
          <p:cNvSpPr>
            <a:spLocks xmlns:a="http://schemas.openxmlformats.org/drawingml/2006/main" noGrp="1"/>
          </p:cNvSpPr>
          <p:nvPr/>
        </p:nvSpPr>
        <p:spPr>
          <a:xfrm xmlns:a="http://schemas.openxmlformats.org/drawingml/2006/main">
            <a:off x="502920" y="350875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H E   P I P E L I N E ,   S T A G E   B Y   S T A G E</a:t>
            </a:r>
          </a:p>
        </p:txBody>
      </p:sp>
      <p:graphicFrame>
        <p:nvGraphicFramePr>
          <p:cNvPr id="72" name=""/>
          <p:cNvGraphicFramePr/>
          <p:nvPr/>
        </p:nvGraphicFramePr>
        <p:xfrm>
          <a:off xmlns:a="http://schemas.openxmlformats.org/drawingml/2006/main" x="502920" y="3773932"/>
          <a:ext xmlns:a="http://schemas.openxmlformats.org/drawingml/2006/main" cx="6556248" cy="3941762"/>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FOLDER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HAPPENS HERE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00_lint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Read code for risky patterns; retained warnings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01_rtl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Pinned source and the local wrapper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02_sim</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Independent stimulus, comparisons and fatal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03_verification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Supplemental checks; not a universal UVM PASS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04_synthesis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Map functional logic to SG13G2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05_dft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Manufacturing test work remains 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06_floorplanning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Die outline, rows, power and pin locations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07_placement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Choose legal positions for mapped cells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09_place_and_route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tree, routing and SPEF extraction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Read post-route TT and slow timing reports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10_gds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Stream-out and independent placement decoder</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11_physical_verification</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Foundry DRC / LVS remain 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033229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15ce00e155e34b2a"/>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A9F73A4-9871-4C6C-9CE0-1231223D9425}"/>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3 · ELECTRICAL RULES</a:t>
            </a:r>
          </a:p>
        </p:txBody>
      </p:sp>
      <p:sp>
        <p:nvSpPr>
          <p:cNvPr id="51" name="page-title">
            <a:extLst xmlns:a="http://schemas.openxmlformats.org/drawingml/2006/main">
              <a:ext uri="{FF2B5EF4-FFF2-40B4-BE49-F238E27FC236}">
                <a16:creationId xmlns:a16="http://schemas.microsoft.com/office/drawing/2014/main" id="{EF82EC45-DC26-4016-92B2-E3C7038DFDC7}"/>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Drive low, or release</a:t>
            </a:r>
          </a:p>
        </p:txBody>
      </p:sp>
      <p:sp>
        <p:nvSpPr>
          <p:cNvPr id="52" name="intro">
            <a:extLst xmlns:a="http://schemas.openxmlformats.org/drawingml/2006/main">
              <a:ext uri="{FF2B5EF4-FFF2-40B4-BE49-F238E27FC236}">
                <a16:creationId xmlns:a16="http://schemas.microsoft.com/office/drawing/2014/main" id="{F4BAC682-106F-4D94-B00B-CA61B4B66E5A}"/>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Open-drain ownership is a wired-bus rule. The pad-level implementation remains outside this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digital reference.</a:t>
            </a:r>
          </a:p>
        </p:txBody>
      </p:sp>
      <p:sp>
        <p:nvSpPr>
          <p:cNvPr id="53" name="component-label-246.26666666666665">
            <a:extLst xmlns:a="http://schemas.openxmlformats.org/drawingml/2006/main">
              <a:ext uri="{FF2B5EF4-FFF2-40B4-BE49-F238E27FC236}">
                <a16:creationId xmlns:a16="http://schemas.microsoft.com/office/drawing/2014/main" id="{D041ADB5-89E2-40EC-B22D-67AAF13DD6CA}"/>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E L E C T R I C A L   R U L E S</a:t>
            </a:r>
          </a:p>
        </p:txBody>
      </p:sp>
      <p:sp>
        <p:nvSpPr>
          <p:cNvPr id="54" name="body-0">
            <a:extLst xmlns:a="http://schemas.openxmlformats.org/drawingml/2006/main">
              <a:ext uri="{FF2B5EF4-FFF2-40B4-BE49-F238E27FC236}">
                <a16:creationId xmlns:a16="http://schemas.microsoft.com/office/drawing/2014/main" id="{2F9BBFD1-9E47-4F1B-ADBE-173B804FC210}"/>
              </a:ext>
            </a:extLst>
          </p:cNvPr>
          <p:cNvSpPr>
            <a:spLocks xmlns:a="http://schemas.openxmlformats.org/drawingml/2006/main" noGrp="1"/>
          </p:cNvSpPr>
          <p:nvPr/>
        </p:nvSpPr>
        <p:spPr>
          <a:xfrm xmlns:a="http://schemas.openxmlformats.org/drawingml/2006/main">
            <a:off x="502920" y="2610866"/>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When any </a:t>
            </a:r>
            <a:r>
              <a:rPr b="1"/>
              <a:t>open-drain</a:t>
            </a:r>
            <a:r>
              <a:t> participant pulls the shared wire low, the connected receivers observe a
low. This supports shared ownership without opposing high and low drivers. Pull-up selection
depends on rise time, bus capacitance and sink current. An RTL tri-state model is ideal digital
behaviour and does not prove these analogue limits. The integration needs correct output-enable
polarity.</a:t>
            </a:r>
          </a:p>
        </p:txBody>
      </p:sp>
      <p:sp>
        <p:nvSpPr>
          <p:cNvPr id="55" name="body-1">
            <a:extLst xmlns:a="http://schemas.openxmlformats.org/drawingml/2006/main">
              <a:ext uri="{FF2B5EF4-FFF2-40B4-BE49-F238E27FC236}">
                <a16:creationId xmlns:a16="http://schemas.microsoft.com/office/drawing/2014/main" id="{E08502DA-50F7-422D-A86F-53E6AA06826F}"/>
              </a:ext>
            </a:extLst>
          </p:cNvPr>
          <p:cNvSpPr>
            <a:spLocks xmlns:a="http://schemas.openxmlformats.org/drawingml/2006/main" noGrp="1"/>
          </p:cNvSpPr>
          <p:nvPr/>
        </p:nvSpPr>
        <p:spPr>
          <a:xfrm xmlns:a="http://schemas.openxmlformats.org/drawingml/2006/main">
            <a:off x="502920" y="3686937"/>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These are stated classroom assumptions, not measured board values. The 0.8473 factor describes
the 30-to-70 percent RC rise interval. A real design must use the device data sheet limits and
include wiring, connector and pin capacitance. NXP UM10204 section 7.1 describes this method.
This calculation does not prove electrical compliance of the </a:t>
            </a:r>
            <a:r>
              <a:rPr b="1"/>
              <a:t>reference</a:t>
            </a:r>
            <a:r>
              <a:t> RTL pads.</a:t>
            </a:r>
          </a:p>
        </p:txBody>
      </p:sp>
      <p:sp>
        <p:nvSpPr>
          <p:cNvPr id="56" name="body-2">
            <a:extLst xmlns:a="http://schemas.openxmlformats.org/drawingml/2006/main">
              <a:ext uri="{FF2B5EF4-FFF2-40B4-BE49-F238E27FC236}">
                <a16:creationId xmlns:a16="http://schemas.microsoft.com/office/drawing/2014/main" id="{632EED5D-9008-419E-A218-BF42B2FAD17D}"/>
              </a:ext>
            </a:extLst>
          </p:cNvPr>
          <p:cNvSpPr>
            <a:spLocks xmlns:a="http://schemas.openxmlformats.org/drawingml/2006/main" noGrp="1"/>
          </p:cNvSpPr>
          <p:nvPr/>
        </p:nvSpPr>
        <p:spPr>
          <a:xfrm xmlns:a="http://schemas.openxmlformats.org/drawingml/2006/main">
            <a:off x="502920" y="4584827"/>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pull-up can raise the line only when neither participant sinks current. A digital simulation does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not model pull-up resistance or pad sink current.</a:t>
            </a:r>
          </a:p>
        </p:txBody>
      </p:sp>
      <p:sp>
        <p:nvSpPr>
          <p:cNvPr id="57" name="body-3">
            <a:extLst xmlns:a="http://schemas.openxmlformats.org/drawingml/2006/main">
              <a:ext uri="{FF2B5EF4-FFF2-40B4-BE49-F238E27FC236}">
                <a16:creationId xmlns:a16="http://schemas.microsoft.com/office/drawing/2014/main" id="{E3EE5344-A63B-47A6-9C0E-352160C4E1F9}"/>
              </a:ext>
            </a:extLst>
          </p:cNvPr>
          <p:cNvSpPr>
            <a:spLocks xmlns:a="http://schemas.openxmlformats.org/drawingml/2006/main" noGrp="1"/>
          </p:cNvSpPr>
          <p:nvPr/>
        </p:nvSpPr>
        <p:spPr>
          <a:xfrm xmlns:a="http://schemas.openxmlformats.org/drawingml/2006/main">
            <a:off x="502920" y="512635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pull-up bounds are Rmin = (VDD - VOL) / IOL and Rmax = tr / (0.8473 x Cbus). With the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stated values these give 2.9 / 0.003 = 967 ohm and 300 ns / (0.8473 x 100 pF) = 3.54 kohm.</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Choosing 2.2 kohm predicts tr = 0.8473 x 2200 x 100 pF = 186 ns. Doubling the capacitance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doubles that prediction to 373 ns and exceeds the assumed 300 ns budget.</a:t>
            </a:r>
          </a:p>
        </p:txBody>
      </p:sp>
      <p:sp>
        <p:nvSpPr>
          <p:cNvPr id="58" name="component-label-632.4666666666668">
            <a:extLst xmlns:a="http://schemas.openxmlformats.org/drawingml/2006/main">
              <a:ext uri="{FF2B5EF4-FFF2-40B4-BE49-F238E27FC236}">
                <a16:creationId xmlns:a16="http://schemas.microsoft.com/office/drawing/2014/main" id="{3B16BBE1-A659-40BE-A709-CCAFCFFC947B}"/>
              </a:ext>
            </a:extLst>
          </p:cNvPr>
          <p:cNvSpPr>
            <a:spLocks xmlns:a="http://schemas.openxmlformats.org/drawingml/2006/main" noGrp="1"/>
          </p:cNvSpPr>
          <p:nvPr/>
        </p:nvSpPr>
        <p:spPr>
          <a:xfrm xmlns:a="http://schemas.openxmlformats.org/drawingml/2006/main">
            <a:off x="502920" y="602424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O R K E D   P U L L - U P   B U D G E T</a:t>
            </a:r>
          </a:p>
        </p:txBody>
      </p:sp>
      <p:graphicFrame>
        <p:nvGraphicFramePr>
          <p:cNvPr id="78" name=""/>
          <p:cNvGraphicFramePr/>
          <p:nvPr/>
        </p:nvGraphicFramePr>
        <p:xfrm>
          <a:off xmlns:a="http://schemas.openxmlformats.org/drawingml/2006/main" x="502920" y="6289421"/>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Assumption / result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VDD, VOL, sink capability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3.3 V, 0.4 V, 3 mA</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Cbus, assumed rise-time limit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100 pF, 300 ns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Rmin / Rmax</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967 ohm / 3.54 kohm</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2.2 kohm rise time / current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186 ns / 1.32 mA</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0332290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47727e33584742b7"/>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0DA55831-9ACB-4487-8F56-5B743E0A625F}"/>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4 · TRANSACTION RULES</a:t>
            </a:r>
          </a:p>
        </p:txBody>
      </p:sp>
      <p:sp>
        <p:nvSpPr>
          <p:cNvPr id="51" name="page-title">
            <a:extLst xmlns:a="http://schemas.openxmlformats.org/drawingml/2006/main">
              <a:ext uri="{FF2B5EF4-FFF2-40B4-BE49-F238E27FC236}">
                <a16:creationId xmlns:a16="http://schemas.microsoft.com/office/drawing/2014/main" id="{DCB385FA-75AC-4705-9D99-0A07811C5B98}"/>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Read a register, not just a byte</a:t>
            </a:r>
          </a:p>
        </p:txBody>
      </p:sp>
      <p:sp>
        <p:nvSpPr>
          <p:cNvPr id="52" name="intro">
            <a:extLst xmlns:a="http://schemas.openxmlformats.org/drawingml/2006/main">
              <a:ext uri="{FF2B5EF4-FFF2-40B4-BE49-F238E27FC236}">
                <a16:creationId xmlns:a16="http://schemas.microsoft.com/office/drawing/2014/main" id="{0B8F700D-3ADC-4015-85DC-8802CBE3143B}"/>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device address selects the target; the application register selects the value within it.</a:t>
            </a:r>
          </a:p>
        </p:txBody>
      </p:sp>
      <p:sp>
        <p:nvSpPr>
          <p:cNvPr id="53" name="component-label-225.93333333333334">
            <a:extLst xmlns:a="http://schemas.openxmlformats.org/drawingml/2006/main">
              <a:ext uri="{FF2B5EF4-FFF2-40B4-BE49-F238E27FC236}">
                <a16:creationId xmlns:a16="http://schemas.microsoft.com/office/drawing/2014/main" id="{581D25A6-1E5A-47EE-8FF8-CD7C2C188A36}"/>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R A N S A C T I O N   R U L E S</a:t>
            </a:r>
          </a:p>
        </p:txBody>
      </p:sp>
      <p:sp>
        <p:nvSpPr>
          <p:cNvPr id="54" name="body-0">
            <a:extLst xmlns:a="http://schemas.openxmlformats.org/drawingml/2006/main">
              <a:ext uri="{FF2B5EF4-FFF2-40B4-BE49-F238E27FC236}">
                <a16:creationId xmlns:a16="http://schemas.microsoft.com/office/drawing/2014/main" id="{986D5F41-E56A-4D95-8847-7E0D8C8D0E2A}"/>
              </a:ext>
            </a:extLst>
          </p:cNvPr>
          <p:cNvSpPr>
            <a:spLocks xmlns:a="http://schemas.openxmlformats.org/drawingml/2006/main" noGrp="1"/>
          </p:cNvSpPr>
          <p:nvPr/>
        </p:nvSpPr>
        <p:spPr>
          <a:xfrm xmlns:a="http://schemas.openxmlformats.org/drawingml/2006/main">
            <a:off x="502920" y="241719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register index and auto-increment behaviour belong to the target’s application contract,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to I2C itself. The local target model stores bytes for this exercise. A real device datasheet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determines whether this exact multi-byte sequence is valid.</a:t>
            </a:r>
          </a:p>
        </p:txBody>
      </p:sp>
      <p:sp>
        <p:nvSpPr>
          <p:cNvPr id="55" name="body-1">
            <a:extLst xmlns:a="http://schemas.openxmlformats.org/drawingml/2006/main">
              <a:ext uri="{FF2B5EF4-FFF2-40B4-BE49-F238E27FC236}">
                <a16:creationId xmlns:a16="http://schemas.microsoft.com/office/drawing/2014/main" id="{D730F865-2465-42CB-81A6-2B96B0EE92B5}"/>
              </a:ext>
            </a:extLst>
          </p:cNvPr>
          <p:cNvSpPr>
            <a:spLocks xmlns:a="http://schemas.openxmlformats.org/drawingml/2006/main" noGrp="1"/>
          </p:cNvSpPr>
          <p:nvPr/>
        </p:nvSpPr>
        <p:spPr>
          <a:xfrm xmlns:a="http://schemas.openxmlformats.org/drawingml/2006/main">
            <a:off x="502920" y="3136900"/>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first acknowledged read requests more bytes. The controller should NACK the final byte
before </a:t>
            </a:r>
            <a:r>
              <a:rPr b="1"/>
              <a:t>STOP</a:t>
            </a:r>
            <a:r>
              <a:t> to tell the target that the receive phase is over. The regression checks A5 and 5A.
Later uninitialised locations print unknown values but are not asserted, so they cannot count as
extra verified payload bytes.</a:t>
            </a:r>
          </a:p>
        </p:txBody>
      </p:sp>
      <p:sp>
        <p:nvSpPr>
          <p:cNvPr id="56" name="body-2">
            <a:extLst xmlns:a="http://schemas.openxmlformats.org/drawingml/2006/main">
              <a:ext uri="{FF2B5EF4-FFF2-40B4-BE49-F238E27FC236}">
                <a16:creationId xmlns:a16="http://schemas.microsoft.com/office/drawing/2014/main" id="{7D64C968-F728-4B94-A0F4-C18711E695DC}"/>
              </a:ext>
            </a:extLst>
          </p:cNvPr>
          <p:cNvSpPr>
            <a:spLocks xmlns:a="http://schemas.openxmlformats.org/drawingml/2006/main" noGrp="1"/>
          </p:cNvSpPr>
          <p:nvPr/>
        </p:nvSpPr>
        <p:spPr>
          <a:xfrm xmlns:a="http://schemas.openxmlformats.org/drawingml/2006/main">
            <a:off x="502920" y="4034790"/>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Repeated </a:t>
            </a:r>
            <a:r>
              <a:rPr b="1"/>
              <a:t>START</a:t>
            </a:r>
            <a:r>
              <a:t> keeps the transaction active while changing direction. The target owns read data,
and the controller owns the final response. Some devices use different register widths or pointer
behaviour; this worked convention is not universal.</a:t>
            </a:r>
          </a:p>
        </p:txBody>
      </p:sp>
      <p:sp>
        <p:nvSpPr>
          <p:cNvPr id="57" name="component-label-499.15999999999997">
            <a:extLst xmlns:a="http://schemas.openxmlformats.org/drawingml/2006/main">
              <a:ext uri="{FF2B5EF4-FFF2-40B4-BE49-F238E27FC236}">
                <a16:creationId xmlns:a16="http://schemas.microsoft.com/office/drawing/2014/main" id="{9FD6E03D-E7DD-45FB-BA37-50AA10B5726F}"/>
              </a:ext>
            </a:extLst>
          </p:cNvPr>
          <p:cNvSpPr>
            <a:spLocks xmlns:a="http://schemas.openxmlformats.org/drawingml/2006/main" noGrp="1"/>
          </p:cNvSpPr>
          <p:nvPr/>
        </p:nvSpPr>
        <p:spPr>
          <a:xfrm xmlns:a="http://schemas.openxmlformats.org/drawingml/2006/main">
            <a:off x="502920" y="4754499"/>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H Y P O T H E T I C A L   T A R G E T   0 X 5 0 ,   R E G I S T E R   0 X 0 1</a:t>
            </a:r>
          </a:p>
        </p:txBody>
      </p:sp>
      <p:graphicFrame>
        <p:nvGraphicFramePr>
          <p:cNvPr id="76" name=""/>
          <p:cNvGraphicFramePr/>
          <p:nvPr/>
        </p:nvGraphicFramePr>
        <p:xfrm>
          <a:off xmlns:a="http://schemas.openxmlformats.org/drawingml/2006/main" x="502920" y="5019675"/>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Phase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Byte / bus owner</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Address write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A0 from controller; ACK from target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Register selection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01 from controller; ACK from target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Repeated START, address read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A1 from controller; ACK from target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Final value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A5 from target; NACK from controller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Release bus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STOP from controller</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0332290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b9a3160a5d9f473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8B480FD-48DD-4C14-9EAA-884CB988DAA6}"/>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5 · TIMING CALCULATION</a:t>
            </a:r>
          </a:p>
        </p:txBody>
      </p:sp>
      <p:sp>
        <p:nvSpPr>
          <p:cNvPr id="51" name="page-title">
            <a:extLst xmlns:a="http://schemas.openxmlformats.org/drawingml/2006/main">
              <a:ext uri="{FF2B5EF4-FFF2-40B4-BE49-F238E27FC236}">
                <a16:creationId xmlns:a16="http://schemas.microsoft.com/office/drawing/2014/main" id="{5CF96F75-A5DA-4CEB-9C64-96DA8E68DB54}"/>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Nominal rate versus wire rate</a:t>
            </a:r>
          </a:p>
        </p:txBody>
      </p:sp>
      <p:sp>
        <p:nvSpPr>
          <p:cNvPr id="52" name="intro">
            <a:extLst xmlns:a="http://schemas.openxmlformats.org/drawingml/2006/main">
              <a:ext uri="{FF2B5EF4-FFF2-40B4-BE49-F238E27FC236}">
                <a16:creationId xmlns:a16="http://schemas.microsoft.com/office/drawing/2014/main" id="{AD81DD43-C8BD-499B-B515-840BADE9A0B1}"/>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simulation and physical clocks differ. Divider arithmetic alone does not describe the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measured bus period.</a:t>
            </a:r>
          </a:p>
        </p:txBody>
      </p:sp>
      <p:sp>
        <p:nvSpPr>
          <p:cNvPr id="53" name="component-label-246.26666666666665">
            <a:extLst xmlns:a="http://schemas.openxmlformats.org/drawingml/2006/main">
              <a:ext uri="{FF2B5EF4-FFF2-40B4-BE49-F238E27FC236}">
                <a16:creationId xmlns:a16="http://schemas.microsoft.com/office/drawing/2014/main" id="{59039307-3BDA-42B5-8C17-8F5530C521D1}"/>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I M I N G   C A L C U L A T I O N</a:t>
            </a:r>
          </a:p>
        </p:txBody>
      </p:sp>
      <p:sp>
        <p:nvSpPr>
          <p:cNvPr id="54" name="body-0">
            <a:extLst xmlns:a="http://schemas.openxmlformats.org/drawingml/2006/main">
              <a:ext uri="{FF2B5EF4-FFF2-40B4-BE49-F238E27FC236}">
                <a16:creationId xmlns:a16="http://schemas.microsoft.com/office/drawing/2014/main" id="{472F55FA-5172-4C92-9265-F4EE9D7A077E}"/>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five-phase divider gives nominal SCL = fwb / [5 x (PRER + 1)]. At 50 MHz, PRER 99 yields 100</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kHz and PRER 24 yields 400 kHz before other delays. These are worked configurations,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independently measured board rates. The regression instead runs at 100 MHz with PRER 0x00C8,</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or 200: 1005 core clocks predict 10.05 us and 99.502 kHz.</a:t>
            </a:r>
          </a:p>
        </p:txBody>
      </p:sp>
      <p:sp>
        <p:nvSpPr>
          <p:cNvPr id="55" name="body-1">
            <a:extLst xmlns:a="http://schemas.openxmlformats.org/drawingml/2006/main">
              <a:ext uri="{FF2B5EF4-FFF2-40B4-BE49-F238E27FC236}">
                <a16:creationId xmlns:a16="http://schemas.microsoft.com/office/drawing/2014/main" id="{E3A55E8A-83B2-4E7B-BF60-01E4E799FB47}"/>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positive VCD contains steady address-</a:t>
            </a:r>
            <a:r>
              <a:rPr b="1"/>
              <a:t>clock</a:t>
            </a:r>
            <a:r>
              <a:t> intervals of 10.71 us, or 1071 core cycles and
93.371 kHz. The observed difference is 66 clocks per period, approximately 6.57 percent extra
period. Input filtering and synchronisation are possible contributors; the exact state-by-state
attribution has not been established. No causal claim is made from the rate difference alone.</a:t>
            </a:r>
          </a:p>
        </p:txBody>
      </p:sp>
      <p:sp>
        <p:nvSpPr>
          <p:cNvPr id="56" name="body-2">
            <a:extLst xmlns:a="http://schemas.openxmlformats.org/drawingml/2006/main">
              <a:ext uri="{FF2B5EF4-FFF2-40B4-BE49-F238E27FC236}">
                <a16:creationId xmlns:a16="http://schemas.microsoft.com/office/drawing/2014/main" id="{B11B4DCE-CE30-40BF-859E-7D57478FB254}"/>
              </a:ext>
            </a:extLst>
          </p:cNvPr>
          <p:cNvSpPr>
            <a:spLocks xmlns:a="http://schemas.openxmlformats.org/drawingml/2006/main" noGrp="1"/>
          </p:cNvSpPr>
          <p:nvPr/>
        </p:nvSpPr>
        <p:spPr>
          <a:xfrm xmlns:a="http://schemas.openxmlformats.org/drawingml/2006/main">
            <a:off x="502920" y="440664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Nine clocks are consumed by eight data bits plus </a:t>
            </a:r>
            <a:r>
              <a:rPr b="1"/>
              <a:t>ACK</a:t>
            </a:r>
            <a:r>
              <a:t>. The nominal maximum payload-bit fraction
is therefore 8/9, before address, START, STOP and idle overhead. A hypothetical single-byte
register read uses four nine-clock byte phases, giving 360 us at an ideal 100 kHz, excluding
boundary gaps and stretching.</a:t>
            </a:r>
          </a:p>
        </p:txBody>
      </p:sp>
      <p:sp>
        <p:nvSpPr>
          <p:cNvPr id="57" name="component-label-556.9066666666666">
            <a:extLst xmlns:a="http://schemas.openxmlformats.org/drawingml/2006/main">
              <a:ext uri="{FF2B5EF4-FFF2-40B4-BE49-F238E27FC236}">
                <a16:creationId xmlns:a16="http://schemas.microsoft.com/office/drawing/2014/main" id="{0EAA35BD-8D8F-4C49-964E-49535E2A5928}"/>
              </a:ext>
            </a:extLst>
          </p:cNvPr>
          <p:cNvSpPr>
            <a:spLocks xmlns:a="http://schemas.openxmlformats.org/drawingml/2006/main" noGrp="1"/>
          </p:cNvSpPr>
          <p:nvPr/>
        </p:nvSpPr>
        <p:spPr>
          <a:xfrm xmlns:a="http://schemas.openxmlformats.org/drawingml/2006/main">
            <a:off x="502920" y="530453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K E E P   T H E   T I M I N G   C O N T E X T S   S E P A R A T E</a:t>
            </a:r>
          </a:p>
        </p:txBody>
      </p:sp>
      <p:graphicFrame>
        <p:nvGraphicFramePr>
          <p:cNvPr id="76" name=""/>
          <p:cNvGraphicFramePr/>
          <p:nvPr/>
        </p:nvGraphicFramePr>
        <p:xfrm>
          <a:off xmlns:a="http://schemas.openxmlformats.org/drawingml/2006/main" x="502920" y="5569712"/>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Context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Clock / 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Physical reference constraint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50 MHz; 20 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Simulation source clock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100 MHz; always #5</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Nominal simulation divider</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10.05 us; 99.502 kHz</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Measured steady SCL</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10.71 us; 93.371 kHz</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0332290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Picture 2"/>
          <p:cNvPicPr>
            <a:picLocks xmlns:a="http://schemas.openxmlformats.org/drawingml/2006/main" noChangeAspect="1"/>
          </p:cNvPicPr>
          <p:nvPr/>
        </p:nvPicPr>
        <p:blipFill>
          <a:blip xmlns:r="http://schemas.openxmlformats.org/officeDocument/2006/relationships" xmlns:a="http://schemas.openxmlformats.org/drawingml/2006/main" r:embed="Ra38f87031aab4845"/>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A9254013-8559-43DA-889C-7B5A4C295187}"/>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6 · RTL INTERFACE</a:t>
            </a:r>
          </a:p>
        </p:txBody>
      </p:sp>
      <p:sp>
        <p:nvSpPr>
          <p:cNvPr id="51" name="page-title">
            <a:extLst xmlns:a="http://schemas.openxmlformats.org/drawingml/2006/main">
              <a:ext uri="{FF2B5EF4-FFF2-40B4-BE49-F238E27FC236}">
                <a16:creationId xmlns:a16="http://schemas.microsoft.com/office/drawing/2014/main" id="{114F94BF-65F0-4B1A-9C25-16CA87E7739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Registers, command bits and pads</a:t>
            </a:r>
          </a:p>
        </p:txBody>
      </p:sp>
      <p:sp>
        <p:nvSpPr>
          <p:cNvPr id="52" name="intro">
            <a:extLst xmlns:a="http://schemas.openxmlformats.org/drawingml/2006/main">
              <a:ext uri="{FF2B5EF4-FFF2-40B4-BE49-F238E27FC236}">
                <a16:creationId xmlns:a16="http://schemas.microsoft.com/office/drawing/2014/main" id="{0FAD0630-A306-471F-9917-3771ADB99070}"/>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local parallel interface drives a protocol engine; it is not itself the I2C wire protocol.</a:t>
            </a:r>
          </a:p>
        </p:txBody>
      </p:sp>
      <p:sp>
        <p:nvSpPr>
          <p:cNvPr id="53" name="component-label-225.93333333333334">
            <a:extLst xmlns:a="http://schemas.openxmlformats.org/drawingml/2006/main">
              <a:ext uri="{FF2B5EF4-FFF2-40B4-BE49-F238E27FC236}">
                <a16:creationId xmlns:a16="http://schemas.microsoft.com/office/drawing/2014/main" id="{7BE89C6F-C607-4A88-B9C1-123643BFF3C3}"/>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T L   I N T E R F A C E</a:t>
            </a:r>
          </a:p>
        </p:txBody>
      </p:sp>
      <p:sp>
        <p:nvSpPr>
          <p:cNvPr id="54" name="body-0">
            <a:extLst xmlns:a="http://schemas.openxmlformats.org/drawingml/2006/main">
              <a:ext uri="{FF2B5EF4-FFF2-40B4-BE49-F238E27FC236}">
                <a16:creationId xmlns:a16="http://schemas.microsoft.com/office/drawing/2014/main" id="{AFB9633E-884D-4B40-AEBE-796BA7495890}"/>
              </a:ext>
            </a:extLst>
          </p:cNvPr>
          <p:cNvSpPr>
            <a:spLocks xmlns:a="http://schemas.openxmlformats.org/drawingml/2006/main" noGrp="1"/>
          </p:cNvSpPr>
          <p:nvPr/>
        </p:nvSpPr>
        <p:spPr>
          <a:xfrm xmlns:a="http://schemas.openxmlformats.org/drawingml/2006/main">
            <a:off x="502920" y="2417191"/>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i2c_core wraps i2c_master_top, followed by the byte and bit controllers. The wrapper adds
synchronised </a:t>
            </a:r>
            <a:r>
              <a:rPr b="1"/>
              <a:t>reset</a:t>
            </a:r>
            <a:r>
              <a:t> release and preserves the existing port contract.</a:t>
            </a:r>
          </a:p>
        </p:txBody>
      </p:sp>
      <p:sp>
        <p:nvSpPr>
          <p:cNvPr id="55" name="body-1">
            <a:extLst xmlns:a="http://schemas.openxmlformats.org/drawingml/2006/main">
              <a:ext uri="{FF2B5EF4-FFF2-40B4-BE49-F238E27FC236}">
                <a16:creationId xmlns:a16="http://schemas.microsoft.com/office/drawing/2014/main" id="{5EB023DE-24BA-4C50-B902-F5CC3AE04ABD}"/>
              </a:ext>
            </a:extLst>
          </p:cNvPr>
          <p:cNvSpPr>
            <a:spLocks xmlns:a="http://schemas.openxmlformats.org/drawingml/2006/main" noGrp="1"/>
          </p:cNvSpPr>
          <p:nvPr/>
        </p:nvSpPr>
        <p:spPr>
          <a:xfrm xmlns:a="http://schemas.openxmlformats.org/drawingml/2006/main">
            <a:off x="502920" y="2958719"/>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Each command field has a separate bit assignment. Bit seven is </a:t>
            </a:r>
            <a:r>
              <a:rPr b="1"/>
              <a:t>START</a:t>
            </a:r>
            <a:r>
              <a:t>, bit six STOP, bit five READ,
bit four WRITE, and bit three the response selection. The current bench uses these constants;
verify status TIP clears before issuing the next command. A polling loop also needs a system
timeout, which is separate from the bare peripheral logic.</a:t>
            </a:r>
          </a:p>
        </p:txBody>
      </p:sp>
      <p:sp>
        <p:nvSpPr>
          <p:cNvPr id="56" name="body-2">
            <a:extLst xmlns:a="http://schemas.openxmlformats.org/drawingml/2006/main">
              <a:ext uri="{FF2B5EF4-FFF2-40B4-BE49-F238E27FC236}">
                <a16:creationId xmlns:a16="http://schemas.microsoft.com/office/drawing/2014/main" id="{B122DCC0-FD22-4BC1-AA83-C1E657DFC71F}"/>
              </a:ext>
            </a:extLst>
          </p:cNvPr>
          <p:cNvSpPr>
            <a:spLocks xmlns:a="http://schemas.openxmlformats.org/drawingml/2006/main" noGrp="1"/>
          </p:cNvSpPr>
          <p:nvPr/>
        </p:nvSpPr>
        <p:spPr>
          <a:xfrm xmlns:a="http://schemas.openxmlformats.org/drawingml/2006/main">
            <a:off x="502920" y="3856609"/>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ARST_LVL is an elaboration parameter. The default is zero, so low arst_i asserts </a:t>
            </a:r>
            <a:r>
              <a:rPr b="1"/>
              <a:t>reset</a:t>
            </a:r>
            <a:r>
              <a:t>. The wrapper
converts polarity and passes active-low reset to the upstream controller. A two-flop release
improves clock-domain reset handling but is not a metastability or reset-domain signoff report.
There is also a synchronous Wishbone reset input. Pad integration still needs an actual I/O cell and
electrical design.</a:t>
            </a:r>
          </a:p>
        </p:txBody>
      </p:sp>
      <p:sp>
        <p:nvSpPr>
          <p:cNvPr id="57" name="component-label-517.8666666666667">
            <a:extLst xmlns:a="http://schemas.openxmlformats.org/drawingml/2006/main">
              <a:ext uri="{FF2B5EF4-FFF2-40B4-BE49-F238E27FC236}">
                <a16:creationId xmlns:a16="http://schemas.microsoft.com/office/drawing/2014/main" id="{986BF7C8-2999-4A80-BE46-65016BA3C31C}"/>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8" name="code-panel">
            <a:extLst xmlns:a="http://schemas.openxmlformats.org/drawingml/2006/main">
              <a:ext uri="{FF2B5EF4-FFF2-40B4-BE49-F238E27FC236}">
                <a16:creationId xmlns:a16="http://schemas.microsoft.com/office/drawing/2014/main" id="{E50608BC-9E26-4E0B-8172-59CBF4EFA61A}"/>
              </a:ext>
            </a:extLst>
          </p:cNvPr>
          <p:cNvSpPr>
            <a:spLocks xmlns:a="http://schemas.openxmlformats.org/drawingml/2006/main" noGrp="1"/>
          </p:cNvSpPr>
          <p:nvPr/>
        </p:nvSpPr>
        <p:spPr>
          <a:xfrm xmlns:a="http://schemas.openxmlformats.org/drawingml/2006/main">
            <a:off x="502920" y="5197856"/>
            <a:ext cx="6556248" cy="131318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59" name="code">
            <a:extLst xmlns:a="http://schemas.openxmlformats.org/drawingml/2006/main">
              <a:ext uri="{FF2B5EF4-FFF2-40B4-BE49-F238E27FC236}">
                <a16:creationId xmlns:a16="http://schemas.microsoft.com/office/drawing/2014/main" id="{F7EF1570-2174-4708-BE99-08FEAAC516AF}"/>
              </a:ext>
            </a:extLst>
          </p:cNvPr>
          <p:cNvSpPr>
            <a:spLocks xmlns:a="http://schemas.openxmlformats.org/drawingml/2006/main" noGrp="1"/>
          </p:cNvSpPr>
          <p:nvPr/>
        </p:nvSpPr>
        <p:spPr>
          <a:xfrm xmlns:a="http://schemas.openxmlformats.org/drawingml/2006/main">
            <a:off x="617220" y="5293106"/>
            <a:ext cx="6327648" cy="11607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DEDED"/>
                </a:solidFill>
              </a:rPr>
              <a:t>wire sta = cr[7];</a:t>
            </a:r>
            <a:r>
              <a:rPr>
                <a:solidFill>
                  <a:srgbClr val="EDEDED"/>
                </a:solidFill>
              </a:rPr>
              <a:t>
wire sto = cr[6];</a:t>
            </a:r>
            <a:r>
              <a:rPr>
                <a:solidFill>
                  <a:srgbClr val="EDEDED"/>
                </a:solidFill>
              </a:rPr>
              <a:t>
wire rd = cr[5];</a:t>
            </a:r>
            <a:r>
              <a:rPr>
                <a:solidFill>
                  <a:srgbClr val="EDEDED"/>
                </a:solidFill>
              </a:rPr>
              <a:t>
wire wr = cr[4];</a:t>
            </a:r>
            <a:r>
              <a:rPr>
                <a:solidFill>
                  <a:srgbClr val="EDEDED"/>
                </a:solidFill>
              </a:rPr>
              <a:t>
wire ack = cr[3];</a:t>
            </a:r>
            <a:r>
              <a:rPr>
                <a:solidFill>
                  <a:srgbClr val="EDEDED"/>
                </a:solidFill>
              </a:rPr>
              <a:t>
wire sl_cont = cr[1];</a:t>
            </a:r>
            <a:r>
              <a:rPr>
                <a:solidFill>
                  <a:srgbClr val="EDEDED"/>
                </a:solidFill>
              </a:rPr>
              <a:t>
wire iack = cr[0];</a:t>
            </a:r>
          </a:p>
        </p:txBody>
      </p:sp>
      <p:sp>
        <p:nvSpPr>
          <p:cNvPr id="60" name="code-source">
            <a:extLst xmlns:a="http://schemas.openxmlformats.org/drawingml/2006/main">
              <a:ext uri="{FF2B5EF4-FFF2-40B4-BE49-F238E27FC236}">
                <a16:creationId xmlns:a16="http://schemas.microsoft.com/office/drawing/2014/main" id="{FB0E125F-605F-48F9-B030-DF407A9391FF}"/>
              </a:ext>
            </a:extLst>
          </p:cNvPr>
          <p:cNvSpPr>
            <a:spLocks xmlns:a="http://schemas.openxmlformats.org/drawingml/2006/main" noGrp="1"/>
          </p:cNvSpPr>
          <p:nvPr/>
        </p:nvSpPr>
        <p:spPr>
          <a:xfrm xmlns:a="http://schemas.openxmlformats.org/drawingml/2006/main">
            <a:off x="502920" y="6568186"/>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hw/protocols/i2c/01_rtl/i2c_master_top.v:237</a:t>
            </a:r>
          </a:p>
        </p:txBody>
      </p:sp>
    </p:spTree>
    <p:extLst>
      <p:ext uri="{BB962C8B-B14F-4D97-AF65-F5344CB8AC3E}">
        <p14:creationId xmlns:p14="http://schemas.microsoft.com/office/powerpoint/2010/main" val="110332290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ec31ba754e164c2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6B9A147-F962-4BAA-A5A9-B5C1DE990A0F}"/>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7 · CONTROL SEQUENCE</a:t>
            </a:r>
          </a:p>
        </p:txBody>
      </p:sp>
      <p:sp>
        <p:nvSpPr>
          <p:cNvPr id="51" name="page-title">
            <a:extLst xmlns:a="http://schemas.openxmlformats.org/drawingml/2006/main">
              <a:ext uri="{FF2B5EF4-FFF2-40B4-BE49-F238E27FC236}">
                <a16:creationId xmlns:a16="http://schemas.microsoft.com/office/drawing/2014/main" id="{F661768D-D250-4FB6-811B-35F10C99FAA3}"/>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Bit control has several phases</a:t>
            </a:r>
          </a:p>
        </p:txBody>
      </p:sp>
      <p:sp>
        <p:nvSpPr>
          <p:cNvPr id="52" name="intro">
            <a:extLst xmlns:a="http://schemas.openxmlformats.org/drawingml/2006/main">
              <a:ext uri="{FF2B5EF4-FFF2-40B4-BE49-F238E27FC236}">
                <a16:creationId xmlns:a16="http://schemas.microsoft.com/office/drawing/2014/main" id="{96452F22-0D78-4B48-B0D1-C129B58851A3}"/>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source FSM and the bit divider explain when SDA may change and when the bus is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sampled.</a:t>
            </a:r>
          </a:p>
        </p:txBody>
      </p:sp>
      <p:sp>
        <p:nvSpPr>
          <p:cNvPr id="53" name="component-label-246.26666666666665">
            <a:extLst xmlns:a="http://schemas.openxmlformats.org/drawingml/2006/main">
              <a:ext uri="{FF2B5EF4-FFF2-40B4-BE49-F238E27FC236}">
                <a16:creationId xmlns:a16="http://schemas.microsoft.com/office/drawing/2014/main" id="{03F106E0-1F25-4C49-A9CE-B8B62DF52509}"/>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O N T R O L   S E Q U E N C E</a:t>
            </a:r>
          </a:p>
        </p:txBody>
      </p:sp>
      <p:sp>
        <p:nvSpPr>
          <p:cNvPr id="54" name="body-0">
            <a:extLst xmlns:a="http://schemas.openxmlformats.org/drawingml/2006/main">
              <a:ext uri="{FF2B5EF4-FFF2-40B4-BE49-F238E27FC236}">
                <a16:creationId xmlns:a16="http://schemas.microsoft.com/office/drawing/2014/main" id="{1DAA4B90-59ED-455A-AC67-2019C80D4CEA}"/>
              </a:ext>
            </a:extLst>
          </p:cNvPr>
          <p:cNvSpPr>
            <a:spLocks xmlns:a="http://schemas.openxmlformats.org/drawingml/2006/main" noGrp="1"/>
          </p:cNvSpPr>
          <p:nvPr/>
        </p:nvSpPr>
        <p:spPr>
          <a:xfrm xmlns:a="http://schemas.openxmlformats.org/drawingml/2006/main">
            <a:off x="502920" y="2610866"/>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table summarises the actual named states and output-enable assignments, not a newly
invented controller. An enable of one releases the </a:t>
            </a:r>
            <a:r>
              <a:rPr b="1"/>
              <a:t>open-drain</a:t>
            </a:r>
            <a:r>
              <a:t> line; it does not force a high
voltage. In wr_c the implementation checks SDA for arbitration. Command acknowledgement
marks completion of the bit operation, which is separate from target acknowledgement on the
ninth bus pulse.</a:t>
            </a:r>
          </a:p>
        </p:txBody>
      </p:sp>
      <p:sp>
        <p:nvSpPr>
          <p:cNvPr id="55" name="body-1">
            <a:extLst xmlns:a="http://schemas.openxmlformats.org/drawingml/2006/main">
              <a:ext uri="{FF2B5EF4-FFF2-40B4-BE49-F238E27FC236}">
                <a16:creationId xmlns:a16="http://schemas.microsoft.com/office/drawing/2014/main" id="{F415622D-99CC-43E4-8154-86D0837C5C08}"/>
              </a:ext>
            </a:extLst>
          </p:cNvPr>
          <p:cNvSpPr>
            <a:spLocks xmlns:a="http://schemas.openxmlformats.org/drawingml/2006/main" noGrp="1"/>
          </p:cNvSpPr>
          <p:nvPr/>
        </p:nvSpPr>
        <p:spPr>
          <a:xfrm xmlns:a="http://schemas.openxmlformats.org/drawingml/2006/main">
            <a:off x="502920" y="3686937"/>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Wishbone read returns the receive register at address three; writing there queues outgoing</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data. This shared address is not an error. The bus acknowledgement means the register operation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completed, not that a remote I2C target acknowledged.</a:t>
            </a:r>
          </a:p>
        </p:txBody>
      </p:sp>
      <p:sp>
        <p:nvSpPr>
          <p:cNvPr id="56" name="body-2">
            <a:extLst xmlns:a="http://schemas.openxmlformats.org/drawingml/2006/main">
              <a:ext uri="{FF2B5EF4-FFF2-40B4-BE49-F238E27FC236}">
                <a16:creationId xmlns:a16="http://schemas.microsoft.com/office/drawing/2014/main" id="{17CA08DB-FC2D-47FE-AFD9-2AD49EA898B3}"/>
              </a:ext>
            </a:extLst>
          </p:cNvPr>
          <p:cNvSpPr>
            <a:spLocks xmlns:a="http://schemas.openxmlformats.org/drawingml/2006/main" noGrp="1"/>
          </p:cNvSpPr>
          <p:nvPr/>
        </p:nvSpPr>
        <p:spPr>
          <a:xfrm xmlns:a="http://schemas.openxmlformats.org/drawingml/2006/main">
            <a:off x="502920" y="4406646"/>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XOR converts the selected external assertion level into an internal active-low </a:t>
            </a:r>
            <a:r>
              <a:rPr b="1"/>
              <a:t>reset</a:t>
            </a:r>
            <a:r>
              <a:t>. While
asserted, both release flops clear. Once the external reset becomes inactive, ones shift through on
consecutive clock edges. The controller receives the second stage. This reduces release hazards
inside this clock domain; it does not provide board-level reset sequencing for every pad or
external target.</a:t>
            </a:r>
          </a:p>
        </p:txBody>
      </p:sp>
      <p:sp>
        <p:nvSpPr>
          <p:cNvPr id="57" name="component-label-575.6133333333333">
            <a:extLst xmlns:a="http://schemas.openxmlformats.org/drawingml/2006/main">
              <a:ext uri="{FF2B5EF4-FFF2-40B4-BE49-F238E27FC236}">
                <a16:creationId xmlns:a16="http://schemas.microsoft.com/office/drawing/2014/main" id="{AD0E09E5-66ED-43C5-9F6D-928C4A66EAE6}"/>
              </a:ext>
            </a:extLst>
          </p:cNvPr>
          <p:cNvSpPr>
            <a:spLocks xmlns:a="http://schemas.openxmlformats.org/drawingml/2006/main" noGrp="1"/>
          </p:cNvSpPr>
          <p:nvPr/>
        </p:nvSpPr>
        <p:spPr>
          <a:xfrm xmlns:a="http://schemas.openxmlformats.org/drawingml/2006/main">
            <a:off x="502920" y="5482717"/>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D E R I V E D   W R I T E - B I T   S E Q U E N C E</a:t>
            </a:r>
          </a:p>
        </p:txBody>
      </p:sp>
      <p:graphicFrame>
        <p:nvGraphicFramePr>
          <p:cNvPr id="76" name=""/>
          <p:cNvGraphicFramePr/>
          <p:nvPr/>
        </p:nvGraphicFramePr>
        <p:xfrm>
          <a:off xmlns:a="http://schemas.openxmlformats.org/drawingml/2006/main" x="502920" y="5747893"/>
          <a:ext xmlns:a="http://schemas.openxmlformats.org/drawingml/2006/main" cx="6556248" cy="2120900"/>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State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SCL action</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SDA action</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wr_a</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Pull low</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Set current data bit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wr_b</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Release</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Keep data, allow settling</a:t>
                      </a:r>
                    </a:p>
                  </a:txBody>
                  <a:tcPr marL="91440" marR="91440" marT="45720" marB="45720">
                    <a:lnR w="0">
                      <a:noFill/>
                    </a:lnR>
                    <a:lnB w="4763">
                      <a:solidFill>
                        <a:srgbClr val="EAEAEA"/>
                      </a:solidFill>
                      <a:prstDash val="solid"/>
                    </a:lnB>
                    <a:solidFill>
                      <a:srgbClr val="FAFAFA"/>
                    </a:solidFill>
                  </a:tcPr>
                </a:tc>
              </a:tr>
              <a:tr h="454025">
                <a:tc>
                  <a:txBody>
                    <a:bodyPr lIns="76200" tIns="57150" rIns="76200" bIns="57150">
                      <a:noAutofit/>
                    </a:bodyPr>
                    <a:lstStyle/>
                    <a:p>
                      <a:r>
                        <a:rPr sz="950" b="0">
                          <a:solidFill>
                            <a:srgbClr val="444444"/>
                          </a:solidFill>
                          <a:latin typeface="Segoe UI"/>
                          <a:ea typeface="Segoe UI"/>
                          <a:cs typeface="Segoe UI"/>
                        </a:rPr>
                        <a:t>wr_c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Remain released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Keep data, enable bus</a:t>
                      </a:r>
                    </a:p>
                    <a:p>
                      <a:r>
                        <a:rPr sz="950" b="0">
                          <a:solidFill>
                            <a:srgbClr val="444444"/>
                          </a:solidFill>
                          <a:latin typeface="Segoe UI"/>
                          <a:ea typeface="Segoe UI"/>
                          <a:cs typeface="Segoe UI"/>
                        </a:rPr>
                        <a:t>check</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wr_d</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Pull low</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Keep data, acknowledge bit</a:t>
                      </a:r>
                    </a:p>
                    <a:p>
                      <a:r>
                        <a:rPr sz="950" b="0">
                          <a:solidFill>
                            <a:srgbClr val="444444"/>
                          </a:solidFill>
                          <a:latin typeface="Segoe UI"/>
                          <a:ea typeface="Segoe UI"/>
                          <a:cs typeface="Segoe UI"/>
                        </a:rPr>
                        <a:t>command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idle</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Await next command</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Hold current drive policy</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0332290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3a572c2bb6be4c10"/>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40F63C6-0B3F-4A2F-9B4C-F8113200216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8 · FAILURE ANALYSIS</a:t>
            </a:r>
          </a:p>
        </p:txBody>
      </p:sp>
      <p:sp>
        <p:nvSpPr>
          <p:cNvPr id="51" name="page-title">
            <a:extLst xmlns:a="http://schemas.openxmlformats.org/drawingml/2006/main">
              <a:ext uri="{FF2B5EF4-FFF2-40B4-BE49-F238E27FC236}">
                <a16:creationId xmlns:a16="http://schemas.microsoft.com/office/drawing/2014/main" id="{1FBF523C-204C-4E5F-A406-0BB000D8CBC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A NACK is an observation</a:t>
            </a:r>
          </a:p>
        </p:txBody>
      </p:sp>
      <p:sp>
        <p:nvSpPr>
          <p:cNvPr id="52" name="intro">
            <a:extLst xmlns:a="http://schemas.openxmlformats.org/drawingml/2006/main">
              <a:ext uri="{FF2B5EF4-FFF2-40B4-BE49-F238E27FC236}">
                <a16:creationId xmlns:a16="http://schemas.microsoft.com/office/drawing/2014/main" id="{67853A72-73B2-4D4A-AAED-F579728EC858}"/>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An unsuccessful transaction must be diagnosed at the address, ownership and timing levels.</a:t>
            </a:r>
          </a:p>
        </p:txBody>
      </p:sp>
      <p:sp>
        <p:nvSpPr>
          <p:cNvPr id="53" name="component-label-225.93333333333334">
            <a:extLst xmlns:a="http://schemas.openxmlformats.org/drawingml/2006/main">
              <a:ext uri="{FF2B5EF4-FFF2-40B4-BE49-F238E27FC236}">
                <a16:creationId xmlns:a16="http://schemas.microsoft.com/office/drawing/2014/main" id="{CDEF0DA4-3D50-4B97-8052-D8CCC32362B1}"/>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A I L U R E   A N A L Y S I S</a:t>
            </a:r>
          </a:p>
        </p:txBody>
      </p:sp>
      <p:sp>
        <p:nvSpPr>
          <p:cNvPr id="54" name="body-0">
            <a:extLst xmlns:a="http://schemas.openxmlformats.org/drawingml/2006/main">
              <a:ext uri="{FF2B5EF4-FFF2-40B4-BE49-F238E27FC236}">
                <a16:creationId xmlns:a16="http://schemas.microsoft.com/office/drawing/2014/main" id="{75CD4935-8515-4048-94A2-AD54152CFD1D}"/>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bench probes an invalid address and asserts the NACK result. That test is useful because 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controller can generate perfectly shaped clocks while communicating with no device. The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simulation watchdog is a test safety mechanism, not proof of a hardware bus-recovery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implementation.</a:t>
            </a:r>
          </a:p>
        </p:txBody>
      </p:sp>
      <p:sp>
        <p:nvSpPr>
          <p:cNvPr id="55" name="body-1">
            <a:extLst xmlns:a="http://schemas.openxmlformats.org/drawingml/2006/main">
              <a:ext uri="{FF2B5EF4-FFF2-40B4-BE49-F238E27FC236}">
                <a16:creationId xmlns:a16="http://schemas.microsoft.com/office/drawing/2014/main" id="{CE5F961A-C438-4F7D-A8F6-A3180545D8DF}"/>
              </a:ext>
            </a:extLst>
          </p:cNvPr>
          <p:cNvSpPr>
            <a:spLocks xmlns:a="http://schemas.openxmlformats.org/drawingml/2006/main" noGrp="1"/>
          </p:cNvSpPr>
          <p:nvPr/>
        </p:nvSpPr>
        <p:spPr>
          <a:xfrm xmlns:a="http://schemas.openxmlformats.org/drawingml/2006/main">
            <a:off x="502920" y="331508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actual bus can remain low because another participant holds it. The RTL samples the pad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input. The inherited bench includes a stretching target, but its completion assertion does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certify arbitrary stretch durations or stuck-low recovery. This limitation belongs in an test report.</a:t>
            </a:r>
          </a:p>
        </p:txBody>
      </p:sp>
      <p:sp>
        <p:nvSpPr>
          <p:cNvPr id="56" name="body-2">
            <a:extLst xmlns:a="http://schemas.openxmlformats.org/drawingml/2006/main">
              <a:ext uri="{FF2B5EF4-FFF2-40B4-BE49-F238E27FC236}">
                <a16:creationId xmlns:a16="http://schemas.microsoft.com/office/drawing/2014/main" id="{706BC3A0-8E5B-483A-B622-E14D9CBC46EF}"/>
              </a:ext>
            </a:extLst>
          </p:cNvPr>
          <p:cNvSpPr>
            <a:spLocks xmlns:a="http://schemas.openxmlformats.org/drawingml/2006/main" noGrp="1"/>
          </p:cNvSpPr>
          <p:nvPr/>
        </p:nvSpPr>
        <p:spPr>
          <a:xfrm xmlns:a="http://schemas.openxmlformats.org/drawingml/2006/main">
            <a:off x="502920" y="4034790"/>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selected OpenCores design contains arbitration logic. Presence of that logic is different from</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test coverage. The second controller in this regression remains idle, so arbitration under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contention is not validated.</a:t>
            </a:r>
          </a:p>
        </p:txBody>
      </p:sp>
      <p:sp>
        <p:nvSpPr>
          <p:cNvPr id="57" name="component-label-499.16">
            <a:extLst xmlns:a="http://schemas.openxmlformats.org/drawingml/2006/main">
              <a:ext uri="{FF2B5EF4-FFF2-40B4-BE49-F238E27FC236}">
                <a16:creationId xmlns:a16="http://schemas.microsoft.com/office/drawing/2014/main" id="{DB520E4F-B1F2-4EE3-B2F3-0307A4D0BE6B}"/>
              </a:ext>
            </a:extLst>
          </p:cNvPr>
          <p:cNvSpPr>
            <a:spLocks xmlns:a="http://schemas.openxmlformats.org/drawingml/2006/main" noGrp="1"/>
          </p:cNvSpPr>
          <p:nvPr/>
        </p:nvSpPr>
        <p:spPr>
          <a:xfrm xmlns:a="http://schemas.openxmlformats.org/drawingml/2006/main">
            <a:off x="502920" y="4754499"/>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O V E R A G E   B O U N D A R Y</a:t>
            </a:r>
          </a:p>
        </p:txBody>
      </p:sp>
      <p:graphicFrame>
        <p:nvGraphicFramePr>
          <p:cNvPr id="76" name=""/>
          <p:cNvGraphicFramePr/>
          <p:nvPr/>
        </p:nvGraphicFramePr>
        <p:xfrm>
          <a:off xmlns:a="http://schemas.openxmlformats.org/drawingml/2006/main" x="502920" y="5019675"/>
          <a:ext xmlns:a="http://schemas.openxmlformats.org/drawingml/2006/main" cx="6556248" cy="1817688"/>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Mechanism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Evidence strength</a:t>
                      </a:r>
                    </a:p>
                  </a:txBody>
                  <a:tcPr marL="91440" marR="91440" marT="45720" marB="45720">
                    <a:lnR w="0">
                      <a:noFill/>
                    </a:lnR>
                    <a:lnT w="0">
                      <a:noFill/>
                    </a:lnT>
                    <a:lnB w="4763">
                      <a:solidFill>
                        <a:srgbClr val="EAEAEA"/>
                      </a:solidFill>
                      <a:prstDash val="solid"/>
                    </a:lnB>
                    <a:solidFill>
                      <a:srgbClr val="0B0B0C"/>
                    </a:solidFill>
                  </a:tcPr>
                </a:tc>
              </a:tr>
              <a:tr h="454025">
                <a:tc>
                  <a:txBody>
                    <a:bodyPr lIns="76200" tIns="57150" rIns="76200" bIns="57150">
                      <a:noAutofit/>
                    </a:bodyPr>
                    <a:lstStyle/>
                    <a:p>
                      <a:r>
                        <a:rPr sz="950" b="0">
                          <a:solidFill>
                            <a:srgbClr val="444444"/>
                          </a:solidFill>
                          <a:latin typeface="Segoe UI"/>
                          <a:ea typeface="Segoe UI"/>
                          <a:cs typeface="Segoe UI"/>
                        </a:rPr>
                        <a:t>A5 / 5A reads and invalid-address</a:t>
                      </a:r>
                    </a:p>
                    <a:p>
                      <a:r>
                        <a:rPr sz="950" b="0">
                          <a:solidFill>
                            <a:srgbClr val="444444"/>
                          </a:solidFill>
                          <a:latin typeface="Segoe UI"/>
                          <a:ea typeface="Segoe UI"/>
                          <a:cs typeface="Segoe UI"/>
                        </a:rPr>
                        <a:t>NACK</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Directed decisive checks</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Repeated START and clock</a:t>
                      </a:r>
                    </a:p>
                    <a:p>
                      <a:r>
                        <a:rPr sz="950" b="0">
                          <a:solidFill>
                            <a:srgbClr val="444444"/>
                          </a:solidFill>
                          <a:latin typeface="Segoe UI"/>
                          <a:ea typeface="Segoe UI"/>
                          <a:cs typeface="Segoe UI"/>
                        </a:rPr>
                        <a:t>stretching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Indirect completion / data checks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Two-controller arbitration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tested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Later uninitialised model bytes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Not data-verified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0332290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93db377d0cd34d1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2D22DB1-DB7E-4208-B22A-A9135E4F77F5}"/>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9 · MEASURED TRACE</a:t>
            </a:r>
          </a:p>
        </p:txBody>
      </p:sp>
      <p:sp>
        <p:nvSpPr>
          <p:cNvPr id="51" name="page-title">
            <a:extLst xmlns:a="http://schemas.openxmlformats.org/drawingml/2006/main">
              <a:ext uri="{FF2B5EF4-FFF2-40B4-BE49-F238E27FC236}">
                <a16:creationId xmlns:a16="http://schemas.microsoft.com/office/drawing/2014/main" id="{D065F32E-4CC9-40BA-84C3-05BB7461560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An address and its acknowledgement</a:t>
            </a:r>
          </a:p>
        </p:txBody>
      </p:sp>
      <p:sp>
        <p:nvSpPr>
          <p:cNvPr id="52" name="intro">
            <a:extLst xmlns:a="http://schemas.openxmlformats.org/drawingml/2006/main">
              <a:ext uri="{FF2B5EF4-FFF2-40B4-BE49-F238E27FC236}">
                <a16:creationId xmlns:a16="http://schemas.microsoft.com/office/drawing/2014/main" id="{50A4845A-0FEC-4912-B710-1A2DED81FFA6}"/>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This chart is decoded from the positive digital regression, not an oscilloscope capture.</a:t>
            </a:r>
          </a:p>
        </p:txBody>
      </p:sp>
      <p:sp>
        <p:nvSpPr>
          <p:cNvPr id="53" name="component-label-225.93333333333334">
            <a:extLst xmlns:a="http://schemas.openxmlformats.org/drawingml/2006/main">
              <a:ext uri="{FF2B5EF4-FFF2-40B4-BE49-F238E27FC236}">
                <a16:creationId xmlns:a16="http://schemas.microsoft.com/office/drawing/2014/main" id="{704D3245-9AFB-4673-B139-93FB1C66B673}"/>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E A S U R E D   T R A C E</a:t>
            </a:r>
          </a:p>
        </p:txBody>
      </p:sp>
      <p:sp>
        <p:nvSpPr>
          <p:cNvPr id="54" name="body-0">
            <a:extLst xmlns:a="http://schemas.openxmlformats.org/drawingml/2006/main">
              <a:ext uri="{FF2B5EF4-FFF2-40B4-BE49-F238E27FC236}">
                <a16:creationId xmlns:a16="http://schemas.microsoft.com/office/drawing/2014/main" id="{262AF867-6397-4D8D-8130-D763C5692905}"/>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selected transaction sends address byte 0x20. Splitting it into a seven-bit address and one
direction bit yields target 0x10 and write direction zero. The decoder reads SDA at the first eight
rising SCL edges, then separately checks the ninth sample. That response is low, establishing </a:t>
            </a:r>
            <a:r>
              <a:rPr b="1"/>
              <a:t>ACK</a:t>
            </a:r>
            <a:r>
              <a:t>
for the plotted address phase.</a:t>
            </a:r>
          </a:p>
        </p:txBody>
      </p:sp>
      <p:sp>
        <p:nvSpPr>
          <p:cNvPr id="55" name="body-1">
            <a:extLst xmlns:a="http://schemas.openxmlformats.org/drawingml/2006/main">
              <a:ext uri="{FF2B5EF4-FFF2-40B4-BE49-F238E27FC236}">
                <a16:creationId xmlns:a16="http://schemas.microsoft.com/office/drawing/2014/main" id="{73B494AB-B52A-4387-AF9D-7AA01B207ED0}"/>
              </a:ext>
            </a:extLst>
          </p:cNvPr>
          <p:cNvSpPr>
            <a:spLocks xmlns:a="http://schemas.openxmlformats.org/drawingml/2006/main" noGrp="1"/>
          </p:cNvSpPr>
          <p:nvPr/>
        </p:nvSpPr>
        <p:spPr>
          <a:xfrm xmlns:a="http://schemas.openxmlformats.org/drawingml/2006/main">
            <a:off x="502920" y="331508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waveform is deliberately not relabelled as the hypothetical target 0x50 used in the
register-read exercise. Its steady SCL interval is 10.71 us rather than the nominal 10.05 us
calculated from the </a:t>
            </a:r>
            <a:r>
              <a:rPr b="1"/>
              <a:t>prescaler</a:t>
            </a:r>
            <a:r>
              <a:t>. Digital values in this trace cannot establish pull-up rise time, voltage
thresholds, pad drive strength or electrical compliance. The source VCD hash is recorded in the
document evidence manifest.</a:t>
            </a:r>
          </a:p>
        </p:txBody>
      </p:sp>
      <p:sp>
        <p:nvSpPr>
          <p:cNvPr id="56" name="component-label-461.0133333333334">
            <a:extLst xmlns:a="http://schemas.openxmlformats.org/drawingml/2006/main">
              <a:ext uri="{FF2B5EF4-FFF2-40B4-BE49-F238E27FC236}">
                <a16:creationId xmlns:a16="http://schemas.microsoft.com/office/drawing/2014/main" id="{6AC94340-F5AD-4B0E-B907-D0A5F66C4E4A}"/>
              </a:ext>
            </a:extLst>
          </p:cNvPr>
          <p:cNvSpPr>
            <a:spLocks xmlns:a="http://schemas.openxmlformats.org/drawingml/2006/main" noGrp="1"/>
          </p:cNvSpPr>
          <p:nvPr/>
        </p:nvSpPr>
        <p:spPr>
          <a:xfrm xmlns:a="http://schemas.openxmlformats.org/drawingml/2006/main">
            <a:off x="502920" y="4391152"/>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E A S U R E D   P O S I T I V E   R E G R E S S I O N</a:t>
            </a:r>
          </a:p>
        </p:txBody>
      </p:sp>
      <p:graphicFrame>
        <p:nvGraphicFramePr>
          <p:cNvPr id="76" name="Chart"/>
          <p:cNvGraphicFramePr/>
          <p:nvPr/>
        </p:nvGraphicFramePr>
        <p:xfrm>
          <a:off xmlns:a="http://schemas.openxmlformats.org/drawingml/2006/main" x="502920" y="4656328"/>
          <a:ext xmlns:a="http://schemas.openxmlformats.org/drawingml/2006/main" cx="6556248" cy="1047750"/>
        </p:xfrm>
        <a:graphic xmlns:a="http://schemas.openxmlformats.org/drawingml/2006/main">
          <a:graphicData uri="http://schemas.openxmlformats.org/drawingml/2006/chart">
            <c:chart xmlns:r="http://schemas.openxmlformats.org/officeDocument/2006/relationships" xmlns:c="http://schemas.openxmlformats.org/drawingml/2006/chart" r:id="Rb453373510984691"/>
          </a:graphicData>
        </a:graphic>
      </p:graphicFrame>
      <p:graphicFrame>
        <p:nvGraphicFramePr>
          <p:cNvPr id="77" name="Chart"/>
          <p:cNvGraphicFramePr/>
          <p:nvPr/>
        </p:nvGraphicFramePr>
        <p:xfrm>
          <a:off xmlns:a="http://schemas.openxmlformats.org/drawingml/2006/main" x="502920" y="5704078"/>
          <a:ext xmlns:a="http://schemas.openxmlformats.org/drawingml/2006/main" cx="6556248" cy="1352550"/>
        </p:xfrm>
        <a:graphic xmlns:a="http://schemas.openxmlformats.org/drawingml/2006/main">
          <a:graphicData uri="http://schemas.openxmlformats.org/drawingml/2006/chart">
            <c:chart xmlns:r="http://schemas.openxmlformats.org/officeDocument/2006/relationships" xmlns:c="http://schemas.openxmlformats.org/drawingml/2006/chart" r:id="R1fecc91cc0504971"/>
          </a:graphicData>
        </a:graphic>
      </p:graphicFrame>
      <p:sp>
        <p:nvSpPr>
          <p:cNvPr id="59" name="wave-kind">
            <a:extLst xmlns:a="http://schemas.openxmlformats.org/drawingml/2006/main">
              <a:ext uri="{FF2B5EF4-FFF2-40B4-BE49-F238E27FC236}">
                <a16:creationId xmlns:a16="http://schemas.microsoft.com/office/drawing/2014/main" id="{F7C266BF-2311-4512-AF37-31229B58DC22}"/>
              </a:ext>
            </a:extLst>
          </p:cNvPr>
          <p:cNvSpPr>
            <a:spLocks xmlns:a="http://schemas.openxmlformats.org/drawingml/2006/main" noGrp="1"/>
          </p:cNvSpPr>
          <p:nvPr/>
        </p:nvSpPr>
        <p:spPr>
          <a:xfrm xmlns:a="http://schemas.openxmlformats.org/drawingml/2006/main">
            <a:off x="502920" y="7094728"/>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Logic HIGH=1, LOW=0. Digital simulation, not analogue compliance; source hash retained.</a:t>
            </a:r>
          </a:p>
        </p:txBody>
      </p:sp>
    </p:spTree>
    <p:extLst>
      <p:ext uri="{BB962C8B-B14F-4D97-AF65-F5344CB8AC3E}">
        <p14:creationId xmlns:p14="http://schemas.microsoft.com/office/powerpoint/2010/main" val="110332290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a106208f6f724722"/>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DD95A41-6C39-445B-8872-F2F6E51BA7C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10 · LINT</a:t>
            </a:r>
          </a:p>
        </p:txBody>
      </p:sp>
      <p:sp>
        <p:nvSpPr>
          <p:cNvPr id="51" name="page-title">
            <a:extLst xmlns:a="http://schemas.openxmlformats.org/drawingml/2006/main">
              <a:ext uri="{FF2B5EF4-FFF2-40B4-BE49-F238E27FC236}">
                <a16:creationId xmlns:a16="http://schemas.microsoft.com/office/drawing/2014/main" id="{14706310-A73B-40A5-ABDF-D4A09AC3B4B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Lint: read code before running it</a:t>
            </a:r>
          </a:p>
        </p:txBody>
      </p:sp>
      <p:sp>
        <p:nvSpPr>
          <p:cNvPr id="52" name="intro">
            <a:extLst xmlns:a="http://schemas.openxmlformats.org/drawingml/2006/main">
              <a:ext uri="{FF2B5EF4-FFF2-40B4-BE49-F238E27FC236}">
                <a16:creationId xmlns:a16="http://schemas.microsoft.com/office/drawing/2014/main" id="{65C72671-BB3F-4D4A-AD36-1B5E6ACF5F2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Verilator checks legal but suspicious code patterns without exercising transactions. A warning</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count is a review starting point, not proof of correctness.</a:t>
            </a:r>
          </a:p>
        </p:txBody>
      </p:sp>
      <p:sp>
        <p:nvSpPr>
          <p:cNvPr id="53" name="component-label-246.26666666666665">
            <a:extLst xmlns:a="http://schemas.openxmlformats.org/drawingml/2006/main">
              <a:ext uri="{FF2B5EF4-FFF2-40B4-BE49-F238E27FC236}">
                <a16:creationId xmlns:a16="http://schemas.microsoft.com/office/drawing/2014/main" id="{248470C4-B304-48FF-9005-61B36AD07962}"/>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N T</a:t>
            </a:r>
          </a:p>
        </p:txBody>
      </p:sp>
      <p:sp>
        <p:nvSpPr>
          <p:cNvPr id="54" name="body-0">
            <a:extLst xmlns:a="http://schemas.openxmlformats.org/drawingml/2006/main">
              <a:ext uri="{FF2B5EF4-FFF2-40B4-BE49-F238E27FC236}">
                <a16:creationId xmlns:a16="http://schemas.microsoft.com/office/drawing/2014/main" id="{83F02597-AB72-4B5B-AD5E-F8E3F3BB97E5}"/>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retained report contains 3 warning messages and 0 error messages. Categories present: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CASEINCOMPLETE, SYNCASYNCNET, UNUSEDSIGNAL. These figures count report message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headers; repeated warnings are not necessarily independent defects. The report is hashed in this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document evidence manifest.</a:t>
            </a:r>
          </a:p>
        </p:txBody>
      </p:sp>
      <p:sp>
        <p:nvSpPr>
          <p:cNvPr id="55" name="body-1">
            <a:extLst xmlns:a="http://schemas.openxmlformats.org/drawingml/2006/main">
              <a:ext uri="{FF2B5EF4-FFF2-40B4-BE49-F238E27FC236}">
                <a16:creationId xmlns:a16="http://schemas.microsoft.com/office/drawing/2014/main" id="{C59017CF-B8D3-4DFE-BD5E-46AA680D8D4A}"/>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invocation deliberately uses -Wno-fatal so warnings remain visible while lint execution can
complete. A successful command therefore does not mean every warning was resolved. Width
changes, incomplete cases, </a:t>
            </a:r>
            <a:r>
              <a:rPr b="1"/>
              <a:t>reset</a:t>
            </a:r>
            <a:r>
              <a:t> use and unconnected ports need review against the wrapper
contract and directed tests.</a:t>
            </a:r>
          </a:p>
        </p:txBody>
      </p:sp>
      <p:sp>
        <p:nvSpPr>
          <p:cNvPr id="56" name="body-2">
            <a:extLst xmlns:a="http://schemas.openxmlformats.org/drawingml/2006/main">
              <a:ext uri="{FF2B5EF4-FFF2-40B4-BE49-F238E27FC236}">
                <a16:creationId xmlns:a16="http://schemas.microsoft.com/office/drawing/2014/main" id="{81F65489-66F9-4940-B284-0027B8983251}"/>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Lint cannot show that a receive byte is correct, that a transaction finishes, or that an external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electrical interface is safe. Those questions require a checking testbench, implementation evidence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and separate board or signoff work.</a:t>
            </a:r>
          </a:p>
        </p:txBody>
      </p:sp>
      <p:sp>
        <p:nvSpPr>
          <p:cNvPr id="57" name="component-label-538.1999999999999">
            <a:extLst xmlns:a="http://schemas.openxmlformats.org/drawingml/2006/main">
              <a:ext uri="{FF2B5EF4-FFF2-40B4-BE49-F238E27FC236}">
                <a16:creationId xmlns:a16="http://schemas.microsoft.com/office/drawing/2014/main" id="{813A660B-0EB3-4D92-884A-E2349EE38339}"/>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T A I N E D   W A R N I N G   R E V I E W</a:t>
            </a:r>
          </a:p>
        </p:txBody>
      </p:sp>
      <p:graphicFrame>
        <p:nvGraphicFramePr>
          <p:cNvPr id="80" name=""/>
          <p:cNvGraphicFramePr/>
          <p:nvPr/>
        </p:nvGraphicFramePr>
        <p:xfrm>
          <a:off xmlns:a="http://schemas.openxmlformats.org/drawingml/2006/main" x="502920" y="5391531"/>
          <a:ext xmlns:a="http://schemas.openxmlformats.org/drawingml/2006/main" cx="6556248" cy="16668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Warning message headers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Error message headers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Clean warning-free RTL?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Protocol behaviour proved by</a:t>
                      </a:r>
                    </a:p>
                    <a:p>
                      <a:r>
                        <a:rPr sz="950" b="0">
                          <a:solidFill>
                            <a:srgbClr val="444444"/>
                          </a:solidFill>
                          <a:latin typeface="Segoe UI"/>
                          <a:ea typeface="Segoe UI"/>
                          <a:cs typeface="Segoe UI"/>
                        </a:rPr>
                        <a:t>lint?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a:t>
                      </a:r>
                    </a:p>
                  </a:txBody>
                  <a:tcPr marL="91440" marR="91440" marT="45720" marB="45720">
                    <a:lnR w="0">
                      <a:noFill/>
                    </a:lnR>
                    <a:lnB w="0">
                      <a:noFill/>
                    </a:lnB>
                    <a:solidFill>
                      <a:srgbClr val="FAFAFA"/>
                    </a:solidFill>
                  </a:tcPr>
                </a:tc>
              </a:tr>
            </a:tbl>
          </a:graphicData>
        </a:graphic>
      </p:graphicFrame>
      <p:sp>
        <p:nvSpPr>
          <p:cNvPr id="59" name="component-label-760.24">
            <a:extLst xmlns:a="http://schemas.openxmlformats.org/drawingml/2006/main">
              <a:ext uri="{FF2B5EF4-FFF2-40B4-BE49-F238E27FC236}">
                <a16:creationId xmlns:a16="http://schemas.microsoft.com/office/drawing/2014/main" id="{21EF5EFC-CB23-47BE-925C-2D9425795C9F}"/>
              </a:ext>
            </a:extLst>
          </p:cNvPr>
          <p:cNvSpPr>
            <a:spLocks xmlns:a="http://schemas.openxmlformats.org/drawingml/2006/main" noGrp="1"/>
          </p:cNvSpPr>
          <p:nvPr/>
        </p:nvSpPr>
        <p:spPr>
          <a:xfrm xmlns:a="http://schemas.openxmlformats.org/drawingml/2006/main">
            <a:off x="502920" y="724128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E9128C6A-DB91-4FEE-92CA-7187056A4770}"/>
              </a:ext>
            </a:extLst>
          </p:cNvPr>
          <p:cNvSpPr>
            <a:spLocks xmlns:a="http://schemas.openxmlformats.org/drawingml/2006/main" noGrp="1"/>
          </p:cNvSpPr>
          <p:nvPr/>
        </p:nvSpPr>
        <p:spPr>
          <a:xfrm xmlns:a="http://schemas.openxmlformats.org/drawingml/2006/main">
            <a:off x="502920" y="7506462"/>
            <a:ext cx="6556248" cy="6934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174B99F0-AB6D-47AF-B1C4-D4D1BC80EAC9}"/>
              </a:ext>
            </a:extLst>
          </p:cNvPr>
          <p:cNvSpPr>
            <a:spLocks xmlns:a="http://schemas.openxmlformats.org/drawingml/2006/main" noGrp="1"/>
          </p:cNvSpPr>
          <p:nvPr/>
        </p:nvSpPr>
        <p:spPr>
          <a:xfrm xmlns:a="http://schemas.openxmlformats.org/drawingml/2006/main">
            <a:off x="617220" y="7601712"/>
            <a:ext cx="6327648" cy="541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lint</a:t>
            </a:r>
            <a:r>
              <a:rPr>
                <a:solidFill>
                  <a:srgbClr val="9A9AA0"/>
                </a:solidFill>
              </a:rPr>
              <a:t>
# inspect, do not just count</a:t>
            </a:r>
            <a:r>
              <a:rPr>
                <a:solidFill>
                  <a:srgbClr val="9A9AA0"/>
                </a:solidFill>
              </a:rPr>
              <a:t>
# 00_lint/lint_report.txt</a:t>
            </a:r>
          </a:p>
        </p:txBody>
      </p:sp>
      <p:sp>
        <p:nvSpPr>
          <p:cNvPr id="62" name="code-source">
            <a:extLst xmlns:a="http://schemas.openxmlformats.org/drawingml/2006/main">
              <a:ext uri="{FF2B5EF4-FFF2-40B4-BE49-F238E27FC236}">
                <a16:creationId xmlns:a16="http://schemas.microsoft.com/office/drawing/2014/main" id="{1123B61C-3E94-4A50-AF2A-9408BDED982C}"/>
              </a:ext>
            </a:extLst>
          </p:cNvPr>
          <p:cNvSpPr>
            <a:spLocks xmlns:a="http://schemas.openxmlformats.org/drawingml/2006/main" noGrp="1"/>
          </p:cNvSpPr>
          <p:nvPr/>
        </p:nvSpPr>
        <p:spPr>
          <a:xfrm xmlns:a="http://schemas.openxmlformats.org/drawingml/2006/main">
            <a:off x="502920" y="8257032"/>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00_lint/Makefile and run_flow.sh: retained Verilator report</a:t>
            </a:r>
          </a:p>
        </p:txBody>
      </p:sp>
    </p:spTree>
    <p:extLst>
      <p:ext uri="{BB962C8B-B14F-4D97-AF65-F5344CB8AC3E}">
        <p14:creationId xmlns:p14="http://schemas.microsoft.com/office/powerpoint/2010/main" val="11033229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fc99eb87beda4674"/>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57786C08-E0F0-4268-A0FA-0DEB3539FF4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11 · SIMULATION AND VERIFICATION</a:t>
            </a:r>
          </a:p>
        </p:txBody>
      </p:sp>
      <p:sp>
        <p:nvSpPr>
          <p:cNvPr id="51" name="page-title">
            <a:extLst xmlns:a="http://schemas.openxmlformats.org/drawingml/2006/main">
              <a:ext uri="{FF2B5EF4-FFF2-40B4-BE49-F238E27FC236}">
                <a16:creationId xmlns:a16="http://schemas.microsoft.com/office/drawing/2014/main" id="{C6F24125-67B6-49A2-A964-9637EFDF6B17}"/>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What the I2C regression establishes</a:t>
            </a:r>
          </a:p>
        </p:txBody>
      </p:sp>
      <p:sp>
        <p:nvSpPr>
          <p:cNvPr id="52" name="intro">
            <a:extLst xmlns:a="http://schemas.openxmlformats.org/drawingml/2006/main">
              <a:ext uri="{FF2B5EF4-FFF2-40B4-BE49-F238E27FC236}">
                <a16:creationId xmlns:a16="http://schemas.microsoft.com/office/drawing/2014/main" id="{6802B5FA-3ADB-4E46-B8D8-89171DAE5874}"/>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testbench is code that drives the circuit and judges its outputs. These directed checks use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independent expected data and deliberately failing controls.</a:t>
            </a:r>
          </a:p>
        </p:txBody>
      </p:sp>
      <p:sp>
        <p:nvSpPr>
          <p:cNvPr id="53" name="component-label-246.26666666666665">
            <a:extLst xmlns:a="http://schemas.openxmlformats.org/drawingml/2006/main">
              <a:ext uri="{FF2B5EF4-FFF2-40B4-BE49-F238E27FC236}">
                <a16:creationId xmlns:a16="http://schemas.microsoft.com/office/drawing/2014/main" id="{8F7138C0-1E49-479B-B56F-3AF0807F3224}"/>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I M U L A T I O N   A N D   V E R I F I C A T I O N</a:t>
            </a:r>
          </a:p>
        </p:txBody>
      </p:sp>
      <p:sp>
        <p:nvSpPr>
          <p:cNvPr id="54" name="body-0">
            <a:extLst xmlns:a="http://schemas.openxmlformats.org/drawingml/2006/main">
              <a:ext uri="{FF2B5EF4-FFF2-40B4-BE49-F238E27FC236}">
                <a16:creationId xmlns:a16="http://schemas.microsoft.com/office/drawing/2014/main" id="{A1D1A7B1-746C-4EE6-9769-CAEF1E3D55A3}"/>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bench checks register values, successful A5 and 5A byte transfers, and NACK when the target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model receives an invalid memory address. The existing second controller remains idle. The flow</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adds timeout and fatal comparisons, separate interrupt wires and integration through the real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local wrapper.</a:t>
            </a:r>
          </a:p>
        </p:txBody>
      </p:sp>
      <p:sp>
        <p:nvSpPr>
          <p:cNvPr id="55" name="body-1">
            <a:extLst xmlns:a="http://schemas.openxmlformats.org/drawingml/2006/main">
              <a:ext uri="{FF2B5EF4-FFF2-40B4-BE49-F238E27FC236}">
                <a16:creationId xmlns:a16="http://schemas.microsoft.com/office/drawing/2014/main" id="{4C09B6BA-75B6-4761-A547-BD18258C94D4}"/>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Repeated </a:t>
            </a:r>
            <a:r>
              <a:rPr b="1"/>
              <a:t>START</a:t>
            </a:r>
            <a:r>
              <a:t> and forced clock stretching occur in the inherited sequence, but there is no
independent edge-by-edge property proving every boundary or stretch duration. Third and fourth
reads from uninitialised memory are not data-verified. These gaps remain visible rather than being
folded into an exhaustive protocol claim.</a:t>
            </a:r>
          </a:p>
        </p:txBody>
      </p:sp>
      <p:sp>
        <p:nvSpPr>
          <p:cNvPr id="56" name="body-2">
            <a:extLst xmlns:a="http://schemas.openxmlformats.org/drawingml/2006/main">
              <a:ext uri="{FF2B5EF4-FFF2-40B4-BE49-F238E27FC236}">
                <a16:creationId xmlns:a16="http://schemas.microsoft.com/office/drawing/2014/main" id="{11390AAA-74FF-47A4-B8C8-12E504A99DF8}"/>
              </a:ext>
            </a:extLst>
          </p:cNvPr>
          <p:cNvSpPr>
            <a:spLocks xmlns:a="http://schemas.openxmlformats.org/drawingml/2006/main" noGrp="1"/>
          </p:cNvSpPr>
          <p:nvPr/>
        </p:nvSpPr>
        <p:spPr>
          <a:xfrm xmlns:a="http://schemas.openxmlformats.org/drawingml/2006/main">
            <a:off x="502920" y="440664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Negative controls deliberately change expected data or a register result. Their purpose is to show</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that the checker rejects a wrong result. A passing negative-control harness means the deliberately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corrupted child run failed as intended; it does not mean the corrupted DUT transaction was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correct.</a:t>
            </a:r>
          </a:p>
        </p:txBody>
      </p:sp>
      <p:sp>
        <p:nvSpPr>
          <p:cNvPr id="57" name="component-label-556.9066666666666">
            <a:extLst xmlns:a="http://schemas.openxmlformats.org/drawingml/2006/main">
              <a:ext uri="{FF2B5EF4-FFF2-40B4-BE49-F238E27FC236}">
                <a16:creationId xmlns:a16="http://schemas.microsoft.com/office/drawing/2014/main" id="{0D40CFDB-AB4B-4468-850A-17FEB1E06FC3}"/>
              </a:ext>
            </a:extLst>
          </p:cNvPr>
          <p:cNvSpPr>
            <a:spLocks xmlns:a="http://schemas.openxmlformats.org/drawingml/2006/main" noGrp="1"/>
          </p:cNvSpPr>
          <p:nvPr/>
        </p:nvSpPr>
        <p:spPr>
          <a:xfrm xmlns:a="http://schemas.openxmlformats.org/drawingml/2006/main">
            <a:off x="502920" y="530453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V E R I F I C A T I O N   E V I D E N C E   L O C A T I O N S</a:t>
            </a:r>
          </a:p>
        </p:txBody>
      </p:sp>
      <p:graphicFrame>
        <p:nvGraphicFramePr>
          <p:cNvPr id="80" name=""/>
          <p:cNvGraphicFramePr/>
          <p:nvPr/>
        </p:nvGraphicFramePr>
        <p:xfrm>
          <a:off xmlns:a="http://schemas.openxmlformats.org/drawingml/2006/main" x="502920" y="5569712"/>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File / area</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Interpretation</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02_sim/test.v and positive log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Stimulus, expectations and actual PASS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02_sim negative-control logs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Expected fatal rejection</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03_verification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Preserved source / supplemental checks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GATES.md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Acceptance records, not a replacement for logs</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8B4848A9-2237-4810-BA31-C7D03BCFD2F5}"/>
              </a:ext>
            </a:extLst>
          </p:cNvPr>
          <p:cNvSpPr>
            <a:spLocks xmlns:a="http://schemas.openxmlformats.org/drawingml/2006/main" noGrp="1"/>
          </p:cNvSpPr>
          <p:nvPr/>
        </p:nvSpPr>
        <p:spPr>
          <a:xfrm xmlns:a="http://schemas.openxmlformats.org/drawingml/2006/main">
            <a:off x="502920" y="7268655"/>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0A02CDA5-CC9D-45BE-A129-CFB8A2D20088}"/>
              </a:ext>
            </a:extLst>
          </p:cNvPr>
          <p:cNvSpPr>
            <a:spLocks xmlns:a="http://schemas.openxmlformats.org/drawingml/2006/main" noGrp="1"/>
          </p:cNvSpPr>
          <p:nvPr/>
        </p:nvSpPr>
        <p:spPr>
          <a:xfrm xmlns:a="http://schemas.openxmlformats.org/drawingml/2006/main">
            <a:off x="502920" y="7268655"/>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627BB568-3467-41B8-B121-ACAFFCE7CF86}"/>
              </a:ext>
            </a:extLst>
          </p:cNvPr>
          <p:cNvSpPr>
            <a:spLocks xmlns:a="http://schemas.openxmlformats.org/drawingml/2006/main" noGrp="1"/>
          </p:cNvSpPr>
          <p:nvPr/>
        </p:nvSpPr>
        <p:spPr>
          <a:xfrm xmlns:a="http://schemas.openxmlformats.org/drawingml/2006/main">
            <a:off x="674370" y="7363905"/>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checker must be able to fail</a:t>
            </a:r>
          </a:p>
        </p:txBody>
      </p:sp>
      <p:sp>
        <p:nvSpPr>
          <p:cNvPr id="62" name="boundary-text">
            <a:extLst xmlns:a="http://schemas.openxmlformats.org/drawingml/2006/main">
              <a:ext uri="{FF2B5EF4-FFF2-40B4-BE49-F238E27FC236}">
                <a16:creationId xmlns:a16="http://schemas.microsoft.com/office/drawing/2014/main" id="{40FFC1B8-D433-4489-92E8-0108F895ACD3}"/>
              </a:ext>
            </a:extLst>
          </p:cNvPr>
          <p:cNvSpPr>
            <a:spLocks xmlns:a="http://schemas.openxmlformats.org/drawingml/2006/main" noGrp="1"/>
          </p:cNvSpPr>
          <p:nvPr/>
        </p:nvSpPr>
        <p:spPr>
          <a:xfrm xmlns:a="http://schemas.openxmlformats.org/drawingml/2006/main">
            <a:off x="674370" y="7630605"/>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Completion alone is insufficient. Read the successful log and the expected fatal rejection together;</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neither is a protocol-compliance certificate.</a:t>
            </a:r>
          </a:p>
        </p:txBody>
      </p:sp>
    </p:spTree>
    <p:extLst>
      <p:ext uri="{BB962C8B-B14F-4D97-AF65-F5344CB8AC3E}">
        <p14:creationId xmlns:p14="http://schemas.microsoft.com/office/powerpoint/2010/main" val="110332290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603a8b3f953e42a9"/>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28E92AAE-BB81-4B0F-87A9-C0B403604E16}"/>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12 · SYNTHESIS</a:t>
            </a:r>
          </a:p>
        </p:txBody>
      </p:sp>
      <p:sp>
        <p:nvSpPr>
          <p:cNvPr id="51" name="page-title">
            <a:extLst xmlns:a="http://schemas.openxmlformats.org/drawingml/2006/main">
              <a:ext uri="{FF2B5EF4-FFF2-40B4-BE49-F238E27FC236}">
                <a16:creationId xmlns:a16="http://schemas.microsoft.com/office/drawing/2014/main" id="{6BD2292A-15A6-49C2-923C-B60232CF721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Synthesis: a description becomes gates</a:t>
            </a:r>
          </a:p>
        </p:txBody>
      </p:sp>
      <p:sp>
        <p:nvSpPr>
          <p:cNvPr id="52" name="intro">
            <a:extLst xmlns:a="http://schemas.openxmlformats.org/drawingml/2006/main">
              <a:ext uri="{FF2B5EF4-FFF2-40B4-BE49-F238E27FC236}">
                <a16:creationId xmlns:a16="http://schemas.microsoft.com/office/drawing/2014/main" id="{A7C9BBEB-7A46-43D7-A5A0-3AC1051B3ECB}"/>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netlist is a list of logic cells and their connections. Yosys translates the RTL into cells from</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IHP SG13G2 library.</a:t>
            </a:r>
          </a:p>
        </p:txBody>
      </p:sp>
      <p:sp>
        <p:nvSpPr>
          <p:cNvPr id="53" name="component-label-246.26666666666665">
            <a:extLst xmlns:a="http://schemas.openxmlformats.org/drawingml/2006/main">
              <a:ext uri="{FF2B5EF4-FFF2-40B4-BE49-F238E27FC236}">
                <a16:creationId xmlns:a16="http://schemas.microsoft.com/office/drawing/2014/main" id="{9421847A-0D83-4B12-B3F6-2E587DC774B5}"/>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Y N T H E S I S</a:t>
            </a:r>
          </a:p>
        </p:txBody>
      </p:sp>
      <p:sp>
        <p:nvSpPr>
          <p:cNvPr id="54" name="body-0">
            <a:extLst xmlns:a="http://schemas.openxmlformats.org/drawingml/2006/main">
              <a:ext uri="{FF2B5EF4-FFF2-40B4-BE49-F238E27FC236}">
                <a16:creationId xmlns:a16="http://schemas.microsoft.com/office/drawing/2014/main" id="{F77C5F4C-2194-45EF-BBBA-0971961E9CE1}"/>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process design kit, or PDK, contains the process-specific files used by implementation tools. This
</a:t>
            </a:r>
            <a:r>
              <a:rPr b="1"/>
              <a:t>reference</a:t>
            </a:r>
            <a:r>
              <a:t> uses IHP SG13G2, not the SKY130 library used by the golden APB primer. Standard cells
are predesigned gates and storage elements with characterised timing and physical views.</a:t>
            </a:r>
          </a:p>
        </p:txBody>
      </p:sp>
      <p:sp>
        <p:nvSpPr>
          <p:cNvPr id="55" name="body-1">
            <a:extLst xmlns:a="http://schemas.openxmlformats.org/drawingml/2006/main">
              <a:ext uri="{FF2B5EF4-FFF2-40B4-BE49-F238E27FC236}">
                <a16:creationId xmlns:a16="http://schemas.microsoft.com/office/drawing/2014/main" id="{52EF4FF1-A5E5-4357-9EB2-47BF03050AA6}"/>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source</a:t>
            </a:r>
            <a:r>
              <a:t> is compiled and checked under the unit workspace before synthesis. Yosys maps the
functional logic into the pinned IHP SG13G2 standard-cell library. The current netlist contains
1007 functional cells, excluding $scopeinfo metadata. The structural checker rejects remaining
generic logic, latches or unresolved instances.</a:t>
            </a:r>
          </a:p>
        </p:txBody>
      </p:sp>
      <p:sp>
        <p:nvSpPr>
          <p:cNvPr id="56" name="body-2">
            <a:extLst xmlns:a="http://schemas.openxmlformats.org/drawingml/2006/main">
              <a:ext uri="{FF2B5EF4-FFF2-40B4-BE49-F238E27FC236}">
                <a16:creationId xmlns:a16="http://schemas.microsoft.com/office/drawing/2014/main" id="{1920E206-619F-4587-B417-A12463748F4A}"/>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mapped count excludes $scopeinfo metadata. It is not the count of every placed instance
after </a:t>
            </a:r>
            <a:r>
              <a:rPr b="1"/>
              <a:t>clock</a:t>
            </a:r>
            <a:r>
              <a:t> buffers, repair cells and fillers are added. It also does not mean that the original
protocol has been independently proven for all possible transactions.</a:t>
            </a:r>
          </a:p>
        </p:txBody>
      </p:sp>
      <p:sp>
        <p:nvSpPr>
          <p:cNvPr id="57" name="component-label-519.4933333333333">
            <a:extLst xmlns:a="http://schemas.openxmlformats.org/drawingml/2006/main">
              <a:ext uri="{FF2B5EF4-FFF2-40B4-BE49-F238E27FC236}">
                <a16:creationId xmlns:a16="http://schemas.microsoft.com/office/drawing/2014/main" id="{D71DFEC6-5430-4311-A880-058BEFAF2A47}"/>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A P P I N G   R E S U L T</a:t>
            </a:r>
          </a:p>
        </p:txBody>
      </p:sp>
      <p:graphicFrame>
        <p:nvGraphicFramePr>
          <p:cNvPr id="80" name=""/>
          <p:cNvGraphicFramePr/>
          <p:nvPr/>
        </p:nvGraphicFramePr>
        <p:xfrm>
          <a:off xmlns:a="http://schemas.openxmlformats.org/drawingml/2006/main" x="502920" y="5213350"/>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Top module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i2c_core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1007</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Technology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SG13G2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Unresolved generic logic / latches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Rejected by structural checker</a:t>
                      </a:r>
                    </a:p>
                  </a:txBody>
                  <a:tcPr marL="91440" marR="91440" marT="45720" marB="45720">
                    <a:lnR w="0">
                      <a:noFill/>
                    </a:lnR>
                    <a:lnB w="0">
                      <a:noFill/>
                    </a:lnB>
                    <a:solidFill>
                      <a:srgbClr val="FAFAFA"/>
                    </a:solidFill>
                  </a:tcPr>
                </a:tc>
              </a:tr>
            </a:tbl>
          </a:graphicData>
        </a:graphic>
      </p:graphicFrame>
      <p:sp>
        <p:nvSpPr>
          <p:cNvPr id="59" name="component-label-725.7">
            <a:extLst xmlns:a="http://schemas.openxmlformats.org/drawingml/2006/main">
              <a:ext uri="{FF2B5EF4-FFF2-40B4-BE49-F238E27FC236}">
                <a16:creationId xmlns:a16="http://schemas.microsoft.com/office/drawing/2014/main" id="{F37040E0-4658-4ADA-A44D-60EBC9D8551A}"/>
              </a:ext>
            </a:extLst>
          </p:cNvPr>
          <p:cNvSpPr>
            <a:spLocks xmlns:a="http://schemas.openxmlformats.org/drawingml/2006/main" noGrp="1"/>
          </p:cNvSpPr>
          <p:nvPr/>
        </p:nvSpPr>
        <p:spPr>
          <a:xfrm xmlns:a="http://schemas.openxmlformats.org/drawingml/2006/main">
            <a:off x="502920" y="69122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873B57B7-14DE-491E-9183-18863F58A891}"/>
              </a:ext>
            </a:extLst>
          </p:cNvPr>
          <p:cNvSpPr>
            <a:spLocks xmlns:a="http://schemas.openxmlformats.org/drawingml/2006/main" noGrp="1"/>
          </p:cNvSpPr>
          <p:nvPr/>
        </p:nvSpPr>
        <p:spPr>
          <a:xfrm xmlns:a="http://schemas.openxmlformats.org/drawingml/2006/main">
            <a:off x="502920" y="7177469"/>
            <a:ext cx="6556248" cy="53848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D05E6D9F-5AE6-4FD1-B6AD-56DA38E009F3}"/>
              </a:ext>
            </a:extLst>
          </p:cNvPr>
          <p:cNvSpPr>
            <a:spLocks xmlns:a="http://schemas.openxmlformats.org/drawingml/2006/main" noGrp="1"/>
          </p:cNvSpPr>
          <p:nvPr/>
        </p:nvSpPr>
        <p:spPr>
          <a:xfrm xmlns:a="http://schemas.openxmlformats.org/drawingml/2006/main">
            <a:off x="617220" y="7272719"/>
            <a:ext cx="6327648" cy="38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synth</a:t>
            </a:r>
            <a:r>
              <a:rPr>
                <a:solidFill>
                  <a:srgbClr val="EF9529"/>
                </a:solidFill>
              </a:rPr>
              <a:t>
node verify_build.mjs synth</a:t>
            </a:r>
          </a:p>
        </p:txBody>
      </p:sp>
      <p:sp>
        <p:nvSpPr>
          <p:cNvPr id="62" name="code-source">
            <a:extLst xmlns:a="http://schemas.openxmlformats.org/drawingml/2006/main">
              <a:ext uri="{FF2B5EF4-FFF2-40B4-BE49-F238E27FC236}">
                <a16:creationId xmlns:a16="http://schemas.microsoft.com/office/drawing/2014/main" id="{94F03F7A-BB30-42B9-B03E-2D792A1F3F12}"/>
              </a:ext>
            </a:extLst>
          </p:cNvPr>
          <p:cNvSpPr>
            <a:spLocks xmlns:a="http://schemas.openxmlformats.org/drawingml/2006/main" noGrp="1"/>
          </p:cNvSpPr>
          <p:nvPr/>
        </p:nvSpPr>
        <p:spPr>
          <a:xfrm xmlns:a="http://schemas.openxmlformats.org/drawingml/2006/main">
            <a:off x="502920" y="7773099"/>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04_synthesis/synth.tcl; verify_build.mjs synthesis checks</a:t>
            </a:r>
          </a:p>
        </p:txBody>
      </p:sp>
    </p:spTree>
    <p:extLst>
      <p:ext uri="{BB962C8B-B14F-4D97-AF65-F5344CB8AC3E}">
        <p14:creationId xmlns:p14="http://schemas.microsoft.com/office/powerpoint/2010/main" val="110332290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bf63f607dc1442a0"/>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049D3499-CE89-48A0-AB5C-B649A0DDC21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13 · PHYSICAL IMPLEMENTATION</a:t>
            </a:r>
          </a:p>
        </p:txBody>
      </p:sp>
      <p:sp>
        <p:nvSpPr>
          <p:cNvPr id="51" name="page-title">
            <a:extLst xmlns:a="http://schemas.openxmlformats.org/drawingml/2006/main">
              <a:ext uri="{FF2B5EF4-FFF2-40B4-BE49-F238E27FC236}">
                <a16:creationId xmlns:a16="http://schemas.microsoft.com/office/drawing/2014/main" id="{F237F1C4-B97D-4F46-ABEC-2C475002C471}"/>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Floorplan and placement</a:t>
            </a:r>
          </a:p>
        </p:txBody>
      </p:sp>
      <p:sp>
        <p:nvSpPr>
          <p:cNvPr id="52" name="intro">
            <a:extLst xmlns:a="http://schemas.openxmlformats.org/drawingml/2006/main">
              <a:ext uri="{FF2B5EF4-FFF2-40B4-BE49-F238E27FC236}">
                <a16:creationId xmlns:a16="http://schemas.microsoft.com/office/drawing/2014/main" id="{59F8B743-3EE9-4D7A-921E-92B98634E7BB}"/>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floorplan gives the circuit a physical outline. Placement chooses where its cells sit inside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that outline.</a:t>
            </a:r>
          </a:p>
        </p:txBody>
      </p:sp>
      <p:sp>
        <p:nvSpPr>
          <p:cNvPr id="53" name="component-label-246.26666666666665">
            <a:extLst xmlns:a="http://schemas.openxmlformats.org/drawingml/2006/main">
              <a:ext uri="{FF2B5EF4-FFF2-40B4-BE49-F238E27FC236}">
                <a16:creationId xmlns:a16="http://schemas.microsoft.com/office/drawing/2014/main" id="{9C834D08-DD7A-41C7-90EF-705C82BFAE1D}"/>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sp>
        <p:nvSpPr>
          <p:cNvPr id="54" name="body-0">
            <a:extLst xmlns:a="http://schemas.openxmlformats.org/drawingml/2006/main">
              <a:ext uri="{FF2B5EF4-FFF2-40B4-BE49-F238E27FC236}">
                <a16:creationId xmlns:a16="http://schemas.microsoft.com/office/drawing/2014/main" id="{13538594-7281-4B5F-9703-0BBEFE729926}"/>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die outline for this standalone block is 300 x 300 um. The floorplan establishes rows and
</a:t>
            </a:r>
            <a:r>
              <a:rPr b="1"/>
              <a:t>reference</a:t>
            </a:r>
            <a:r>
              <a:t> power/pin geometry. The placer must fit cells legally without overlaps and with room for
routing. This is a block-level educational layout, not a complete padframe or package design.</a:t>
            </a:r>
          </a:p>
        </p:txBody>
      </p:sp>
      <p:sp>
        <p:nvSpPr>
          <p:cNvPr id="55" name="body-1">
            <a:extLst xmlns:a="http://schemas.openxmlformats.org/drawingml/2006/main">
              <a:ext uri="{FF2B5EF4-FFF2-40B4-BE49-F238E27FC236}">
                <a16:creationId xmlns:a16="http://schemas.microsoft.com/office/drawing/2014/main" id="{81D1FFCA-6990-4978-9D09-2E0C50F0AB1B}"/>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Mapped functional logic has 1007 cells. After physical additions and fillers, the routed DEF</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contains 14,546 placed standard-cell instances. A filler occupies empty row sites; it is not another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logic gate. That distinction explains why the two counts differ so much.</a:t>
            </a:r>
          </a:p>
        </p:txBody>
      </p:sp>
      <p:sp>
        <p:nvSpPr>
          <p:cNvPr id="56" name="body-2">
            <a:extLst xmlns:a="http://schemas.openxmlformats.org/drawingml/2006/main">
              <a:ext uri="{FF2B5EF4-FFF2-40B4-BE49-F238E27FC236}">
                <a16:creationId xmlns:a16="http://schemas.microsoft.com/office/drawing/2014/main" id="{BF5C08F8-517E-4181-8D14-E843935CA626}"/>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is the fraction of core area occupied by placed cell area. It is not simply functional-cell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count divided by die size, and it changes between stages. This note does not substitute APB</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row count or I/O count for unavailable protocol-specific measurements.</a:t>
            </a:r>
          </a:p>
        </p:txBody>
      </p:sp>
      <p:sp>
        <p:nvSpPr>
          <p:cNvPr id="57" name="component-label-500.78666666666663">
            <a:extLst xmlns:a="http://schemas.openxmlformats.org/drawingml/2006/main">
              <a:ext uri="{FF2B5EF4-FFF2-40B4-BE49-F238E27FC236}">
                <a16:creationId xmlns:a16="http://schemas.microsoft.com/office/drawing/2014/main" id="{61265D3A-190F-495B-9C5D-123E51E04FF1}"/>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A C T U A L   P H Y S I C A L   R E F E R E N C E</a:t>
            </a:r>
          </a:p>
        </p:txBody>
      </p:sp>
      <p:graphicFrame>
        <p:nvGraphicFramePr>
          <p:cNvPr id="76"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Die outline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300 x 300 um</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1007</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14,546</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Physical inputs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06_floorplanning; 07_placement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 agreement</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DEF compared with decoded GDS</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0332290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9496832459314928"/>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33B8D7D-749B-4548-969C-43EA1FBC833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14 · CLOCK AND WIRES</a:t>
            </a:r>
          </a:p>
        </p:txBody>
      </p:sp>
      <p:sp>
        <p:nvSpPr>
          <p:cNvPr id="51" name="page-title">
            <a:extLst xmlns:a="http://schemas.openxmlformats.org/drawingml/2006/main">
              <a:ext uri="{FF2B5EF4-FFF2-40B4-BE49-F238E27FC236}">
                <a16:creationId xmlns:a16="http://schemas.microsoft.com/office/drawing/2014/main" id="{FAFA1CBD-0B29-424E-B680-558F94C9566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Clock tree and routing</a:t>
            </a:r>
          </a:p>
        </p:txBody>
      </p:sp>
      <p:sp>
        <p:nvSpPr>
          <p:cNvPr id="52" name="intro">
            <a:extLst xmlns:a="http://schemas.openxmlformats.org/drawingml/2006/main">
              <a:ext uri="{FF2B5EF4-FFF2-40B4-BE49-F238E27FC236}">
                <a16:creationId xmlns:a16="http://schemas.microsoft.com/office/drawing/2014/main" id="{8149E728-B96E-48F5-8562-5C1FEA7E8CC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Clock-tree synthesis distributes clocks to registers. Routing draws the metal connections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between placed cells.</a:t>
            </a:r>
          </a:p>
        </p:txBody>
      </p:sp>
      <p:sp>
        <p:nvSpPr>
          <p:cNvPr id="53" name="component-label-246.26666666666665">
            <a:extLst xmlns:a="http://schemas.openxmlformats.org/drawingml/2006/main">
              <a:ext uri="{FF2B5EF4-FFF2-40B4-BE49-F238E27FC236}">
                <a16:creationId xmlns:a16="http://schemas.microsoft.com/office/drawing/2014/main" id="{146DB1A9-A49A-41B8-A7FB-5D73E6A8B7C6}"/>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L O C K   A N D   W I R E S</a:t>
            </a:r>
          </a:p>
        </p:txBody>
      </p:sp>
      <p:sp>
        <p:nvSpPr>
          <p:cNvPr id="54" name="body-0">
            <a:extLst xmlns:a="http://schemas.openxmlformats.org/drawingml/2006/main">
              <a:ext uri="{FF2B5EF4-FFF2-40B4-BE49-F238E27FC236}">
                <a16:creationId xmlns:a16="http://schemas.microsoft.com/office/drawing/2014/main" id="{0E1B8155-E9DF-47F4-8413-418814894068}"/>
              </a:ext>
            </a:extLst>
          </p:cNvPr>
          <p:cNvSpPr>
            <a:spLocks xmlns:a="http://schemas.openxmlformats.org/drawingml/2006/main" noGrp="1"/>
          </p:cNvSpPr>
          <p:nvPr/>
        </p:nvSpPr>
        <p:spPr>
          <a:xfrm xmlns:a="http://schemas.openxmlformats.org/drawingml/2006/main">
            <a:off x="502920" y="261086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register samples its input at a </a:t>
            </a:r>
            <a:r>
              <a:rPr b="1"/>
              <a:t>clock</a:t>
            </a:r>
            <a:r>
              <a:t> edge. Clock buffers distribute that edge across the block;
the difference in arrival times is called skew. The reference is constrained at 50 MHz / 20 ns.</a:t>
            </a:r>
          </a:p>
        </p:txBody>
      </p:sp>
      <p:sp>
        <p:nvSpPr>
          <p:cNvPr id="55" name="body-1">
            <a:extLst xmlns:a="http://schemas.openxmlformats.org/drawingml/2006/main">
              <a:ext uri="{FF2B5EF4-FFF2-40B4-BE49-F238E27FC236}">
                <a16:creationId xmlns:a16="http://schemas.microsoft.com/office/drawing/2014/main" id="{271CC48B-CAB0-4A0F-80D3-A62DEAB3F4EB}"/>
              </a:ext>
            </a:extLst>
          </p:cNvPr>
          <p:cNvSpPr>
            <a:spLocks xmlns:a="http://schemas.openxmlformats.org/drawingml/2006/main" noGrp="1"/>
          </p:cNvSpPr>
          <p:nvPr/>
        </p:nvSpPr>
        <p:spPr>
          <a:xfrm xmlns:a="http://schemas.openxmlformats.org/drawingml/2006/main">
            <a:off x="502920" y="3152394"/>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OpenROAD completes the staged physical flow. The </a:t>
            </a:r>
            <a:r>
              <a:rPr b="1"/>
              <a:t>reference</a:t>
            </a:r>
            <a:r>
              <a:t> die is 300 x 300 um. DEF records
routed design geometry and cell placement; SPEF captures extracted parasitics used by the timing
analysis. The scripts retain stage-specific output so the result can be investigated instead of
relying on a final banner.</a:t>
            </a:r>
          </a:p>
        </p:txBody>
      </p:sp>
      <p:sp>
        <p:nvSpPr>
          <p:cNvPr id="56" name="body-2">
            <a:extLst xmlns:a="http://schemas.openxmlformats.org/drawingml/2006/main">
              <a:ext uri="{FF2B5EF4-FFF2-40B4-BE49-F238E27FC236}">
                <a16:creationId xmlns:a16="http://schemas.microsoft.com/office/drawing/2014/main" id="{6057ED10-E4AE-4150-824A-6385202A6BA3}"/>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Real interconnect has resistance and capacitance, called parasitics. Extraction writes these in </a:t>
            </a:r>
            <a:r>
              <a:rPr b="1"/>
              <a:t>SPEF</a:t>
            </a:r>
            <a:r>
              <a:t>
for post-route timing. The retained router-rule DRC file is empty. That checks the router view of its
work; it is not a full foundry-deck check of the exported polygons.</a:t>
            </a:r>
          </a:p>
        </p:txBody>
      </p:sp>
      <p:sp>
        <p:nvSpPr>
          <p:cNvPr id="57" name="component-label-500.78666666666663">
            <a:extLst xmlns:a="http://schemas.openxmlformats.org/drawingml/2006/main">
              <a:ext uri="{FF2B5EF4-FFF2-40B4-BE49-F238E27FC236}">
                <a16:creationId xmlns:a16="http://schemas.microsoft.com/office/drawing/2014/main" id="{CAF77E18-0163-42D7-B61F-0F2EE480BD25}"/>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T H E   P H Y S I C A L   E V I D E N C E</a:t>
            </a:r>
          </a:p>
        </p:txBody>
      </p:sp>
      <p:graphicFrame>
        <p:nvGraphicFramePr>
          <p:cNvPr id="80" name=""/>
          <p:cNvGraphicFramePr/>
          <p:nvPr/>
        </p:nvGraphicFramePr>
        <p:xfrm>
          <a:off xmlns:a="http://schemas.openxmlformats.org/drawingml/2006/main" x="502920" y="5035169"/>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ARTIFACT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QUESTION IT ANSWERS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09_place_and_route/route.def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Where are cells and routed connections?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09_place_and_route/route.spef</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Which parasitics were extracted?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Router-rule DRC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Any reported routing-rule violations?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08_sta/timing_report.txt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What does extracted reference timing report?</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AA508A56-972E-4325-BCAD-D7E62EDD6B64}"/>
              </a:ext>
            </a:extLst>
          </p:cNvPr>
          <p:cNvSpPr>
            <a:spLocks xmlns:a="http://schemas.openxmlformats.org/drawingml/2006/main" noGrp="1"/>
          </p:cNvSpPr>
          <p:nvPr/>
        </p:nvSpPr>
        <p:spPr>
          <a:xfrm xmlns:a="http://schemas.openxmlformats.org/drawingml/2006/main">
            <a:off x="502920" y="6734112"/>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094B3A81-B28B-4DAE-884F-59EDECA8B179}"/>
              </a:ext>
            </a:extLst>
          </p:cNvPr>
          <p:cNvSpPr>
            <a:spLocks xmlns:a="http://schemas.openxmlformats.org/drawingml/2006/main" noGrp="1"/>
          </p:cNvSpPr>
          <p:nvPr/>
        </p:nvSpPr>
        <p:spPr>
          <a:xfrm xmlns:a="http://schemas.openxmlformats.org/drawingml/2006/main">
            <a:off x="502920" y="6734112"/>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6BB7305F-F8A7-4D03-AA56-1F8F6D353D25}"/>
              </a:ext>
            </a:extLst>
          </p:cNvPr>
          <p:cNvSpPr>
            <a:spLocks xmlns:a="http://schemas.openxmlformats.org/drawingml/2006/main" noGrp="1"/>
          </p:cNvSpPr>
          <p:nvPr/>
        </p:nvSpPr>
        <p:spPr>
          <a:xfrm xmlns:a="http://schemas.openxmlformats.org/drawingml/2006/main">
            <a:off x="674370" y="6829362"/>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Two checks can both be called DRC</a:t>
            </a:r>
          </a:p>
        </p:txBody>
      </p:sp>
      <p:sp>
        <p:nvSpPr>
          <p:cNvPr id="62" name="boundary-text">
            <a:extLst xmlns:a="http://schemas.openxmlformats.org/drawingml/2006/main">
              <a:ext uri="{FF2B5EF4-FFF2-40B4-BE49-F238E27FC236}">
                <a16:creationId xmlns:a16="http://schemas.microsoft.com/office/drawing/2014/main" id="{7EBB7F21-9B79-4610-86F3-077C8E4EAC34}"/>
              </a:ext>
            </a:extLst>
          </p:cNvPr>
          <p:cNvSpPr>
            <a:spLocks xmlns:a="http://schemas.openxmlformats.org/drawingml/2006/main" noGrp="1"/>
          </p:cNvSpPr>
          <p:nvPr/>
        </p:nvSpPr>
        <p:spPr>
          <a:xfrm xmlns:a="http://schemas.openxmlformats.org/drawingml/2006/main">
            <a:off x="674370" y="7096062"/>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The empty router report is accepted routing evidence. Foundry DRC is a separate unperformed</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obligation; one result cannot stand in for the other.</a:t>
            </a:r>
          </a:p>
        </p:txBody>
      </p:sp>
    </p:spTree>
    <p:extLst>
      <p:ext uri="{BB962C8B-B14F-4D97-AF65-F5344CB8AC3E}">
        <p14:creationId xmlns:p14="http://schemas.microsoft.com/office/powerpoint/2010/main" val="110332290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15583fde86bc48dc"/>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43679F69-D126-45C0-9D5D-1CE9496EBF7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15 · REFERENCE TIMING</a:t>
            </a:r>
          </a:p>
        </p:txBody>
      </p:sp>
      <p:sp>
        <p:nvSpPr>
          <p:cNvPr id="51" name="page-title">
            <a:extLst xmlns:a="http://schemas.openxmlformats.org/drawingml/2006/main">
              <a:ext uri="{FF2B5EF4-FFF2-40B4-BE49-F238E27FC236}">
                <a16:creationId xmlns:a16="http://schemas.microsoft.com/office/drawing/2014/main" id="{F50B6061-4E5F-42F7-936A-A7BC859AB747}"/>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Two measured reference corners</a:t>
            </a:r>
          </a:p>
        </p:txBody>
      </p:sp>
      <p:sp>
        <p:nvSpPr>
          <p:cNvPr id="52" name="intro">
            <a:extLst xmlns:a="http://schemas.openxmlformats.org/drawingml/2006/main">
              <a:ext uri="{FF2B5EF4-FFF2-40B4-BE49-F238E27FC236}">
                <a16:creationId xmlns:a16="http://schemas.microsoft.com/office/drawing/2014/main" id="{8CC8F761-9506-4851-9E20-012F62E3D9D5}"/>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Static timing analysis adds cell and wire delays without simulating input patterns. Setup asks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whether data arrives early enough; hold asks whether it stays stable long enough.</a:t>
            </a:r>
          </a:p>
        </p:txBody>
      </p:sp>
      <p:sp>
        <p:nvSpPr>
          <p:cNvPr id="53" name="component-label-246.26666666666665">
            <a:extLst xmlns:a="http://schemas.openxmlformats.org/drawingml/2006/main">
              <a:ext uri="{FF2B5EF4-FFF2-40B4-BE49-F238E27FC236}">
                <a16:creationId xmlns:a16="http://schemas.microsoft.com/office/drawing/2014/main" id="{AB5EE488-01C5-4495-9B80-5827D8DA2A2B}"/>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F E R E N C E   T I M I N G</a:t>
            </a:r>
          </a:p>
        </p:txBody>
      </p:sp>
      <p:sp>
        <p:nvSpPr>
          <p:cNvPr id="54" name="body-0">
            <a:extLst xmlns:a="http://schemas.openxmlformats.org/drawingml/2006/main">
              <a:ext uri="{FF2B5EF4-FFF2-40B4-BE49-F238E27FC236}">
                <a16:creationId xmlns:a16="http://schemas.microsoft.com/office/drawing/2014/main" id="{08AC2A3D-D350-4650-B336-DCA5CC0F4BA3}"/>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physical </a:t>
            </a:r>
            <a:r>
              <a:rPr b="1"/>
              <a:t>clock</a:t>
            </a:r>
            <a:r>
              <a:t> constraint is 50 MHz / 20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p:txBody>
      </p:sp>
      <p:sp>
        <p:nvSpPr>
          <p:cNvPr id="55" name="body-1">
            <a:extLst xmlns:a="http://schemas.openxmlformats.org/drawingml/2006/main">
              <a:ext uri="{FF2B5EF4-FFF2-40B4-BE49-F238E27FC236}">
                <a16:creationId xmlns:a16="http://schemas.microsoft.com/office/drawing/2014/main" id="{1AF026D7-3893-44FF-8C3F-079293093D97}"/>
              </a:ext>
            </a:extLst>
          </p:cNvPr>
          <p:cNvSpPr>
            <a:spLocks xmlns:a="http://schemas.openxmlformats.org/drawingml/2006/main" noGrp="1"/>
          </p:cNvSpPr>
          <p:nvPr/>
        </p:nvSpPr>
        <p:spPr>
          <a:xfrm xmlns:a="http://schemas.openxmlformats.org/drawingml/2006/main">
            <a:off x="502920" y="350875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Current TT setup/hold slack is +15.81 / +0.17 ns. The slow-corner values are +14.55 / +0.21 ns.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Both reports contain no VIOLATED marker. These numbers are taken directly from the local report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files at document build time; the evidence manifest retains their hashes.</a:t>
            </a:r>
          </a:p>
        </p:txBody>
      </p:sp>
      <p:sp>
        <p:nvSpPr>
          <p:cNvPr id="56" name="body-2">
            <a:extLst xmlns:a="http://schemas.openxmlformats.org/drawingml/2006/main">
              <a:ext uri="{FF2B5EF4-FFF2-40B4-BE49-F238E27FC236}">
                <a16:creationId xmlns:a16="http://schemas.microsoft.com/office/drawing/2014/main" id="{4D297F46-83E0-4666-A24F-CC48263BC49D}"/>
              </a:ext>
            </a:extLst>
          </p:cNvPr>
          <p:cNvSpPr>
            <a:spLocks xmlns:a="http://schemas.openxmlformats.org/drawingml/2006/main" noGrp="1"/>
          </p:cNvSpPr>
          <p:nvPr/>
        </p:nvSpPr>
        <p:spPr>
          <a:xfrm xmlns:a="http://schemas.openxmlformats.org/drawingml/2006/main">
            <a:off x="502920" y="422846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I/O delays are </a:t>
            </a:r>
            <a:r>
              <a:rPr b="1"/>
              <a:t>reference</a:t>
            </a:r>
            <a:r>
              <a:t>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a:t>
            </a:r>
          </a:p>
        </p:txBody>
      </p:sp>
      <p:sp>
        <p:nvSpPr>
          <p:cNvPr id="57" name="component-label-538.2">
            <a:extLst xmlns:a="http://schemas.openxmlformats.org/drawingml/2006/main">
              <a:ext uri="{FF2B5EF4-FFF2-40B4-BE49-F238E27FC236}">
                <a16:creationId xmlns:a16="http://schemas.microsoft.com/office/drawing/2014/main" id="{CF7D7382-A389-40C1-A50F-3F7E33B69EC5}"/>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T R A C T E D   S L A C K ,   N S</a:t>
            </a:r>
          </a:p>
        </p:txBody>
      </p:sp>
      <p:graphicFrame>
        <p:nvGraphicFramePr>
          <p:cNvPr id="80" name=""/>
          <p:cNvGraphicFramePr/>
          <p:nvPr/>
        </p:nvGraphicFramePr>
        <p:xfrm>
          <a:off xmlns:a="http://schemas.openxmlformats.org/drawingml/2006/main" x="502920" y="5391531"/>
          <a:ext xmlns:a="http://schemas.openxmlformats.org/drawingml/2006/main" cx="6556248" cy="1212850"/>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Corner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setup</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hold</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15.81</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0.17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Slow</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14.55</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0.21</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Status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 reports</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VIOLATED markers</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941CE95B-7B93-4185-91F1-36DBE3E36F8E}"/>
              </a:ext>
            </a:extLst>
          </p:cNvPr>
          <p:cNvSpPr>
            <a:spLocks xmlns:a="http://schemas.openxmlformats.org/drawingml/2006/main" noGrp="1"/>
          </p:cNvSpPr>
          <p:nvPr/>
        </p:nvSpPr>
        <p:spPr>
          <a:xfrm xmlns:a="http://schemas.openxmlformats.org/drawingml/2006/main">
            <a:off x="502920" y="6787261"/>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CAFBE3C5-68A9-4B45-8208-093DF6A27F84}"/>
              </a:ext>
            </a:extLst>
          </p:cNvPr>
          <p:cNvSpPr>
            <a:spLocks xmlns:a="http://schemas.openxmlformats.org/drawingml/2006/main" noGrp="1"/>
          </p:cNvSpPr>
          <p:nvPr/>
        </p:nvSpPr>
        <p:spPr>
          <a:xfrm xmlns:a="http://schemas.openxmlformats.org/drawingml/2006/main">
            <a:off x="502920" y="6787261"/>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245121B2-169D-4654-8632-E8639C29A7C3}"/>
              </a:ext>
            </a:extLst>
          </p:cNvPr>
          <p:cNvSpPr>
            <a:spLocks xmlns:a="http://schemas.openxmlformats.org/drawingml/2006/main" noGrp="1"/>
          </p:cNvSpPr>
          <p:nvPr/>
        </p:nvSpPr>
        <p:spPr>
          <a:xfrm xmlns:a="http://schemas.openxmlformats.org/drawingml/2006/main">
            <a:off x="674370" y="6882511"/>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Positive slack has a stated boundary</a:t>
            </a:r>
          </a:p>
        </p:txBody>
      </p:sp>
      <p:sp>
        <p:nvSpPr>
          <p:cNvPr id="62" name="boundary-text">
            <a:extLst xmlns:a="http://schemas.openxmlformats.org/drawingml/2006/main">
              <a:ext uri="{FF2B5EF4-FFF2-40B4-BE49-F238E27FC236}">
                <a16:creationId xmlns:a16="http://schemas.microsoft.com/office/drawing/2014/main" id="{FA873CF7-6D00-4C8D-AC73-64AEDEC1FEDA}"/>
              </a:ext>
            </a:extLst>
          </p:cNvPr>
          <p:cNvSpPr>
            <a:spLocks xmlns:a="http://schemas.openxmlformats.org/drawingml/2006/main" noGrp="1"/>
          </p:cNvSpPr>
          <p:nvPr/>
        </p:nvSpPr>
        <p:spPr>
          <a:xfrm xmlns:a="http://schemas.openxmlformats.org/drawingml/2006/main">
            <a:off x="674370" y="7149211"/>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Slack is remaining timing margin. These values apply to the listed clocks, I/O budgets and two library</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corners; they are not a board-timing or manufacturing signoff guarantee.</a:t>
            </a:r>
          </a:p>
        </p:txBody>
      </p:sp>
    </p:spTree>
    <p:extLst>
      <p:ext uri="{BB962C8B-B14F-4D97-AF65-F5344CB8AC3E}">
        <p14:creationId xmlns:p14="http://schemas.microsoft.com/office/powerpoint/2010/main" val="110332290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06b29219dae14b32"/>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95B41336-5C0B-4230-8A51-B4E599ADE67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16 · GDS STREAM-OUT</a:t>
            </a:r>
          </a:p>
        </p:txBody>
      </p:sp>
      <p:sp>
        <p:nvSpPr>
          <p:cNvPr id="51" name="page-title">
            <a:extLst xmlns:a="http://schemas.openxmlformats.org/drawingml/2006/main">
              <a:ext uri="{FF2B5EF4-FFF2-40B4-BE49-F238E27FC236}">
                <a16:creationId xmlns:a16="http://schemas.microsoft.com/office/drawing/2014/main" id="{8AFAA0D1-F053-432D-B916-31BE5DA1EC5D}"/>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Count the right objects</a:t>
            </a:r>
          </a:p>
        </p:txBody>
      </p:sp>
      <p:sp>
        <p:nvSpPr>
          <p:cNvPr id="52" name="intro">
            <a:extLst xmlns:a="http://schemas.openxmlformats.org/drawingml/2006/main">
              <a:ext uri="{FF2B5EF4-FFF2-40B4-BE49-F238E27FC236}">
                <a16:creationId xmlns:a16="http://schemas.microsoft.com/office/drawing/2014/main" id="{812840A6-4D7A-48B5-A718-E1614F5A2C5C}"/>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GDS stores layout polygons and hierarchical cell references. Stream-out combines routed</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geometry with the real standard-cell layouts from the PDK.</a:t>
            </a:r>
          </a:p>
        </p:txBody>
      </p:sp>
      <p:sp>
        <p:nvSpPr>
          <p:cNvPr id="53" name="component-label-246.26666666666665">
            <a:extLst xmlns:a="http://schemas.openxmlformats.org/drawingml/2006/main">
              <a:ext uri="{FF2B5EF4-FFF2-40B4-BE49-F238E27FC236}">
                <a16:creationId xmlns:a16="http://schemas.microsoft.com/office/drawing/2014/main" id="{DEF731FB-81AD-4AB5-AE6A-3149B52A12D6}"/>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G D S   S T R E A M - O U T</a:t>
            </a:r>
          </a:p>
        </p:txBody>
      </p:sp>
      <p:sp>
        <p:nvSpPr>
          <p:cNvPr id="54" name="body-0">
            <a:extLst xmlns:a="http://schemas.openxmlformats.org/drawingml/2006/main">
              <a:ext uri="{FF2B5EF4-FFF2-40B4-BE49-F238E27FC236}">
                <a16:creationId xmlns:a16="http://schemas.microsoft.com/office/drawing/2014/main" id="{437603D2-0319-459F-847E-6A99090C3E5A}"/>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GDS</a:t>
            </a:r>
            <a:r>
              <a:t> file contains 1,583,844 bytes and 48 structures. The independent decoder finds 14,546
placed standard-cell instances including fillers. That placement count is intentionally much larger
than the 1007 mapped functional cells: filler instances occupy unused placement sites and
structures are unique hierarchy definitions.</a:t>
            </a:r>
          </a:p>
        </p:txBody>
      </p:sp>
      <p:sp>
        <p:nvSpPr>
          <p:cNvPr id="55" name="body-1">
            <a:extLst xmlns:a="http://schemas.openxmlformats.org/drawingml/2006/main">
              <a:ext uri="{FF2B5EF4-FFF2-40B4-BE49-F238E27FC236}">
                <a16:creationId xmlns:a16="http://schemas.microsoft.com/office/drawing/2014/main" id="{39764539-8AD5-418F-9101-33B2D38825C3}"/>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decoder compares exported cell identities, coordinates and orientations against the routed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DEF. A deliberately altered placement/export expectation fails, including under Python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optimisation, so acceptance is not implemented with removable assert-only checks. Raw file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SHA256 is a run-specific fingerprint because stream-out timestamps can change.</a:t>
            </a:r>
          </a:p>
        </p:txBody>
      </p:sp>
      <p:sp>
        <p:nvSpPr>
          <p:cNvPr id="56" name="body-2">
            <a:extLst xmlns:a="http://schemas.openxmlformats.org/drawingml/2006/main">
              <a:ext uri="{FF2B5EF4-FFF2-40B4-BE49-F238E27FC236}">
                <a16:creationId xmlns:a16="http://schemas.microsoft.com/office/drawing/2014/main" id="{6AED7388-1742-4A60-8476-829173A24BA7}"/>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OpenROAD router-rule DRC report is empty. It is not a foundry-deck DRC result. LVS, antenna,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scan/DFT, power integrity, padframe, tap/endcap strategy and manufacturing signoff remain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unperformed. No empty routing report is promoted into a DRC-clean tapeout claim.</a:t>
            </a:r>
          </a:p>
        </p:txBody>
      </p:sp>
      <p:sp>
        <p:nvSpPr>
          <p:cNvPr id="57" name="component-label-538.1999999999999">
            <a:extLst xmlns:a="http://schemas.openxmlformats.org/drawingml/2006/main">
              <a:ext uri="{FF2B5EF4-FFF2-40B4-BE49-F238E27FC236}">
                <a16:creationId xmlns:a16="http://schemas.microsoft.com/office/drawing/2014/main" id="{073E8F5D-28E5-49DE-8C89-6D5D7B2ABFE9}"/>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P O R T   M E A S U R E M E N T S</a:t>
            </a:r>
          </a:p>
        </p:txBody>
      </p:sp>
      <p:graphicFrame>
        <p:nvGraphicFramePr>
          <p:cNvPr id="76" name=""/>
          <p:cNvGraphicFramePr/>
          <p:nvPr/>
        </p:nvGraphicFramePr>
        <p:xfrm>
          <a:off xmlns:a="http://schemas.openxmlformats.org/drawingml/2006/main" x="502920" y="5391531"/>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Quantity</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1007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 bytes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1,583,844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 structures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48</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14,546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Die</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300 x 300 um</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0332290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6072145762b941b5"/>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47F595BB-956E-47C5-AD71-553F747DDC0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17 · UNPERFORMED SIGNOFF</a:t>
            </a:r>
          </a:p>
        </p:txBody>
      </p:sp>
      <p:sp>
        <p:nvSpPr>
          <p:cNvPr id="51" name="page-title">
            <a:extLst xmlns:a="http://schemas.openxmlformats.org/drawingml/2006/main">
              <a:ext uri="{FF2B5EF4-FFF2-40B4-BE49-F238E27FC236}">
                <a16:creationId xmlns:a16="http://schemas.microsoft.com/office/drawing/2014/main" id="{10B27D6A-4CA6-49D0-9EA8-842D94AC3B41}"/>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DRC and LVS: what is still missing</a:t>
            </a:r>
          </a:p>
        </p:txBody>
      </p:sp>
      <p:sp>
        <p:nvSpPr>
          <p:cNvPr id="52" name="intro">
            <a:extLst xmlns:a="http://schemas.openxmlformats.org/drawingml/2006/main">
              <a:ext uri="{FF2B5EF4-FFF2-40B4-BE49-F238E27FC236}">
                <a16:creationId xmlns:a16="http://schemas.microsoft.com/office/drawing/2014/main" id="{E3DB92A3-92B1-4108-B518-4084BAA39A7D}"/>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Design rule checking asks whether geometry follows the process rules. Layout versus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schematic asks whether the extracted layout circuit matches the intended netlist.</a:t>
            </a:r>
          </a:p>
        </p:txBody>
      </p:sp>
      <p:sp>
        <p:nvSpPr>
          <p:cNvPr id="53" name="component-label-246.26666666666665">
            <a:extLst xmlns:a="http://schemas.openxmlformats.org/drawingml/2006/main">
              <a:ext uri="{FF2B5EF4-FFF2-40B4-BE49-F238E27FC236}">
                <a16:creationId xmlns:a16="http://schemas.microsoft.com/office/drawing/2014/main" id="{0BE20A93-D53A-4E37-8529-A035C674EDD9}"/>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U N P E R F O R M E D   S I G N O F F</a:t>
            </a:r>
          </a:p>
        </p:txBody>
      </p:sp>
      <p:sp>
        <p:nvSpPr>
          <p:cNvPr id="54" name="body-0">
            <a:extLst xmlns:a="http://schemas.openxmlformats.org/drawingml/2006/main">
              <a:ext uri="{FF2B5EF4-FFF2-40B4-BE49-F238E27FC236}">
                <a16:creationId xmlns:a16="http://schemas.microsoft.com/office/drawing/2014/main" id="{A5AB43A0-F9FB-4837-A0B2-68E81915F161}"/>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Foundry DRC requires the applicable, qualified rule deck and an inspected report on the final
polygons. Typical checks include minimum widths, spacing and enclosure. No foundry-deck DRC
result has been accepted for this protocol </a:t>
            </a:r>
            <a:r>
              <a:rPr b="1"/>
              <a:t>reference</a:t>
            </a:r>
            <a:r>
              <a:t>. The router report is narrower evidence.</a:t>
            </a:r>
          </a:p>
        </p:txBody>
      </p:sp>
      <p:sp>
        <p:nvSpPr>
          <p:cNvPr id="55" name="body-1">
            <a:extLst xmlns:a="http://schemas.openxmlformats.org/drawingml/2006/main">
              <a:ext uri="{FF2B5EF4-FFF2-40B4-BE49-F238E27FC236}">
                <a16:creationId xmlns:a16="http://schemas.microsoft.com/office/drawing/2014/main" id="{703B0AC8-CC33-4467-9746-76DE7017E267}"/>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LVS requires extracting a circuit from the layout and comparing devices and connectivity with the
intended circuit. A structural </a:t>
            </a:r>
            <a:r>
              <a:rPr b="1"/>
              <a:t>GDS</a:t>
            </a:r>
            <a:r>
              <a:t> decoder checking cell references, coordinates and orientations
does not perform that extraction or connectivity comparison. No accepted LVS match is available.</a:t>
            </a:r>
          </a:p>
        </p:txBody>
      </p:sp>
      <p:sp>
        <p:nvSpPr>
          <p:cNvPr id="56" name="body-2">
            <a:extLst xmlns:a="http://schemas.openxmlformats.org/drawingml/2006/main">
              <a:ext uri="{FF2B5EF4-FFF2-40B4-BE49-F238E27FC236}">
                <a16:creationId xmlns:a16="http://schemas.microsoft.com/office/drawing/2014/main" id="{5DE26940-3C6A-4E83-B6D6-334D80735E4B}"/>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Antenna, scan/DFT, power integrity, padframe, tap/endcap strategy and manufacturing release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remain unperformed. The golden APB primer reports its own separate checks; those results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transfer to SG13G2 or to this design.</a:t>
            </a:r>
          </a:p>
        </p:txBody>
      </p:sp>
      <p:sp>
        <p:nvSpPr>
          <p:cNvPr id="57" name="component-label-500.78666666666663">
            <a:extLst xmlns:a="http://schemas.openxmlformats.org/drawingml/2006/main">
              <a:ext uri="{FF2B5EF4-FFF2-40B4-BE49-F238E27FC236}">
                <a16:creationId xmlns:a16="http://schemas.microsoft.com/office/drawing/2014/main" id="{82023989-5AE1-4115-BFFB-055C139791B7}"/>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E P A R A T E   A C C E P T E D   E X P O R T   F R O M   M I S S I N G   S I G N O F F</a:t>
            </a:r>
          </a:p>
        </p:txBody>
      </p:sp>
      <p:graphicFrame>
        <p:nvGraphicFramePr>
          <p:cNvPr id="80"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CHECK</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THIS REFERENCE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Router-rule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Empty; narrower routing evidence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Decoded GDS 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structural/export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Foundry-deck 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Extracted-layout 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Manufacturing readiness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BDB82EC6-D1A2-41C6-8DA8-D1CBAB35F99D}"/>
              </a:ext>
            </a:extLst>
          </p:cNvPr>
          <p:cNvSpPr>
            <a:spLocks xmlns:a="http://schemas.openxmlformats.org/drawingml/2006/main" noGrp="1"/>
          </p:cNvSpPr>
          <p:nvPr/>
        </p:nvSpPr>
        <p:spPr>
          <a:xfrm xmlns:a="http://schemas.openxmlformats.org/drawingml/2006/main">
            <a:off x="502920" y="7037324"/>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1AA2F8BB-C30E-49B7-9AA1-4B6370F895BA}"/>
              </a:ext>
            </a:extLst>
          </p:cNvPr>
          <p:cNvSpPr>
            <a:spLocks xmlns:a="http://schemas.openxmlformats.org/drawingml/2006/main" noGrp="1"/>
          </p:cNvSpPr>
          <p:nvPr/>
        </p:nvSpPr>
        <p:spPr>
          <a:xfrm xmlns:a="http://schemas.openxmlformats.org/drawingml/2006/main">
            <a:off x="502920" y="7037324"/>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9E9A89DA-D9AD-45CC-B057-CA0838507866}"/>
              </a:ext>
            </a:extLst>
          </p:cNvPr>
          <p:cNvSpPr>
            <a:spLocks xmlns:a="http://schemas.openxmlformats.org/drawingml/2006/main" noGrp="1"/>
          </p:cNvSpPr>
          <p:nvPr/>
        </p:nvSpPr>
        <p:spPr>
          <a:xfrm xmlns:a="http://schemas.openxmlformats.org/drawingml/2006/main">
            <a:off x="674370" y="7132574"/>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GDS file is not tapeout approval</a:t>
            </a:r>
          </a:p>
        </p:txBody>
      </p:sp>
      <p:sp>
        <p:nvSpPr>
          <p:cNvPr id="62" name="boundary-text">
            <a:extLst xmlns:a="http://schemas.openxmlformats.org/drawingml/2006/main">
              <a:ext uri="{FF2B5EF4-FFF2-40B4-BE49-F238E27FC236}">
                <a16:creationId xmlns:a16="http://schemas.microsoft.com/office/drawing/2014/main" id="{C6984852-834D-4133-A681-4079BCFE082F}"/>
              </a:ext>
            </a:extLst>
          </p:cNvPr>
          <p:cNvSpPr>
            <a:spLocks xmlns:a="http://schemas.openxmlformats.org/drawingml/2006/main" noGrp="1"/>
          </p:cNvSpPr>
          <p:nvPr/>
        </p:nvSpPr>
        <p:spPr>
          <a:xfrm xmlns:a="http://schemas.openxmlformats.org/drawingml/2006/main">
            <a:off x="674370" y="7399274"/>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This package is suitable for studying and reproducing a block implementation. Do not hand it off as a</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signoff-clean manufacturing design.</a:t>
            </a:r>
          </a:p>
        </p:txBody>
      </p:sp>
    </p:spTree>
    <p:extLst>
      <p:ext uri="{BB962C8B-B14F-4D97-AF65-F5344CB8AC3E}">
        <p14:creationId xmlns:p14="http://schemas.microsoft.com/office/powerpoint/2010/main" val="110332290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5a916b768ea0442a"/>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5F839850-A788-4ED0-A4B9-084041DDDEE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18 · RESULTS SUMMARY</a:t>
            </a:r>
          </a:p>
        </p:txBody>
      </p:sp>
      <p:sp>
        <p:nvSpPr>
          <p:cNvPr id="51" name="page-title">
            <a:extLst xmlns:a="http://schemas.openxmlformats.org/drawingml/2006/main">
              <a:ext uri="{FF2B5EF4-FFF2-40B4-BE49-F238E27FC236}">
                <a16:creationId xmlns:a16="http://schemas.microsoft.com/office/drawing/2014/main" id="{37CE285A-8480-4325-A5B7-2B66B6976D00}"/>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Everything at a glance</a:t>
            </a:r>
          </a:p>
        </p:txBody>
      </p:sp>
      <p:sp>
        <p:nvSpPr>
          <p:cNvPr id="52" name="intro">
            <a:extLst xmlns:a="http://schemas.openxmlformats.org/drawingml/2006/main">
              <a:ext uri="{FF2B5EF4-FFF2-40B4-BE49-F238E27FC236}">
                <a16:creationId xmlns:a16="http://schemas.microsoft.com/office/drawing/2014/main" id="{7FFA0F4A-4BD5-4212-9F74-7E209033B4A0}"/>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Read each result together with the question it actually answers. The same PASS label never</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implies every protocol or manufacturing obligation is closed.</a:t>
            </a:r>
          </a:p>
        </p:txBody>
      </p:sp>
      <p:sp>
        <p:nvSpPr>
          <p:cNvPr id="53" name="component-label-246.26666666666665">
            <a:extLst xmlns:a="http://schemas.openxmlformats.org/drawingml/2006/main">
              <a:ext uri="{FF2B5EF4-FFF2-40B4-BE49-F238E27FC236}">
                <a16:creationId xmlns:a16="http://schemas.microsoft.com/office/drawing/2014/main" id="{DAE47C13-AA1C-4713-8447-17EA72F85DD8}"/>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S U L T S   S U M M A R Y</a:t>
            </a:r>
          </a:p>
        </p:txBody>
      </p:sp>
      <p:sp>
        <p:nvSpPr>
          <p:cNvPr id="54" name="body-0">
            <a:extLst xmlns:a="http://schemas.openxmlformats.org/drawingml/2006/main">
              <a:ext uri="{FF2B5EF4-FFF2-40B4-BE49-F238E27FC236}">
                <a16:creationId xmlns:a16="http://schemas.microsoft.com/office/drawing/2014/main" id="{1241A945-46C8-4242-9F7B-D792EAD15900}"/>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directed functional result and the physical export result are both useful, but they prove
different things. The physical build uses the fixed wrapper configuration and </a:t>
            </a:r>
            <a:r>
              <a:rPr b="1"/>
              <a:t>reference</a:t>
            </a:r>
            <a:r>
              <a:t> constraints.
Additional modes, external peripherals, arbitrary clock relationships and board operation require
their own evidence.</a:t>
            </a:r>
          </a:p>
        </p:txBody>
      </p:sp>
      <p:sp>
        <p:nvSpPr>
          <p:cNvPr id="55" name="body-1">
            <a:extLst xmlns:a="http://schemas.openxmlformats.org/drawingml/2006/main">
              <a:ext uri="{FF2B5EF4-FFF2-40B4-BE49-F238E27FC236}">
                <a16:creationId xmlns:a16="http://schemas.microsoft.com/office/drawing/2014/main" id="{FAC8A8FF-AA20-479F-AC92-F6B6EB66FFE3}"/>
              </a:ext>
            </a:extLst>
          </p:cNvPr>
          <p:cNvSpPr>
            <a:spLocks xmlns:a="http://schemas.openxmlformats.org/drawingml/2006/main" noGrp="1"/>
          </p:cNvSpPr>
          <p:nvPr/>
        </p:nvSpPr>
        <p:spPr>
          <a:xfrm xmlns:a="http://schemas.openxmlformats.org/drawingml/2006/main">
            <a:off x="502920" y="350875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Important protocol boundary: Arbitration is not decisively tested. Stretching and repeated </a:t>
            </a:r>
            <a:r>
              <a:rPr b="1"/>
              <a:t>START</a:t>
            </a:r>
            <a:r>
              <a:t>
have indirect data/completion coverage only.</a:t>
            </a:r>
          </a:p>
        </p:txBody>
      </p:sp>
      <p:sp>
        <p:nvSpPr>
          <p:cNvPr id="56" name="component-label-425.22666666666663">
            <a:extLst xmlns:a="http://schemas.openxmlformats.org/drawingml/2006/main">
              <a:ext uri="{FF2B5EF4-FFF2-40B4-BE49-F238E27FC236}">
                <a16:creationId xmlns:a16="http://schemas.microsoft.com/office/drawing/2014/main" id="{12EA99EC-824F-4106-BD90-B790B71514DF}"/>
              </a:ext>
            </a:extLst>
          </p:cNvPr>
          <p:cNvSpPr>
            <a:spLocks xmlns:a="http://schemas.openxmlformats.org/drawingml/2006/main" noGrp="1"/>
          </p:cNvSpPr>
          <p:nvPr/>
        </p:nvSpPr>
        <p:spPr>
          <a:xfrm xmlns:a="http://schemas.openxmlformats.org/drawingml/2006/main">
            <a:off x="502920" y="405028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U L L   R E F E R E N C E   F L O W</a:t>
            </a:r>
          </a:p>
        </p:txBody>
      </p:sp>
      <p:graphicFrame>
        <p:nvGraphicFramePr>
          <p:cNvPr id="74" name=""/>
          <p:cNvGraphicFramePr/>
          <p:nvPr/>
        </p:nvGraphicFramePr>
        <p:xfrm>
          <a:off xmlns:a="http://schemas.openxmlformats.org/drawingml/2006/main" x="502920" y="4315460"/>
          <a:ext xmlns:a="http://schemas.openxmlformats.org/drawingml/2006/main" cx="6556248" cy="3335337"/>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TOOL / EVIDENCE</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STATUS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Verilator; 3 retained warnings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Review</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Independent directed expectations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Negative controls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Deliberate fatal mismatches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rejection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Yosys; 1007 mapped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OpenROAD; 300 x 300 um</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extraction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DEF and SPEF retained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KLayout; 1,583,844 bytes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accepted report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Full-chip / board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integration proof</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0332290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Picture 2"/>
          <p:cNvPicPr>
            <a:picLocks xmlns:a="http://schemas.openxmlformats.org/drawingml/2006/main" noChangeAspect="1"/>
          </p:cNvPicPr>
          <p:nvPr/>
        </p:nvPicPr>
        <p:blipFill>
          <a:blip xmlns:r="http://schemas.openxmlformats.org/officeDocument/2006/relationships" xmlns:a="http://schemas.openxmlformats.org/drawingml/2006/main" r:embed="R83f14a2b312c48d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CC0FC1F-E668-472C-9DF1-57E4DFA8A87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19 · RUN IT YOURSELF</a:t>
            </a:r>
          </a:p>
        </p:txBody>
      </p:sp>
      <p:sp>
        <p:nvSpPr>
          <p:cNvPr id="51" name="page-title">
            <a:extLst xmlns:a="http://schemas.openxmlformats.org/drawingml/2006/main">
              <a:ext uri="{FF2B5EF4-FFF2-40B4-BE49-F238E27FC236}">
                <a16:creationId xmlns:a16="http://schemas.microsoft.com/office/drawing/2014/main" id="{0B7727B2-BC04-45E4-BD09-BCE38B7B240E}"/>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Run it yourself in WSL</a:t>
            </a:r>
          </a:p>
        </p:txBody>
      </p:sp>
      <p:sp>
        <p:nvSpPr>
          <p:cNvPr id="52" name="intro">
            <a:extLst xmlns:a="http://schemas.openxmlformats.org/drawingml/2006/main">
              <a:ext uri="{FF2B5EF4-FFF2-40B4-BE49-F238E27FC236}">
                <a16:creationId xmlns:a16="http://schemas.microsoft.com/office/drawing/2014/main" id="{B1B78D72-3FA2-43C4-96CC-8510B974C9FB}"/>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Use the pinned source, the unit tool lock and the external PDK revision together.</a:t>
            </a:r>
          </a:p>
        </p:txBody>
      </p:sp>
      <p:sp>
        <p:nvSpPr>
          <p:cNvPr id="53" name="component-label-225.93333333333334">
            <a:extLst xmlns:a="http://schemas.openxmlformats.org/drawingml/2006/main">
              <a:ext uri="{FF2B5EF4-FFF2-40B4-BE49-F238E27FC236}">
                <a16:creationId xmlns:a16="http://schemas.microsoft.com/office/drawing/2014/main" id="{39C1EBF2-DD9A-4652-A80A-098C91074815}"/>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U N   I T   Y O U R S E L F</a:t>
            </a:r>
          </a:p>
        </p:txBody>
      </p:sp>
      <p:sp>
        <p:nvSpPr>
          <p:cNvPr id="54" name="body-0">
            <a:extLst xmlns:a="http://schemas.openxmlformats.org/drawingml/2006/main">
              <a:ext uri="{FF2B5EF4-FFF2-40B4-BE49-F238E27FC236}">
                <a16:creationId xmlns:a16="http://schemas.microsoft.com/office/drawing/2014/main" id="{C01F9EFE-1C21-4E52-AC80-BC3D2EB3AE43}"/>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proven entry point is a WSL login Bash shell. igny init prepares the packaging runtime.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Unsetting CRUCIBLE_ENV after initialisation allows the unit crucible.toml workspace selection to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control tool resolution rather than an inherited environment override. This is the observed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workflow, not a change to Crucible internals.</a:t>
            </a:r>
          </a:p>
        </p:txBody>
      </p:sp>
      <p:sp>
        <p:nvSpPr>
          <p:cNvPr id="55" name="body-1">
            <a:extLst xmlns:a="http://schemas.openxmlformats.org/drawingml/2006/main">
              <a:ext uri="{FF2B5EF4-FFF2-40B4-BE49-F238E27FC236}">
                <a16:creationId xmlns:a16="http://schemas.microsoft.com/office/drawing/2014/main" id="{66950B4B-7718-43B0-9F76-C47C4775AF1B}"/>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Each unit has its existing environment and lock. The common tool set includes Icarus, Verilator,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Yosys, OpenROAD and klayout-stream. The separate PDK checkout is IHP SG13G2 revision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22f43352dd8219f9007eb659e422e0d5fe28c5fb. A tool lock does not pin that external PDK by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itself; IHP_PDK_ROOT must point to the matching installation.</a:t>
            </a:r>
          </a:p>
        </p:txBody>
      </p:sp>
      <p:sp>
        <p:nvSpPr>
          <p:cNvPr id="56" name="body-2">
            <a:extLst xmlns:a="http://schemas.openxmlformats.org/drawingml/2006/main">
              <a:ext uri="{FF2B5EF4-FFF2-40B4-BE49-F238E27FC236}">
                <a16:creationId xmlns:a16="http://schemas.microsoft.com/office/drawing/2014/main" id="{D7FFC1F5-CE97-4A47-9F78-E05AA33755A9}"/>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documented machine could not use the pip klayout package as the expected stream-out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executable; igny tool install klayout-stream supplies the proven converter. make lint sim checks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behaviour, make flow executes the staged implementation, and node verify_build.mjs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all inspects artifacts. Review normal and intentionally failing logs before accepting the result.</a:t>
            </a:r>
          </a:p>
        </p:txBody>
      </p:sp>
      <p:sp>
        <p:nvSpPr>
          <p:cNvPr id="57" name="body-3">
            <a:extLst xmlns:a="http://schemas.openxmlformats.org/drawingml/2006/main">
              <a:ext uri="{FF2B5EF4-FFF2-40B4-BE49-F238E27FC236}">
                <a16:creationId xmlns:a16="http://schemas.microsoft.com/office/drawing/2014/main" id="{021F426E-46ED-4E80-948B-2F11FB54F901}"/>
              </a:ext>
            </a:extLst>
          </p:cNvPr>
          <p:cNvSpPr>
            <a:spLocks xmlns:a="http://schemas.openxmlformats.org/drawingml/2006/main" noGrp="1"/>
          </p:cNvSpPr>
          <p:nvPr/>
        </p:nvSpPr>
        <p:spPr>
          <a:xfrm xmlns:a="http://schemas.openxmlformats.org/drawingml/2006/main">
            <a:off x="502920" y="511086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Re-running a simulation can replace its VCD and invalidate an earlier document trace hash. Retain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document evidence manifest or regenerate the measured figures after the positive run.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silently preserve an old chart while claiming it is the newly generated waveform.</a:t>
            </a:r>
          </a:p>
        </p:txBody>
      </p:sp>
      <p:sp>
        <p:nvSpPr>
          <p:cNvPr id="58" name="component-label-612.1333333333334">
            <a:extLst xmlns:a="http://schemas.openxmlformats.org/drawingml/2006/main">
              <a:ext uri="{FF2B5EF4-FFF2-40B4-BE49-F238E27FC236}">
                <a16:creationId xmlns:a16="http://schemas.microsoft.com/office/drawing/2014/main" id="{B753D87F-ABB1-41B1-8A0E-6073CAD49352}"/>
              </a:ext>
            </a:extLst>
          </p:cNvPr>
          <p:cNvSpPr>
            <a:spLocks xmlns:a="http://schemas.openxmlformats.org/drawingml/2006/main" noGrp="1"/>
          </p:cNvSpPr>
          <p:nvPr/>
        </p:nvSpPr>
        <p:spPr>
          <a:xfrm xmlns:a="http://schemas.openxmlformats.org/drawingml/2006/main">
            <a:off x="502920" y="583057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9" name="code-panel">
            <a:extLst xmlns:a="http://schemas.openxmlformats.org/drawingml/2006/main">
              <a:ext uri="{FF2B5EF4-FFF2-40B4-BE49-F238E27FC236}">
                <a16:creationId xmlns:a16="http://schemas.microsoft.com/office/drawing/2014/main" id="{7FB6A48B-D146-4931-AD04-833D8C32EDC3}"/>
              </a:ext>
            </a:extLst>
          </p:cNvPr>
          <p:cNvSpPr>
            <a:spLocks xmlns:a="http://schemas.openxmlformats.org/drawingml/2006/main" noGrp="1"/>
          </p:cNvSpPr>
          <p:nvPr/>
        </p:nvSpPr>
        <p:spPr>
          <a:xfrm xmlns:a="http://schemas.openxmlformats.org/drawingml/2006/main">
            <a:off x="502920" y="6095746"/>
            <a:ext cx="6556248" cy="14681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0" name="code">
            <a:extLst xmlns:a="http://schemas.openxmlformats.org/drawingml/2006/main">
              <a:ext uri="{FF2B5EF4-FFF2-40B4-BE49-F238E27FC236}">
                <a16:creationId xmlns:a16="http://schemas.microsoft.com/office/drawing/2014/main" id="{E33EDB37-7FB1-4F8B-BF8D-86ACE684C033}"/>
              </a:ext>
            </a:extLst>
          </p:cNvPr>
          <p:cNvSpPr>
            <a:spLocks xmlns:a="http://schemas.openxmlformats.org/drawingml/2006/main" noGrp="1"/>
          </p:cNvSpPr>
          <p:nvPr/>
        </p:nvSpPr>
        <p:spPr>
          <a:xfrm xmlns:a="http://schemas.openxmlformats.org/drawingml/2006/main">
            <a:off x="617220" y="6190996"/>
            <a:ext cx="6327648" cy="131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igny init</a:t>
            </a:r>
            <a:r>
              <a:rPr>
                <a:solidFill>
                  <a:srgbClr val="EF9529"/>
                </a:solidFill>
              </a:rPr>
              <a:t>
unset CRUCIBLE_ENV</a:t>
            </a:r>
            <a:r>
              <a:rPr>
                <a:solidFill>
                  <a:srgbClr val="EF9529"/>
                </a:solidFill>
              </a:rPr>
              <a:t>
cd hw/protocols/i2c</a:t>
            </a:r>
            <a:r>
              <a:rPr>
                <a:solidFill>
                  <a:srgbClr val="EF9529"/>
                </a:solidFill>
              </a:rPr>
              <a:t>
igny workspace sync</a:t>
            </a:r>
            <a:r>
              <a:rPr>
                <a:solidFill>
                  <a:srgbClr val="EF9529"/>
                </a:solidFill>
              </a:rPr>
              <a:t>
igny tool install klayout-stream</a:t>
            </a:r>
            <a:r>
              <a:rPr>
                <a:solidFill>
                  <a:srgbClr val="EF9529"/>
                </a:solidFill>
              </a:rPr>
              <a:t>
make lint sim</a:t>
            </a:r>
            <a:r>
              <a:rPr>
                <a:solidFill>
                  <a:srgbClr val="EF9529"/>
                </a:solidFill>
              </a:rPr>
              <a:t>
make flow</a:t>
            </a:r>
            <a:r>
              <a:rPr>
                <a:solidFill>
                  <a:srgbClr val="EF9529"/>
                </a:solidFill>
              </a:rPr>
              <a:t>
node verify_build.mjs all</a:t>
            </a:r>
          </a:p>
        </p:txBody>
      </p:sp>
      <p:sp>
        <p:nvSpPr>
          <p:cNvPr id="61" name="code-source">
            <a:extLst xmlns:a="http://schemas.openxmlformats.org/drawingml/2006/main">
              <a:ext uri="{FF2B5EF4-FFF2-40B4-BE49-F238E27FC236}">
                <a16:creationId xmlns:a16="http://schemas.microsoft.com/office/drawing/2014/main" id="{6BACB0A0-B0F9-42F8-A67E-521478E29236}"/>
              </a:ext>
            </a:extLst>
          </p:cNvPr>
          <p:cNvSpPr>
            <a:spLocks xmlns:a="http://schemas.openxmlformats.org/drawingml/2006/main" noGrp="1"/>
          </p:cNvSpPr>
          <p:nvPr/>
        </p:nvSpPr>
        <p:spPr>
          <a:xfrm xmlns:a="http://schemas.openxmlformats.org/drawingml/2006/main">
            <a:off x="502920" y="7621016"/>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Run after entering the repository in WSL login Bash; PDK required.</a:t>
            </a:r>
          </a:p>
        </p:txBody>
      </p:sp>
    </p:spTree>
    <p:extLst>
      <p:ext uri="{BB962C8B-B14F-4D97-AF65-F5344CB8AC3E}">
        <p14:creationId xmlns:p14="http://schemas.microsoft.com/office/powerpoint/2010/main" val="110332290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946bc647948d4e20"/>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9FB308F2-DA49-4981-A880-31A45B9DCF0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20 · SOURCES AND REMAINING WORK</a:t>
            </a:r>
          </a:p>
        </p:txBody>
      </p:sp>
      <p:sp>
        <p:nvSpPr>
          <p:cNvPr id="51" name="page-title">
            <a:extLst xmlns:a="http://schemas.openxmlformats.org/drawingml/2006/main">
              <a:ext uri="{FF2B5EF4-FFF2-40B4-BE49-F238E27FC236}">
                <a16:creationId xmlns:a16="http://schemas.microsoft.com/office/drawing/2014/main" id="{C71D422B-34F7-4454-B2A0-4F55A00C15F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Sources, ownership and remaining work</a:t>
            </a:r>
          </a:p>
        </p:txBody>
      </p:sp>
      <p:sp>
        <p:nvSpPr>
          <p:cNvPr id="52" name="intro">
            <a:extLst xmlns:a="http://schemas.openxmlformats.org/drawingml/2006/main">
              <a:ext uri="{FF2B5EF4-FFF2-40B4-BE49-F238E27FC236}">
                <a16:creationId xmlns:a16="http://schemas.microsoft.com/office/drawing/2014/main" id="{653C9876-8D46-4065-B884-2B5FF567AC0C}"/>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pinned revision identifies the baseline; local integration changes are described separately.</a:t>
            </a:r>
          </a:p>
        </p:txBody>
      </p:sp>
      <p:sp>
        <p:nvSpPr>
          <p:cNvPr id="53" name="component-label-225.93333333333334">
            <a:extLst xmlns:a="http://schemas.openxmlformats.org/drawingml/2006/main">
              <a:ext uri="{FF2B5EF4-FFF2-40B4-BE49-F238E27FC236}">
                <a16:creationId xmlns:a16="http://schemas.microsoft.com/office/drawing/2014/main" id="{71CB4133-51F8-4658-B20C-BCDB11FB8833}"/>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S   A N D   R E M A I N I N G   W O R K</a:t>
            </a:r>
          </a:p>
        </p:txBody>
      </p:sp>
      <p:sp>
        <p:nvSpPr>
          <p:cNvPr id="54" name="body-0">
            <a:extLst xmlns:a="http://schemas.openxmlformats.org/drawingml/2006/main">
              <a:ext uri="{FF2B5EF4-FFF2-40B4-BE49-F238E27FC236}">
                <a16:creationId xmlns:a16="http://schemas.microsoft.com/office/drawing/2014/main" id="{3CED7EFA-9C36-4F25-B8DF-55FDEA144062}"/>
              </a:ext>
            </a:extLst>
          </p:cNvPr>
          <p:cNvSpPr>
            <a:spLocks xmlns:a="http://schemas.openxmlformats.org/drawingml/2006/main" noGrp="1"/>
          </p:cNvSpPr>
          <p:nvPr/>
        </p:nvSpPr>
        <p:spPr>
          <a:xfrm xmlns:a="http://schemas.openxmlformats.org/drawingml/2006/main">
            <a:off x="502920" y="241719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Upstream: https://github.com/freecores/i2c
Pinned commit: 3b067f00ccced753b0502024766a51f58f3e04bc
Licence: Richard Herveille permission notice, 2001. Original </a:t>
            </a:r>
            <a:r>
              <a:rPr b="1"/>
              <a:t>source</a:t>
            </a:r>
            <a:r>
              <a:t> notices remain in the RTL. The
document is authored by Ignytion; this does not transfer ownership of upstream code or remove
its licence obligations.</a:t>
            </a:r>
          </a:p>
        </p:txBody>
      </p:sp>
      <p:sp>
        <p:nvSpPr>
          <p:cNvPr id="55" name="body-1">
            <a:extLst xmlns:a="http://schemas.openxmlformats.org/drawingml/2006/main">
              <a:ext uri="{FF2B5EF4-FFF2-40B4-BE49-F238E27FC236}">
                <a16:creationId xmlns:a16="http://schemas.microsoft.com/office/drawing/2014/main" id="{F4B50CCD-D815-4E76-96B9-987DC11073D3}"/>
              </a:ext>
            </a:extLst>
          </p:cNvPr>
          <p:cNvSpPr>
            <a:spLocks xmlns:a="http://schemas.openxmlformats.org/drawingml/2006/main" noGrp="1"/>
          </p:cNvSpPr>
          <p:nvPr/>
        </p:nvSpPr>
        <p:spPr>
          <a:xfrm xmlns:a="http://schemas.openxmlformats.org/drawingml/2006/main">
            <a:off x="502920" y="3493262"/>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Local modifications, directed test stimulus and </a:t>
            </a:r>
            <a:r>
              <a:rPr b="1"/>
              <a:t>source</a:t>
            </a:r>
            <a:r>
              <a:t> boundaries are recorded in
hw/protocols/i2c/README.md and the repository append-only .context.md. The first three
protocol lessons have separate editable 16:9 student decks; this A4 technical note is a reading and
evidence document, not a replacement for their instructor notes.</a:t>
            </a:r>
          </a:p>
        </p:txBody>
      </p:sp>
      <p:sp>
        <p:nvSpPr>
          <p:cNvPr id="56" name="body-2">
            <a:extLst xmlns:a="http://schemas.openxmlformats.org/drawingml/2006/main">
              <a:ext uri="{FF2B5EF4-FFF2-40B4-BE49-F238E27FC236}">
                <a16:creationId xmlns:a16="http://schemas.microsoft.com/office/drawing/2014/main" id="{3CEA501F-4375-4F34-8C47-FBEFE2FF9C69}"/>
              </a:ext>
            </a:extLst>
          </p:cNvPr>
          <p:cNvSpPr>
            <a:spLocks xmlns:a="http://schemas.openxmlformats.org/drawingml/2006/main" noGrp="1"/>
          </p:cNvSpPr>
          <p:nvPr/>
        </p:nvSpPr>
        <p:spPr>
          <a:xfrm xmlns:a="http://schemas.openxmlformats.org/drawingml/2006/main">
            <a:off x="502920" y="4391152"/>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Primary reading: NXP UM10204 Rev. 7 and TI SLVA689 for pull-up arithmetic.</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Canonical reading: https://cache.nxp.com/docs/en/user-guide/UM10204.pdf and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https://www.ti.com/lit/pdf/slva689</a:t>
            </a:r>
          </a:p>
        </p:txBody>
      </p:sp>
      <p:sp>
        <p:nvSpPr>
          <p:cNvPr id="57" name="body-3">
            <a:extLst xmlns:a="http://schemas.openxmlformats.org/drawingml/2006/main">
              <a:ext uri="{FF2B5EF4-FFF2-40B4-BE49-F238E27FC236}">
                <a16:creationId xmlns:a16="http://schemas.microsoft.com/office/drawing/2014/main" id="{92D89A5A-4F8C-4A8A-A98B-EB9FC59C98C6}"/>
              </a:ext>
            </a:extLst>
          </p:cNvPr>
          <p:cNvSpPr>
            <a:spLocks xmlns:a="http://schemas.openxmlformats.org/drawingml/2006/main" noGrp="1"/>
          </p:cNvSpPr>
          <p:nvPr/>
        </p:nvSpPr>
        <p:spPr>
          <a:xfrm xmlns:a="http://schemas.openxmlformats.org/drawingml/2006/main">
            <a:off x="502920" y="511086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 work remains explicit: Arbitration is not decisively tested. Stretching and repeated </a:t>
            </a:r>
            <a:r>
              <a:rPr b="1"/>
              <a:t>START</a:t>
            </a:r>
            <a:r>
              <a:t>
have indirect data/completion coverage only. Full-chip integration, manufacturing checks and
board validation are not closed by the standalone reference flow. The reader can reproduce the
listed evidence without assuming those larger obligations have already been completed.</a:t>
            </a:r>
          </a:p>
        </p:txBody>
      </p:sp>
    </p:spTree>
    <p:extLst>
      <p:ext uri="{BB962C8B-B14F-4D97-AF65-F5344CB8AC3E}">
        <p14:creationId xmlns:p14="http://schemas.microsoft.com/office/powerpoint/2010/main" val="110332290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c4e7cba6b2154ff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4DCF88C1-0380-4CF0-9120-D5A83B36C7A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21 · DESIGN VOCABULARY</a:t>
            </a:r>
          </a:p>
        </p:txBody>
      </p:sp>
      <p:sp>
        <p:nvSpPr>
          <p:cNvPr id="51" name="page-title">
            <a:extLst xmlns:a="http://schemas.openxmlformats.org/drawingml/2006/main">
              <a:ext uri="{FF2B5EF4-FFF2-40B4-BE49-F238E27FC236}">
                <a16:creationId xmlns:a16="http://schemas.microsoft.com/office/drawing/2014/main" id="{1AC6E1CC-13AD-42CA-AA0D-DC3161D16C7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design and protocol</a:t>
            </a:r>
          </a:p>
        </p:txBody>
      </p:sp>
      <p:sp>
        <p:nvSpPr>
          <p:cNvPr id="52" name="intro">
            <a:extLst xmlns:a="http://schemas.openxmlformats.org/drawingml/2006/main">
              <a:ext uri="{FF2B5EF4-FFF2-40B4-BE49-F238E27FC236}">
                <a16:creationId xmlns:a16="http://schemas.microsoft.com/office/drawing/2014/main" id="{9DD06ED1-F678-438B-852D-652481CE12DA}"/>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Definitions for reading the protocol rules and the checked RTL. Physical implementation</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terms follow on the next page.</a:t>
            </a:r>
          </a:p>
        </p:txBody>
      </p:sp>
      <p:sp>
        <p:nvSpPr>
          <p:cNvPr id="53" name="component-label-246.26666666666665">
            <a:extLst xmlns:a="http://schemas.openxmlformats.org/drawingml/2006/main">
              <a:ext uri="{FF2B5EF4-FFF2-40B4-BE49-F238E27FC236}">
                <a16:creationId xmlns:a16="http://schemas.microsoft.com/office/drawing/2014/main" id="{6EF67FBF-9683-461C-AA50-7D9EADD9094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D E S I G N   A N D   V E R I F I C A T I O N</a:t>
            </a:r>
          </a:p>
        </p:txBody>
      </p:sp>
      <p:graphicFrame>
        <p:nvGraphicFramePr>
          <p:cNvPr id="68" name=""/>
          <p:cNvGraphicFramePr/>
          <p:nvPr/>
        </p:nvGraphicFramePr>
        <p:xfrm>
          <a:off xmlns:a="http://schemas.openxmlformats.org/drawingml/2006/main" x="502920" y="2610866"/>
          <a:ext xmlns:a="http://schemas.openxmlformats.org/drawingml/2006/main" cx="6556248" cy="4548187"/>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Protocol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Rules for exchanging information between devices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Registers and the logic moving values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Verilog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 language used to describe hardware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FSM</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circuit progressing through defined states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source checks; no transaction execution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Testbench</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Code that supplies inputs and checks outputs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Coverage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Which defined situations were exercised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Negative control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An intentionally wrong case the checker must reject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VCD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Digital signal-change trace from a simulation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Handshake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Signals agreeing when data is accepted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ACK / NACK</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Ninth-bit acceptance / non-acceptance response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PRER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Two-byte clock prescaler register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Open drain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Drive low or release; never actively drive high</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Wishbone</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Local register bus, distinct from the serial I2C bus</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0332290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CF46FA8-6F7A-44EE-9116-085B6BB8B4B1}"/>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68dd2ebed2af4be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10599C3B-B688-4EBB-887B-42D1D4C0A9E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7BE0DB65-E801-4786-96BB-ED209951C865}"/>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I2C · RTL TO GDS · A BEGINNER'S WALKTHROUGH</a:t>
            </a:r>
          </a:p>
        </p:txBody>
      </p:sp>
      <p:sp>
        <p:nvSpPr>
          <p:cNvPr id="6" name="Rectangle 5">
            <a:extLst xmlns:a="http://schemas.openxmlformats.org/drawingml/2006/main">
              <a:ext uri="{FF2B5EF4-FFF2-40B4-BE49-F238E27FC236}">
                <a16:creationId xmlns:a16="http://schemas.microsoft.com/office/drawing/2014/main" id="{83999197-9982-4482-8D28-81CBE472F530}"/>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29C9EDA-DE7D-4D42-A46D-08B997BA7D03}"/>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2C6F709-E0A6-4269-885B-E8B6BF6A3A22}"/>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68B505E2-5B3A-4787-9D28-B04FB39508FC}"/>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4C255421-0229-4B09-B378-80FE5077062A}"/>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55F74BC-8B09-4CBC-BF5B-79E1064280F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22 · PHYSICAL VOCABULARY</a:t>
            </a:r>
          </a:p>
        </p:txBody>
      </p:sp>
      <p:sp>
        <p:nvSpPr>
          <p:cNvPr id="51" name="page-title">
            <a:extLst xmlns:a="http://schemas.openxmlformats.org/drawingml/2006/main">
              <a:ext uri="{FF2B5EF4-FFF2-40B4-BE49-F238E27FC236}">
                <a16:creationId xmlns:a16="http://schemas.microsoft.com/office/drawing/2014/main" id="{57543784-AE32-4986-8DD6-FEB758DED654}"/>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implementation and signoff</a:t>
            </a:r>
          </a:p>
        </p:txBody>
      </p:sp>
      <p:sp>
        <p:nvSpPr>
          <p:cNvPr id="52" name="intro">
            <a:extLst xmlns:a="http://schemas.openxmlformats.org/drawingml/2006/main">
              <a:ext uri="{FF2B5EF4-FFF2-40B4-BE49-F238E27FC236}">
                <a16:creationId xmlns:a16="http://schemas.microsoft.com/office/drawing/2014/main" id="{11823AC6-91CF-487D-B12D-338765C10AA3}"/>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These definitions help distinguish a successfully exported reference layout from a</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manufacturing-ready design.</a:t>
            </a:r>
          </a:p>
        </p:txBody>
      </p:sp>
      <p:sp>
        <p:nvSpPr>
          <p:cNvPr id="53" name="component-label-246.26666666666665">
            <a:extLst xmlns:a="http://schemas.openxmlformats.org/drawingml/2006/main">
              <a:ext uri="{FF2B5EF4-FFF2-40B4-BE49-F238E27FC236}">
                <a16:creationId xmlns:a16="http://schemas.microsoft.com/office/drawing/2014/main" id="{BABD507F-0D8B-4270-844B-781D75AA8E21}"/>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graphicFrame>
        <p:nvGraphicFramePr>
          <p:cNvPr id="68" name=""/>
          <p:cNvGraphicFramePr/>
          <p:nvPr/>
        </p:nvGraphicFramePr>
        <p:xfrm>
          <a:off xmlns:a="http://schemas.openxmlformats.org/drawingml/2006/main" x="502920" y="2610866"/>
          <a:ext xmlns:a="http://schemas.openxmlformats.org/drawingml/2006/main" cx="6556248" cy="545782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Translate RTL into a technology-cell circuit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Netlist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Cells and the connections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Standard cell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Predesigned logic/storage cell in a process library</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PDK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Process design kit: process-specific implementation files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SG13G2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process used by these reference builds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Floorplan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Die/core outline, rows, power and pin geometry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Choose legal positions for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Filler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row-site cell, not functional logic</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CTS / skew</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distribution / difference in arrival times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via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Metal connections / links between metal layers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Parasitics / SPEF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Wire resistance/capacitance / extracted data format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Corner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characterised process, voltage and temperature case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 / slack</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timing analysis / remaining timing margin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DEF /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Placement/routing exchange / polygon hierarchy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Check geometry against applicable process rules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Compare the extracted layout circuit with its netlist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Accepted applicable release checks; unperformed here</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0332290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2026-10-03T11:44:12.4090000Z</dcterms:created>
  <dcterms:modified xsi:type="dcterms:W3CDTF">2026-10-03T11:44:12.4090000Z</dcterms:modified>
</coreProperties>
</file>