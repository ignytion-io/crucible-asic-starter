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2b945a4964d491d" /><Relationship Type="http://schemas.openxmlformats.org/officeDocument/2006/relationships/extended-properties" Target="/docProps/app.xml" Id="Rba9f1fadf52640f9" /><Relationship Type="http://schemas.openxmlformats.org/officeDocument/2006/relationships/officeDocument" Target="/ppt/presentation.xml" Id="Rdbc0303c9dea40b6" /></Relationships>
</file>

<file path=ppt/presentation.xml><?xml version="1.0" encoding="utf-8"?>
<p:presentation xmlns:p="http://schemas.openxmlformats.org/presentationml/2006/main">
  <p:sldMasterIdLst>
    <p:sldMasterId xmlns:r="http://schemas.openxmlformats.org/officeDocument/2006/relationships" id="2147483648" r:id="Rdb468142f0894b86"/>
  </p:sldMasterIdLst>
  <p:notesMasterIdLst>
    <p:notesMasterId xmlns:r="http://schemas.openxmlformats.org/officeDocument/2006/relationships" r:id="R15c8f73410ab48ae"/>
  </p:notesMasterIdLst>
  <p:sldIdLst>
    <p:sldId xmlns:r="http://schemas.openxmlformats.org/officeDocument/2006/relationships" id="256" r:id="R43203f8b9ece4959"/>
    <p:sldId xmlns:r="http://schemas.openxmlformats.org/officeDocument/2006/relationships" id="257" r:id="R7eae9839f4d840c2"/>
    <p:sldId xmlns:r="http://schemas.openxmlformats.org/officeDocument/2006/relationships" id="258" r:id="R1d88083aae10487f"/>
    <p:sldId xmlns:r="http://schemas.openxmlformats.org/officeDocument/2006/relationships" id="259" r:id="R69cc322247994d22"/>
    <p:sldId xmlns:r="http://schemas.openxmlformats.org/officeDocument/2006/relationships" id="260" r:id="R354193ce0e6943fe"/>
    <p:sldId xmlns:r="http://schemas.openxmlformats.org/officeDocument/2006/relationships" id="261" r:id="R91f032f904104089"/>
    <p:sldId xmlns:r="http://schemas.openxmlformats.org/officeDocument/2006/relationships" id="262" r:id="Rc3c341158a55496f"/>
    <p:sldId xmlns:r="http://schemas.openxmlformats.org/officeDocument/2006/relationships" id="263" r:id="R5b3a949d979d4e9d"/>
    <p:sldId xmlns:r="http://schemas.openxmlformats.org/officeDocument/2006/relationships" id="264" r:id="R4c863ec240d64c13"/>
    <p:sldId xmlns:r="http://schemas.openxmlformats.org/officeDocument/2006/relationships" id="265" r:id="R3b9428b6183643e7"/>
    <p:sldId xmlns:r="http://schemas.openxmlformats.org/officeDocument/2006/relationships" id="266" r:id="Re93727fe8c474426"/>
    <p:sldId xmlns:r="http://schemas.openxmlformats.org/officeDocument/2006/relationships" id="267" r:id="Ra31dac53c34a4796"/>
    <p:sldId xmlns:r="http://schemas.openxmlformats.org/officeDocument/2006/relationships" id="268" r:id="R00b1dffe06fa4121"/>
    <p:sldId xmlns:r="http://schemas.openxmlformats.org/officeDocument/2006/relationships" id="269" r:id="R4986b840ab00429e"/>
    <p:sldId xmlns:r="http://schemas.openxmlformats.org/officeDocument/2006/relationships" id="270" r:id="Rb8cc719a13a942d6"/>
    <p:sldId xmlns:r="http://schemas.openxmlformats.org/officeDocument/2006/relationships" id="271" r:id="R722c25d36b9e4328"/>
    <p:sldId xmlns:r="http://schemas.openxmlformats.org/officeDocument/2006/relationships" id="272" r:id="Rfc067450ed7b4f2d"/>
    <p:sldId xmlns:r="http://schemas.openxmlformats.org/officeDocument/2006/relationships" id="273" r:id="Rfc8f4ad06c5d4275"/>
    <p:sldId xmlns:r="http://schemas.openxmlformats.org/officeDocument/2006/relationships" id="274" r:id="Rf703b8cbb6694162"/>
    <p:sldId xmlns:r="http://schemas.openxmlformats.org/officeDocument/2006/relationships" id="275" r:id="R3388d751b9d74eb8"/>
    <p:sldId xmlns:r="http://schemas.openxmlformats.org/officeDocument/2006/relationships" id="276" r:id="R14e64fde15a74d5c"/>
    <p:sldId xmlns:r="http://schemas.openxmlformats.org/officeDocument/2006/relationships" id="277" r:id="R13ce637f14594e79"/>
    <p:sldId xmlns:r="http://schemas.openxmlformats.org/officeDocument/2006/relationships" id="278" r:id="R78283dd3b4fd4ae4"/>
    <p:sldId xmlns:r="http://schemas.openxmlformats.org/officeDocument/2006/relationships" id="279" r:id="R8a905198055d43a7"/>
  </p:sldIdLst>
  <p:sldSz cx="7562850" cy="10688638"/>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133ff1dd9584581" /><Relationship Type="http://schemas.openxmlformats.org/officeDocument/2006/relationships/slideMaster" Target="/ppt/slideMasters/slideMaster1.xml" Id="Rdb468142f0894b86" /><Relationship Type="http://schemas.openxmlformats.org/officeDocument/2006/relationships/notesMaster" Target="/ppt/notesMasters/notesMaster1.xml" Id="R15c8f73410ab48ae" /><Relationship Type="http://schemas.openxmlformats.org/officeDocument/2006/relationships/presProps" Target="/ppt/presProps.xml" Id="Rdc5ab1308eab47a8" /><Relationship Type="http://schemas.openxmlformats.org/officeDocument/2006/relationships/viewProps" Target="/ppt/viewProps.xml" Id="Rb9f38b5db7224e29" /><Relationship Type="http://schemas.openxmlformats.org/officeDocument/2006/relationships/tableStyles" Target="/ppt/tableStyles.xml" Id="Re8742fdc83ce40e5" /><Relationship Type="http://schemas.openxmlformats.org/officeDocument/2006/relationships/slide" Target="/ppt/slides/slide1.xml" Id="R43203f8b9ece4959" /><Relationship Type="http://schemas.openxmlformats.org/officeDocument/2006/relationships/slide" Target="/ppt/slides/slide2.xml" Id="R7eae9839f4d840c2" /><Relationship Type="http://schemas.openxmlformats.org/officeDocument/2006/relationships/slide" Target="/ppt/slides/slide3.xml" Id="R1d88083aae10487f" /><Relationship Type="http://schemas.openxmlformats.org/officeDocument/2006/relationships/slide" Target="/ppt/slides/slide4.xml" Id="R69cc322247994d22" /><Relationship Type="http://schemas.openxmlformats.org/officeDocument/2006/relationships/slide" Target="/ppt/slides/slide5.xml" Id="R354193ce0e6943fe" /><Relationship Type="http://schemas.openxmlformats.org/officeDocument/2006/relationships/slide" Target="/ppt/slides/slide6.xml" Id="R91f032f904104089" /><Relationship Type="http://schemas.openxmlformats.org/officeDocument/2006/relationships/slide" Target="/ppt/slides/slide7.xml" Id="Rc3c341158a55496f" /><Relationship Type="http://schemas.openxmlformats.org/officeDocument/2006/relationships/slide" Target="/ppt/slides/slide8.xml" Id="R5b3a949d979d4e9d" /><Relationship Type="http://schemas.openxmlformats.org/officeDocument/2006/relationships/slide" Target="/ppt/slides/slide9.xml" Id="R4c863ec240d64c13" /><Relationship Type="http://schemas.openxmlformats.org/officeDocument/2006/relationships/slide" Target="/ppt/slides/slide10.xml" Id="R3b9428b6183643e7" /><Relationship Type="http://schemas.openxmlformats.org/officeDocument/2006/relationships/slide" Target="/ppt/slides/slide11.xml" Id="Re93727fe8c474426" /><Relationship Type="http://schemas.openxmlformats.org/officeDocument/2006/relationships/slide" Target="/ppt/slides/slide12.xml" Id="Ra31dac53c34a4796" /><Relationship Type="http://schemas.openxmlformats.org/officeDocument/2006/relationships/slide" Target="/ppt/slides/slide13.xml" Id="R00b1dffe06fa4121" /><Relationship Type="http://schemas.openxmlformats.org/officeDocument/2006/relationships/slide" Target="/ppt/slides/slide14.xml" Id="R4986b840ab00429e" /><Relationship Type="http://schemas.openxmlformats.org/officeDocument/2006/relationships/slide" Target="/ppt/slides/slide15.xml" Id="Rb8cc719a13a942d6" /><Relationship Type="http://schemas.openxmlformats.org/officeDocument/2006/relationships/slide" Target="/ppt/slides/slide16.xml" Id="R722c25d36b9e4328" /><Relationship Type="http://schemas.openxmlformats.org/officeDocument/2006/relationships/slide" Target="/ppt/slides/slide17.xml" Id="Rfc067450ed7b4f2d" /><Relationship Type="http://schemas.openxmlformats.org/officeDocument/2006/relationships/slide" Target="/ppt/slides/slide18.xml" Id="Rfc8f4ad06c5d4275" /><Relationship Type="http://schemas.openxmlformats.org/officeDocument/2006/relationships/slide" Target="/ppt/slides/slide19.xml" Id="Rf703b8cbb6694162" /><Relationship Type="http://schemas.openxmlformats.org/officeDocument/2006/relationships/slide" Target="/ppt/slides/slide20.xml" Id="R3388d751b9d74eb8" /><Relationship Type="http://schemas.openxmlformats.org/officeDocument/2006/relationships/slide" Target="/ppt/slides/slide21.xml" Id="R14e64fde15a74d5c" /><Relationship Type="http://schemas.openxmlformats.org/officeDocument/2006/relationships/slide" Target="/ppt/slides/slide22.xml" Id="R13ce637f14594e79" /><Relationship Type="http://schemas.openxmlformats.org/officeDocument/2006/relationships/slide" Target="/ppt/slides/slide23.xml" Id="R78283dd3b4fd4ae4" /><Relationship Type="http://schemas.openxmlformats.org/officeDocument/2006/relationships/slide" Target="/ppt/slides/slide24.xml" Id="R8a905198055d43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fda883224c48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0022e1e0c048bf" /><Relationship Type="http://schemas.openxmlformats.org/officeDocument/2006/relationships/notesMaster" Target="/ppt/notesMasters/notesMaster1.xml" Id="R26bfe1a58de847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9c821b38fa4452" /><Relationship Type="http://schemas.openxmlformats.org/officeDocument/2006/relationships/notesMaster" Target="/ppt/notesMasters/notesMaster1.xml" Id="R8a4cdde057f648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7a4d292c0a4afc" /><Relationship Type="http://schemas.openxmlformats.org/officeDocument/2006/relationships/notesMaster" Target="/ppt/notesMasters/notesMaster1.xml" Id="R67032d0f5ccd42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a6ce9a1eae44d5" /><Relationship Type="http://schemas.openxmlformats.org/officeDocument/2006/relationships/notesMaster" Target="/ppt/notesMasters/notesMaster1.xml" Id="R475115502ff345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c8509df7704f98" /><Relationship Type="http://schemas.openxmlformats.org/officeDocument/2006/relationships/notesMaster" Target="/ppt/notesMasters/notesMaster1.xml" Id="Rda9a6d82034b4c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dd01a4990646d2" /><Relationship Type="http://schemas.openxmlformats.org/officeDocument/2006/relationships/notesMaster" Target="/ppt/notesMasters/notesMaster1.xml" Id="Rbb77e139f0434e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ab747587764559" /><Relationship Type="http://schemas.openxmlformats.org/officeDocument/2006/relationships/notesMaster" Target="/ppt/notesMasters/notesMaster1.xml" Id="R6a20196d40094d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64bad9c8f7456b" /><Relationship Type="http://schemas.openxmlformats.org/officeDocument/2006/relationships/notesMaster" Target="/ppt/notesMasters/notesMaster1.xml" Id="R8bf439a0f34f40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f8a3ea322449c9" /><Relationship Type="http://schemas.openxmlformats.org/officeDocument/2006/relationships/notesMaster" Target="/ppt/notesMasters/notesMaster1.xml" Id="R0312d53e444a49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80b996a12947c5" /><Relationship Type="http://schemas.openxmlformats.org/officeDocument/2006/relationships/notesMaster" Target="/ppt/notesMasters/notesMaster1.xml" Id="R25415e46f4924d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0bfcd76d6f44c9" /><Relationship Type="http://schemas.openxmlformats.org/officeDocument/2006/relationships/notesMaster" Target="/ppt/notesMasters/notesMaster1.xml" Id="Rf20f2627d1f045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77fc57e9014629" /><Relationship Type="http://schemas.openxmlformats.org/officeDocument/2006/relationships/notesMaster" Target="/ppt/notesMasters/notesMaster1.xml" Id="R0185e49f294946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4e511909644be6" /><Relationship Type="http://schemas.openxmlformats.org/officeDocument/2006/relationships/notesMaster" Target="/ppt/notesMasters/notesMaster1.xml" Id="Ra4fe89d089d948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ab6b0b1e7e48fd" /><Relationship Type="http://schemas.openxmlformats.org/officeDocument/2006/relationships/notesMaster" Target="/ppt/notesMasters/notesMaster1.xml" Id="Re8a09b3f749a4a2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411c593f2a47d1" /><Relationship Type="http://schemas.openxmlformats.org/officeDocument/2006/relationships/notesMaster" Target="/ppt/notesMasters/notesMaster1.xml" Id="Reba8d700876141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e847ae2169d4262" /><Relationship Type="http://schemas.openxmlformats.org/officeDocument/2006/relationships/notesMaster" Target="/ppt/notesMasters/notesMaster1.xml" Id="R80caf462c985411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408c0731244b50" /><Relationship Type="http://schemas.openxmlformats.org/officeDocument/2006/relationships/notesMaster" Target="/ppt/notesMasters/notesMaster1.xml" Id="R946a203a8dd042a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144e36348f404f" /><Relationship Type="http://schemas.openxmlformats.org/officeDocument/2006/relationships/notesMaster" Target="/ppt/notesMasters/notesMaster1.xml" Id="Rfcb25a534c7f42e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1eb503757fd48da" /><Relationship Type="http://schemas.openxmlformats.org/officeDocument/2006/relationships/notesMaster" Target="/ppt/notesMasters/notesMaster1.xml" Id="R0762c2cddc51467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4534fd4bcef43cc" /><Relationship Type="http://schemas.openxmlformats.org/officeDocument/2006/relationships/notesMaster" Target="/ppt/notesMasters/notesMaster1.xml" Id="R6d2bba39f29b4ee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431a83de33b4c12" /><Relationship Type="http://schemas.openxmlformats.org/officeDocument/2006/relationships/notesMaster" Target="/ppt/notesMasters/notesMaster1.xml" Id="R212c2049441045f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c3cb9d5e3bd4705" /><Relationship Type="http://schemas.openxmlformats.org/officeDocument/2006/relationships/notesMaster" Target="/ppt/notesMasters/notesMaster1.xml" Id="R61c61de3072a42a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541d660a876428b" /><Relationship Type="http://schemas.openxmlformats.org/officeDocument/2006/relationships/notesMaster" Target="/ppt/notesMasters/notesMaster1.xml" Id="R9d12d264f1f448a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f7be13adf2842db" /><Relationship Type="http://schemas.openxmlformats.org/officeDocument/2006/relationships/notesMaster" Target="/ppt/notesMasters/notesMaster1.xml" Id="R4e2205a92cb74e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Follow spi_core from its communication rules and Verilog source to a routed IHP SG13G2 layout. Worked calculations, measured digital traces and tool results are identified separately. This is an educational block, not a manufactured chip or a signoff-ready design.</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A Verilog description represents circuits, not software instructions running one after another. Registers remember values; combinational logic calculates the next values. A clock advances the registered state. The next pages first explain this protocol at its wires, then connect those rules to the actual reference RTL.</a:t>
            </a:r>
          </a:p>
          <a:p xmlns:a="http://schemas.openxmlformats.org/drawingml/2006/main">
            <a:r>
              <a:t/>
            </a:r>
          </a:p>
          <a:p xmlns:a="http://schemas.openxmlformats.org/drawingml/2006/main">
            <a:r>
              <a:t>The implemented unit is spi_core in hw/protocols/spi. It is a fixed reference block, not the Jane Street programmable combined emulator or a Tiny Tapeout submission top. No new competition architecture, instruction set, pin map or authority decision is implied by these documents.</a:t>
            </a:r>
          </a:p>
          <a:p xmlns:a="http://schemas.openxmlformats.org/drawingml/2006/main">
            <a:r>
              <a:t/>
            </a:r>
          </a:p>
          <a:p xmlns:a="http://schemas.openxmlformats.org/drawingml/2006/main">
            <a:r>
              <a:t>Only four mode/divider pairs are tested; the hardened core is mode 0, divider 2. General multi-byte CS envelopes are absent. Later pages give the exact stimulus and the implementation evidence rather than using a broad protocol-compliant label. A successful mapped netlist, routed DEF and decoded GDS establish concrete implementation/export results, not readiness to manufacture.</a:t>
            </a:r>
          </a:p>
          <a:p xmlns:a="http://schemas.openxmlformats.org/drawingml/2006/main">
            <a:r>
              <a:t/>
            </a:r>
          </a:p>
          <a:p xmlns:a="http://schemas.openxmlformats.org/drawingml/2006/main">
            <a:r>
              <a:t>The reading path starts with chip-design vocabulary, then develops the protocol, calculations, local interface and failure cases. Separate sections explain lint, simulation, synthesis, placement, routing, timing and GDS. The last two pages define design and physical terms. No prior ASIC-flow experience is assumed.</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RTL states what hardware should do. A simulator checks selected input sequences before any silicon exists. Synthesis replaces that description with gates from a process library. Physical tools choose positions and metal routes. Timing analysis checks the resulting delays; stream-out writes the mask-layout geometry.</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The repository keeps conventional MOSI/MISO names. Multiple peripherals generally share clock and data, with separate chip-select signals. Only the selected peripheral should drive a shared MISO.</a:t>
            </a:r>
          </a:p>
          <a:p xmlns:a="http://schemas.openxmlformats.org/drawingml/2006/main">
            <a:r>
              <a:t/>
            </a:r>
          </a:p>
          <a:p xmlns:a="http://schemas.openxmlformats.org/drawingml/2006/main">
            <a:r>
              <a:t>A full-duplex transfer does not double the clock count: both wires carry a bit in each period. An implementation may write each bit by index, as this core does, rather than literally shift a register; both can produce the same assembled byte. The outgoing value and incoming value need not match.</a:t>
            </a:r>
          </a:p>
          <a:p xmlns:a="http://schemas.openxmlformats.org/drawingml/2006/main">
            <a:r>
              <a:t/>
            </a:r>
          </a:p>
          <a:p xmlns:a="http://schemas.openxmlformats.org/drawingml/2006/main">
            <a:r>
              <a:t>Unselected peripherals need appropriate high-impedance behaviour if MISO is shared. Two simultaneously selected push-pull devices can contend, unlike I2C open-drain arbitration. A board that uses separate MISO wires has a different topology. The present unit represents one peripheral selection and has no multi-CS decoder; this section explains system wiring rather than claiming that logic already exists.</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With CPOL one, leading is falling. These relative names simplify the mode table. The bus should settle to its configured idle polarity before and after a transaction.</a:t>
            </a:r>
          </a:p>
          <a:p xmlns:a="http://schemas.openxmlformats.org/drawingml/2006/main">
            <a:r>
              <a:t/>
            </a:r>
          </a:p>
          <a:p xmlns:a="http://schemas.openxmlformats.org/drawingml/2006/main">
            <a:r>
              <a:t>For CPHA zero, the first data bit must be available before the first leading edge. For CPHA one, the first leading edge launches data and the trailing edge samples it. Incorrect phase often yields a one-bit shift.</a:t>
            </a:r>
          </a:p>
          <a:p xmlns:a="http://schemas.openxmlformats.org/drawingml/2006/main">
            <a:r>
              <a:t/>
            </a:r>
          </a:p>
          <a:p xmlns:a="http://schemas.openxmlformats.org/drawingml/2006/main">
            <a:r>
              <a:t>A mode mismatch does not necessarily produce a clean error flag, because SPI has no mandatory acknowledgement or checksum.</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With half-bit divider D, the serial frequency is fcore / (2D). The 50 MHz physical reference with D=2 therefore has a nominal 12.5 MHz SCLK and a 640 ns eight-bit wire interval. D=3 would give 8.333 MHz and 960 ns, but that is a different elaborated configuration. Handshake and CS overhead add to these wire-only durations.</a:t>
            </a:r>
          </a:p>
          <a:p xmlns:a="http://schemas.openxmlformats.org/drawingml/2006/main">
            <a:r>
              <a:t/>
            </a:r>
          </a:p>
          <a:p xmlns:a="http://schemas.openxmlformats.org/drawingml/2006/main">
            <a:r>
              <a:t>The bench uses a 100 MHz core, not 50 MHz. Its mode-0 D=2 measured transaction therefore has a 40 ns SCLK period, 25 MHz SCLK and 320 ns across eight periods. These numbers describe the regression only; they do not certify the hardened block at a 100 MHz core clock.</a:t>
            </a:r>
          </a:p>
          <a:p xmlns:a="http://schemas.openxmlformats.org/drawingml/2006/main">
            <a:r>
              <a:t/>
            </a:r>
          </a:p>
          <a:p xmlns:a="http://schemas.openxmlformats.org/drawingml/2006/main">
            <a:r>
              <a:t>A separate board-budget example assumes a 40 ns half-period, 5 ns peripheral clock-to-output, 2 ns round-trip delay and 3 ns receiver setup. The remaining 30 ns is arithmetic margin before pad delay, skew and uncertainty. Internal STA closure at the core clock is not proof of the external peripheral timing contract.</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spi_core wraps the pinned Nandland SPI_Master. The interface is a launch-pulse contract, not an arbitrary AXI stream. There is no rx_ready input to apply receive backpressure. Upstream ready may initially require clocks after reset to settle. Software or a surrounding controller must observe the documented handshake.</a:t>
            </a:r>
          </a:p>
          <a:p xmlns:a="http://schemas.openxmlformats.org/drawingml/2006/main">
            <a:r>
              <a:t/>
            </a:r>
          </a:p>
          <a:p xmlns:a="http://schemas.openxmlformats.org/drawingml/2006/main">
            <a:r>
              <a:t>The one-cycle delayed valid supports the first-bit preload path. Once the byte has been accepted, the source may change its input data because the core holds a copy. However i_TX_DV is a pulse contract, not a general sustained ready-valid stream. Holding it high retriggers the clock-edge setup logic, which is a misuse of this interface.</a:t>
            </a:r>
          </a:p>
          <a:p xmlns:a="http://schemas.openxmlformats.org/drawingml/2006/main">
            <a:r>
              <a:t/>
            </a:r>
          </a:p>
          <a:p xmlns:a="http://schemas.openxmlformats.org/drawingml/2006/main">
            <a:r>
              <a:t>The entire CS behaviour is this expression, which makes its limited contract easy to inspect. It is not a command sequencer with programmable CS setup/hold or a multi-byte length register. Preserve this boundary in lab exercises.</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A request loads sixteen edge events for an eight-bit transfer. The divider produces leading and trailing flags; TX and RX processes use those flags according to CPHA. The engine returns ready once no edges remain. Keeping valid asserted reloads the counter, so a normal ready-valid producer cannot be attached without adapting the contract. This is a source-derived misuse warning, not a separately measured injected-failure scenario.</a:t>
            </a:r>
          </a:p>
          <a:p xmlns:a="http://schemas.openxmlformats.org/drawingml/2006/main">
            <a:r>
              <a:t/>
            </a:r>
          </a:p>
          <a:p xmlns:a="http://schemas.openxmlformats.org/drawingml/2006/main">
            <a:r>
              <a:t>The inspected source comes directly from the pinned upstream implementation. r_RX_Bit_Count selects the destination bit, so no shift operator is required. o_RX_DV is a completion pulse and has no receive ready signal. A downstream consumer must capture the byte when that pulse appears.</a:t>
            </a:r>
          </a:p>
          <a:p xmlns:a="http://schemas.openxmlformats.org/drawingml/2006/main">
            <a:r>
              <a:t/>
            </a:r>
          </a:p>
          <a:p xmlns:a="http://schemas.openxmlformats.org/drawingml/2006/main">
            <a:r>
              <a:t>The bench interrupts an active transfer with reset and checks recovery. Physical reset integration still requires reset-domain analysis. The core clock should keep running for reset release. Lint reports a mixed synchronous/asynchronous use associated with the synchroniser, which remains documented rather than being hidden.</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A hypothetical flash read can use the five-byte sequence 03 00 01 02 00: command 03, a three-byte address 000102, then a dummy transmit byte during which data returns. At 12.5 MHz, forty SCLK periods take 3.2 us before selection and handshake overhead. The device convention must be checked against its data sheet. The current byte wrapper cannot preserve one CS envelope across this complete command.</a:t>
            </a:r>
          </a:p>
          <a:p xmlns:a="http://schemas.openxmlformats.org/drawingml/2006/main">
            <a:r>
              <a:t/>
            </a:r>
          </a:p>
          <a:p xmlns:a="http://schemas.openxmlformats.org/drawingml/2006/main">
            <a:r>
              <a:t>This is a hypothetical classic three-byte-address read convention; verify the actual flash data sheet before using it. The present wrapper asserts CS for a single byte envelope and does not implement a general multi-byte transaction controller. Five transferred bytes take forty SCLK periods, but keeping CS asserted across them requires another transaction-level design.</a:t>
            </a:r>
          </a:p>
          <a:p xmlns:a="http://schemas.openxmlformats.org/drawingml/2006/main">
            <a:r>
              <a:t/>
            </a:r>
          </a:p>
          <a:p xmlns:a="http://schemas.openxmlformats.org/drawingml/2006/main">
            <a:r>
              <a:t>The local regression exhausts byte values, which makes it less likely that a lucky test pattern hides a reversal.</a:t>
            </a:r>
          </a:p>
          <a:p xmlns:a="http://schemas.openxmlformats.org/drawingml/2006/main">
            <a:r>
              <a:t/>
            </a:r>
          </a:p>
          <a:p xmlns:a="http://schemas.openxmlformats.org/drawingml/2006/main">
            <a:r>
              <a:t>One-bit shifts suggest an edge/phase mismatch; all ones can indicate an undriven pulled-up MISO line. Signal-integrity failures may depend on frequency or wiring. These are diagnostic candidates rather than guarantees; inspect the actual peripheral electrical interface and timing.</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The selected peripheral model returns the complement of each transmitted byte. With MOSI A5, MISO must therefore be 5A. Eight rising SCLK edges inside the active-low CS interval are reconstructed separately for each data wire. Success is not inferred by looping the controller output into its input.</a:t>
            </a:r>
          </a:p>
          <a:p xmlns:a="http://schemas.openxmlformats.org/drawingml/2006/main">
            <a:r>
              <a:t/>
            </a:r>
          </a:p>
          <a:p xmlns:a="http://schemas.openxmlformats.org/drawingml/2006/main">
            <a:r>
              <a:t>Successive rising edges are 40 ns apart: this trace uses the 100 MHz bench clock and divider 2, giving 25 MHz SCLK. The four ideal mode illustrations in the student lesson instead use MISO 3C to demonstrate sampling-edge logic. That deliberate example value is not the responder value measured here. The VCD hash and trace decode remain attached to the figure data.</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Mode 0: eight rising SCLK edges decode MOSI A5 and independent MISO 5A. Divider 2, 100 MHz simulation core, measured SCLK period 40 ns (25 MHz). Physical reference core target is separately 50 MHz.</a:t>
            </a:r>
          </a:p>
          <a:p xmlns:a="http://schemas.openxmlformats.org/drawingml/2006/main">
            <a:r>
              <a:t>Source VCD hw/protocols/spi/02_sim/spi_core.vcd</a:t>
            </a:r>
          </a:p>
          <a:p xmlns:a="http://schemas.openxmlformats.org/drawingml/2006/main">
            <a:r>
              <a:t>SHA256 c509ff00fb97b21521d32bf028792999d14e6a00aa24e581d1d14ed81c4c80ba</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The retained report contains 1 warning messages and 0 error messages. Categories present: SYNCASYNCNET. These figures count report message headers; repeated warnings are not necessarily independent defects. The report is hashed in this document evidence manifest.</a:t>
            </a:r>
          </a:p>
          <a:p xmlns:a="http://schemas.openxmlformats.org/drawingml/2006/main">
            <a:r>
              <a:t/>
            </a:r>
          </a:p>
          <a:p xmlns:a="http://schemas.openxmlformats.org/drawingml/2006/main">
            <a:r>
              <a:t>The invocation deliberately uses -Wno-fatal so warnings remain visible while lint execution can complete. A successful command therefore does not mean every warning was resolved. Width changes, incomplete cases, reset use and unconnected ports need review against the wrapper contract and directed tests.</a:t>
            </a:r>
          </a:p>
          <a:p xmlns:a="http://schemas.openxmlformats.org/drawingml/2006/main">
            <a:r>
              <a:t/>
            </a:r>
          </a:p>
          <a:p xmlns:a="http://schemas.openxmlformats.org/drawingml/2006/main">
            <a:r>
              <a:t>Lint cannot show that a receive byte is correct, that a transaction finishes, or that an external electrical interface is safe. Those questions require a checking testbench, implementation evidence and separate board or signoff work.</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The bench instantiates mode 0 with divider 2, mode 1 with divider 3, mode 2 with divider 2 and mode 3 with divider 3. Each checks all 256 transmitted byte values against an independently generated complementary receive byte. The mode and divider are correlated; this is not a four-mode by two-divider cross product.</a:t>
            </a:r>
          </a:p>
          <a:p xmlns:a="http://schemas.openxmlformats.org/drawingml/2006/main">
            <a:r>
              <a:t/>
            </a:r>
          </a:p>
          <a:p xmlns:a="http://schemas.openxmlformats.org/drawingml/2006/main">
            <a:r>
              <a:t>The real hardened wrapper fixes mode 0 and divider 2. Other modes appearing in simulation do not mean that configuration can be changed after fabrication. Likewise, general continuous multi-byte CS framing, multiple peripheral selection and held-valid misuse are not established by the directed byte tests.</a:t>
            </a:r>
          </a:p>
          <a:p xmlns:a="http://schemas.openxmlformats.org/drawingml/2006/main">
            <a:r>
              <a:t/>
            </a:r>
          </a:p>
          <a:p xmlns:a="http://schemas.openxmlformats.org/drawingml/2006/main">
            <a:r>
              <a:t>A deliberately wrong receive-byte expectation causes a fatal run. Edge and CS checks accompany the data comparison. The checker distinguishes a correct byte from mere end-of-simulation, while still leaving external pad timing and peripheral compatibility outside this proof.</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A process design kit, or PDK, contains the process-specific files used by implementation tools. This reference uses IHP SG13G2, not the SKY130 library used by the golden APB primer. Standard cells are predesigned gates and storage elements with characterised timing and physical views.</a:t>
            </a:r>
          </a:p>
          <a:p xmlns:a="http://schemas.openxmlformats.org/drawingml/2006/main">
            <a:r>
              <a:t/>
            </a:r>
          </a:p>
          <a:p xmlns:a="http://schemas.openxmlformats.org/drawingml/2006/main">
            <a:r>
              <a:t>The source is compiled and checked under the unit workspace before synthesis. Yosys maps the functional logic into the pinned IHP SG13G2 standard-cell library. The current netlist contains 131 functional cells, excluding $scopeinfo metadata. The structural checker rejects remaining generic logic, latches or unresolved instances.</a:t>
            </a:r>
          </a:p>
          <a:p xmlns:a="http://schemas.openxmlformats.org/drawingml/2006/main">
            <a:r>
              <a:t/>
            </a:r>
          </a:p>
          <a:p xmlns:a="http://schemas.openxmlformats.org/drawingml/2006/main">
            <a:r>
              <a:t>The mapped count excludes $scopeinfo metadata. It is not the count of every placed instance after clock buffers, repair cells and fillers are added. It also does not mean that the original protocol has been independently proven for all possible transactions.</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The die outline for this standalone block is 300 x 300 um. The floorplan establishes rows and reference power/pin geometry. The placer must fit cells legally without overlaps and with room for routing. This is a block-level educational layout, not a complete padframe or package design.</a:t>
            </a:r>
          </a:p>
          <a:p xmlns:a="http://schemas.openxmlformats.org/drawingml/2006/main">
            <a:r>
              <a:t/>
            </a:r>
          </a:p>
          <a:p xmlns:a="http://schemas.openxmlformats.org/drawingml/2006/main">
            <a:r>
              <a:t>Mapped functional logic has 131 cells. After physical additions and fillers, the routed DEF contains 17,622 placed standard-cell instances. A filler occupies empty row sites; it is not another functional logic gate. That distinction explains why the two counts differ so much.</a:t>
            </a:r>
          </a:p>
          <a:p xmlns:a="http://schemas.openxmlformats.org/drawingml/2006/main">
            <a:r>
              <a:t/>
            </a:r>
          </a:p>
          <a:p xmlns:a="http://schemas.openxmlformats.org/drawingml/2006/main">
            <a:r>
              <a:t>Utilisation is the fraction of core area occupied by placed cell area. It is not simply functional-cell count divided by die size, and it changes between stages. This note does not substitute APB utilisation, row count or I/O count for unavailable protocol-specific measurements.</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A register samples its input at a clock edge. Clock buffers distribute that edge across the block; the difference in arrival times is called skew. The reference is constrained at 50 MHz / 20 ns.</a:t>
            </a:r>
          </a:p>
          <a:p xmlns:a="http://schemas.openxmlformats.org/drawingml/2006/main">
            <a:r>
              <a:t/>
            </a:r>
          </a:p>
          <a:p xmlns:a="http://schemas.openxmlformats.org/drawingml/2006/main">
            <a:r>
              <a:t>OpenROAD completes the staged physical flow. The reference die is 300 x 300 um. DEF records routed design geometry and cell placement; SPEF captures extracted parasitics used by the timing analysis. The scripts retain stage-specific output so the result can be investigated instead of relying on a final banner.</a:t>
            </a:r>
          </a:p>
          <a:p xmlns:a="http://schemas.openxmlformats.org/drawingml/2006/main">
            <a:r>
              <a:t/>
            </a:r>
          </a:p>
          <a:p xmlns:a="http://schemas.openxmlformats.org/drawingml/2006/main">
            <a:r>
              <a:t>Real interconnect has resistance and capacitance, called parasitics. Extraction writes these in SPEF for post-route timing. The retained router-rule DRC file is empty. That checks the router view of its work; it is not a full foundry-deck check of the exported polygons.</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The physical clock constraint is 50 MHz / 20 ns. Post-route timing uses the extracted design rather than an ideal pre-route wire estimate. The report at each corner must be inspected for worst setup and hold slack and for VIOLATED markers. The reported values are not a timing guarantee under unstated board, voltage or temperature conditions.</a:t>
            </a:r>
          </a:p>
          <a:p xmlns:a="http://schemas.openxmlformats.org/drawingml/2006/main">
            <a:r>
              <a:t/>
            </a:r>
          </a:p>
          <a:p xmlns:a="http://schemas.openxmlformats.org/drawingml/2006/main">
            <a:r>
              <a:t>Current TT setup/hold slack is +15.79 / +0.17 ns. The slow-corner values are +15.73 / +0.33 ns. Both reports contain no VIOLATED marker. These numbers are taken directly from the local report files at document build time; the evidence manifest retains their hashes.</a:t>
            </a:r>
          </a:p>
          <a:p xmlns:a="http://schemas.openxmlformats.org/drawingml/2006/main">
            <a:r>
              <a:t/>
            </a:r>
          </a:p>
          <a:p xmlns:a="http://schemas.openxmlformats.org/drawingml/2006/main">
            <a:r>
              <a:t>I/O delays are reference budgets, not a contract with an external target, transceiver or PHY. Bus synchronisation, reset recovery/removal, all additional corners and modes, signal integrity and board timing need their own analysis. Positive slack in these two reports is therefore called reference timing closure, not foundry or system signoff.</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The GDS file contains 1,060,628 bytes and 41 structures. The independent decoder finds 17,622 placed standard-cell instances including fillers. That placement count is intentionally much larger than the 131 mapped functional cells: filler instances occupy unused placement sites and structures are unique hierarchy definitions.</a:t>
            </a:r>
          </a:p>
          <a:p xmlns:a="http://schemas.openxmlformats.org/drawingml/2006/main">
            <a:r>
              <a:t/>
            </a:r>
          </a:p>
          <a:p xmlns:a="http://schemas.openxmlformats.org/drawingml/2006/main">
            <a:r>
              <a:t>The decoder compares exported cell identities, coordinates and orientations against the routed DEF. A deliberately altered placement/export expectation fails, including under Python optimisation, so acceptance is not implemented with removable assert-only checks. Raw file SHA256 is a run-specific fingerprint because stream-out timestamps can change.</a:t>
            </a:r>
          </a:p>
          <a:p xmlns:a="http://schemas.openxmlformats.org/drawingml/2006/main">
            <a:r>
              <a:t/>
            </a:r>
          </a:p>
          <a:p xmlns:a="http://schemas.openxmlformats.org/drawingml/2006/main">
            <a:r>
              <a:t>The OpenROAD router-rule DRC report is empty. It is not a foundry-deck DRC result. LVS, antenna, scan/DFT, power integrity, padframe, tap/endcap strategy and manufacturing signoff remain unperformed. No empty routing report is promoted into a DRC-clean tapeout claim.</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Foundry DRC requires the applicable, qualified rule deck and an inspected report on the final polygons. Typical checks include minimum widths, spacing and enclosure. No foundry-deck DRC result has been accepted for this protocol reference. The router report is narrower evidence.</a:t>
            </a:r>
          </a:p>
          <a:p xmlns:a="http://schemas.openxmlformats.org/drawingml/2006/main">
            <a:r>
              <a:t/>
            </a:r>
          </a:p>
          <a:p xmlns:a="http://schemas.openxmlformats.org/drawingml/2006/main">
            <a:r>
              <a:t>LVS requires extracting a circuit from the layout and comparing devices and connectivity with the intended circuit. A structural GDS decoder checking cell references, coordinates and orientations does not perform that extraction or connectivity comparison. No accepted LVS match is available.</a:t>
            </a:r>
          </a:p>
          <a:p xmlns:a="http://schemas.openxmlformats.org/drawingml/2006/main">
            <a:r>
              <a:t/>
            </a:r>
          </a:p>
          <a:p xmlns:a="http://schemas.openxmlformats.org/drawingml/2006/main">
            <a:r>
              <a:t>Antenna, scan/DFT, power integrity, padframe, tap/endcap strategy and manufacturing release remain unperformed. The golden APB primer reports its own separate checks; those results do not transfer to SG13G2 or to this design.</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The directed functional result and the physical export result are both useful, but they prove different things. The physical build uses the fixed wrapper configuration and reference constraints. Additional modes, external peripherals, arbitrary clock relationships and board operation require their own evidence.</a:t>
            </a:r>
          </a:p>
          <a:p xmlns:a="http://schemas.openxmlformats.org/drawingml/2006/main">
            <a:r>
              <a:t/>
            </a:r>
          </a:p>
          <a:p xmlns:a="http://schemas.openxmlformats.org/drawingml/2006/main">
            <a:r>
              <a:t>Important protocol boundary: Only four mode/divider pairs are tested; the hardened core is mode 0, divider 2. General multi-byte CS envelopes are absent.</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The proven entry point is a WSL login Bash shell. igny init prepares the packaging runtime. Unsetting CRUCIBLE_ENV after initialisation allows the unit crucible.toml workspace selection to control tool resolution rather than an inherited environment override. This is the observed workflow, not a change to Crucible internals.</a:t>
            </a:r>
          </a:p>
          <a:p xmlns:a="http://schemas.openxmlformats.org/drawingml/2006/main">
            <a:r>
              <a:t/>
            </a:r>
          </a:p>
          <a:p xmlns:a="http://schemas.openxmlformats.org/drawingml/2006/main">
            <a:r>
              <a:t>Each unit has its existing environment and lock. The common tool set includes Icarus, Verilator, Yosys, OpenROAD and klayout-stream. The separate PDK checkout is IHP SG13G2 revision 22f43352dd8219f9007eb659e422e0d5fe28c5fb. A tool lock does not pin that external PDK by itself; IHP_PDK_ROOT must point to the matching installation.</a:t>
            </a:r>
          </a:p>
          <a:p xmlns:a="http://schemas.openxmlformats.org/drawingml/2006/main">
            <a:r>
              <a:t/>
            </a:r>
          </a:p>
          <a:p xmlns:a="http://schemas.openxmlformats.org/drawingml/2006/main">
            <a:r>
              <a:t>The documented machine could not use the pip klayout package as the expected stream-out executable; igny tool install klayout-stream supplies the proven converter. make lint sim checks functional behaviour, make flow executes the staged implementation, and node verify_build.mjs all inspects artifacts. Review normal and intentionally failing logs before accepting the result.</a:t>
            </a:r>
          </a:p>
          <a:p xmlns:a="http://schemas.openxmlformats.org/drawingml/2006/main">
            <a:r>
              <a:t/>
            </a:r>
          </a:p>
          <a:p xmlns:a="http://schemas.openxmlformats.org/drawingml/2006/main">
            <a:r>
              <a:t>Re-running a simulation can replace its VCD and invalidate an earlier document trace hash. Retain a document evidence manifest or regenerate the measured figures after the positive run. Do not silently preserve an old chart while claiming it is the newly generated waveform.</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Upstream: https://github.com/nandland/spi-master</a:t>
            </a:r>
          </a:p>
          <a:p xmlns:a="http://schemas.openxmlformats.org/drawingml/2006/main">
            <a:r>
              <a:t>Pinned commit: 1ab581969f8ea2f794072a144b55cd74e5a54f34</a:t>
            </a:r>
          </a:p>
          <a:p xmlns:a="http://schemas.openxmlformats.org/drawingml/2006/main">
            <a:r>
              <a:t>Licence: MIT, russell-merrick, 2019. Original source notices remain in the RTL. The document is authored by Ignytion; this does not transfer ownership of upstream code or remove its licence obligations.</a:t>
            </a:r>
          </a:p>
          <a:p xmlns:a="http://schemas.openxmlformats.org/drawingml/2006/main">
            <a:r>
              <a:t/>
            </a:r>
          </a:p>
          <a:p xmlns:a="http://schemas.openxmlformats.org/drawingml/2006/main">
            <a:r>
              <a:t>Local modifications, directed test stimulus and source boundaries are recorded in hw/protocols/spi/README.md and the repository append-only .context.md. The first three protocol lessons have separate editable 16:9 student decks; this A4 technical note is a reading and evidence document, not a replacement for their instructor notes.</a:t>
            </a:r>
          </a:p>
          <a:p xmlns:a="http://schemas.openxmlformats.org/drawingml/2006/main">
            <a:r>
              <a:t/>
            </a:r>
          </a:p>
          <a:p xmlns:a="http://schemas.openxmlformats.org/drawingml/2006/main">
            <a:r>
              <a:t>Primary reading: Microchip TB3215 for SPI edge conventions, plus the pinned Nandland implementation.</a:t>
            </a:r>
          </a:p>
          <a:p xmlns:a="http://schemas.openxmlformats.org/drawingml/2006/main">
            <a:r>
              <a:t>Primary guide: https://www.microchip.com/content/dam/mchp/documents/MCU08/ApplicationNotes/ApplicationNotes/TB3215-Getting-Started-with-SPI-DS90003215.pdf</a:t>
            </a:r>
          </a:p>
          <a:p xmlns:a="http://schemas.openxmlformats.org/drawingml/2006/main">
            <a:r>
              <a:t/>
            </a:r>
          </a:p>
          <a:p xmlns:a="http://schemas.openxmlformats.org/drawingml/2006/main">
            <a:r>
              <a:t>Open work remains explicit: Only four mode/divider pairs are tested; the hardened core is mode 0, divider 2. General multi-byte CS envelopes are absent. Full-chip integration, manufacturing checks and board validation are not closed by the standalone reference flow. The reader can reproduce the listed evidence without assuming those larger obligations have already been completed.</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docs/SPI_Protocol_RTL_to_GDS_Ignytion_A4.pptx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hw/protocols/spi</a:t>
            </a:r>
          </a:p>
          <a:p xmlns:a="http://schemas.openxmlformats.org/drawingml/2006/main">
            <a:r>
              <a:t>https://github.com/nandland/spi-master</a:t>
            </a:r>
          </a:p>
          <a:p xmlns:a="http://schemas.openxmlformats.org/drawingml/2006/main">
            <a:r>
              <a:t>Pinned commit 1ab581969f8ea2f794072a144b55cd74e5a54f34</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hw/protocols/spi/01_rtl/LICENSE.nandland</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MIT License</a:t>
            </a:r>
          </a:p>
          <a:p xmlns:a="http://schemas.openxmlformats.org/drawingml/2006/main">
            <a:r>
              <a:t/>
            </a:r>
          </a:p>
          <a:p xmlns:a="http://schemas.openxmlformats.org/drawingml/2006/main">
            <a:r>
              <a:t>Copyright (c) 2019 russell-merrick</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a3e71177494e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858eef92de4f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072b36ac3547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5e2b401338548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b650a1af0b436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bddfaeb31e459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a668c79f436412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8de673cad7742c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018fa91bd184c3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b1c3355580e45f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8985f4660054e3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4C60EB-1187-498A-9EBB-B90527B1494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63604B63-6232-4B4F-B409-A4FCDCA36730}"/>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63D36B52-4F19-409A-AE94-F5093BC5E0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312D4437-153A-4BF7-8308-14870111BA3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3C8E2EE-E99A-4BB0-8F82-E18D73F84F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200758-5664-425C-962E-AFE1F339072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0B83109-7703-47E5-B7E7-CBF177E6DF1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0294542-20A9-4A1F-94C4-B27EC12556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D9D77AC8-75BB-4013-96CA-0193523534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1167E88-88C1-4FB5-8490-AEA207B850D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ABBFE8-4FAB-4ADF-8290-7DBE003F6373}"/>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E53BF75-5332-4105-9F76-F7DF22574126}"/>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F2C7BCA-3750-4719-B153-0BBE7CC0BC0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7A62EF7B-A7A1-4141-9EAE-3064E29BD53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B3F8FC5-B7D4-4B07-969E-5A37A7A56CC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E5D5722-25CA-407C-9161-AA8D89172FE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7647F06-8018-4E9D-9B17-1E1B8309620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3D455F1B-A065-4B0B-AA72-1BF4BE5D3CA0}"/>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06BBDEB1-73A6-4F9E-A4AA-BC2824FF0B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34A896A2-AC14-4CBA-A368-C418E512948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E8177F8-41F4-42C9-AAD2-C7A391AFD51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8040E3-758A-4F2B-8DB3-92F9A34CFE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D524341-2654-4776-A728-045E8A110C5F}"/>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DBEE8AD-3AB9-4E8F-93F7-6708C742569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9A64D4D5-7A2E-4DF0-AB12-F591303E90D1}"/>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36E2C44-757B-4CEC-A708-DD69B1252A4E}"/>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761E4F94-8BEC-4FA0-AD5A-D6EDE9B7CD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8" name="Footer Placeholder 7">
            <a:extLst xmlns:a="http://schemas.openxmlformats.org/drawingml/2006/main">
              <a:ext uri="{FF2B5EF4-FFF2-40B4-BE49-F238E27FC236}">
                <a16:creationId xmlns:a16="http://schemas.microsoft.com/office/drawing/2014/main" id="{49F3E001-EC36-4FD6-B8E3-0CBE337214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D1F2118-AB3B-4769-9A2A-69372F4F59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BAE134-FB87-421A-9671-022886A93D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C82355DB-C8E3-4027-B589-E6BA5ED16D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4" name="Footer Placeholder 3">
            <a:extLst xmlns:a="http://schemas.openxmlformats.org/drawingml/2006/main">
              <a:ext uri="{FF2B5EF4-FFF2-40B4-BE49-F238E27FC236}">
                <a16:creationId xmlns:a16="http://schemas.microsoft.com/office/drawing/2014/main" id="{94B9C68F-A186-4630-88ED-77D55FEDB3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C7AFD63-CE9D-49F5-911A-24C55AA607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7EF8875-1864-4FC5-94B9-DB5722C857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3" name="Footer Placeholder 2">
            <a:extLst xmlns:a="http://schemas.openxmlformats.org/drawingml/2006/main">
              <a:ext uri="{FF2B5EF4-FFF2-40B4-BE49-F238E27FC236}">
                <a16:creationId xmlns:a16="http://schemas.microsoft.com/office/drawing/2014/main" id="{38BD3C77-0FC3-4978-A826-8C3DAD09FC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8F13227-CAD3-49F6-8696-B3EF3163B4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6C6939-541C-49B1-B29F-F454C427C14C}"/>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7F61D92-EAD0-44E2-A0A7-47B04DB632A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F139AA79-E6F3-44B7-9E4A-B75A0C4760B9}"/>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723DEB7-03E2-411D-B99C-9510C84174C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02D1EF82-0C78-46FA-BB12-2D5709431C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1ECFD9D-7864-460F-BC20-2E35E8CD8E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0674347-AD79-4BE1-9B1A-10F0B8F453BE}"/>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481DA18F-2634-4476-92FF-38C005517EF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0D6434AC-CA64-4388-ADBF-095918F405DB}"/>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B9F598B-4F80-4732-9487-567532D6C3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EAC01796-7710-4B81-94AC-97592073C4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D36D8AA-C2FD-4E38-BBEB-64ECF2E579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A8DE43-379D-4DB8-9B98-E81EFFC5BE6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0967C36-294D-421E-8611-C8ECD0DF11F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7365F8E-BBD0-4242-B9DA-5A9447FE32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A5A36EB8-BC4E-4984-8DE6-5476644117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303823B-160B-44D1-B28F-099C558999F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E0C9F8A-055B-4056-959F-A2AD5B8833C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00086AA-4BD2-4CB5-84F7-547386535ED1}"/>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E50704E-1F7A-47C1-91EE-9E361BD4A8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37EC7F38-7479-4CD5-BA56-759D7AEE71C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383C280-556F-4210-B82D-D8375C08F63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0d4cb13ce44de0" /><Relationship Type="http://schemas.openxmlformats.org/officeDocument/2006/relationships/slideLayout" Target="/ppt/slideLayouts/slideLayout1.xml" Id="R704a79a0cdc941b9" /><Relationship Type="http://schemas.openxmlformats.org/officeDocument/2006/relationships/slideLayout" Target="/ppt/slideLayouts/slideLayout2.xml" Id="R6e13dbc9912b4251" /><Relationship Type="http://schemas.openxmlformats.org/officeDocument/2006/relationships/slideLayout" Target="/ppt/slideLayouts/slideLayout3.xml" Id="Rf5d81bee3da34099" /><Relationship Type="http://schemas.openxmlformats.org/officeDocument/2006/relationships/slideLayout" Target="/ppt/slideLayouts/slideLayout4.xml" Id="Raaa95dfed5594690" /><Relationship Type="http://schemas.openxmlformats.org/officeDocument/2006/relationships/slideLayout" Target="/ppt/slideLayouts/slideLayout5.xml" Id="R3f52b2b41be74cf2" /><Relationship Type="http://schemas.openxmlformats.org/officeDocument/2006/relationships/slideLayout" Target="/ppt/slideLayouts/slideLayout6.xml" Id="R586de90e531d4480" /><Relationship Type="http://schemas.openxmlformats.org/officeDocument/2006/relationships/slideLayout" Target="/ppt/slideLayouts/slideLayout7.xml" Id="R2a57d009b9ca4550" /><Relationship Type="http://schemas.openxmlformats.org/officeDocument/2006/relationships/slideLayout" Target="/ppt/slideLayouts/slideLayout8.xml" Id="R11391ffeab05476a" /><Relationship Type="http://schemas.openxmlformats.org/officeDocument/2006/relationships/slideLayout" Target="/ppt/slideLayouts/slideLayout9.xml" Id="Rea0d88e3f3f04071" /><Relationship Type="http://schemas.openxmlformats.org/officeDocument/2006/relationships/slideLayout" Target="/ppt/slideLayouts/slideLayout10.xml" Id="Rad8bb116f54a4e3e" /><Relationship Type="http://schemas.openxmlformats.org/officeDocument/2006/relationships/slideLayout" Target="/ppt/slideLayouts/slideLayout11.xml" Id="Re5ed7f153ccb4a8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76104E9-807D-4496-ADCB-F34EC247095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D1A07C2-5276-4631-88F4-8AEBB6817378}"/>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94F6F23-F14E-4A25-8606-4B58CA6021C3}"/>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8393C988-1672-49DA-BAA1-9A455371E871}"/>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E4352E0-63C5-4FC6-B285-AE7125E32E41}"/>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4a79a0cdc941b9"/>
    <p:sldLayoutId xmlns:r="http://schemas.openxmlformats.org/officeDocument/2006/relationships" id="2147483650" r:id="R6e13dbc9912b4251"/>
    <p:sldLayoutId xmlns:r="http://schemas.openxmlformats.org/officeDocument/2006/relationships" id="2147483651" r:id="Rf5d81bee3da34099"/>
    <p:sldLayoutId xmlns:r="http://schemas.openxmlformats.org/officeDocument/2006/relationships" id="2147483652" r:id="Raaa95dfed5594690"/>
    <p:sldLayoutId xmlns:r="http://schemas.openxmlformats.org/officeDocument/2006/relationships" id="2147483653" r:id="R3f52b2b41be74cf2"/>
    <p:sldLayoutId xmlns:r="http://schemas.openxmlformats.org/officeDocument/2006/relationships" id="2147483654" r:id="R586de90e531d4480"/>
    <p:sldLayoutId xmlns:r="http://schemas.openxmlformats.org/officeDocument/2006/relationships" id="2147483655" r:id="R2a57d009b9ca4550"/>
    <p:sldLayoutId xmlns:r="http://schemas.openxmlformats.org/officeDocument/2006/relationships" id="2147483656" r:id="R11391ffeab05476a"/>
    <p:sldLayoutId xmlns:r="http://schemas.openxmlformats.org/officeDocument/2006/relationships" id="2147483657" r:id="Rea0d88e3f3f04071"/>
    <p:sldLayoutId xmlns:r="http://schemas.openxmlformats.org/officeDocument/2006/relationships" id="2147483658" r:id="Rad8bb116f54a4e3e"/>
    <p:sldLayoutId xmlns:r="http://schemas.openxmlformats.org/officeDocument/2006/relationships" id="2147483659" r:id="Re5ed7f153ccb4a87"/>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22559f80eba46c8" /><Relationship Type="http://schemas.openxmlformats.org/officeDocument/2006/relationships/image" Target="/ppt/media/image.png" Id="R36218b89711a45a1" /><Relationship Type="http://schemas.openxmlformats.org/officeDocument/2006/relationships/notesSlide" Target="/ppt/notesSlides/notesSlide1.xml" Id="Rb473b91158df40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8ed8e4b070e142b4" /><Relationship Type="http://schemas.openxmlformats.org/officeDocument/2006/relationships/image" Target="/ppt/media/image.png" Id="Rca861f2104554041" /><Relationship Type="http://schemas.openxmlformats.org/officeDocument/2006/relationships/notesSlide" Target="/ppt/notesSlides/notesSlide2.xml" Id="Rc657a61c3dd044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47c65026117e44b7" /><Relationship Type="http://schemas.openxmlformats.org/officeDocument/2006/relationships/image" Target="/ppt/media/image.png" Id="Rc525412e64224253" /><Relationship Type="http://schemas.openxmlformats.org/officeDocument/2006/relationships/notesSlide" Target="/ppt/notesSlides/notesSlide3.xml" Id="Reada16a2033649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f1bb883946934a75" /><Relationship Type="http://schemas.openxmlformats.org/officeDocument/2006/relationships/image" Target="/ppt/media/image.png" Id="Re37a52731f4e4e7e" /><Relationship Type="http://schemas.openxmlformats.org/officeDocument/2006/relationships/notesSlide" Target="/ppt/notesSlides/notesSlide4.xml" Id="R81b4009aced74b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88ac0d9c2a64536" /><Relationship Type="http://schemas.openxmlformats.org/officeDocument/2006/relationships/image" Target="/ppt/media/image.png" Id="Rfda1f3e4c4b14dc0" /><Relationship Type="http://schemas.openxmlformats.org/officeDocument/2006/relationships/notesSlide" Target="/ppt/notesSlides/notesSlide5.xml" Id="Rc03100b1fa0845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81bef7f5563a4072" /><Relationship Type="http://schemas.openxmlformats.org/officeDocument/2006/relationships/image" Target="/ppt/media/image.png" Id="R653b556f535941d7" /><Relationship Type="http://schemas.openxmlformats.org/officeDocument/2006/relationships/notesSlide" Target="/ppt/notesSlides/notesSlide6.xml" Id="R8e062589768048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d2ff6bf202724e35" /><Relationship Type="http://schemas.openxmlformats.org/officeDocument/2006/relationships/image" Target="/ppt/media/image.png" Id="R95f4cc0f3e504dd1" /><Relationship Type="http://schemas.openxmlformats.org/officeDocument/2006/relationships/notesSlide" Target="/ppt/notesSlides/notesSlide7.xml" Id="R20764d99dc5043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8ea9a705bc24432e" /><Relationship Type="http://schemas.openxmlformats.org/officeDocument/2006/relationships/image" Target="/ppt/media/image.png" Id="R10a5f4d5d1734bbc" /><Relationship Type="http://schemas.openxmlformats.org/officeDocument/2006/relationships/notesSlide" Target="/ppt/notesSlides/notesSlide8.xml" Id="Rce686068866b4e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015d490a24d049b9" /><Relationship Type="http://schemas.openxmlformats.org/officeDocument/2006/relationships/image" Target="/ppt/media/image.png" Id="R916bddedbee642bb" /><Relationship Type="http://schemas.openxmlformats.org/officeDocument/2006/relationships/notesSlide" Target="/ppt/notesSlides/notesSlide9.xml" Id="Raf4249c403d249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b0ceaef5e66e4dc6" /><Relationship Type="http://schemas.openxmlformats.org/officeDocument/2006/relationships/image" Target="/ppt/media/image.png" Id="R7c462bbb80e646a8" /><Relationship Type="http://schemas.openxmlformats.org/officeDocument/2006/relationships/notesSlide" Target="/ppt/notesSlides/notesSlide10.xml" Id="Rc1e85acfa08d43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02e42c80558c431d" /><Relationship Type="http://schemas.openxmlformats.org/officeDocument/2006/relationships/image" Target="/ppt/media/image.png" Id="R516bb92255744c18" /><Relationship Type="http://schemas.openxmlformats.org/officeDocument/2006/relationships/chart" Target="/ppt/slides/charts/chart1.xml" Id="Rc22045f6fd4847c1" /><Relationship Type="http://schemas.openxmlformats.org/officeDocument/2006/relationships/chart" Target="/ppt/slides/charts/chart2.xml" Id="R6abf251aa5014c1f" /><Relationship Type="http://schemas.openxmlformats.org/officeDocument/2006/relationships/chart" Target="/ppt/slides/charts/chart3.xml" Id="Rcd0a20c2f60646ed" /><Relationship Type="http://schemas.openxmlformats.org/officeDocument/2006/relationships/chart" Target="/ppt/slides/charts/chart4.xml" Id="Re8300701a0984c8c" /><Relationship Type="http://schemas.openxmlformats.org/officeDocument/2006/relationships/notesSlide" Target="/ppt/notesSlides/notesSlide11.xml" Id="Rb1514f994dcc4c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fefdbf0607934a96" /><Relationship Type="http://schemas.openxmlformats.org/officeDocument/2006/relationships/image" Target="/ppt/media/image.png" Id="Rba9cf3fe986847de" /><Relationship Type="http://schemas.openxmlformats.org/officeDocument/2006/relationships/notesSlide" Target="/ppt/notesSlides/notesSlide12.xml" Id="R96894b8b16d545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794799a25ed74ced" /><Relationship Type="http://schemas.openxmlformats.org/officeDocument/2006/relationships/image" Target="/ppt/media/image.png" Id="Re2d3728e19ee4e18" /><Relationship Type="http://schemas.openxmlformats.org/officeDocument/2006/relationships/notesSlide" Target="/ppt/notesSlides/notesSlide13.xml" Id="R2e356938268949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a7be93772f5c4a04" /><Relationship Type="http://schemas.openxmlformats.org/officeDocument/2006/relationships/image" Target="/ppt/media/image.png" Id="Rce5c7495710e4c22" /><Relationship Type="http://schemas.openxmlformats.org/officeDocument/2006/relationships/notesSlide" Target="/ppt/notesSlides/notesSlide14.xml" Id="R014b72c3320041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33df7c2f75f64f93" /><Relationship Type="http://schemas.openxmlformats.org/officeDocument/2006/relationships/image" Target="/ppt/media/image.png" Id="Rdd50fcf1aa35490b" /><Relationship Type="http://schemas.openxmlformats.org/officeDocument/2006/relationships/notesSlide" Target="/ppt/notesSlides/notesSlide15.xml" Id="R95730dc65d1b4f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e7e4c9421a78417d" /><Relationship Type="http://schemas.openxmlformats.org/officeDocument/2006/relationships/image" Target="/ppt/media/image.png" Id="R1b4f2fbe0ad74998" /><Relationship Type="http://schemas.openxmlformats.org/officeDocument/2006/relationships/notesSlide" Target="/ppt/notesSlides/notesSlide16.xml" Id="Rfef4fff8383741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804d6a376f054af4" /><Relationship Type="http://schemas.openxmlformats.org/officeDocument/2006/relationships/image" Target="/ppt/media/image.png" Id="Rce1860f6e4984bd0" /><Relationship Type="http://schemas.openxmlformats.org/officeDocument/2006/relationships/notesSlide" Target="/ppt/notesSlides/notesSlide17.xml" Id="R4edd3e23df6c44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e6aa1b7f72de4a32" /><Relationship Type="http://schemas.openxmlformats.org/officeDocument/2006/relationships/image" Target="/ppt/media/image.png" Id="Ra978b2254cca42dd" /><Relationship Type="http://schemas.openxmlformats.org/officeDocument/2006/relationships/notesSlide" Target="/ppt/notesSlides/notesSlide18.xml" Id="R13a6e6ba4e28492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7794f9bc628b4f28" /><Relationship Type="http://schemas.openxmlformats.org/officeDocument/2006/relationships/image" Target="/ppt/media/image.png" Id="R5d9247364b144f23" /><Relationship Type="http://schemas.openxmlformats.org/officeDocument/2006/relationships/notesSlide" Target="/ppt/notesSlides/notesSlide19.xml" Id="R38f7de3f43494a5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99a16de5905d4ab0" /><Relationship Type="http://schemas.openxmlformats.org/officeDocument/2006/relationships/image" Target="/ppt/media/image.png" Id="R4d17abc5f8bd4c96" /><Relationship Type="http://schemas.openxmlformats.org/officeDocument/2006/relationships/notesSlide" Target="/ppt/notesSlides/notesSlide20.xml" Id="R1d134f89c42a481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e387ab3a4b374a4f" /><Relationship Type="http://schemas.openxmlformats.org/officeDocument/2006/relationships/image" Target="/ppt/media/image.png" Id="R2ae04a925b0d43a1" /><Relationship Type="http://schemas.openxmlformats.org/officeDocument/2006/relationships/notesSlide" Target="/ppt/notesSlides/notesSlide21.xml" Id="Rf86dc07916874d2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aef3a00926e34a99" /><Relationship Type="http://schemas.openxmlformats.org/officeDocument/2006/relationships/image" Target="/ppt/media/image.png" Id="R6b34a8953e444755" /><Relationship Type="http://schemas.openxmlformats.org/officeDocument/2006/relationships/notesSlide" Target="/ppt/notesSlides/notesSlide22.xml" Id="R7add4b45843a483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da651cedcb814c5b" /><Relationship Type="http://schemas.openxmlformats.org/officeDocument/2006/relationships/image" Target="/ppt/media/image.png" Id="R172c474e1dd743c6" /><Relationship Type="http://schemas.openxmlformats.org/officeDocument/2006/relationships/notesSlide" Target="/ppt/notesSlides/notesSlide23.xml" Id="R85e8f2dd7d664a5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d645c12b0fb846b8" /><Relationship Type="http://schemas.openxmlformats.org/officeDocument/2006/relationships/image" Target="/ppt/media/image.png" Id="R1bdf591027df44a1" /><Relationship Type="http://schemas.openxmlformats.org/officeDocument/2006/relationships/notesSlide" Target="/ppt/notesSlides/notesSlide24.xml" Id="Rbed829b2f9a34d2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a:solidFill>
                  <a:srgbClr val="111111"/>
                </a:solidFill>
                <a:latin typeface="Consolas"/>
                <a:ea typeface="Consolas"/>
                <a:cs typeface="Consolas"/>
              </a:rPr>
              <a:t>CS_n</a:t>
            </a:r>
          </a:p>
        </c:rich>
      </c:tx>
      <c:overlay val="0"/>
      <c:txPr>
        <a:bodyPr xmlns:a="http://schemas.openxmlformats.org/drawingml/2006/main" anchorCtr="1"/>
        <a:lstStyle xmlns:a="http://schemas.openxmlformats.org/drawingml/2006/main"/>
        <a:p xmlns:a="http://schemas.openxmlformats.org/drawingml/2006/main">
          <a:pPr>
            <a:defRPr sz="975">
              <a:solidFill>
                <a:srgbClr val="111111"/>
              </a:solidFill>
              <a:latin typeface="Consolas"/>
              <a:ea typeface="Consolas"/>
              <a:cs typeface="Consolas"/>
            </a:defRPr>
          </a:pPr>
        </a:p>
      </c:txPr>
    </c:title>
    <c:plotArea>
      <c:scatterChart>
        <c:scatterStyle val="line"/>
        <c:ser>
          <c:idx val="0"/>
          <c:order val="0"/>
          <c:tx>
            <c:v>CS_n</c:v>
          </c:tx>
          <c:spPr>
            <a:ln xmlns:a="http://schemas.openxmlformats.org/drawingml/2006/main" w="19050">
              <a:solidFill>
                <a:srgbClr val="EF9529"/>
              </a:solidFill>
            </a:ln>
          </c:spPr>
          <c:marker>
            <c:symbol val="none"/>
          </c:marker>
          <c:xVal>
            <c:numRef>
              <c:f>'Chart Data'!$A$2:$A$11</c:f>
              <c:numCache>
                <c:formatCode>General</c:formatCode>
                <c:ptCount val="10"/>
                <c:pt idx="0">
                  <c:v>0</c:v>
                </c:pt>
                <c:pt idx="1">
                  <c:v>0.015</c:v>
                </c:pt>
                <c:pt idx="2">
                  <c:v>0.015</c:v>
                </c:pt>
                <c:pt idx="3">
                  <c:v>0.04</c:v>
                </c:pt>
                <c:pt idx="4">
                  <c:v>0.04</c:v>
                </c:pt>
                <c:pt idx="5">
                  <c:v>0.375</c:v>
                </c:pt>
                <c:pt idx="6">
                  <c:v>0.375</c:v>
                </c:pt>
                <c:pt idx="7">
                  <c:v>0.4</c:v>
                </c:pt>
                <c:pt idx="8">
                  <c:v>0.4</c:v>
                </c:pt>
                <c:pt idx="9">
                  <c:v>0.415</c:v>
                </c:pt>
              </c:numCache>
            </c:numRef>
          </c:xVal>
          <c:yVal>
            <c:numRef>
              <c:f>'Chart Data'!$B$2:$B$11</c:f>
              <c:numCache>
                <c:formatCode>General</c:formatCode>
                <c:ptCount val="10"/>
                <c:pt idx="0">
                  <c:v>0</c:v>
                </c:pt>
                <c:pt idx="1">
                  <c:v>0</c:v>
                </c:pt>
                <c:pt idx="2">
                  <c:v>1</c:v>
                </c:pt>
                <c:pt idx="3">
                  <c:v>1</c:v>
                </c:pt>
                <c:pt idx="4">
                  <c:v>0</c:v>
                </c:pt>
                <c:pt idx="5">
                  <c:v>0</c:v>
                </c:pt>
                <c:pt idx="6">
                  <c:v>1</c:v>
                </c:pt>
                <c:pt idx="7">
                  <c:v>1</c:v>
                </c:pt>
                <c:pt idx="8">
                  <c:v>0</c:v>
                </c:pt>
                <c:pt idx="9">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50112"/>
        <c:majorUnit val="1"/>
      </c:valAx>
      <c:valAx>
        <c:axId val="48650112"/>
        <c:scaling>
          <c:orientation val="minMax"/>
          <c:max val="0.415"/>
          <c:min val="0"/>
        </c:scaling>
        <c:delete val="0"/>
        <c:axPos val="b"/>
        <c:majorGridlines>
          <c:spPr>
            <a:ln xmlns:a="http://schemas.openxmlformats.org/drawingml/2006/main" w="4763">
              <a:solidFill>
                <a:srgbClr val="EAEAEA"/>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a:solidFill>
                  <a:srgbClr val="111111"/>
                </a:solidFill>
                <a:latin typeface="Consolas"/>
                <a:ea typeface="Consolas"/>
                <a:cs typeface="Consolas"/>
              </a:rPr>
              <a:t>SCLK</a:t>
            </a:r>
          </a:p>
        </c:rich>
      </c:tx>
      <c:overlay val="0"/>
      <c:txPr>
        <a:bodyPr xmlns:a="http://schemas.openxmlformats.org/drawingml/2006/main" anchorCtr="1"/>
        <a:lstStyle xmlns:a="http://schemas.openxmlformats.org/drawingml/2006/main"/>
        <a:p xmlns:a="http://schemas.openxmlformats.org/drawingml/2006/main">
          <a:pPr>
            <a:defRPr sz="975">
              <a:solidFill>
                <a:srgbClr val="111111"/>
              </a:solidFill>
              <a:latin typeface="Consolas"/>
              <a:ea typeface="Consolas"/>
              <a:cs typeface="Consolas"/>
            </a:defRPr>
          </a:pPr>
        </a:p>
      </c:txPr>
    </c:title>
    <c:plotArea>
      <c:scatterChart>
        <c:scatterStyle val="line"/>
        <c:ser>
          <c:idx val="0"/>
          <c:order val="0"/>
          <c:tx>
            <c:v>SCLK</c:v>
          </c:tx>
          <c:spPr>
            <a:ln xmlns:a="http://schemas.openxmlformats.org/drawingml/2006/main" w="19050">
              <a:solidFill>
                <a:srgbClr val="444444"/>
              </a:solidFill>
            </a:ln>
          </c:spPr>
          <c:marker>
            <c:symbol val="none"/>
          </c:marker>
          <c:xVal>
            <c:numRef>
              <c:f>'Chart Data'!$A$2:$A$37</c:f>
              <c:numCache>
                <c:formatCode>General</c:formatCode>
                <c:ptCount val="36"/>
                <c:pt idx="0">
                  <c:v>0</c:v>
                </c:pt>
                <c:pt idx="1">
                  <c:v>0.015</c:v>
                </c:pt>
                <c:pt idx="2">
                  <c:v>0.015</c:v>
                </c:pt>
                <c:pt idx="3">
                  <c:v>0.075</c:v>
                </c:pt>
                <c:pt idx="4">
                  <c:v>0.075</c:v>
                </c:pt>
                <c:pt idx="5">
                  <c:v>0.095</c:v>
                </c:pt>
                <c:pt idx="6">
                  <c:v>0.095</c:v>
                </c:pt>
                <c:pt idx="7">
                  <c:v>0.115</c:v>
                </c:pt>
                <c:pt idx="8">
                  <c:v>0.115</c:v>
                </c:pt>
                <c:pt idx="9">
                  <c:v>0.135</c:v>
                </c:pt>
                <c:pt idx="10">
                  <c:v>0.135</c:v>
                </c:pt>
                <c:pt idx="11">
                  <c:v>0.155</c:v>
                </c:pt>
                <c:pt idx="12">
                  <c:v>0.155</c:v>
                </c:pt>
                <c:pt idx="13">
                  <c:v>0.175</c:v>
                </c:pt>
                <c:pt idx="14">
                  <c:v>0.175</c:v>
                </c:pt>
                <c:pt idx="15">
                  <c:v>0.195</c:v>
                </c:pt>
                <c:pt idx="16">
                  <c:v>0.195</c:v>
                </c:pt>
                <c:pt idx="17">
                  <c:v>0.215</c:v>
                </c:pt>
                <c:pt idx="18">
                  <c:v>0.215</c:v>
                </c:pt>
                <c:pt idx="19">
                  <c:v>0.235</c:v>
                </c:pt>
                <c:pt idx="20">
                  <c:v>0.235</c:v>
                </c:pt>
                <c:pt idx="21">
                  <c:v>0.255</c:v>
                </c:pt>
                <c:pt idx="22">
                  <c:v>0.255</c:v>
                </c:pt>
                <c:pt idx="23">
                  <c:v>0.275</c:v>
                </c:pt>
                <c:pt idx="24">
                  <c:v>0.275</c:v>
                </c:pt>
                <c:pt idx="25">
                  <c:v>0.295</c:v>
                </c:pt>
                <c:pt idx="26">
                  <c:v>0.295</c:v>
                </c:pt>
                <c:pt idx="27">
                  <c:v>0.315</c:v>
                </c:pt>
                <c:pt idx="28">
                  <c:v>0.315</c:v>
                </c:pt>
                <c:pt idx="29">
                  <c:v>0.335</c:v>
                </c:pt>
                <c:pt idx="30">
                  <c:v>0.335</c:v>
                </c:pt>
                <c:pt idx="31">
                  <c:v>0.355</c:v>
                </c:pt>
                <c:pt idx="32">
                  <c:v>0.355</c:v>
                </c:pt>
                <c:pt idx="33">
                  <c:v>0.375</c:v>
                </c:pt>
                <c:pt idx="34">
                  <c:v>0.375</c:v>
                </c:pt>
                <c:pt idx="35">
                  <c:v>0.415</c:v>
                </c:pt>
              </c:numCache>
            </c:numRef>
          </c:xVal>
          <c:yVal>
            <c:numRef>
              <c:f>'Chart Data'!$B$2:$B$37</c:f>
              <c:numCache>
                <c:formatCode>General</c:formatCode>
                <c:ptCount val="36"/>
                <c:pt idx="0">
                  <c:v>1</c:v>
                </c:pt>
                <c:pt idx="1">
                  <c:v>1</c:v>
                </c:pt>
                <c:pt idx="2">
                  <c:v>0</c:v>
                </c:pt>
                <c:pt idx="3">
                  <c:v>0</c:v>
                </c:pt>
                <c:pt idx="4">
                  <c:v>1</c:v>
                </c:pt>
                <c:pt idx="5">
                  <c:v>1</c:v>
                </c:pt>
                <c:pt idx="6">
                  <c:v>0</c:v>
                </c:pt>
                <c:pt idx="7">
                  <c:v>0</c:v>
                </c:pt>
                <c:pt idx="8">
                  <c:v>1</c:v>
                </c:pt>
                <c:pt idx="9">
                  <c:v>1</c:v>
                </c:pt>
                <c:pt idx="10">
                  <c:v>0</c:v>
                </c:pt>
                <c:pt idx="11">
                  <c:v>0</c:v>
                </c:pt>
                <c:pt idx="12">
                  <c:v>1</c:v>
                </c:pt>
                <c:pt idx="13">
                  <c:v>1</c:v>
                </c:pt>
                <c:pt idx="14">
                  <c:v>0</c:v>
                </c:pt>
                <c:pt idx="15">
                  <c:v>0</c:v>
                </c:pt>
                <c:pt idx="16">
                  <c:v>1</c:v>
                </c:pt>
                <c:pt idx="17">
                  <c:v>1</c:v>
                </c:pt>
                <c:pt idx="18">
                  <c:v>0</c:v>
                </c:pt>
                <c:pt idx="19">
                  <c:v>0</c:v>
                </c:pt>
                <c:pt idx="20">
                  <c:v>1</c:v>
                </c:pt>
                <c:pt idx="21">
                  <c:v>1</c:v>
                </c:pt>
                <c:pt idx="22">
                  <c:v>0</c:v>
                </c:pt>
                <c:pt idx="23">
                  <c:v>0</c:v>
                </c:pt>
                <c:pt idx="24">
                  <c:v>1</c:v>
                </c:pt>
                <c:pt idx="25">
                  <c:v>1</c:v>
                </c:pt>
                <c:pt idx="26">
                  <c:v>0</c:v>
                </c:pt>
                <c:pt idx="27">
                  <c:v>0</c:v>
                </c:pt>
                <c:pt idx="28">
                  <c:v>1</c:v>
                </c:pt>
                <c:pt idx="29">
                  <c:v>1</c:v>
                </c:pt>
                <c:pt idx="30">
                  <c:v>0</c:v>
                </c:pt>
                <c:pt idx="31">
                  <c:v>0</c:v>
                </c:pt>
                <c:pt idx="32">
                  <c:v>1</c:v>
                </c:pt>
                <c:pt idx="33">
                  <c:v>1</c:v>
                </c:pt>
                <c:pt idx="34">
                  <c:v>0</c:v>
                </c:pt>
                <c:pt idx="35">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50112"/>
        <c:majorUnit val="1"/>
      </c:valAx>
      <c:valAx>
        <c:axId val="48650112"/>
        <c:scaling>
          <c:orientation val="minMax"/>
          <c:max val="0.415"/>
          <c:min val="0"/>
        </c:scaling>
        <c:delete val="0"/>
        <c:axPos val="b"/>
        <c:majorGridlines>
          <c:spPr>
            <a:ln xmlns:a="http://schemas.openxmlformats.org/drawingml/2006/main" w="4763">
              <a:solidFill>
                <a:srgbClr val="EAEAEA"/>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a:solidFill>
                  <a:srgbClr val="111111"/>
                </a:solidFill>
                <a:latin typeface="Consolas"/>
                <a:ea typeface="Consolas"/>
                <a:cs typeface="Consolas"/>
              </a:rPr>
              <a:t>MOSI</a:t>
            </a:r>
          </a:p>
        </c:rich>
      </c:tx>
      <c:overlay val="0"/>
      <c:txPr>
        <a:bodyPr xmlns:a="http://schemas.openxmlformats.org/drawingml/2006/main" anchorCtr="1"/>
        <a:lstStyle xmlns:a="http://schemas.openxmlformats.org/drawingml/2006/main"/>
        <a:p xmlns:a="http://schemas.openxmlformats.org/drawingml/2006/main">
          <a:pPr>
            <a:defRPr sz="975">
              <a:solidFill>
                <a:srgbClr val="111111"/>
              </a:solidFill>
              <a:latin typeface="Consolas"/>
              <a:ea typeface="Consolas"/>
              <a:cs typeface="Consolas"/>
            </a:defRPr>
          </a:pPr>
        </a:p>
      </c:txPr>
    </c:title>
    <c:plotArea>
      <c:scatterChart>
        <c:scatterStyle val="line"/>
        <c:ser>
          <c:idx val="0"/>
          <c:order val="0"/>
          <c:tx>
            <c:v>MOSI</c:v>
          </c:tx>
          <c:spPr>
            <a:ln xmlns:a="http://schemas.openxmlformats.org/drawingml/2006/main" w="19050">
              <a:solidFill>
                <a:srgbClr val="EF9529"/>
              </a:solidFill>
            </a:ln>
          </c:spPr>
          <c:marker>
            <c:symbol val="none"/>
          </c:marker>
          <c:xVal>
            <c:numRef>
              <c:f>'Chart Data'!$A$2:$A$17</c:f>
              <c:numCache>
                <c:formatCode>General</c:formatCode>
                <c:ptCount val="16"/>
                <c:pt idx="0">
                  <c:v>0</c:v>
                </c:pt>
                <c:pt idx="1">
                  <c:v>0.015</c:v>
                </c:pt>
                <c:pt idx="2">
                  <c:v>0.015</c:v>
                </c:pt>
                <c:pt idx="3">
                  <c:v>0.095</c:v>
                </c:pt>
                <c:pt idx="4">
                  <c:v>0.095</c:v>
                </c:pt>
                <c:pt idx="5">
                  <c:v>0.135</c:v>
                </c:pt>
                <c:pt idx="6">
                  <c:v>0.135</c:v>
                </c:pt>
                <c:pt idx="7">
                  <c:v>0.175</c:v>
                </c:pt>
                <c:pt idx="8">
                  <c:v>0.175</c:v>
                </c:pt>
                <c:pt idx="9">
                  <c:v>0.255</c:v>
                </c:pt>
                <c:pt idx="10">
                  <c:v>0.255</c:v>
                </c:pt>
                <c:pt idx="11">
                  <c:v>0.295</c:v>
                </c:pt>
                <c:pt idx="12">
                  <c:v>0.295</c:v>
                </c:pt>
                <c:pt idx="13">
                  <c:v>0.335</c:v>
                </c:pt>
                <c:pt idx="14">
                  <c:v>0.335</c:v>
                </c:pt>
                <c:pt idx="15">
                  <c:v>0.415</c:v>
                </c:pt>
              </c:numCache>
            </c:numRef>
          </c:xVal>
          <c:yVal>
            <c:numRef>
              <c:f>'Chart Data'!$B$2:$B$17</c:f>
              <c:numCache>
                <c:formatCode>General</c:formatCode>
                <c:ptCount val="16"/>
                <c:pt idx="0">
                  <c:v>0</c:v>
                </c:pt>
                <c:pt idx="1">
                  <c:v>0</c:v>
                </c:pt>
                <c:pt idx="2">
                  <c:v>1</c:v>
                </c:pt>
                <c:pt idx="3">
                  <c:v>1</c:v>
                </c:pt>
                <c:pt idx="4">
                  <c:v>0</c:v>
                </c:pt>
                <c:pt idx="5">
                  <c:v>0</c:v>
                </c:pt>
                <c:pt idx="6">
                  <c:v>1</c:v>
                </c:pt>
                <c:pt idx="7">
                  <c:v>1</c:v>
                </c:pt>
                <c:pt idx="8">
                  <c:v>0</c:v>
                </c:pt>
                <c:pt idx="9">
                  <c:v>0</c:v>
                </c:pt>
                <c:pt idx="10">
                  <c:v>1</c:v>
                </c:pt>
                <c:pt idx="11">
                  <c:v>1</c:v>
                </c:pt>
                <c:pt idx="12">
                  <c:v>0</c:v>
                </c:pt>
                <c:pt idx="13">
                  <c:v>0</c:v>
                </c:pt>
                <c:pt idx="14">
                  <c:v>1</c:v>
                </c:pt>
                <c:pt idx="15">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50112"/>
        <c:majorUnit val="1"/>
      </c:valAx>
      <c:valAx>
        <c:axId val="48650112"/>
        <c:scaling>
          <c:orientation val="minMax"/>
          <c:max val="0.415"/>
          <c:min val="0"/>
        </c:scaling>
        <c:delete val="0"/>
        <c:axPos val="b"/>
        <c:majorGridlines>
          <c:spPr>
            <a:ln xmlns:a="http://schemas.openxmlformats.org/drawingml/2006/main" w="4763">
              <a:solidFill>
                <a:srgbClr val="EAEAEA"/>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a:solidFill>
                  <a:srgbClr val="111111"/>
                </a:solidFill>
                <a:latin typeface="Consolas"/>
                <a:ea typeface="Consolas"/>
                <a:cs typeface="Consolas"/>
              </a:rPr>
              <a:t>MISO</a:t>
            </a:r>
          </a:p>
        </c:rich>
      </c:tx>
      <c:overlay val="0"/>
      <c:txPr>
        <a:bodyPr xmlns:a="http://schemas.openxmlformats.org/drawingml/2006/main" anchorCtr="1"/>
        <a:lstStyle xmlns:a="http://schemas.openxmlformats.org/drawingml/2006/main"/>
        <a:p xmlns:a="http://schemas.openxmlformats.org/drawingml/2006/main">
          <a:pPr>
            <a:defRPr sz="975">
              <a:solidFill>
                <a:srgbClr val="111111"/>
              </a:solidFill>
              <a:latin typeface="Consolas"/>
              <a:ea typeface="Consolas"/>
              <a:cs typeface="Consolas"/>
            </a:defRPr>
          </a:pPr>
        </a:p>
      </c:txPr>
    </c:title>
    <c:plotArea>
      <c:scatterChart>
        <c:scatterStyle val="line"/>
        <c:ser>
          <c:idx val="0"/>
          <c:order val="0"/>
          <c:tx>
            <c:v>MISO</c:v>
          </c:tx>
          <c:spPr>
            <a:ln xmlns:a="http://schemas.openxmlformats.org/drawingml/2006/main" w="19050">
              <a:solidFill>
                <a:srgbClr val="444444"/>
              </a:solidFill>
            </a:ln>
          </c:spPr>
          <c:marker>
            <c:symbol val="none"/>
          </c:marker>
          <c:xVal>
            <c:numRef>
              <c:f>'Chart Data'!$A$2:$A$17</c:f>
              <c:numCache>
                <c:formatCode>General</c:formatCode>
                <c:ptCount val="16"/>
                <c:pt idx="0">
                  <c:v>0</c:v>
                </c:pt>
                <c:pt idx="1">
                  <c:v>0.04</c:v>
                </c:pt>
                <c:pt idx="2">
                  <c:v>0.04</c:v>
                </c:pt>
                <c:pt idx="3">
                  <c:v>0.095</c:v>
                </c:pt>
                <c:pt idx="4">
                  <c:v>0.095</c:v>
                </c:pt>
                <c:pt idx="5">
                  <c:v>0.135</c:v>
                </c:pt>
                <c:pt idx="6">
                  <c:v>0.135</c:v>
                </c:pt>
                <c:pt idx="7">
                  <c:v>0.175</c:v>
                </c:pt>
                <c:pt idx="8">
                  <c:v>0.175</c:v>
                </c:pt>
                <c:pt idx="9">
                  <c:v>0.255</c:v>
                </c:pt>
                <c:pt idx="10">
                  <c:v>0.255</c:v>
                </c:pt>
                <c:pt idx="11">
                  <c:v>0.295</c:v>
                </c:pt>
                <c:pt idx="12">
                  <c:v>0.295</c:v>
                </c:pt>
                <c:pt idx="13">
                  <c:v>0.335</c:v>
                </c:pt>
                <c:pt idx="14">
                  <c:v>0.335</c:v>
                </c:pt>
                <c:pt idx="15">
                  <c:v>0.415</c:v>
                </c:pt>
              </c:numCache>
            </c:numRef>
          </c:xVal>
          <c:yVal>
            <c:numRef>
              <c:f>'Chart Data'!$B$2:$B$17</c:f>
              <c:numCache>
                <c:formatCode>General</c:formatCode>
                <c:ptCount val="16"/>
                <c:pt idx="0">
                  <c:v>1</c:v>
                </c:pt>
                <c:pt idx="1">
                  <c:v>1</c:v>
                </c:pt>
                <c:pt idx="2">
                  <c:v>0</c:v>
                </c:pt>
                <c:pt idx="3">
                  <c:v>0</c:v>
                </c:pt>
                <c:pt idx="4">
                  <c:v>1</c:v>
                </c:pt>
                <c:pt idx="5">
                  <c:v>1</c:v>
                </c:pt>
                <c:pt idx="6">
                  <c:v>0</c:v>
                </c:pt>
                <c:pt idx="7">
                  <c:v>0</c:v>
                </c:pt>
                <c:pt idx="8">
                  <c:v>1</c:v>
                </c:pt>
                <c:pt idx="9">
                  <c:v>1</c:v>
                </c:pt>
                <c:pt idx="10">
                  <c:v>0</c:v>
                </c:pt>
                <c:pt idx="11">
                  <c:v>0</c:v>
                </c:pt>
                <c:pt idx="12">
                  <c:v>1</c:v>
                </c:pt>
                <c:pt idx="13">
                  <c:v>1</c:v>
                </c:pt>
                <c:pt idx="14">
                  <c:v>0</c:v>
                </c:pt>
                <c:pt idx="15">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50112"/>
        <c:majorUnit val="1"/>
      </c:valAx>
      <c:valAx>
        <c:axId val="48650112"/>
        <c:scaling>
          <c:orientation val="minMax"/>
          <c:max val="0.415"/>
          <c:min val="0"/>
        </c:scaling>
        <c:delete val="0"/>
        <c:axPos val="b"/>
        <c:majorGridlines>
          <c:spPr>
            <a:ln xmlns:a="http://schemas.openxmlformats.org/drawingml/2006/main" w="4763">
              <a:solidFill>
                <a:srgbClr val="EAEAEA"/>
              </a:solidFill>
            </a:ln>
          </c:spPr>
        </c:majorGridlines>
        <c:title>
          <c:tx>
            <c:rich>
              <a:bodyPr xmlns:a="http://schemas.openxmlformats.org/drawingml/2006/main"/>
              <a:lstStyle xmlns:a="http://schemas.openxmlformats.org/drawingml/2006/main"/>
              <a:p xmlns:a="http://schemas.openxmlformats.org/drawingml/2006/main">
                <a:r>
                  <a:rPr sz="900">
                    <a:solidFill>
                      <a:srgbClr val="777777"/>
                    </a:solidFill>
                    <a:latin typeface="Segoe UI"/>
                    <a:ea typeface="Segoe UI"/>
                    <a:cs typeface="Segoe UI"/>
                  </a:rPr>
                  <a:t>Time from crop start (us)</a:t>
                </a:r>
              </a:p>
            </c:rich>
          </c:tx>
          <c:overlay val="0"/>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CE10F9F-73F7-4BF3-8611-34101DA09C0D}"/>
              </a:ext>
            </a:extLst>
          </p:cNvPr>
          <p:cNvSpPr>
            <a:spLocks xmlns:a="http://schemas.openxmlformats.org/drawingml/2006/main" noGrp="1"/>
          </p:cNvSpPr>
          <p:nvPr/>
        </p:nvSpPr>
        <p:spPr>
          <a:xfrm xmlns:a="http://schemas.openxmlformats.org/drawingml/2006/main">
            <a:off x="0" y="0"/>
            <a:ext cx="7562088" cy="73152"/>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45" name="Picture 2"/>
          <p:cNvPicPr>
            <a:picLocks xmlns:a="http://schemas.openxmlformats.org/drawingml/2006/main" noChangeAspect="1"/>
          </p:cNvPicPr>
          <p:nvPr/>
        </p:nvPicPr>
        <p:blipFill>
          <a:blip xmlns:r="http://schemas.openxmlformats.org/officeDocument/2006/relationships" xmlns:a="http://schemas.openxmlformats.org/drawingml/2006/main" r:embed="R36218b89711a45a1"/>
          <a:stretch xmlns:a="http://schemas.openxmlformats.org/drawingml/2006/main">
            <a:fillRect l="0" t="0" r="0" b="0"/>
          </a:stretch>
        </p:blipFill>
        <p:spPr>
          <a:xfrm xmlns:a="http://schemas.openxmlformats.org/drawingml/2006/main">
            <a:off x="395935" y="425196"/>
            <a:ext cx="701344" cy="88699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22AA75DF-910D-4F33-BEB8-CD4F27F697B7}"/>
              </a:ext>
            </a:extLst>
          </p:cNvPr>
          <p:cNvSpPr>
            <a:spLocks xmlns:a="http://schemas.openxmlformats.org/drawingml/2006/main" noGrp="1"/>
          </p:cNvSpPr>
          <p:nvPr/>
        </p:nvSpPr>
        <p:spPr>
          <a:xfrm xmlns:a="http://schemas.openxmlformats.org/drawingml/2006/main">
            <a:off x="1188720" y="813816"/>
            <a:ext cx="1801368"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2400" b="1">
                <a:solidFill>
                  <a:srgbClr val="111111"/>
                </a:solidFill>
                <a:latin typeface="Segoe UI"/>
                <a:ea typeface="Segoe UI"/>
                <a:cs typeface="Segoe UI"/>
              </a:rPr>
              <a:t>Ignytion </a:t>
            </a:r>
            <a:r>
              <a:rPr sz="2400" b="1">
                <a:solidFill>
                  <a:srgbClr val="EF9529"/>
                </a:solidFill>
                <a:latin typeface="Segoe UI"/>
                <a:ea typeface="Segoe UI"/>
                <a:cs typeface="Segoe UI"/>
              </a:rPr>
              <a:t>io</a:t>
            </a:r>
          </a:p>
        </p:txBody>
      </p:sp>
      <p:sp>
        <p:nvSpPr>
          <p:cNvPr id="35" name="Rectangle 34">
            <a:extLst xmlns:a="http://schemas.openxmlformats.org/drawingml/2006/main">
              <a:ext uri="{FF2B5EF4-FFF2-40B4-BE49-F238E27FC236}">
                <a16:creationId xmlns:a16="http://schemas.microsoft.com/office/drawing/2014/main" id="{8585DFE4-70F5-4746-94A6-B4BCC6129A28}"/>
              </a:ext>
            </a:extLst>
          </p:cNvPr>
          <p:cNvSpPr>
            <a:spLocks xmlns:a="http://schemas.openxmlformats.org/drawingml/2006/main" noGrp="1"/>
          </p:cNvSpPr>
          <p:nvPr/>
        </p:nvSpPr>
        <p:spPr>
          <a:xfrm xmlns:a="http://schemas.openxmlformats.org/drawingml/2006/main">
            <a:off x="502920" y="99669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CBB4E900-BFBF-45C8-A975-7C7783508107}"/>
              </a:ext>
            </a:extLst>
          </p:cNvPr>
          <p:cNvSpPr>
            <a:spLocks xmlns:a="http://schemas.openxmlformats.org/drawingml/2006/main" noGrp="1"/>
          </p:cNvSpPr>
          <p:nvPr/>
        </p:nvSpPr>
        <p:spPr>
          <a:xfrm xmlns:a="http://schemas.openxmlformats.org/drawingml/2006/main">
            <a:off x="502920" y="10040112"/>
            <a:ext cx="27432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Ignytion IO · ignytion.io</a:t>
            </a:r>
          </a:p>
        </p:txBody>
      </p:sp>
      <p:sp>
        <p:nvSpPr>
          <p:cNvPr id="37" name="TextBox 36">
            <a:extLst xmlns:a="http://schemas.openxmlformats.org/drawingml/2006/main">
              <a:ext uri="{FF2B5EF4-FFF2-40B4-BE49-F238E27FC236}">
                <a16:creationId xmlns:a16="http://schemas.microsoft.com/office/drawing/2014/main" id="{8CD80307-5BA6-4F09-A5E9-DE148C78B71E}"/>
              </a:ext>
            </a:extLst>
          </p:cNvPr>
          <p:cNvSpPr>
            <a:spLocks xmlns:a="http://schemas.openxmlformats.org/drawingml/2006/main" noGrp="1"/>
          </p:cNvSpPr>
          <p:nvPr/>
        </p:nvSpPr>
        <p:spPr>
          <a:xfrm xmlns:a="http://schemas.openxmlformats.org/drawingml/2006/main">
            <a:off x="4315968" y="10040112"/>
            <a:ext cx="27432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SPI PROTOCOL SERIES · OCTOBER 2026</a:t>
            </a:r>
          </a:p>
        </p:txBody>
      </p:sp>
      <p:sp>
        <p:nvSpPr>
          <p:cNvPr id="39" name="eyebrow">
            <a:extLst xmlns:a="http://schemas.openxmlformats.org/drawingml/2006/main">
              <a:ext uri="{FF2B5EF4-FFF2-40B4-BE49-F238E27FC236}">
                <a16:creationId xmlns:a16="http://schemas.microsoft.com/office/drawing/2014/main" id="{8749DC50-7CAB-4F23-B7A1-6B4E542858A4}"/>
              </a:ext>
            </a:extLst>
          </p:cNvPr>
          <p:cNvSpPr>
            <a:spLocks xmlns:a="http://schemas.openxmlformats.org/drawingml/2006/main" noGrp="1"/>
          </p:cNvSpPr>
          <p:nvPr/>
        </p:nvSpPr>
        <p:spPr>
          <a:xfrm xmlns:a="http://schemas.openxmlformats.org/drawingml/2006/main">
            <a:off x="502920" y="1920240"/>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00" b="1">
                <a:solidFill>
                  <a:srgbClr val="EF9529"/>
                </a:solidFill>
                <a:latin typeface="Segoe UI"/>
                <a:ea typeface="Segoe UI"/>
                <a:cs typeface="Segoe UI"/>
              </a:defRPr>
            </a:pPr>
            <a:r>
              <a:rPr sz="1100" b="1">
                <a:solidFill>
                  <a:srgbClr val="EF9529"/>
                </a:solidFill>
                <a:latin typeface="Segoe UI"/>
                <a:ea typeface="Segoe UI"/>
                <a:cs typeface="Segoe UI"/>
              </a:rPr>
              <a:t>IGNYTION IO · TECHNICAL LAB NOTE</a:t>
            </a:r>
          </a:p>
        </p:txBody>
      </p:sp>
      <p:sp>
        <p:nvSpPr>
          <p:cNvPr id="40" name="cover-title">
            <a:extLst xmlns:a="http://schemas.openxmlformats.org/drawingml/2006/main">
              <a:ext uri="{FF2B5EF4-FFF2-40B4-BE49-F238E27FC236}">
                <a16:creationId xmlns:a16="http://schemas.microsoft.com/office/drawing/2014/main" id="{4B0F6DB6-9018-41DB-92A3-6CDC4FA0D740}"/>
              </a:ext>
            </a:extLst>
          </p:cNvPr>
          <p:cNvSpPr>
            <a:spLocks xmlns:a="http://schemas.openxmlformats.org/drawingml/2006/main" noGrp="1"/>
          </p:cNvSpPr>
          <p:nvPr/>
        </p:nvSpPr>
        <p:spPr>
          <a:xfrm xmlns:a="http://schemas.openxmlformats.org/drawingml/2006/main">
            <a:off x="502920" y="2468880"/>
            <a:ext cx="6556248" cy="2011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00" b="1">
                <a:solidFill>
                  <a:srgbClr val="111111"/>
                </a:solidFill>
                <a:latin typeface="Segoe UI"/>
                <a:ea typeface="Segoe UI"/>
                <a:cs typeface="Segoe UI"/>
              </a:defRPr>
            </a:pPr>
            <a:r>
              <a:rPr sz="3400" b="1">
                <a:solidFill>
                  <a:srgbClr val="111111"/>
                </a:solidFill>
                <a:latin typeface="Segoe UI"/>
                <a:ea typeface="Segoe UI"/>
                <a:cs typeface="Segoe UI"/>
              </a:rPr>
              <a:t>SPI protocol:</a:t>
            </a:r>
          </a:p>
          <a:p xmlns:a="http://schemas.openxmlformats.org/drawingml/2006/main">
            <a:pPr>
              <a:defRPr sz="3400" b="1">
                <a:solidFill>
                  <a:srgbClr val="111111"/>
                </a:solidFill>
                <a:latin typeface="Segoe UI"/>
                <a:ea typeface="Segoe UI"/>
                <a:cs typeface="Segoe UI"/>
              </a:defRPr>
            </a:pPr>
            <a:r>
              <a:rPr sz="3400" b="1">
                <a:solidFill>
                  <a:srgbClr val="111111"/>
                </a:solidFill>
                <a:latin typeface="Segoe UI"/>
                <a:ea typeface="Segoe UI"/>
                <a:cs typeface="Segoe UI"/>
              </a:rPr>
              <a:t>From RTL to routed GDS</a:t>
            </a:r>
          </a:p>
        </p:txBody>
      </p:sp>
      <p:sp>
        <p:nvSpPr>
          <p:cNvPr id="41" name="intro">
            <a:extLst xmlns:a="http://schemas.openxmlformats.org/drawingml/2006/main">
              <a:ext uri="{FF2B5EF4-FFF2-40B4-BE49-F238E27FC236}">
                <a16:creationId xmlns:a16="http://schemas.microsoft.com/office/drawing/2014/main" id="{901C8E88-F0F3-469A-96D0-37F0A9C69121}"/>
              </a:ext>
            </a:extLst>
          </p:cNvPr>
          <p:cNvSpPr>
            <a:spLocks xmlns:a="http://schemas.openxmlformats.org/drawingml/2006/main" noGrp="1"/>
          </p:cNvSpPr>
          <p:nvPr/>
        </p:nvSpPr>
        <p:spPr>
          <a:xfrm xmlns:a="http://schemas.openxmlformats.org/drawingml/2006/main">
            <a:off x="502920" y="4754880"/>
            <a:ext cx="6556248"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00" b="0">
                <a:solidFill>
                  <a:srgbClr val="EF9529"/>
                </a:solidFill>
                <a:latin typeface="Segoe UI"/>
                <a:ea typeface="Segoe UI"/>
                <a:cs typeface="Segoe UI"/>
              </a:defRPr>
            </a:pPr>
            <a:r>
              <a:rPr sz="1400" b="0">
                <a:solidFill>
                  <a:srgbClr val="EF9529"/>
                </a:solidFill>
                <a:latin typeface="Segoe UI"/>
                <a:ea typeface="Segoe UI"/>
                <a:cs typeface="Segoe UI"/>
              </a:rPr>
              <a:t>A beginner's walkthrough of a checked open-source reference build</a:t>
            </a:r>
          </a:p>
        </p:txBody>
      </p:sp>
      <p:sp>
        <p:nvSpPr>
          <p:cNvPr id="42" name="body-0">
            <a:extLst xmlns:a="http://schemas.openxmlformats.org/drawingml/2006/main">
              <a:ext uri="{FF2B5EF4-FFF2-40B4-BE49-F238E27FC236}">
                <a16:creationId xmlns:a16="http://schemas.microsoft.com/office/drawing/2014/main" id="{8CC4D294-BB70-400F-A6EE-382A4B9E5D47}"/>
              </a:ext>
            </a:extLst>
          </p:cNvPr>
          <p:cNvSpPr>
            <a:spLocks xmlns:a="http://schemas.openxmlformats.org/drawingml/2006/main" noGrp="1"/>
          </p:cNvSpPr>
          <p:nvPr/>
        </p:nvSpPr>
        <p:spPr>
          <a:xfrm xmlns:a="http://schemas.openxmlformats.org/drawingml/2006/main">
            <a:off x="502920" y="5486400"/>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Follow spi_core from its communication rules and Verilog </a:t>
            </a:r>
            <a:r>
              <a:rPr b="1"/>
              <a:t>source</a:t>
            </a:r>
            <a:r>
              <a:t> to a routed IHP SG13G2 layout.
Worked calculations, measured digital traces and tool results are identified separately. This is an
educational block, not a manufactured chip or a signoff-ready design.</a:t>
            </a:r>
          </a:p>
        </p:txBody>
      </p:sp>
      <p:graphicFrame>
        <p:nvGraphicFramePr>
          <p:cNvPr id="54" name=""/>
          <p:cNvGraphicFramePr/>
          <p:nvPr/>
        </p:nvGraphicFramePr>
        <p:xfrm>
          <a:off xmlns:a="http://schemas.openxmlformats.org/drawingml/2006/main" x="502920" y="6492240"/>
          <a:ext xmlns:a="http://schemas.openxmlformats.org/drawingml/2006/main" cx="6556248" cy="2122488"/>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STAGE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PRODUCED</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RESULT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Simulation</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Listed directed checks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directed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131 mapped functional cells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mapping</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Routing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Routed DEF and extracted SPEF</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Timing</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TT and slow setup / hold</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GDS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Decoded placement agreement</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export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Foundry DRC / LVS</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 accepted result</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0903170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ca861f2104554041"/>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AA7E015D-1F3C-4A89-BCD1-81538E49A391}"/>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CONTENTS</a:t>
            </a:r>
          </a:p>
        </p:txBody>
      </p:sp>
      <p:sp>
        <p:nvSpPr>
          <p:cNvPr id="51" name="page-title">
            <a:extLst xmlns:a="http://schemas.openxmlformats.org/drawingml/2006/main">
              <a:ext uri="{FF2B5EF4-FFF2-40B4-BE49-F238E27FC236}">
                <a16:creationId xmlns:a16="http://schemas.microsoft.com/office/drawing/2014/main" id="{5ABC1288-EDED-47E3-BBF8-8DE3D3F42E3B}"/>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What is in this document</a:t>
            </a:r>
          </a:p>
        </p:txBody>
      </p:sp>
      <p:sp>
        <p:nvSpPr>
          <p:cNvPr id="52" name="intro">
            <a:extLst xmlns:a="http://schemas.openxmlformats.org/drawingml/2006/main">
              <a:ext uri="{FF2B5EF4-FFF2-40B4-BE49-F238E27FC236}">
                <a16:creationId xmlns:a16="http://schemas.microsoft.com/office/drawing/2014/main" id="{9193A700-1484-49AF-A084-F8DC9E4F38D0}"/>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Start with the wire-level rules, then follow the same circuit through the tools. Each section has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specific evidence boundary.</a:t>
            </a:r>
          </a:p>
        </p:txBody>
      </p:sp>
      <p:sp>
        <p:nvSpPr>
          <p:cNvPr id="53" name="component-label-246.26666666666665">
            <a:extLst xmlns:a="http://schemas.openxmlformats.org/drawingml/2006/main">
              <a:ext uri="{FF2B5EF4-FFF2-40B4-BE49-F238E27FC236}">
                <a16:creationId xmlns:a16="http://schemas.microsoft.com/office/drawing/2014/main" id="{6B39C723-AC28-4124-BEE1-06B819040960}"/>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A D I N G   M A P</a:t>
            </a:r>
          </a:p>
        </p:txBody>
      </p:sp>
      <p:graphicFrame>
        <p:nvGraphicFramePr>
          <p:cNvPr id="68" name=""/>
          <p:cNvGraphicFramePr/>
          <p:nvPr/>
        </p:nvGraphicFramePr>
        <p:xfrm>
          <a:off xmlns:a="http://schemas.openxmlformats.org/drawingml/2006/main" x="502920" y="2610866"/>
          <a:ext xmlns:a="http://schemas.openxmlformats.org/drawingml/2006/main" cx="6556248" cy="6670675"/>
        </p:xfrm>
        <a:graphic xmlns:a="http://schemas.openxmlformats.org/drawingml/2006/main">
          <a:graphicData uri="http://schemas.openxmlformats.org/drawingml/2006/table">
            <a:tbl>
              <a:tblPr/>
              <a:tblGrid>
                <a:gridCol w="5507248"/>
                <a:gridCol w="1049000"/>
              </a:tblGrid>
              <a:tr h="303213">
                <a:tc>
                  <a:txBody>
                    <a:bodyPr lIns="76200" tIns="57150" rIns="76200" bIns="57150">
                      <a:noAutofit/>
                    </a:bodyPr>
                    <a:lstStyle/>
                    <a:p>
                      <a:r>
                        <a:rPr sz="950" b="1">
                          <a:solidFill>
                            <a:srgbClr val="EDEDED"/>
                          </a:solidFill>
                          <a:latin typeface="Segoe UI"/>
                          <a:ea typeface="Segoe UI"/>
                          <a:cs typeface="Segoe UI"/>
                        </a:rPr>
                        <a:t>SECTION</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PAGE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Start here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03</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Chip design in ten minutes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04</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One clock, two data directions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05</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Decode CPOL and CPHA as edges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06</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Divider, latency and return-path margin</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A request pulse, not a stream contract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Sixteen edges make one byte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09</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A byte envelope is not a flash command</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A5 transmitted, 5A returned</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Lint: read code before running it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Four tested parameter pairs, not eight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13</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 a description becomes gates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14</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Floorplan and 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15</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Clock tree and routing</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16</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Two measured reference corners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Count the right objects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DRC and LVS: what is still missing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19</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Everything at a glance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20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Run it yourself in WSL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21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Sources, ownership and remaining work</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22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Design and physical glossary</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23–24</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95460488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1" name="Picture 2"/>
          <p:cNvPicPr>
            <a:picLocks xmlns:a="http://schemas.openxmlformats.org/drawingml/2006/main" noChangeAspect="1"/>
          </p:cNvPicPr>
          <p:nvPr/>
        </p:nvPicPr>
        <p:blipFill>
          <a:blip xmlns:r="http://schemas.openxmlformats.org/officeDocument/2006/relationships" xmlns:a="http://schemas.openxmlformats.org/drawingml/2006/main" r:embed="Rc525412e64224253"/>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A58258EF-5468-4791-A715-E13C0D69AAAD}"/>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 · START HERE</a:t>
            </a:r>
          </a:p>
        </p:txBody>
      </p:sp>
      <p:sp>
        <p:nvSpPr>
          <p:cNvPr id="51" name="page-title">
            <a:extLst xmlns:a="http://schemas.openxmlformats.org/drawingml/2006/main">
              <a:ext uri="{FF2B5EF4-FFF2-40B4-BE49-F238E27FC236}">
                <a16:creationId xmlns:a16="http://schemas.microsoft.com/office/drawing/2014/main" id="{B5664BA4-E32F-4155-9410-7139EE563667}"/>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Start here</a:t>
            </a:r>
          </a:p>
        </p:txBody>
      </p:sp>
      <p:sp>
        <p:nvSpPr>
          <p:cNvPr id="52" name="intro">
            <a:extLst xmlns:a="http://schemas.openxmlformats.org/drawingml/2006/main">
              <a:ext uri="{FF2B5EF4-FFF2-40B4-BE49-F238E27FC236}">
                <a16:creationId xmlns:a16="http://schemas.microsoft.com/office/drawing/2014/main" id="{A73C0704-EED6-4C11-B6B0-F7389BD46B11}"/>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protocol is an agreement about how connected devices exchange information: which wire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carries each bit, when to sample it, and how to recognise a complete transfer.</a:t>
            </a:r>
          </a:p>
        </p:txBody>
      </p:sp>
      <p:sp>
        <p:nvSpPr>
          <p:cNvPr id="53" name="component-label-246.26666666666665">
            <a:extLst xmlns:a="http://schemas.openxmlformats.org/drawingml/2006/main">
              <a:ext uri="{FF2B5EF4-FFF2-40B4-BE49-F238E27FC236}">
                <a16:creationId xmlns:a16="http://schemas.microsoft.com/office/drawing/2014/main" id="{55041766-A5DA-4E26-9125-CBCB4154A0C5}"/>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W H A T   W E   B U I L T   A N D   W H A T   I T   P R O V E S</a:t>
            </a:r>
          </a:p>
        </p:txBody>
      </p:sp>
      <p:sp>
        <p:nvSpPr>
          <p:cNvPr id="54" name="body-0">
            <a:extLst xmlns:a="http://schemas.openxmlformats.org/drawingml/2006/main">
              <a:ext uri="{FF2B5EF4-FFF2-40B4-BE49-F238E27FC236}">
                <a16:creationId xmlns:a16="http://schemas.microsoft.com/office/drawing/2014/main" id="{21462924-DC74-4394-923E-F178AB50F450}"/>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Verilog description represents circuits, not software instructions running one after another.
Registers remember values; combinational logic calculates the next values. A </a:t>
            </a:r>
            <a:r>
              <a:rPr b="1"/>
              <a:t>clock</a:t>
            </a:r>
            <a:r>
              <a:t> advances the
registered state. The next pages first explain this protocol at its wires, then connect those rules to
the actual reference RTL.</a:t>
            </a:r>
          </a:p>
        </p:txBody>
      </p:sp>
      <p:sp>
        <p:nvSpPr>
          <p:cNvPr id="55" name="body-1">
            <a:extLst xmlns:a="http://schemas.openxmlformats.org/drawingml/2006/main">
              <a:ext uri="{FF2B5EF4-FFF2-40B4-BE49-F238E27FC236}">
                <a16:creationId xmlns:a16="http://schemas.microsoft.com/office/drawing/2014/main" id="{924809FA-600D-444F-B590-096F54F0647F}"/>
              </a:ext>
            </a:extLst>
          </p:cNvPr>
          <p:cNvSpPr>
            <a:spLocks xmlns:a="http://schemas.openxmlformats.org/drawingml/2006/main" noGrp="1"/>
          </p:cNvSpPr>
          <p:nvPr/>
        </p:nvSpPr>
        <p:spPr>
          <a:xfrm xmlns:a="http://schemas.openxmlformats.org/drawingml/2006/main">
            <a:off x="502920" y="350875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implemented unit is spi_core in hw/protocols/spi. It is a fixed </a:t>
            </a:r>
            <a:r>
              <a:rPr b="1"/>
              <a:t>reference</a:t>
            </a:r>
            <a:r>
              <a:t> block, not the Jane
Street programmable combined emulator or a Tiny Tapeout submission top. No new competition
architecture, instruction set, pin map or authority decision is implied by these documents.</a:t>
            </a:r>
          </a:p>
        </p:txBody>
      </p:sp>
      <p:sp>
        <p:nvSpPr>
          <p:cNvPr id="56" name="body-2">
            <a:extLst xmlns:a="http://schemas.openxmlformats.org/drawingml/2006/main">
              <a:ext uri="{FF2B5EF4-FFF2-40B4-BE49-F238E27FC236}">
                <a16:creationId xmlns:a16="http://schemas.microsoft.com/office/drawing/2014/main" id="{900A2685-DE1B-4498-B59B-DFDB506F3AF7}"/>
              </a:ext>
            </a:extLst>
          </p:cNvPr>
          <p:cNvSpPr>
            <a:spLocks xmlns:a="http://schemas.openxmlformats.org/drawingml/2006/main" noGrp="1"/>
          </p:cNvSpPr>
          <p:nvPr/>
        </p:nvSpPr>
        <p:spPr>
          <a:xfrm xmlns:a="http://schemas.openxmlformats.org/drawingml/2006/main">
            <a:off x="502920" y="4228465"/>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Only four mode/divider pairs are tested; the hardened core is mode 0, divider 2. General
multi-byte CS envelopes are absent. Later pages give the exact stimulus and the implementation
evidence rather than using a broad protocol-compliant label. A successful mapped netlist, routed
DEF and decoded </a:t>
            </a:r>
            <a:r>
              <a:rPr b="1"/>
              <a:t>GDS</a:t>
            </a:r>
            <a:r>
              <a:t> establish concrete implementation/export results, not readiness to
manufacture.</a:t>
            </a:r>
          </a:p>
        </p:txBody>
      </p:sp>
      <p:sp>
        <p:nvSpPr>
          <p:cNvPr id="57" name="body-3">
            <a:extLst xmlns:a="http://schemas.openxmlformats.org/drawingml/2006/main">
              <a:ext uri="{FF2B5EF4-FFF2-40B4-BE49-F238E27FC236}">
                <a16:creationId xmlns:a16="http://schemas.microsoft.com/office/drawing/2014/main" id="{25EB3292-04AA-430D-8FC8-84E2564CC01A}"/>
              </a:ext>
            </a:extLst>
          </p:cNvPr>
          <p:cNvSpPr>
            <a:spLocks xmlns:a="http://schemas.openxmlformats.org/drawingml/2006/main" noGrp="1"/>
          </p:cNvSpPr>
          <p:nvPr/>
        </p:nvSpPr>
        <p:spPr>
          <a:xfrm xmlns:a="http://schemas.openxmlformats.org/drawingml/2006/main">
            <a:off x="502920" y="530453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reading path starts with chip-design vocabulary, then develops the protocol, calculations,
local interface and failure cases. Separate sections explain lint, simulation, synthesis, placement,
routing, timing and </a:t>
            </a:r>
            <a:r>
              <a:rPr b="1"/>
              <a:t>GDS</a:t>
            </a:r>
            <a:r>
              <a:t>. The last two pages define design and physical terms. No prior ASIC-flow
experience is assumed.</a:t>
            </a:r>
          </a:p>
        </p:txBody>
      </p:sp>
      <p:sp>
        <p:nvSpPr>
          <p:cNvPr id="58" name="component-label-651.1733333333334">
            <a:extLst xmlns:a="http://schemas.openxmlformats.org/drawingml/2006/main">
              <a:ext uri="{FF2B5EF4-FFF2-40B4-BE49-F238E27FC236}">
                <a16:creationId xmlns:a16="http://schemas.microsoft.com/office/drawing/2014/main" id="{49F16BA7-5848-43AE-9A57-21AD14F8B90A}"/>
              </a:ext>
            </a:extLst>
          </p:cNvPr>
          <p:cNvSpPr>
            <a:spLocks xmlns:a="http://schemas.openxmlformats.org/drawingml/2006/main" noGrp="1"/>
          </p:cNvSpPr>
          <p:nvPr/>
        </p:nvSpPr>
        <p:spPr>
          <a:xfrm xmlns:a="http://schemas.openxmlformats.org/drawingml/2006/main">
            <a:off x="502920" y="620242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E V I D E N C E   V O C A B U L A R Y</a:t>
            </a:r>
          </a:p>
        </p:txBody>
      </p:sp>
      <p:graphicFrame>
        <p:nvGraphicFramePr>
          <p:cNvPr id="78" name=""/>
          <p:cNvGraphicFramePr/>
          <p:nvPr/>
        </p:nvGraphicFramePr>
        <p:xfrm>
          <a:off xmlns:a="http://schemas.openxmlformats.org/drawingml/2006/main" x="502920" y="6467602"/>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Label</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Meaning in this document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Worked example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Explicit assumptions; independently calculated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Measured trace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Positive digital regression VCD, where present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Directed PASS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Listed assertions and negative controls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Routed / decoded 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Physical export and structural agreement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Signoff</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performed or claimed</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95460488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8" name="Picture 2"/>
          <p:cNvPicPr>
            <a:picLocks xmlns:a="http://schemas.openxmlformats.org/drawingml/2006/main" noChangeAspect="1"/>
          </p:cNvPicPr>
          <p:nvPr/>
        </p:nvPicPr>
        <p:blipFill>
          <a:blip xmlns:r="http://schemas.openxmlformats.org/officeDocument/2006/relationships" xmlns:a="http://schemas.openxmlformats.org/drawingml/2006/main" r:embed="Re37a52731f4e4e7e"/>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0D9F9694-6EB2-406B-BF38-647A83F62288}"/>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 · CHIP DESIGN</a:t>
            </a:r>
          </a:p>
        </p:txBody>
      </p:sp>
      <p:sp>
        <p:nvSpPr>
          <p:cNvPr id="51" name="page-title">
            <a:extLst xmlns:a="http://schemas.openxmlformats.org/drawingml/2006/main">
              <a:ext uri="{FF2B5EF4-FFF2-40B4-BE49-F238E27FC236}">
                <a16:creationId xmlns:a16="http://schemas.microsoft.com/office/drawing/2014/main" id="{1A5974B3-8AAD-48F1-AA00-7E7E40FC15D3}"/>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Chip design in ten minutes</a:t>
            </a:r>
          </a:p>
        </p:txBody>
      </p:sp>
      <p:sp>
        <p:nvSpPr>
          <p:cNvPr id="52" name="intro">
            <a:extLst xmlns:a="http://schemas.openxmlformats.org/drawingml/2006/main">
              <a:ext uri="{FF2B5EF4-FFF2-40B4-BE49-F238E27FC236}">
                <a16:creationId xmlns:a16="http://schemas.microsoft.com/office/drawing/2014/main" id="{A987F8EB-BAAA-414C-8A17-B61C7610C829}"/>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Each stage makes the same circuit more concrete. The folders below are the actual unit</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layout, not a copied APB command list.</a:t>
            </a:r>
          </a:p>
        </p:txBody>
      </p:sp>
      <p:sp>
        <p:nvSpPr>
          <p:cNvPr id="53" name="component-label-246.26666666666665">
            <a:extLst xmlns:a="http://schemas.openxmlformats.org/drawingml/2006/main">
              <a:ext uri="{FF2B5EF4-FFF2-40B4-BE49-F238E27FC236}">
                <a16:creationId xmlns:a16="http://schemas.microsoft.com/office/drawing/2014/main" id="{73AFDC3A-0539-40C7-8003-4B92ECC8F404}"/>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H I P   D E S I G N</a:t>
            </a:r>
          </a:p>
        </p:txBody>
      </p:sp>
      <p:sp>
        <p:nvSpPr>
          <p:cNvPr id="54" name="body-0">
            <a:extLst xmlns:a="http://schemas.openxmlformats.org/drawingml/2006/main">
              <a:ext uri="{FF2B5EF4-FFF2-40B4-BE49-F238E27FC236}">
                <a16:creationId xmlns:a16="http://schemas.microsoft.com/office/drawing/2014/main" id="{4DE2B58E-A5C9-43D1-9FD1-D2A723B2E83E}"/>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RTL states what hardware should do. A simulator checks selected input sequences before any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silicon exists. Synthesis replaces that description with gates from a process library. Physical tools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choose positions and metal routes. Timing analysis checks the resulting delays; stream-out writes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mask-layout geometry.</a:t>
            </a:r>
          </a:p>
        </p:txBody>
      </p:sp>
      <p:sp>
        <p:nvSpPr>
          <p:cNvPr id="55" name="component-label-368.3733333333333">
            <a:extLst xmlns:a="http://schemas.openxmlformats.org/drawingml/2006/main">
              <a:ext uri="{FF2B5EF4-FFF2-40B4-BE49-F238E27FC236}">
                <a16:creationId xmlns:a16="http://schemas.microsoft.com/office/drawing/2014/main" id="{474B8613-FD6F-4A6B-86BF-5E83D15A66D2}"/>
              </a:ext>
            </a:extLst>
          </p:cNvPr>
          <p:cNvSpPr>
            <a:spLocks xmlns:a="http://schemas.openxmlformats.org/drawingml/2006/main" noGrp="1"/>
          </p:cNvSpPr>
          <p:nvPr/>
        </p:nvSpPr>
        <p:spPr>
          <a:xfrm xmlns:a="http://schemas.openxmlformats.org/drawingml/2006/main">
            <a:off x="502920" y="350875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T H E   P I P E L I N E ,   S T A G E   B Y   S T A G E</a:t>
            </a:r>
          </a:p>
        </p:txBody>
      </p:sp>
      <p:graphicFrame>
        <p:nvGraphicFramePr>
          <p:cNvPr id="72" name=""/>
          <p:cNvGraphicFramePr/>
          <p:nvPr/>
        </p:nvGraphicFramePr>
        <p:xfrm>
          <a:off xmlns:a="http://schemas.openxmlformats.org/drawingml/2006/main" x="502920" y="3773932"/>
          <a:ext xmlns:a="http://schemas.openxmlformats.org/drawingml/2006/main" cx="6556248" cy="3941762"/>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FOLDER</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HAPPENS HERE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00_lint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Read code for risky patterns; retained warnings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01_rtl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Pinned source and the local wrapper</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02_sim</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Independent stimulus, comparisons and fatal controls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03_verification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Supplemental checks; not a universal UVM PASS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04_synthesis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Map functional logic to SG13G2 cells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05_dft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Manufacturing test work remains unperformed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06_floorplanning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Die outline, rows, power and pin locations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07_placement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Choose legal positions for mapped cells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09_place_and_route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Clock tree, routing and SPEF extraction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08_sta</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Read post-route TT and slow timing reports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10_gds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Stream-out and independent placement decoder</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11_physical_verification</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Foundry DRC / LVS remain 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95460488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fda1f3e4c4b14dc0"/>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05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0969000F-BEB5-4A34-B177-CBBE1DE42760}"/>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3 · INTERFACE RULES</a:t>
            </a:r>
          </a:p>
        </p:txBody>
      </p:sp>
      <p:sp>
        <p:nvSpPr>
          <p:cNvPr id="51" name="page-title">
            <a:extLst xmlns:a="http://schemas.openxmlformats.org/drawingml/2006/main">
              <a:ext uri="{FF2B5EF4-FFF2-40B4-BE49-F238E27FC236}">
                <a16:creationId xmlns:a16="http://schemas.microsoft.com/office/drawing/2014/main" id="{91CB8466-2C43-4CEF-9CE6-A688D791EF3B}"/>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One clock, two data directions</a:t>
            </a:r>
          </a:p>
        </p:txBody>
      </p:sp>
      <p:sp>
        <p:nvSpPr>
          <p:cNvPr id="52" name="intro">
            <a:extLst xmlns:a="http://schemas.openxmlformats.org/drawingml/2006/main">
              <a:ext uri="{FF2B5EF4-FFF2-40B4-BE49-F238E27FC236}">
                <a16:creationId xmlns:a16="http://schemas.microsoft.com/office/drawing/2014/main" id="{3F8E00CE-10E0-46C4-BA6B-20DD4D0FD059}"/>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Controller and peripheral exchange bits simultaneously while one peripheral owns the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selected response path.</a:t>
            </a:r>
          </a:p>
        </p:txBody>
      </p:sp>
      <p:sp>
        <p:nvSpPr>
          <p:cNvPr id="53" name="component-label-246.26666666666665">
            <a:extLst xmlns:a="http://schemas.openxmlformats.org/drawingml/2006/main">
              <a:ext uri="{FF2B5EF4-FFF2-40B4-BE49-F238E27FC236}">
                <a16:creationId xmlns:a16="http://schemas.microsoft.com/office/drawing/2014/main" id="{DD032075-7427-41C9-B84E-F8BD0651F6F8}"/>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I N T E R F A C E   R U L E S</a:t>
            </a:r>
          </a:p>
        </p:txBody>
      </p:sp>
      <p:sp>
        <p:nvSpPr>
          <p:cNvPr id="54" name="body-0">
            <a:extLst xmlns:a="http://schemas.openxmlformats.org/drawingml/2006/main">
              <a:ext uri="{FF2B5EF4-FFF2-40B4-BE49-F238E27FC236}">
                <a16:creationId xmlns:a16="http://schemas.microsoft.com/office/drawing/2014/main" id="{4716A8A7-B00A-4DB9-AA15-2CD1CC9F30B9}"/>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repository keeps conventional MOSI/MISO names. Multiple peripherals generally share </a:t>
            </a:r>
            <a:r>
              <a:rPr b="1"/>
              <a:t>clock</a:t>
            </a:r>
            <a:r>
              <a:t>
and data, with separate chip-select signals. Only the selected peripheral should drive a shared
MISO.</a:t>
            </a:r>
          </a:p>
        </p:txBody>
      </p:sp>
      <p:sp>
        <p:nvSpPr>
          <p:cNvPr id="55" name="body-1">
            <a:extLst xmlns:a="http://schemas.openxmlformats.org/drawingml/2006/main">
              <a:ext uri="{FF2B5EF4-FFF2-40B4-BE49-F238E27FC236}">
                <a16:creationId xmlns:a16="http://schemas.microsoft.com/office/drawing/2014/main" id="{D4C22AB4-1A1A-41AE-8662-303310CACC7A}"/>
              </a:ext>
            </a:extLst>
          </p:cNvPr>
          <p:cNvSpPr>
            <a:spLocks xmlns:a="http://schemas.openxmlformats.org/drawingml/2006/main" noGrp="1"/>
          </p:cNvSpPr>
          <p:nvPr/>
        </p:nvSpPr>
        <p:spPr>
          <a:xfrm xmlns:a="http://schemas.openxmlformats.org/drawingml/2006/main">
            <a:off x="502920" y="333057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full-duplex transfer does not double the </a:t>
            </a:r>
            <a:r>
              <a:rPr b="1"/>
              <a:t>clock</a:t>
            </a:r>
            <a:r>
              <a:t> count: both wires carry a bit in each period. An
implementation may write each bit by index, as this core does, rather than literally shift a register;
both can produce the same assembled byte. The outgoing value and incoming value need not
match.</a:t>
            </a:r>
          </a:p>
        </p:txBody>
      </p:sp>
      <p:sp>
        <p:nvSpPr>
          <p:cNvPr id="56" name="body-2">
            <a:extLst xmlns:a="http://schemas.openxmlformats.org/drawingml/2006/main">
              <a:ext uri="{FF2B5EF4-FFF2-40B4-BE49-F238E27FC236}">
                <a16:creationId xmlns:a16="http://schemas.microsoft.com/office/drawing/2014/main" id="{EEFBD26F-EF3A-4A0D-83E9-7D8747E3EA8F}"/>
              </a:ext>
            </a:extLst>
          </p:cNvPr>
          <p:cNvSpPr>
            <a:spLocks xmlns:a="http://schemas.openxmlformats.org/drawingml/2006/main" noGrp="1"/>
          </p:cNvSpPr>
          <p:nvPr/>
        </p:nvSpPr>
        <p:spPr>
          <a:xfrm xmlns:a="http://schemas.openxmlformats.org/drawingml/2006/main">
            <a:off x="502920" y="4228465"/>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Unselected peripherals need appropriate high-impedance behaviour if MISO is shared. Two
simultaneously selected push-pull devices can contend, unlike I2C </a:t>
            </a:r>
            <a:r>
              <a:rPr b="1"/>
              <a:t>open-drain</a:t>
            </a:r>
            <a:r>
              <a:t> arbitration. A board
that uses separate MISO wires has a different topology. The present unit represents one
peripheral selection and has no multi-CS decoder; this section explains system wiring rather than
claiming that logic already exists.</a:t>
            </a:r>
          </a:p>
        </p:txBody>
      </p:sp>
      <p:sp>
        <p:nvSpPr>
          <p:cNvPr id="57" name="component-label-556.9066666666666">
            <a:extLst xmlns:a="http://schemas.openxmlformats.org/drawingml/2006/main">
              <a:ext uri="{FF2B5EF4-FFF2-40B4-BE49-F238E27FC236}">
                <a16:creationId xmlns:a16="http://schemas.microsoft.com/office/drawing/2014/main" id="{93D542BC-D0AD-487D-BEF1-E99650AE43CF}"/>
              </a:ext>
            </a:extLst>
          </p:cNvPr>
          <p:cNvSpPr>
            <a:spLocks xmlns:a="http://schemas.openxmlformats.org/drawingml/2006/main" noGrp="1"/>
          </p:cNvSpPr>
          <p:nvPr/>
        </p:nvSpPr>
        <p:spPr>
          <a:xfrm xmlns:a="http://schemas.openxmlformats.org/drawingml/2006/main">
            <a:off x="502920" y="530453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D I G I T A L   S I G N A L   O W N E R S H I P</a:t>
            </a:r>
          </a:p>
        </p:txBody>
      </p:sp>
      <p:graphicFrame>
        <p:nvGraphicFramePr>
          <p:cNvPr id="76" name=""/>
          <p:cNvGraphicFramePr/>
          <p:nvPr/>
        </p:nvGraphicFramePr>
        <p:xfrm>
          <a:off xmlns:a="http://schemas.openxmlformats.org/drawingml/2006/main" x="502920" y="5569712"/>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Signal</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Controller / peripheral</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SCLK and MOSI</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Controller drives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MISO</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Selected peripheral drives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CS_n</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Controller frames selection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Unselected MISO</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Must not contend on a shared wire</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95460488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653b556f535941d7"/>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06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19684DAD-A855-41ED-9B3D-7A009A070FBA}"/>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4 · SAMPLING RULES</a:t>
            </a:r>
          </a:p>
        </p:txBody>
      </p:sp>
      <p:sp>
        <p:nvSpPr>
          <p:cNvPr id="51" name="page-title">
            <a:extLst xmlns:a="http://schemas.openxmlformats.org/drawingml/2006/main">
              <a:ext uri="{FF2B5EF4-FFF2-40B4-BE49-F238E27FC236}">
                <a16:creationId xmlns:a16="http://schemas.microsoft.com/office/drawing/2014/main" id="{D2427A11-0E7B-4D8E-A3D0-C8D4147B070F}"/>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Decode CPOL and CPHA as edges</a:t>
            </a:r>
          </a:p>
        </p:txBody>
      </p:sp>
      <p:sp>
        <p:nvSpPr>
          <p:cNvPr id="52" name="intro">
            <a:extLst xmlns:a="http://schemas.openxmlformats.org/drawingml/2006/main">
              <a:ext uri="{FF2B5EF4-FFF2-40B4-BE49-F238E27FC236}">
                <a16:creationId xmlns:a16="http://schemas.microsoft.com/office/drawing/2014/main" id="{E88CC53D-004D-4CD9-B24C-C6B8F820B3EA}"/>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Leading means movement away from idle; trailing means return to idle. It does not always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mean rising and falling.</a:t>
            </a:r>
          </a:p>
        </p:txBody>
      </p:sp>
      <p:sp>
        <p:nvSpPr>
          <p:cNvPr id="53" name="component-label-246.26666666666665">
            <a:extLst xmlns:a="http://schemas.openxmlformats.org/drawingml/2006/main">
              <a:ext uri="{FF2B5EF4-FFF2-40B4-BE49-F238E27FC236}">
                <a16:creationId xmlns:a16="http://schemas.microsoft.com/office/drawing/2014/main" id="{A44FA6B8-845B-4679-9BC9-3A38592470A5}"/>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A M P L I N G   R U L E S</a:t>
            </a:r>
          </a:p>
        </p:txBody>
      </p:sp>
      <p:sp>
        <p:nvSpPr>
          <p:cNvPr id="54" name="body-0">
            <a:extLst xmlns:a="http://schemas.openxmlformats.org/drawingml/2006/main">
              <a:ext uri="{FF2B5EF4-FFF2-40B4-BE49-F238E27FC236}">
                <a16:creationId xmlns:a16="http://schemas.microsoft.com/office/drawing/2014/main" id="{3CB37935-3FE4-4A8D-BB5F-91544DA35BC0}"/>
              </a:ext>
            </a:extLst>
          </p:cNvPr>
          <p:cNvSpPr>
            <a:spLocks xmlns:a="http://schemas.openxmlformats.org/drawingml/2006/main" noGrp="1"/>
          </p:cNvSpPr>
          <p:nvPr/>
        </p:nvSpPr>
        <p:spPr>
          <a:xfrm xmlns:a="http://schemas.openxmlformats.org/drawingml/2006/main">
            <a:off x="502920" y="2610866"/>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With CPOL one, leading is falling. These relative names simplify the mode table. The bus should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settle to its configured idle polarity before and after a transaction.</a:t>
            </a:r>
          </a:p>
        </p:txBody>
      </p:sp>
      <p:sp>
        <p:nvSpPr>
          <p:cNvPr id="55" name="body-1">
            <a:extLst xmlns:a="http://schemas.openxmlformats.org/drawingml/2006/main">
              <a:ext uri="{FF2B5EF4-FFF2-40B4-BE49-F238E27FC236}">
                <a16:creationId xmlns:a16="http://schemas.microsoft.com/office/drawing/2014/main" id="{09E9882C-C8C6-43FF-8065-506356BE48D8}"/>
              </a:ext>
            </a:extLst>
          </p:cNvPr>
          <p:cNvSpPr>
            <a:spLocks xmlns:a="http://schemas.openxmlformats.org/drawingml/2006/main" noGrp="1"/>
          </p:cNvSpPr>
          <p:nvPr/>
        </p:nvSpPr>
        <p:spPr>
          <a:xfrm xmlns:a="http://schemas.openxmlformats.org/drawingml/2006/main">
            <a:off x="502920" y="315239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For CPHA zero, the first data bit must be available before the first leading edge. For CPHA one, the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first leading edge launches data and the trailing edge samples it. Incorrect phase often yields a</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one-bit shift.</a:t>
            </a:r>
          </a:p>
        </p:txBody>
      </p:sp>
      <p:sp>
        <p:nvSpPr>
          <p:cNvPr id="56" name="body-2">
            <a:extLst xmlns:a="http://schemas.openxmlformats.org/drawingml/2006/main">
              <a:ext uri="{FF2B5EF4-FFF2-40B4-BE49-F238E27FC236}">
                <a16:creationId xmlns:a16="http://schemas.microsoft.com/office/drawing/2014/main" id="{BA497AE8-09E9-4F5A-9AF9-567B235F93B5}"/>
              </a:ext>
            </a:extLst>
          </p:cNvPr>
          <p:cNvSpPr>
            <a:spLocks xmlns:a="http://schemas.openxmlformats.org/drawingml/2006/main" noGrp="1"/>
          </p:cNvSpPr>
          <p:nvPr/>
        </p:nvSpPr>
        <p:spPr>
          <a:xfrm xmlns:a="http://schemas.openxmlformats.org/drawingml/2006/main">
            <a:off x="502920" y="3872103"/>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mode mismatch does not necessarily produce a clean error flag, because SPI has no mandatory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acknowledgement or checksum.</a:t>
            </a:r>
          </a:p>
        </p:txBody>
      </p:sp>
      <p:sp>
        <p:nvSpPr>
          <p:cNvPr id="57" name="component-label-463.37333333333333">
            <a:extLst xmlns:a="http://schemas.openxmlformats.org/drawingml/2006/main">
              <a:ext uri="{FF2B5EF4-FFF2-40B4-BE49-F238E27FC236}">
                <a16:creationId xmlns:a16="http://schemas.microsoft.com/office/drawing/2014/main" id="{ECE919C9-E759-411E-8523-59E75174500F}"/>
              </a:ext>
            </a:extLst>
          </p:cNvPr>
          <p:cNvSpPr>
            <a:spLocks xmlns:a="http://schemas.openxmlformats.org/drawingml/2006/main" noGrp="1"/>
          </p:cNvSpPr>
          <p:nvPr/>
        </p:nvSpPr>
        <p:spPr>
          <a:xfrm xmlns:a="http://schemas.openxmlformats.org/drawingml/2006/main">
            <a:off x="502920" y="4413631"/>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F O U R   M O D E   D E F I N I T I O N S</a:t>
            </a:r>
          </a:p>
        </p:txBody>
      </p:sp>
      <p:graphicFrame>
        <p:nvGraphicFramePr>
          <p:cNvPr id="76" name=""/>
          <p:cNvGraphicFramePr/>
          <p:nvPr/>
        </p:nvGraphicFramePr>
        <p:xfrm>
          <a:off xmlns:a="http://schemas.openxmlformats.org/drawingml/2006/main" x="502920" y="4678807"/>
          <a:ext xmlns:a="http://schemas.openxmlformats.org/drawingml/2006/main" cx="6556248" cy="1516063"/>
        </p:xfrm>
        <a:graphic xmlns:a="http://schemas.openxmlformats.org/drawingml/2006/main">
          <a:graphicData uri="http://schemas.openxmlformats.org/drawingml/2006/table">
            <a:tbl>
              <a:tblPr/>
              <a:tblGrid>
                <a:gridCol w="1639062"/>
                <a:gridCol w="1639062"/>
                <a:gridCol w="1639062"/>
                <a:gridCol w="1639062"/>
              </a:tblGrid>
              <a:tr h="303213">
                <a:tc>
                  <a:txBody>
                    <a:bodyPr lIns="76200" tIns="57150" rIns="76200" bIns="57150">
                      <a:noAutofit/>
                    </a:bodyPr>
                    <a:lstStyle/>
                    <a:p>
                      <a:r>
                        <a:rPr sz="950" b="1">
                          <a:solidFill>
                            <a:srgbClr val="EDEDED"/>
                          </a:solidFill>
                          <a:latin typeface="Segoe UI"/>
                          <a:ea typeface="Segoe UI"/>
                          <a:cs typeface="Segoe UI"/>
                        </a:rPr>
                        <a:t>Mode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Idle</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Launch/update</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Sample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Low</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Falling, first bit preloaded</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Rising</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1</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Low</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Rising</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Falling</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2</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High</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Rising, first bit preloaded</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Falling</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3</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High</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Falling</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Rising</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95460488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95f4cc0f3e504dd1"/>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07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EC6B90F7-AC9D-41EA-A99C-AAF3C9C6C899}"/>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5 · TIMING CALCULATION</a:t>
            </a:r>
          </a:p>
        </p:txBody>
      </p:sp>
      <p:sp>
        <p:nvSpPr>
          <p:cNvPr id="51" name="page-title">
            <a:extLst xmlns:a="http://schemas.openxmlformats.org/drawingml/2006/main">
              <a:ext uri="{FF2B5EF4-FFF2-40B4-BE49-F238E27FC236}">
                <a16:creationId xmlns:a16="http://schemas.microsoft.com/office/drawing/2014/main" id="{F8960D24-E807-4F1A-824D-F626933BC469}"/>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Divider, latency and return-path margin</a:t>
            </a:r>
          </a:p>
        </p:txBody>
      </p:sp>
      <p:sp>
        <p:nvSpPr>
          <p:cNvPr id="52" name="intro">
            <a:extLst xmlns:a="http://schemas.openxmlformats.org/drawingml/2006/main">
              <a:ext uri="{FF2B5EF4-FFF2-40B4-BE49-F238E27FC236}">
                <a16:creationId xmlns:a16="http://schemas.microsoft.com/office/drawing/2014/main" id="{70B7DC51-71B5-40E2-86E9-10365C60EB89}"/>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physical reference and the fast simulation have different clock frequencies.</a:t>
            </a:r>
          </a:p>
        </p:txBody>
      </p:sp>
      <p:sp>
        <p:nvSpPr>
          <p:cNvPr id="53" name="component-label-225.93333333333334">
            <a:extLst xmlns:a="http://schemas.openxmlformats.org/drawingml/2006/main">
              <a:ext uri="{FF2B5EF4-FFF2-40B4-BE49-F238E27FC236}">
                <a16:creationId xmlns:a16="http://schemas.microsoft.com/office/drawing/2014/main" id="{63CF80E3-BB6B-4BCB-B22C-3E1397DEDF5C}"/>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T I M I N G   C A L C U L A T I O N</a:t>
            </a:r>
          </a:p>
        </p:txBody>
      </p:sp>
      <p:sp>
        <p:nvSpPr>
          <p:cNvPr id="54" name="body-0">
            <a:extLst xmlns:a="http://schemas.openxmlformats.org/drawingml/2006/main">
              <a:ext uri="{FF2B5EF4-FFF2-40B4-BE49-F238E27FC236}">
                <a16:creationId xmlns:a16="http://schemas.microsoft.com/office/drawing/2014/main" id="{229E4F54-E44C-43B2-8254-FCD9D76B600F}"/>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With half-bit divider D, the serial frequency is fcore / (2D). The 50 MHz physical </a:t>
            </a:r>
            <a:r>
              <a:rPr b="1"/>
              <a:t>reference</a:t>
            </a:r>
            <a:r>
              <a:t> with
D=2 therefore has a nominal 12.5 MHz SCLK and a 640 ns eight-bit wire interval. D=3 would give
8.333 MHz and 960 ns, but that is a different elaborated configuration. Handshake and CS
overhead add to these wire-only durations.</a:t>
            </a:r>
          </a:p>
        </p:txBody>
      </p:sp>
      <p:sp>
        <p:nvSpPr>
          <p:cNvPr id="55" name="body-1">
            <a:extLst xmlns:a="http://schemas.openxmlformats.org/drawingml/2006/main">
              <a:ext uri="{FF2B5EF4-FFF2-40B4-BE49-F238E27FC236}">
                <a16:creationId xmlns:a16="http://schemas.microsoft.com/office/drawing/2014/main" id="{716F5086-FDF5-4BFC-9274-8E496819F2C5}"/>
              </a:ext>
            </a:extLst>
          </p:cNvPr>
          <p:cNvSpPr>
            <a:spLocks xmlns:a="http://schemas.openxmlformats.org/drawingml/2006/main" noGrp="1"/>
          </p:cNvSpPr>
          <p:nvPr/>
        </p:nvSpPr>
        <p:spPr>
          <a:xfrm xmlns:a="http://schemas.openxmlformats.org/drawingml/2006/main">
            <a:off x="502920" y="331508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bench uses a 100 MHz core, not 50 MHz. Its mode-0 D=2 measured transaction therefore has
a 40 ns SCLK period, 25 MHz SCLK and 320 ns across eight periods. These numbers describe the
regression only; they do not certify the hardened block at a 100 MHz core </a:t>
            </a:r>
            <a:r>
              <a:rPr b="1"/>
              <a:t>clock</a:t>
            </a:r>
            <a:r>
              <a:t>.</a:t>
            </a:r>
          </a:p>
        </p:txBody>
      </p:sp>
      <p:sp>
        <p:nvSpPr>
          <p:cNvPr id="56" name="body-2">
            <a:extLst xmlns:a="http://schemas.openxmlformats.org/drawingml/2006/main">
              <a:ext uri="{FF2B5EF4-FFF2-40B4-BE49-F238E27FC236}">
                <a16:creationId xmlns:a16="http://schemas.microsoft.com/office/drawing/2014/main" id="{57CBE7DB-6BCF-4E75-AD08-DE1FD1422BA1}"/>
              </a:ext>
            </a:extLst>
          </p:cNvPr>
          <p:cNvSpPr>
            <a:spLocks xmlns:a="http://schemas.openxmlformats.org/drawingml/2006/main" noGrp="1"/>
          </p:cNvSpPr>
          <p:nvPr/>
        </p:nvSpPr>
        <p:spPr>
          <a:xfrm xmlns:a="http://schemas.openxmlformats.org/drawingml/2006/main">
            <a:off x="502920" y="4034790"/>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separate board-budget example assumes a 40 ns half-period, 5 ns peripheral </a:t>
            </a:r>
            <a:r>
              <a:rPr b="1"/>
              <a:t>clock</a:t>
            </a:r>
            <a:r>
              <a:t>-to-output, 2
ns round-trip delay and 3 ns receiver setup. The remaining 30 ns is arithmetic margin before pad
delay, skew and uncertainty. Internal STA closure at the core clock is not proof of the external
peripheral timing contract.</a:t>
            </a:r>
          </a:p>
        </p:txBody>
      </p:sp>
      <p:sp>
        <p:nvSpPr>
          <p:cNvPr id="57" name="component-label-517.8666666666667">
            <a:extLst xmlns:a="http://schemas.openxmlformats.org/drawingml/2006/main">
              <a:ext uri="{FF2B5EF4-FFF2-40B4-BE49-F238E27FC236}">
                <a16:creationId xmlns:a16="http://schemas.microsoft.com/office/drawing/2014/main" id="{B7F620C3-D455-4E04-9659-6FF6FC3EEAF8}"/>
              </a:ext>
            </a:extLst>
          </p:cNvPr>
          <p:cNvSpPr>
            <a:spLocks xmlns:a="http://schemas.openxmlformats.org/drawingml/2006/main" noGrp="1"/>
          </p:cNvSpPr>
          <p:nvPr/>
        </p:nvSpPr>
        <p:spPr>
          <a:xfrm xmlns:a="http://schemas.openxmlformats.org/drawingml/2006/main">
            <a:off x="502920" y="493268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I M U L A T I O N   P A R A M E T E R   C O V E R A G E</a:t>
            </a:r>
          </a:p>
        </p:txBody>
      </p:sp>
      <p:graphicFrame>
        <p:nvGraphicFramePr>
          <p:cNvPr id="76" name=""/>
          <p:cNvGraphicFramePr/>
          <p:nvPr/>
        </p:nvGraphicFramePr>
        <p:xfrm>
          <a:off xmlns:a="http://schemas.openxmlformats.org/drawingml/2006/main" x="502920" y="5197856"/>
          <a:ext xmlns:a="http://schemas.openxmlformats.org/drawingml/2006/main" cx="6556248" cy="1516063"/>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Mode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Divider 2</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Divider 3</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Tested; hardened</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Untested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1</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Untested</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Tested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2</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Tested</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Untested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3</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Untested</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Tested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95460488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Picture 2"/>
          <p:cNvPicPr>
            <a:picLocks xmlns:a="http://schemas.openxmlformats.org/drawingml/2006/main" noChangeAspect="1"/>
          </p:cNvPicPr>
          <p:nvPr/>
        </p:nvPicPr>
        <p:blipFill>
          <a:blip xmlns:r="http://schemas.openxmlformats.org/officeDocument/2006/relationships" xmlns:a="http://schemas.openxmlformats.org/drawingml/2006/main" r:embed="R10a5f4d5d1734bbc"/>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08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180A7121-B817-421A-A534-D75A69A1261B}"/>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6 · RTL INTERFACE</a:t>
            </a:r>
          </a:p>
        </p:txBody>
      </p:sp>
      <p:sp>
        <p:nvSpPr>
          <p:cNvPr id="51" name="page-title">
            <a:extLst xmlns:a="http://schemas.openxmlformats.org/drawingml/2006/main">
              <a:ext uri="{FF2B5EF4-FFF2-40B4-BE49-F238E27FC236}">
                <a16:creationId xmlns:a16="http://schemas.microsoft.com/office/drawing/2014/main" id="{D09C1194-40E2-49C0-9D8A-EC3389AD897C}"/>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A request pulse, not a stream contract</a:t>
            </a:r>
          </a:p>
        </p:txBody>
      </p:sp>
      <p:sp>
        <p:nvSpPr>
          <p:cNvPr id="52" name="intro">
            <a:extLst xmlns:a="http://schemas.openxmlformats.org/drawingml/2006/main">
              <a:ext uri="{FF2B5EF4-FFF2-40B4-BE49-F238E27FC236}">
                <a16:creationId xmlns:a16="http://schemas.microsoft.com/office/drawing/2014/main" id="{5873F444-82C5-4A4E-8DE4-C52209E9BCF5}"/>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interface names resemble ready-valid signalling, but the imported controller expects a</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one-cycle request.</a:t>
            </a:r>
          </a:p>
        </p:txBody>
      </p:sp>
      <p:sp>
        <p:nvSpPr>
          <p:cNvPr id="53" name="component-label-246.26666666666665">
            <a:extLst xmlns:a="http://schemas.openxmlformats.org/drawingml/2006/main">
              <a:ext uri="{FF2B5EF4-FFF2-40B4-BE49-F238E27FC236}">
                <a16:creationId xmlns:a16="http://schemas.microsoft.com/office/drawing/2014/main" id="{D0DD0139-62A4-42F3-8741-BB9A3B47A0D6}"/>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T L   I N T E R F A C E</a:t>
            </a:r>
          </a:p>
        </p:txBody>
      </p:sp>
      <p:sp>
        <p:nvSpPr>
          <p:cNvPr id="54" name="body-0">
            <a:extLst xmlns:a="http://schemas.openxmlformats.org/drawingml/2006/main">
              <a:ext uri="{FF2B5EF4-FFF2-40B4-BE49-F238E27FC236}">
                <a16:creationId xmlns:a16="http://schemas.microsoft.com/office/drawing/2014/main" id="{E209F3A1-B1B5-4703-AA75-DCE394CF6E36}"/>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spi_core wraps the pinned Nandland SPI_Master. The interface is a launch-pulse contract, not an
arbitrary AXI stream. There is no rx_ready input to apply receive backpressure. Upstream ready
may initially require clocks after </a:t>
            </a:r>
            <a:r>
              <a:rPr b="1"/>
              <a:t>reset</a:t>
            </a:r>
            <a:r>
              <a:t> to settle. Software or a surrounding controller must observe
the documented handshake.</a:t>
            </a:r>
          </a:p>
        </p:txBody>
      </p:sp>
      <p:sp>
        <p:nvSpPr>
          <p:cNvPr id="55" name="body-1">
            <a:extLst xmlns:a="http://schemas.openxmlformats.org/drawingml/2006/main">
              <a:ext uri="{FF2B5EF4-FFF2-40B4-BE49-F238E27FC236}">
                <a16:creationId xmlns:a16="http://schemas.microsoft.com/office/drawing/2014/main" id="{C8B270B3-0A4D-45CB-B415-C4CFFD3F0453}"/>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one-cycle delayed valid supports the first-bit preload path. Once the byte has been accepted,
the </a:t>
            </a:r>
            <a:r>
              <a:rPr b="1"/>
              <a:t>source</a:t>
            </a:r>
            <a:r>
              <a:t> may change its input data because the core holds a copy. However i_TX_DV is a pulse
contract, not a general sustained ready-valid stream. Holding it high retriggers the clock-edge
setup logic, which is a misuse of this interface.</a:t>
            </a:r>
          </a:p>
        </p:txBody>
      </p:sp>
      <p:sp>
        <p:nvSpPr>
          <p:cNvPr id="56" name="body-2">
            <a:extLst xmlns:a="http://schemas.openxmlformats.org/drawingml/2006/main">
              <a:ext uri="{FF2B5EF4-FFF2-40B4-BE49-F238E27FC236}">
                <a16:creationId xmlns:a16="http://schemas.microsoft.com/office/drawing/2014/main" id="{DACE9BBB-07A8-4542-A8F2-40EBF0919A34}"/>
              </a:ext>
            </a:extLst>
          </p:cNvPr>
          <p:cNvSpPr>
            <a:spLocks xmlns:a="http://schemas.openxmlformats.org/drawingml/2006/main" noGrp="1"/>
          </p:cNvSpPr>
          <p:nvPr/>
        </p:nvSpPr>
        <p:spPr>
          <a:xfrm xmlns:a="http://schemas.openxmlformats.org/drawingml/2006/main">
            <a:off x="502920" y="440664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entire CS behaviour is this expression, which makes its limited contract easy to inspect. It is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not a command sequencer with programmable CS setup/hold or a multi-byte length register.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Preserve this boundary in lab exercises.</a:t>
            </a:r>
          </a:p>
        </p:txBody>
      </p:sp>
      <p:sp>
        <p:nvSpPr>
          <p:cNvPr id="57" name="component-label-538.1999999999999">
            <a:extLst xmlns:a="http://schemas.openxmlformats.org/drawingml/2006/main">
              <a:ext uri="{FF2B5EF4-FFF2-40B4-BE49-F238E27FC236}">
                <a16:creationId xmlns:a16="http://schemas.microsoft.com/office/drawing/2014/main" id="{22B9CBD8-3EE5-4F39-8454-3F57905E5B80}"/>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58" name="code-panel">
            <a:extLst xmlns:a="http://schemas.openxmlformats.org/drawingml/2006/main">
              <a:ext uri="{FF2B5EF4-FFF2-40B4-BE49-F238E27FC236}">
                <a16:creationId xmlns:a16="http://schemas.microsoft.com/office/drawing/2014/main" id="{D6218CC5-EC40-4B78-A15C-EC923CD8F877}"/>
              </a:ext>
            </a:extLst>
          </p:cNvPr>
          <p:cNvSpPr>
            <a:spLocks xmlns:a="http://schemas.openxmlformats.org/drawingml/2006/main" noGrp="1"/>
          </p:cNvSpPr>
          <p:nvPr/>
        </p:nvSpPr>
        <p:spPr>
          <a:xfrm xmlns:a="http://schemas.openxmlformats.org/drawingml/2006/main">
            <a:off x="502920" y="5391531"/>
            <a:ext cx="6556248" cy="38354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59" name="code">
            <a:extLst xmlns:a="http://schemas.openxmlformats.org/drawingml/2006/main">
              <a:ext uri="{FF2B5EF4-FFF2-40B4-BE49-F238E27FC236}">
                <a16:creationId xmlns:a16="http://schemas.microsoft.com/office/drawing/2014/main" id="{9D83F7C4-E1BE-4217-A1F6-DCF047F8052E}"/>
              </a:ext>
            </a:extLst>
          </p:cNvPr>
          <p:cNvSpPr>
            <a:spLocks xmlns:a="http://schemas.openxmlformats.org/drawingml/2006/main" noGrp="1"/>
          </p:cNvSpPr>
          <p:nvPr/>
        </p:nvSpPr>
        <p:spPr>
          <a:xfrm xmlns:a="http://schemas.openxmlformats.org/drawingml/2006/main">
            <a:off x="617220" y="5486781"/>
            <a:ext cx="6327648" cy="231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DEDED"/>
                </a:solidFill>
              </a:rPr>
              <a:t>assign cs_n = !reset_release[1] || (tx_ready &amp;&amp; !tx_valid);</a:t>
            </a:r>
          </a:p>
        </p:txBody>
      </p:sp>
      <p:sp>
        <p:nvSpPr>
          <p:cNvPr id="60" name="code-source">
            <a:extLst xmlns:a="http://schemas.openxmlformats.org/drawingml/2006/main">
              <a:ext uri="{FF2B5EF4-FFF2-40B4-BE49-F238E27FC236}">
                <a16:creationId xmlns:a16="http://schemas.microsoft.com/office/drawing/2014/main" id="{26BA7BE1-26A5-4D18-A4B8-7C1541F8FED8}"/>
              </a:ext>
            </a:extLst>
          </p:cNvPr>
          <p:cNvSpPr>
            <a:spLocks xmlns:a="http://schemas.openxmlformats.org/drawingml/2006/main" noGrp="1"/>
          </p:cNvSpPr>
          <p:nvPr/>
        </p:nvSpPr>
        <p:spPr>
          <a:xfrm xmlns:a="http://schemas.openxmlformats.org/drawingml/2006/main">
            <a:off x="502920" y="5832221"/>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hw/protocols/spi/01_rtl/spi_core.v:32</a:t>
            </a:r>
          </a:p>
        </p:txBody>
      </p:sp>
    </p:spTree>
    <p:extLst>
      <p:ext uri="{BB962C8B-B14F-4D97-AF65-F5344CB8AC3E}">
        <p14:creationId xmlns:p14="http://schemas.microsoft.com/office/powerpoint/2010/main" val="95460488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916bddedbee642bb"/>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09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5FFB7219-FB95-4C93-B128-8F4B740EFF51}"/>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7 · CONTROL SEQUENCE</a:t>
            </a:r>
          </a:p>
        </p:txBody>
      </p:sp>
      <p:sp>
        <p:nvSpPr>
          <p:cNvPr id="51" name="page-title">
            <a:extLst xmlns:a="http://schemas.openxmlformats.org/drawingml/2006/main">
              <a:ext uri="{FF2B5EF4-FFF2-40B4-BE49-F238E27FC236}">
                <a16:creationId xmlns:a16="http://schemas.microsoft.com/office/drawing/2014/main" id="{819E605A-1C65-4C75-9168-89C540480DC9}"/>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Sixteen edges make one byte</a:t>
            </a:r>
          </a:p>
        </p:txBody>
      </p:sp>
      <p:sp>
        <p:nvSpPr>
          <p:cNvPr id="52" name="intro">
            <a:extLst xmlns:a="http://schemas.openxmlformats.org/drawingml/2006/main">
              <a:ext uri="{FF2B5EF4-FFF2-40B4-BE49-F238E27FC236}">
                <a16:creationId xmlns:a16="http://schemas.microsoft.com/office/drawing/2014/main" id="{19EFAF34-EE04-4060-8C39-51C1C951DEFC}"/>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real controller uses an edge counter and generated leading/trailing flags.</a:t>
            </a:r>
          </a:p>
        </p:txBody>
      </p:sp>
      <p:sp>
        <p:nvSpPr>
          <p:cNvPr id="53" name="component-label-225.93333333333334">
            <a:extLst xmlns:a="http://schemas.openxmlformats.org/drawingml/2006/main">
              <a:ext uri="{FF2B5EF4-FFF2-40B4-BE49-F238E27FC236}">
                <a16:creationId xmlns:a16="http://schemas.microsoft.com/office/drawing/2014/main" id="{FDB35905-14DC-43CC-BB24-D11D58391396}"/>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O N T R O L   S E Q U E N C E</a:t>
            </a:r>
          </a:p>
        </p:txBody>
      </p:sp>
      <p:sp>
        <p:nvSpPr>
          <p:cNvPr id="54" name="body-0">
            <a:extLst xmlns:a="http://schemas.openxmlformats.org/drawingml/2006/main">
              <a:ext uri="{FF2B5EF4-FFF2-40B4-BE49-F238E27FC236}">
                <a16:creationId xmlns:a16="http://schemas.microsoft.com/office/drawing/2014/main" id="{CEBA4D18-1A59-4C20-8ECF-0F1C4B837BC3}"/>
              </a:ext>
            </a:extLst>
          </p:cNvPr>
          <p:cNvSpPr>
            <a:spLocks xmlns:a="http://schemas.openxmlformats.org/drawingml/2006/main" noGrp="1"/>
          </p:cNvSpPr>
          <p:nvPr/>
        </p:nvSpPr>
        <p:spPr>
          <a:xfrm xmlns:a="http://schemas.openxmlformats.org/drawingml/2006/main">
            <a:off x="502920" y="2417191"/>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request loads sixteen edge events for an eight-bit transfer. The divider produces leading and
trailing flags; TX and RX processes use those flags according to CPHA. The engine returns ready
once no edges remain. Keeping valid asserted reloads the counter, so a normal ready-valid
producer cannot be attached without adapting the contract. This is a </a:t>
            </a:r>
            <a:r>
              <a:rPr b="1"/>
              <a:t>source</a:t>
            </a:r>
            <a:r>
              <a:t>-derived misuse
warning, not a separately measured injected-failure scenario.</a:t>
            </a:r>
          </a:p>
        </p:txBody>
      </p:sp>
      <p:sp>
        <p:nvSpPr>
          <p:cNvPr id="55" name="body-1">
            <a:extLst xmlns:a="http://schemas.openxmlformats.org/drawingml/2006/main">
              <a:ext uri="{FF2B5EF4-FFF2-40B4-BE49-F238E27FC236}">
                <a16:creationId xmlns:a16="http://schemas.microsoft.com/office/drawing/2014/main" id="{256DA805-EEBB-4492-A181-487866866EB0}"/>
              </a:ext>
            </a:extLst>
          </p:cNvPr>
          <p:cNvSpPr>
            <a:spLocks xmlns:a="http://schemas.openxmlformats.org/drawingml/2006/main" noGrp="1"/>
          </p:cNvSpPr>
          <p:nvPr/>
        </p:nvSpPr>
        <p:spPr>
          <a:xfrm xmlns:a="http://schemas.openxmlformats.org/drawingml/2006/main">
            <a:off x="502920" y="3493262"/>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inspected </a:t>
            </a:r>
            <a:r>
              <a:rPr b="1"/>
              <a:t>source</a:t>
            </a:r>
            <a:r>
              <a:t> comes directly from the pinned upstream implementation. r_RX_Bit_Count
selects the destination bit, so no shift operator is required. o_RX_DV is a completion pulse and has
no receive ready signal. A downstream consumer must capture the byte when that pulse appears.</a:t>
            </a:r>
          </a:p>
        </p:txBody>
      </p:sp>
      <p:sp>
        <p:nvSpPr>
          <p:cNvPr id="56" name="body-2">
            <a:extLst xmlns:a="http://schemas.openxmlformats.org/drawingml/2006/main">
              <a:ext uri="{FF2B5EF4-FFF2-40B4-BE49-F238E27FC236}">
                <a16:creationId xmlns:a16="http://schemas.microsoft.com/office/drawing/2014/main" id="{B61CA785-E33B-4E33-8E88-69B7C6323233}"/>
              </a:ext>
            </a:extLst>
          </p:cNvPr>
          <p:cNvSpPr>
            <a:spLocks xmlns:a="http://schemas.openxmlformats.org/drawingml/2006/main" noGrp="1"/>
          </p:cNvSpPr>
          <p:nvPr/>
        </p:nvSpPr>
        <p:spPr>
          <a:xfrm xmlns:a="http://schemas.openxmlformats.org/drawingml/2006/main">
            <a:off x="502920" y="421297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bench interrupts an active transfer with </a:t>
            </a:r>
            <a:r>
              <a:rPr b="1"/>
              <a:t>reset</a:t>
            </a:r>
            <a:r>
              <a:t> and checks recovery. Physical reset integration
still requires reset-domain analysis. The core clock should keep running for reset release. Lint
reports a mixed synchronous/asynchronous use associated with the synchroniser, which remains
documented rather than being hidden.</a:t>
            </a:r>
          </a:p>
        </p:txBody>
      </p:sp>
      <p:sp>
        <p:nvSpPr>
          <p:cNvPr id="57" name="component-label-536.5733333333334">
            <a:extLst xmlns:a="http://schemas.openxmlformats.org/drawingml/2006/main">
              <a:ext uri="{FF2B5EF4-FFF2-40B4-BE49-F238E27FC236}">
                <a16:creationId xmlns:a16="http://schemas.microsoft.com/office/drawing/2014/main" id="{57726EE1-BD51-4A2D-A472-7A9AD3A888F4}"/>
              </a:ext>
            </a:extLst>
          </p:cNvPr>
          <p:cNvSpPr>
            <a:spLocks xmlns:a="http://schemas.openxmlformats.org/drawingml/2006/main" noGrp="1"/>
          </p:cNvSpPr>
          <p:nvPr/>
        </p:nvSpPr>
        <p:spPr>
          <a:xfrm xmlns:a="http://schemas.openxmlformats.org/drawingml/2006/main">
            <a:off x="502920" y="5110861"/>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D E R I V E D   C O N T R O L   S E Q U E N C E</a:t>
            </a:r>
          </a:p>
        </p:txBody>
      </p:sp>
      <p:graphicFrame>
        <p:nvGraphicFramePr>
          <p:cNvPr id="76" name=""/>
          <p:cNvGraphicFramePr/>
          <p:nvPr/>
        </p:nvGraphicFramePr>
        <p:xfrm>
          <a:off xmlns:a="http://schemas.openxmlformats.org/drawingml/2006/main" x="502920" y="5376037"/>
          <a:ext xmlns:a="http://schemas.openxmlformats.org/drawingml/2006/main" cx="6556248" cy="2119312"/>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Phase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State condition</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Action</a:t>
                      </a:r>
                    </a:p>
                  </a:txBody>
                  <a:tcPr marL="91440" marR="91440" marT="45720" marB="45720">
                    <a:lnR w="0">
                      <a:noFill/>
                    </a:lnR>
                    <a:lnT w="0">
                      <a:noFill/>
                    </a:lnT>
                    <a:lnB w="4763">
                      <a:solidFill>
                        <a:srgbClr val="EAEAEA"/>
                      </a:solidFill>
                      <a:prstDash val="solid"/>
                    </a:lnB>
                    <a:solidFill>
                      <a:srgbClr val="0B0B0C"/>
                    </a:solidFill>
                  </a:tcPr>
                </a:tc>
              </a:tr>
              <a:tr h="454025">
                <a:tc>
                  <a:txBody>
                    <a:bodyPr lIns="76200" tIns="57150" rIns="76200" bIns="57150">
                      <a:noAutofit/>
                    </a:bodyPr>
                    <a:lstStyle/>
                    <a:p>
                      <a:r>
                        <a:rPr sz="950" b="0">
                          <a:solidFill>
                            <a:srgbClr val="444444"/>
                          </a:solidFill>
                          <a:latin typeface="Segoe UI"/>
                          <a:ea typeface="Segoe UI"/>
                          <a:cs typeface="Segoe UI"/>
                        </a:rPr>
                        <a:t>Accept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i_TX_DV pulse</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Load 16 edge events, clear</a:t>
                      </a:r>
                    </a:p>
                    <a:p>
                      <a:r>
                        <a:rPr sz="950" b="0">
                          <a:solidFill>
                            <a:srgbClr val="444444"/>
                          </a:solidFill>
                          <a:latin typeface="Segoe UI"/>
                          <a:ea typeface="Segoe UI"/>
                          <a:cs typeface="Segoe UI"/>
                        </a:rPr>
                        <a:t>ready</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Leading edge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Half-period count reached</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Toggle clock, pulse leading</a:t>
                      </a:r>
                    </a:p>
                    <a:p>
                      <a:r>
                        <a:rPr sz="950" b="0">
                          <a:solidFill>
                            <a:srgbClr val="444444"/>
                          </a:solidFill>
                          <a:latin typeface="Segoe UI"/>
                          <a:ea typeface="Segoe UI"/>
                          <a:cs typeface="Segoe UI"/>
                        </a:rPr>
                        <a:t>flag</a:t>
                      </a:r>
                    </a:p>
                  </a:txBody>
                  <a:tcPr marL="91440" marR="91440" marT="45720" marB="45720">
                    <a:lnR w="0">
                      <a:noFill/>
                    </a:lnR>
                    <a:lnB w="4763">
                      <a:solidFill>
                        <a:srgbClr val="EAEAEA"/>
                      </a:solidFill>
                      <a:prstDash val="solid"/>
                    </a:lnB>
                    <a:solidFill>
                      <a:srgbClr val="FAFAFA"/>
                    </a:solidFill>
                  </a:tcPr>
                </a:tc>
              </a:tr>
              <a:tr h="454025">
                <a:tc>
                  <a:txBody>
                    <a:bodyPr lIns="76200" tIns="57150" rIns="76200" bIns="57150">
                      <a:noAutofit/>
                    </a:bodyPr>
                    <a:lstStyle/>
                    <a:p>
                      <a:r>
                        <a:rPr sz="950" b="0">
                          <a:solidFill>
                            <a:srgbClr val="444444"/>
                          </a:solidFill>
                          <a:latin typeface="Segoe UI"/>
                          <a:ea typeface="Segoe UI"/>
                          <a:cs typeface="Segoe UI"/>
                        </a:rPr>
                        <a:t>Trailing edge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Full-period count reached</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Toggle clock, pulse trailing</a:t>
                      </a:r>
                    </a:p>
                    <a:p>
                      <a:r>
                        <a:rPr sz="950" b="0">
                          <a:solidFill>
                            <a:srgbClr val="444444"/>
                          </a:solidFill>
                          <a:latin typeface="Segoe UI"/>
                          <a:ea typeface="Segoe UI"/>
                          <a:cs typeface="Segoe UI"/>
                        </a:rPr>
                        <a:t>flag</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Complete</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Edge count zero</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Return ready, RX valid</a:t>
                      </a:r>
                    </a:p>
                    <a:p>
                      <a:r>
                        <a:rPr sz="950" b="0">
                          <a:solidFill>
                            <a:srgbClr val="444444"/>
                          </a:solidFill>
                          <a:latin typeface="Segoe UI"/>
                          <a:ea typeface="Segoe UI"/>
                          <a:cs typeface="Segoe UI"/>
                        </a:rPr>
                        <a:t>pulses</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95460488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1" name="Picture 2"/>
          <p:cNvPicPr>
            <a:picLocks xmlns:a="http://schemas.openxmlformats.org/drawingml/2006/main" noChangeAspect="1"/>
          </p:cNvPicPr>
          <p:nvPr/>
        </p:nvPicPr>
        <p:blipFill>
          <a:blip xmlns:r="http://schemas.openxmlformats.org/officeDocument/2006/relationships" xmlns:a="http://schemas.openxmlformats.org/drawingml/2006/main" r:embed="R7c462bbb80e646a8"/>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10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6222561E-5A35-48D6-BBCD-E8947953CB09}"/>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8 · INTEGRATION LIMITS</a:t>
            </a:r>
          </a:p>
        </p:txBody>
      </p:sp>
      <p:sp>
        <p:nvSpPr>
          <p:cNvPr id="51" name="page-title">
            <a:extLst xmlns:a="http://schemas.openxmlformats.org/drawingml/2006/main">
              <a:ext uri="{FF2B5EF4-FFF2-40B4-BE49-F238E27FC236}">
                <a16:creationId xmlns:a16="http://schemas.microsoft.com/office/drawing/2014/main" id="{A0214B9C-DC1D-4CAB-88A1-D590910C6EEC}"/>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A byte envelope is not a flash command</a:t>
            </a:r>
          </a:p>
        </p:txBody>
      </p:sp>
      <p:sp>
        <p:nvSpPr>
          <p:cNvPr id="52" name="intro">
            <a:extLst xmlns:a="http://schemas.openxmlformats.org/drawingml/2006/main">
              <a:ext uri="{FF2B5EF4-FFF2-40B4-BE49-F238E27FC236}">
                <a16:creationId xmlns:a16="http://schemas.microsoft.com/office/drawing/2014/main" id="{09BF448C-7CD1-408C-A7E7-29E57F5C3775}"/>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wrapper deasserts selection after each byte. Many real devices require one continuous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envelope around several bytes.</a:t>
            </a:r>
          </a:p>
        </p:txBody>
      </p:sp>
      <p:sp>
        <p:nvSpPr>
          <p:cNvPr id="53" name="component-label-246.26666666666665">
            <a:extLst xmlns:a="http://schemas.openxmlformats.org/drawingml/2006/main">
              <a:ext uri="{FF2B5EF4-FFF2-40B4-BE49-F238E27FC236}">
                <a16:creationId xmlns:a16="http://schemas.microsoft.com/office/drawing/2014/main" id="{3FCBD1AD-7EC9-48FD-8448-4EF97E4578E8}"/>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I N T E G R A T I O N   L I M I T S</a:t>
            </a:r>
          </a:p>
        </p:txBody>
      </p:sp>
      <p:sp>
        <p:nvSpPr>
          <p:cNvPr id="54" name="body-0">
            <a:extLst xmlns:a="http://schemas.openxmlformats.org/drawingml/2006/main">
              <a:ext uri="{FF2B5EF4-FFF2-40B4-BE49-F238E27FC236}">
                <a16:creationId xmlns:a16="http://schemas.microsoft.com/office/drawing/2014/main" id="{FD3EDD21-8FC5-4A62-BDF8-AD93F2A18B49}"/>
              </a:ext>
            </a:extLst>
          </p:cNvPr>
          <p:cNvSpPr>
            <a:spLocks xmlns:a="http://schemas.openxmlformats.org/drawingml/2006/main" noGrp="1"/>
          </p:cNvSpPr>
          <p:nvPr/>
        </p:nvSpPr>
        <p:spPr>
          <a:xfrm xmlns:a="http://schemas.openxmlformats.org/drawingml/2006/main">
            <a:off x="502920" y="2610866"/>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hypothetical flash read can use the five-byte sequence 03 00 01 02 00: command 03, a</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three-byte address 000102, then a dummy transmit byte during which data returns. At 12.5 MHz,</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forty SCLK periods take 3.2 us before selection and handshake overhead. The device convention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must be checked against its data sheet. The current byte wrapper cannot preserve one CS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envelope across this complete command.</a:t>
            </a:r>
          </a:p>
        </p:txBody>
      </p:sp>
      <p:sp>
        <p:nvSpPr>
          <p:cNvPr id="55" name="body-1">
            <a:extLst xmlns:a="http://schemas.openxmlformats.org/drawingml/2006/main">
              <a:ext uri="{FF2B5EF4-FFF2-40B4-BE49-F238E27FC236}">
                <a16:creationId xmlns:a16="http://schemas.microsoft.com/office/drawing/2014/main" id="{4D0A3A89-9941-4862-AE78-F9D79BF91B44}"/>
              </a:ext>
            </a:extLst>
          </p:cNvPr>
          <p:cNvSpPr>
            <a:spLocks xmlns:a="http://schemas.openxmlformats.org/drawingml/2006/main" noGrp="1"/>
          </p:cNvSpPr>
          <p:nvPr/>
        </p:nvSpPr>
        <p:spPr>
          <a:xfrm xmlns:a="http://schemas.openxmlformats.org/drawingml/2006/main">
            <a:off x="502920" y="3686937"/>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This is a hypothetical classic three-byte-address read convention; verify the actual flash data sheet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before using it. The present wrapper asserts CS for a single byte envelope and does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implement a general multi-byte transaction controller. Five transferred bytes take forty SCLK</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periods, but keeping CS asserted across them requires another transaction-level design.</a:t>
            </a:r>
          </a:p>
        </p:txBody>
      </p:sp>
      <p:sp>
        <p:nvSpPr>
          <p:cNvPr id="56" name="body-2">
            <a:extLst xmlns:a="http://schemas.openxmlformats.org/drawingml/2006/main">
              <a:ext uri="{FF2B5EF4-FFF2-40B4-BE49-F238E27FC236}">
                <a16:creationId xmlns:a16="http://schemas.microsoft.com/office/drawing/2014/main" id="{0EB6EC67-FF6A-499C-AEC5-EDB34F4DDCFE}"/>
              </a:ext>
            </a:extLst>
          </p:cNvPr>
          <p:cNvSpPr>
            <a:spLocks xmlns:a="http://schemas.openxmlformats.org/drawingml/2006/main" noGrp="1"/>
          </p:cNvSpPr>
          <p:nvPr/>
        </p:nvSpPr>
        <p:spPr>
          <a:xfrm xmlns:a="http://schemas.openxmlformats.org/drawingml/2006/main">
            <a:off x="502920" y="4584827"/>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local regression exhausts byte values, which makes it less likely that a lucky test pattern hides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reversal.</a:t>
            </a:r>
          </a:p>
        </p:txBody>
      </p:sp>
      <p:sp>
        <p:nvSpPr>
          <p:cNvPr id="57" name="body-3">
            <a:extLst xmlns:a="http://schemas.openxmlformats.org/drawingml/2006/main">
              <a:ext uri="{FF2B5EF4-FFF2-40B4-BE49-F238E27FC236}">
                <a16:creationId xmlns:a16="http://schemas.microsoft.com/office/drawing/2014/main" id="{6403B7CC-41BA-4C3E-89BB-D222C0AA45EF}"/>
              </a:ext>
            </a:extLst>
          </p:cNvPr>
          <p:cNvSpPr>
            <a:spLocks xmlns:a="http://schemas.openxmlformats.org/drawingml/2006/main" noGrp="1"/>
          </p:cNvSpPr>
          <p:nvPr/>
        </p:nvSpPr>
        <p:spPr>
          <a:xfrm xmlns:a="http://schemas.openxmlformats.org/drawingml/2006/main">
            <a:off x="502920" y="512635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One-bit shifts suggest an edge/phase mismatch; all ones can indicate an undriven pulled-up MISO</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line. Signal-integrity failures may depend on frequency or wiring. These are diagnostic candidates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rather than guarantees; inspect the actual peripheral electrical interface and timing.</a:t>
            </a:r>
          </a:p>
        </p:txBody>
      </p:sp>
      <p:sp>
        <p:nvSpPr>
          <p:cNvPr id="58" name="component-label-613.7600000000001">
            <a:extLst xmlns:a="http://schemas.openxmlformats.org/drawingml/2006/main">
              <a:ext uri="{FF2B5EF4-FFF2-40B4-BE49-F238E27FC236}">
                <a16:creationId xmlns:a16="http://schemas.microsoft.com/office/drawing/2014/main" id="{1EE6C2FA-FF19-437E-BFDD-FFBC3B7683BD}"/>
              </a:ext>
            </a:extLst>
          </p:cNvPr>
          <p:cNvSpPr>
            <a:spLocks xmlns:a="http://schemas.openxmlformats.org/drawingml/2006/main" noGrp="1"/>
          </p:cNvSpPr>
          <p:nvPr/>
        </p:nvSpPr>
        <p:spPr>
          <a:xfrm xmlns:a="http://schemas.openxmlformats.org/drawingml/2006/main">
            <a:off x="502920" y="584606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B E F O R E   A T T A C H I N G   A   P E R I P H E R A L</a:t>
            </a:r>
          </a:p>
        </p:txBody>
      </p:sp>
      <p:graphicFrame>
        <p:nvGraphicFramePr>
          <p:cNvPr id="78" name=""/>
          <p:cNvGraphicFramePr/>
          <p:nvPr/>
        </p:nvGraphicFramePr>
        <p:xfrm>
          <a:off xmlns:a="http://schemas.openxmlformats.org/drawingml/2006/main" x="502920" y="6111240"/>
          <a:ext xmlns:a="http://schemas.openxmlformats.org/drawingml/2006/main" cx="6556248" cy="16668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Question</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Required answer</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SPI mode and bit order?</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From the peripheral data sheet</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CS across command / address /</a:t>
                      </a:r>
                    </a:p>
                    <a:p>
                      <a:r>
                        <a:rPr sz="950" b="0">
                          <a:solidFill>
                            <a:srgbClr val="444444"/>
                          </a:solidFill>
                          <a:latin typeface="Segoe UI"/>
                          <a:ea typeface="Segoe UI"/>
                          <a:cs typeface="Segoe UI"/>
                        </a:rPr>
                        <a:t>data?</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Adapt envelope if required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MISO output-disable timing?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Check shared-line contention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Error detection?</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Application/device-specific; no mandatory SPI CRC</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95460488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3" name="Picture 2"/>
          <p:cNvPicPr>
            <a:picLocks xmlns:a="http://schemas.openxmlformats.org/drawingml/2006/main" noChangeAspect="1"/>
          </p:cNvPicPr>
          <p:nvPr/>
        </p:nvPicPr>
        <p:blipFill>
          <a:blip xmlns:r="http://schemas.openxmlformats.org/officeDocument/2006/relationships" xmlns:a="http://schemas.openxmlformats.org/drawingml/2006/main" r:embed="R516bb92255744c18"/>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11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3B7654FA-8A1B-42F5-B283-A68A5C0B82DB}"/>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9 · MEASURED TRACE</a:t>
            </a:r>
          </a:p>
        </p:txBody>
      </p:sp>
      <p:sp>
        <p:nvSpPr>
          <p:cNvPr id="51" name="page-title">
            <a:extLst xmlns:a="http://schemas.openxmlformats.org/drawingml/2006/main">
              <a:ext uri="{FF2B5EF4-FFF2-40B4-BE49-F238E27FC236}">
                <a16:creationId xmlns:a16="http://schemas.microsoft.com/office/drawing/2014/main" id="{1B176209-5331-4C7D-9191-FE639781F73D}"/>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A5 transmitted, 5A returned</a:t>
            </a:r>
          </a:p>
        </p:txBody>
      </p:sp>
      <p:sp>
        <p:nvSpPr>
          <p:cNvPr id="52" name="intro">
            <a:extLst xmlns:a="http://schemas.openxmlformats.org/drawingml/2006/main">
              <a:ext uri="{FF2B5EF4-FFF2-40B4-BE49-F238E27FC236}">
                <a16:creationId xmlns:a16="http://schemas.microsoft.com/office/drawing/2014/main" id="{EFA6BF63-EFC9-4F4E-9645-1A9B3A9FDFEB}"/>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positive mode-0 transaction is independently decoded in both directions.</a:t>
            </a:r>
          </a:p>
        </p:txBody>
      </p:sp>
      <p:sp>
        <p:nvSpPr>
          <p:cNvPr id="53" name="component-label-225.93333333333334">
            <a:extLst xmlns:a="http://schemas.openxmlformats.org/drawingml/2006/main">
              <a:ext uri="{FF2B5EF4-FFF2-40B4-BE49-F238E27FC236}">
                <a16:creationId xmlns:a16="http://schemas.microsoft.com/office/drawing/2014/main" id="{D4DCDE32-473D-4A92-9D64-CED032B018C1}"/>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M E A S U R E D   T R A C E</a:t>
            </a:r>
          </a:p>
        </p:txBody>
      </p:sp>
      <p:sp>
        <p:nvSpPr>
          <p:cNvPr id="54" name="body-0">
            <a:extLst xmlns:a="http://schemas.openxmlformats.org/drawingml/2006/main">
              <a:ext uri="{FF2B5EF4-FFF2-40B4-BE49-F238E27FC236}">
                <a16:creationId xmlns:a16="http://schemas.microsoft.com/office/drawing/2014/main" id="{16F7AAAA-1E45-471B-B900-0C0B976C5D53}"/>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selected peripheral model returns the complement of each transmitted byte. With MOSI A5,</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MISO must therefore be 5A. Eight rising SCLK edges inside the active-low CS interval are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reconstructed separately for each data wire. Success is not inferred by looping the controller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output into its input.</a:t>
            </a:r>
          </a:p>
        </p:txBody>
      </p:sp>
      <p:sp>
        <p:nvSpPr>
          <p:cNvPr id="55" name="body-1">
            <a:extLst xmlns:a="http://schemas.openxmlformats.org/drawingml/2006/main">
              <a:ext uri="{FF2B5EF4-FFF2-40B4-BE49-F238E27FC236}">
                <a16:creationId xmlns:a16="http://schemas.microsoft.com/office/drawing/2014/main" id="{89070AE6-1D7A-4B30-8FD6-D588DD3E2293}"/>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Successive rising edges are 40 ns apart: this trace uses the 100 MHz bench </a:t>
            </a:r>
            <a:r>
              <a:rPr b="1"/>
              <a:t>clock</a:t>
            </a:r>
            <a:r>
              <a:t> and divider 2,
giving 25 MHz SCLK. The four ideal mode illustrations in the student lesson instead use MISO 3C
to demonstrate sampling-edge logic. That deliberate example value is not the responder value
measured here. The VCD hash and trace decode remain attached to the figure data.</a:t>
            </a:r>
          </a:p>
        </p:txBody>
      </p:sp>
      <p:sp>
        <p:nvSpPr>
          <p:cNvPr id="56" name="component-label-442.3066666666667">
            <a:extLst xmlns:a="http://schemas.openxmlformats.org/drawingml/2006/main">
              <a:ext uri="{FF2B5EF4-FFF2-40B4-BE49-F238E27FC236}">
                <a16:creationId xmlns:a16="http://schemas.microsoft.com/office/drawing/2014/main" id="{47ECEB87-C5D0-46FA-A30C-E158AF4F3A3D}"/>
              </a:ext>
            </a:extLst>
          </p:cNvPr>
          <p:cNvSpPr>
            <a:spLocks xmlns:a="http://schemas.openxmlformats.org/drawingml/2006/main" noGrp="1"/>
          </p:cNvSpPr>
          <p:nvPr/>
        </p:nvSpPr>
        <p:spPr>
          <a:xfrm xmlns:a="http://schemas.openxmlformats.org/drawingml/2006/main">
            <a:off x="502920" y="4212971"/>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M E A S U R E D   P O S I T I V E   R E G R E S S I O N</a:t>
            </a:r>
          </a:p>
        </p:txBody>
      </p:sp>
      <p:graphicFrame>
        <p:nvGraphicFramePr>
          <p:cNvPr id="78" name="Chart"/>
          <p:cNvGraphicFramePr/>
          <p:nvPr/>
        </p:nvGraphicFramePr>
        <p:xfrm>
          <a:off xmlns:a="http://schemas.openxmlformats.org/drawingml/2006/main" x="502920" y="4478147"/>
          <a:ext xmlns:a="http://schemas.openxmlformats.org/drawingml/2006/main" cx="6556248" cy="723900"/>
        </p:xfrm>
        <a:graphic xmlns:a="http://schemas.openxmlformats.org/drawingml/2006/main">
          <a:graphicData uri="http://schemas.openxmlformats.org/drawingml/2006/chart">
            <c:chart xmlns:r="http://schemas.openxmlformats.org/officeDocument/2006/relationships" xmlns:c="http://schemas.openxmlformats.org/drawingml/2006/chart" r:id="Rc22045f6fd4847c1"/>
          </a:graphicData>
        </a:graphic>
      </p:graphicFrame>
      <p:graphicFrame>
        <p:nvGraphicFramePr>
          <p:cNvPr id="79" name="Chart"/>
          <p:cNvGraphicFramePr/>
          <p:nvPr/>
        </p:nvGraphicFramePr>
        <p:xfrm>
          <a:off xmlns:a="http://schemas.openxmlformats.org/drawingml/2006/main" x="502920" y="5202047"/>
          <a:ext xmlns:a="http://schemas.openxmlformats.org/drawingml/2006/main" cx="6556248" cy="723900"/>
        </p:xfrm>
        <a:graphic xmlns:a="http://schemas.openxmlformats.org/drawingml/2006/main">
          <a:graphicData uri="http://schemas.openxmlformats.org/drawingml/2006/chart">
            <c:chart xmlns:r="http://schemas.openxmlformats.org/officeDocument/2006/relationships" xmlns:c="http://schemas.openxmlformats.org/drawingml/2006/chart" r:id="R6abf251aa5014c1f"/>
          </a:graphicData>
        </a:graphic>
      </p:graphicFrame>
      <p:graphicFrame>
        <p:nvGraphicFramePr>
          <p:cNvPr id="80" name="Chart"/>
          <p:cNvGraphicFramePr/>
          <p:nvPr/>
        </p:nvGraphicFramePr>
        <p:xfrm>
          <a:off xmlns:a="http://schemas.openxmlformats.org/drawingml/2006/main" x="502920" y="5925947"/>
          <a:ext xmlns:a="http://schemas.openxmlformats.org/drawingml/2006/main" cx="6556248" cy="723900"/>
        </p:xfrm>
        <a:graphic xmlns:a="http://schemas.openxmlformats.org/drawingml/2006/main">
          <a:graphicData uri="http://schemas.openxmlformats.org/drawingml/2006/chart">
            <c:chart xmlns:r="http://schemas.openxmlformats.org/officeDocument/2006/relationships" xmlns:c="http://schemas.openxmlformats.org/drawingml/2006/chart" r:id="Rcd0a20c2f60646ed"/>
          </a:graphicData>
        </a:graphic>
      </p:graphicFrame>
      <p:graphicFrame>
        <p:nvGraphicFramePr>
          <p:cNvPr id="81" name="Chart"/>
          <p:cNvGraphicFramePr/>
          <p:nvPr/>
        </p:nvGraphicFramePr>
        <p:xfrm>
          <a:off xmlns:a="http://schemas.openxmlformats.org/drawingml/2006/main" x="502920" y="6649847"/>
          <a:ext xmlns:a="http://schemas.openxmlformats.org/drawingml/2006/main" cx="6556248" cy="1028700"/>
        </p:xfrm>
        <a:graphic xmlns:a="http://schemas.openxmlformats.org/drawingml/2006/main">
          <a:graphicData uri="http://schemas.openxmlformats.org/drawingml/2006/chart">
            <c:chart xmlns:r="http://schemas.openxmlformats.org/officeDocument/2006/relationships" xmlns:c="http://schemas.openxmlformats.org/drawingml/2006/chart" r:id="Re8300701a0984c8c"/>
          </a:graphicData>
        </a:graphic>
      </p:graphicFrame>
      <p:sp>
        <p:nvSpPr>
          <p:cNvPr id="61" name="wave-kind">
            <a:extLst xmlns:a="http://schemas.openxmlformats.org/drawingml/2006/main">
              <a:ext uri="{FF2B5EF4-FFF2-40B4-BE49-F238E27FC236}">
                <a16:creationId xmlns:a16="http://schemas.microsoft.com/office/drawing/2014/main" id="{759A9594-3C6D-442C-BD0F-8816935F2B25}"/>
              </a:ext>
            </a:extLst>
          </p:cNvPr>
          <p:cNvSpPr>
            <a:spLocks xmlns:a="http://schemas.openxmlformats.org/drawingml/2006/main" noGrp="1"/>
          </p:cNvSpPr>
          <p:nvPr/>
        </p:nvSpPr>
        <p:spPr>
          <a:xfrm xmlns:a="http://schemas.openxmlformats.org/drawingml/2006/main">
            <a:off x="502920" y="7716647"/>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Logic HIGH=1, LOW=0. Digital simulation, not analogue compliance; source hash retained.</a:t>
            </a:r>
          </a:p>
        </p:txBody>
      </p:sp>
    </p:spTree>
    <p:extLst>
      <p:ext uri="{BB962C8B-B14F-4D97-AF65-F5344CB8AC3E}">
        <p14:creationId xmlns:p14="http://schemas.microsoft.com/office/powerpoint/2010/main" val="95460488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ba9cf3fe986847de"/>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C6624535-AB2F-4656-A161-501692317102}"/>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10 · LINT</a:t>
            </a:r>
          </a:p>
        </p:txBody>
      </p:sp>
      <p:sp>
        <p:nvSpPr>
          <p:cNvPr id="51" name="page-title">
            <a:extLst xmlns:a="http://schemas.openxmlformats.org/drawingml/2006/main">
              <a:ext uri="{FF2B5EF4-FFF2-40B4-BE49-F238E27FC236}">
                <a16:creationId xmlns:a16="http://schemas.microsoft.com/office/drawing/2014/main" id="{7189EA7C-C3DB-4B61-ACE3-D8E998BAD42A}"/>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Lint: read code before running it</a:t>
            </a:r>
          </a:p>
        </p:txBody>
      </p:sp>
      <p:sp>
        <p:nvSpPr>
          <p:cNvPr id="52" name="intro">
            <a:extLst xmlns:a="http://schemas.openxmlformats.org/drawingml/2006/main">
              <a:ext uri="{FF2B5EF4-FFF2-40B4-BE49-F238E27FC236}">
                <a16:creationId xmlns:a16="http://schemas.microsoft.com/office/drawing/2014/main" id="{E5C20E7D-E940-4048-924B-7463A37DE108}"/>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Verilator checks legal but suspicious code patterns without exercising transactions. A warning</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count is a review starting point, not proof of correctness.</a:t>
            </a:r>
          </a:p>
        </p:txBody>
      </p:sp>
      <p:sp>
        <p:nvSpPr>
          <p:cNvPr id="53" name="component-label-246.26666666666665">
            <a:extLst xmlns:a="http://schemas.openxmlformats.org/drawingml/2006/main">
              <a:ext uri="{FF2B5EF4-FFF2-40B4-BE49-F238E27FC236}">
                <a16:creationId xmlns:a16="http://schemas.microsoft.com/office/drawing/2014/main" id="{935E380C-3542-4BAD-8E04-7F8366BECA42}"/>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N T</a:t>
            </a:r>
          </a:p>
        </p:txBody>
      </p:sp>
      <p:sp>
        <p:nvSpPr>
          <p:cNvPr id="54" name="body-0">
            <a:extLst xmlns:a="http://schemas.openxmlformats.org/drawingml/2006/main">
              <a:ext uri="{FF2B5EF4-FFF2-40B4-BE49-F238E27FC236}">
                <a16:creationId xmlns:a16="http://schemas.microsoft.com/office/drawing/2014/main" id="{2E49CA17-6795-4456-80B5-EC4899A122B7}"/>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retained report contains 1 warning messages and 0 error messages. Categories present: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SYNCASYNCNET. These figures count report message headers; repeated warnings are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necessarily independent defects. The report is hashed in this document evidence manifest.</a:t>
            </a:r>
          </a:p>
        </p:txBody>
      </p:sp>
      <p:sp>
        <p:nvSpPr>
          <p:cNvPr id="55" name="body-1">
            <a:extLst xmlns:a="http://schemas.openxmlformats.org/drawingml/2006/main">
              <a:ext uri="{FF2B5EF4-FFF2-40B4-BE49-F238E27FC236}">
                <a16:creationId xmlns:a16="http://schemas.microsoft.com/office/drawing/2014/main" id="{114C3BD5-5238-49F1-A426-1348409DEB00}"/>
              </a:ext>
            </a:extLst>
          </p:cNvPr>
          <p:cNvSpPr>
            <a:spLocks xmlns:a="http://schemas.openxmlformats.org/drawingml/2006/main" noGrp="1"/>
          </p:cNvSpPr>
          <p:nvPr/>
        </p:nvSpPr>
        <p:spPr>
          <a:xfrm xmlns:a="http://schemas.openxmlformats.org/drawingml/2006/main">
            <a:off x="502920" y="333057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invocation deliberately uses -Wno-fatal so warnings remain visible while lint execution can
complete. A successful command therefore does not mean every warning was resolved. Width
changes, incomplete cases, </a:t>
            </a:r>
            <a:r>
              <a:rPr b="1"/>
              <a:t>reset</a:t>
            </a:r>
            <a:r>
              <a:t> use and unconnected ports need review against the wrapper
contract and directed tests.</a:t>
            </a:r>
          </a:p>
        </p:txBody>
      </p:sp>
      <p:sp>
        <p:nvSpPr>
          <p:cNvPr id="56" name="body-2">
            <a:extLst xmlns:a="http://schemas.openxmlformats.org/drawingml/2006/main">
              <a:ext uri="{FF2B5EF4-FFF2-40B4-BE49-F238E27FC236}">
                <a16:creationId xmlns:a16="http://schemas.microsoft.com/office/drawing/2014/main" id="{94DF72E2-8DF8-4E17-8D5D-08680418AF0D}"/>
              </a:ext>
            </a:extLst>
          </p:cNvPr>
          <p:cNvSpPr>
            <a:spLocks xmlns:a="http://schemas.openxmlformats.org/drawingml/2006/main" noGrp="1"/>
          </p:cNvSpPr>
          <p:nvPr/>
        </p:nvSpPr>
        <p:spPr>
          <a:xfrm xmlns:a="http://schemas.openxmlformats.org/drawingml/2006/main">
            <a:off x="502920" y="422846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Lint cannot show that a receive byte is correct, that a transaction finishes, or that an external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electrical interface is safe. Those questions require a checking testbench, implementation evidence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and separate board or signoff work.</a:t>
            </a:r>
          </a:p>
        </p:txBody>
      </p:sp>
      <p:sp>
        <p:nvSpPr>
          <p:cNvPr id="57" name="component-label-519.4933333333333">
            <a:extLst xmlns:a="http://schemas.openxmlformats.org/drawingml/2006/main">
              <a:ext uri="{FF2B5EF4-FFF2-40B4-BE49-F238E27FC236}">
                <a16:creationId xmlns:a16="http://schemas.microsoft.com/office/drawing/2014/main" id="{6080AC4A-8482-4B94-8B82-88BF07FA3CD6}"/>
              </a:ext>
            </a:extLst>
          </p:cNvPr>
          <p:cNvSpPr>
            <a:spLocks xmlns:a="http://schemas.openxmlformats.org/drawingml/2006/main" noGrp="1"/>
          </p:cNvSpPr>
          <p:nvPr/>
        </p:nvSpPr>
        <p:spPr>
          <a:xfrm xmlns:a="http://schemas.openxmlformats.org/drawingml/2006/main">
            <a:off x="502920" y="494817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T A I N E D   W A R N I N G   R E V I E W</a:t>
            </a:r>
          </a:p>
        </p:txBody>
      </p:sp>
      <p:graphicFrame>
        <p:nvGraphicFramePr>
          <p:cNvPr id="80" name=""/>
          <p:cNvGraphicFramePr/>
          <p:nvPr/>
        </p:nvGraphicFramePr>
        <p:xfrm>
          <a:off xmlns:a="http://schemas.openxmlformats.org/drawingml/2006/main" x="502920" y="5213350"/>
          <a:ext xmlns:a="http://schemas.openxmlformats.org/drawingml/2006/main" cx="6556248" cy="16668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Warning message headers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Error message headers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Clean warning-free RTL?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claimed</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Protocol behaviour proved by</a:t>
                      </a:r>
                    </a:p>
                    <a:p>
                      <a:r>
                        <a:rPr sz="950" b="0">
                          <a:solidFill>
                            <a:srgbClr val="444444"/>
                          </a:solidFill>
                          <a:latin typeface="Segoe UI"/>
                          <a:ea typeface="Segoe UI"/>
                          <a:cs typeface="Segoe UI"/>
                        </a:rPr>
                        <a:t>lint?</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a:t>
                      </a:r>
                    </a:p>
                  </a:txBody>
                  <a:tcPr marL="91440" marR="91440" marT="45720" marB="45720">
                    <a:lnR w="0">
                      <a:noFill/>
                    </a:lnR>
                    <a:lnB w="0">
                      <a:noFill/>
                    </a:lnB>
                    <a:solidFill>
                      <a:srgbClr val="FAFAFA"/>
                    </a:solidFill>
                  </a:tcPr>
                </a:tc>
              </a:tr>
            </a:tbl>
          </a:graphicData>
        </a:graphic>
      </p:graphicFrame>
      <p:sp>
        <p:nvSpPr>
          <p:cNvPr id="59" name="component-label-741.5333333333334">
            <a:extLst xmlns:a="http://schemas.openxmlformats.org/drawingml/2006/main">
              <a:ext uri="{FF2B5EF4-FFF2-40B4-BE49-F238E27FC236}">
                <a16:creationId xmlns:a16="http://schemas.microsoft.com/office/drawing/2014/main" id="{ADE61E03-CE3A-4D08-9650-334A19A159A4}"/>
              </a:ext>
            </a:extLst>
          </p:cNvPr>
          <p:cNvSpPr>
            <a:spLocks xmlns:a="http://schemas.openxmlformats.org/drawingml/2006/main" noGrp="1"/>
          </p:cNvSpPr>
          <p:nvPr/>
        </p:nvSpPr>
        <p:spPr>
          <a:xfrm xmlns:a="http://schemas.openxmlformats.org/drawingml/2006/main">
            <a:off x="502920" y="706310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60" name="code-panel">
            <a:extLst xmlns:a="http://schemas.openxmlformats.org/drawingml/2006/main">
              <a:ext uri="{FF2B5EF4-FFF2-40B4-BE49-F238E27FC236}">
                <a16:creationId xmlns:a16="http://schemas.microsoft.com/office/drawing/2014/main" id="{E285FA9E-74DF-4CA0-A070-AE8DCB3EB2BB}"/>
              </a:ext>
            </a:extLst>
          </p:cNvPr>
          <p:cNvSpPr>
            <a:spLocks xmlns:a="http://schemas.openxmlformats.org/drawingml/2006/main" noGrp="1"/>
          </p:cNvSpPr>
          <p:nvPr/>
        </p:nvSpPr>
        <p:spPr>
          <a:xfrm xmlns:a="http://schemas.openxmlformats.org/drawingml/2006/main">
            <a:off x="502920" y="7328281"/>
            <a:ext cx="6556248" cy="69342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1" name="code">
            <a:extLst xmlns:a="http://schemas.openxmlformats.org/drawingml/2006/main">
              <a:ext uri="{FF2B5EF4-FFF2-40B4-BE49-F238E27FC236}">
                <a16:creationId xmlns:a16="http://schemas.microsoft.com/office/drawing/2014/main" id="{11A2F7BF-3238-4582-94C2-DEBA251BF3E9}"/>
              </a:ext>
            </a:extLst>
          </p:cNvPr>
          <p:cNvSpPr>
            <a:spLocks xmlns:a="http://schemas.openxmlformats.org/drawingml/2006/main" noGrp="1"/>
          </p:cNvSpPr>
          <p:nvPr/>
        </p:nvSpPr>
        <p:spPr>
          <a:xfrm xmlns:a="http://schemas.openxmlformats.org/drawingml/2006/main">
            <a:off x="617220" y="7423531"/>
            <a:ext cx="6327648" cy="541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make lint</a:t>
            </a:r>
            <a:r>
              <a:rPr>
                <a:solidFill>
                  <a:srgbClr val="9A9AA0"/>
                </a:solidFill>
              </a:rPr>
              <a:t>
# inspect, do not just count</a:t>
            </a:r>
            <a:r>
              <a:rPr>
                <a:solidFill>
                  <a:srgbClr val="9A9AA0"/>
                </a:solidFill>
              </a:rPr>
              <a:t>
# 00_lint/lint_report.txt</a:t>
            </a:r>
          </a:p>
        </p:txBody>
      </p:sp>
      <p:sp>
        <p:nvSpPr>
          <p:cNvPr id="62" name="code-source">
            <a:extLst xmlns:a="http://schemas.openxmlformats.org/drawingml/2006/main">
              <a:ext uri="{FF2B5EF4-FFF2-40B4-BE49-F238E27FC236}">
                <a16:creationId xmlns:a16="http://schemas.microsoft.com/office/drawing/2014/main" id="{7AABF309-C1F7-49B4-93C4-28134C26FD0F}"/>
              </a:ext>
            </a:extLst>
          </p:cNvPr>
          <p:cNvSpPr>
            <a:spLocks xmlns:a="http://schemas.openxmlformats.org/drawingml/2006/main" noGrp="1"/>
          </p:cNvSpPr>
          <p:nvPr/>
        </p:nvSpPr>
        <p:spPr>
          <a:xfrm xmlns:a="http://schemas.openxmlformats.org/drawingml/2006/main">
            <a:off x="502920" y="8078851"/>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00_lint/Makefile and run_flow.sh: retained Verilator report</a:t>
            </a:r>
          </a:p>
        </p:txBody>
      </p:sp>
    </p:spTree>
    <p:extLst>
      <p:ext uri="{BB962C8B-B14F-4D97-AF65-F5344CB8AC3E}">
        <p14:creationId xmlns:p14="http://schemas.microsoft.com/office/powerpoint/2010/main" val="95460488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e2d3728e19ee4e18"/>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10D8ADE4-D7EF-4955-AEA5-478F31C2BC02}"/>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11 · SIMULATION AND VERIFICATION</a:t>
            </a:r>
          </a:p>
        </p:txBody>
      </p:sp>
      <p:sp>
        <p:nvSpPr>
          <p:cNvPr id="51" name="page-title">
            <a:extLst xmlns:a="http://schemas.openxmlformats.org/drawingml/2006/main">
              <a:ext uri="{FF2B5EF4-FFF2-40B4-BE49-F238E27FC236}">
                <a16:creationId xmlns:a16="http://schemas.microsoft.com/office/drawing/2014/main" id="{E032FD72-86A4-49C2-BE94-BE301B11D3D5}"/>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Four tested parameter pairs, not eight</a:t>
            </a:r>
          </a:p>
        </p:txBody>
      </p:sp>
      <p:sp>
        <p:nvSpPr>
          <p:cNvPr id="52" name="intro">
            <a:extLst xmlns:a="http://schemas.openxmlformats.org/drawingml/2006/main">
              <a:ext uri="{FF2B5EF4-FFF2-40B4-BE49-F238E27FC236}">
                <a16:creationId xmlns:a16="http://schemas.microsoft.com/office/drawing/2014/main" id="{E36B8EE6-3B6F-4229-81DD-67317AC6A5D7}"/>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testbench is code that drives the circuit and judges its outputs. These directed checks use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independent expected data and deliberately failing controls.</a:t>
            </a:r>
          </a:p>
        </p:txBody>
      </p:sp>
      <p:sp>
        <p:nvSpPr>
          <p:cNvPr id="53" name="component-label-246.26666666666665">
            <a:extLst xmlns:a="http://schemas.openxmlformats.org/drawingml/2006/main">
              <a:ext uri="{FF2B5EF4-FFF2-40B4-BE49-F238E27FC236}">
                <a16:creationId xmlns:a16="http://schemas.microsoft.com/office/drawing/2014/main" id="{FE948C70-AE80-4CD9-BA87-7DB2A8EE1520}"/>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I M U L A T I O N   A N D   V E R I F I C A T I O N</a:t>
            </a:r>
          </a:p>
        </p:txBody>
      </p:sp>
      <p:sp>
        <p:nvSpPr>
          <p:cNvPr id="54" name="body-0">
            <a:extLst xmlns:a="http://schemas.openxmlformats.org/drawingml/2006/main">
              <a:ext uri="{FF2B5EF4-FFF2-40B4-BE49-F238E27FC236}">
                <a16:creationId xmlns:a16="http://schemas.microsoft.com/office/drawing/2014/main" id="{6CDF28C0-48DC-4DCA-901B-969BCCAA6F5A}"/>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bench instantiates mode 0 with divider 2, mode 1 with divider 3, mode 2 with divider 2 and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mode 3 with divider 3. Each checks all 256 transmitted byte values against an independently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generated complementary receive byte. The mode and divider are correlated; this is not a</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four-mode by two-divider cross product.</a:t>
            </a:r>
          </a:p>
        </p:txBody>
      </p:sp>
      <p:sp>
        <p:nvSpPr>
          <p:cNvPr id="55" name="body-1">
            <a:extLst xmlns:a="http://schemas.openxmlformats.org/drawingml/2006/main">
              <a:ext uri="{FF2B5EF4-FFF2-40B4-BE49-F238E27FC236}">
                <a16:creationId xmlns:a16="http://schemas.microsoft.com/office/drawing/2014/main" id="{37FB618A-A48E-4C9E-983A-02DE375F9605}"/>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real hardened wrapper fixes mode 0 and divider 2. Other modes appearing in simulation do</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not mean that configuration can be changed after fabrication. Likewise, general continuous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multi-byte CS framing, multiple peripheral selection and held-valid misuse are not established by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directed byte tests.</a:t>
            </a:r>
          </a:p>
        </p:txBody>
      </p:sp>
      <p:sp>
        <p:nvSpPr>
          <p:cNvPr id="56" name="body-2">
            <a:extLst xmlns:a="http://schemas.openxmlformats.org/drawingml/2006/main">
              <a:ext uri="{FF2B5EF4-FFF2-40B4-BE49-F238E27FC236}">
                <a16:creationId xmlns:a16="http://schemas.microsoft.com/office/drawing/2014/main" id="{04935961-4B35-4A60-A927-301357D4DAB4}"/>
              </a:ext>
            </a:extLst>
          </p:cNvPr>
          <p:cNvSpPr>
            <a:spLocks xmlns:a="http://schemas.openxmlformats.org/drawingml/2006/main" noGrp="1"/>
          </p:cNvSpPr>
          <p:nvPr/>
        </p:nvSpPr>
        <p:spPr>
          <a:xfrm xmlns:a="http://schemas.openxmlformats.org/drawingml/2006/main">
            <a:off x="502920" y="440664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deliberately wrong receive-byte expectation causes a fatal run. Edge and CS checks accompany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data comparison. The checker distinguishes a correct byte from mere end-of-simulation, while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still leaving external pad timing and peripheral compatibility outside this proof.</a:t>
            </a:r>
          </a:p>
        </p:txBody>
      </p:sp>
      <p:sp>
        <p:nvSpPr>
          <p:cNvPr id="57" name="component-label-538.1999999999999">
            <a:extLst xmlns:a="http://schemas.openxmlformats.org/drawingml/2006/main">
              <a:ext uri="{FF2B5EF4-FFF2-40B4-BE49-F238E27FC236}">
                <a16:creationId xmlns:a16="http://schemas.microsoft.com/office/drawing/2014/main" id="{B4636416-D7A4-40E0-BE1E-F6D70DCA9C73}"/>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O V E R A G E   S T A T E M E N T</a:t>
            </a:r>
          </a:p>
        </p:txBody>
      </p:sp>
      <p:graphicFrame>
        <p:nvGraphicFramePr>
          <p:cNvPr id="80" name=""/>
          <p:cNvGraphicFramePr/>
          <p:nvPr/>
        </p:nvGraphicFramePr>
        <p:xfrm>
          <a:off xmlns:a="http://schemas.openxmlformats.org/drawingml/2006/main" x="502920" y="5391531"/>
          <a:ext xmlns:a="http://schemas.openxmlformats.org/drawingml/2006/main" cx="6556248" cy="16668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Property</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Status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256 bytes x four listed pairs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Directed PASS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Full mode x divider cross product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Not covered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Hardened mode 0, divider 2</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One fixed configuration</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Arbitrary peripheral commands /</a:t>
                      </a:r>
                    </a:p>
                    <a:p>
                      <a:r>
                        <a:rPr sz="950" b="0">
                          <a:solidFill>
                            <a:srgbClr val="444444"/>
                          </a:solidFill>
                          <a:latin typeface="Segoe UI"/>
                          <a:ea typeface="Segoe UI"/>
                          <a:cs typeface="Segoe UI"/>
                        </a:rPr>
                        <a:t>board</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Not covered</a:t>
                      </a:r>
                    </a:p>
                  </a:txBody>
                  <a:tcPr marL="91440" marR="91440" marT="45720" marB="45720">
                    <a:lnR w="0">
                      <a:noFill/>
                    </a:lnR>
                    <a:lnB w="0">
                      <a:noFill/>
                    </a:lnB>
                    <a:solidFill>
                      <a:srgbClr val="FAFAFA"/>
                    </a:solidFill>
                  </a:tcPr>
                </a:tc>
              </a:tr>
            </a:tbl>
          </a:graphicData>
        </a:graphic>
      </p:graphicFrame>
      <p:sp>
        <p:nvSpPr>
          <p:cNvPr id="59" name="boundary-card">
            <a:extLst xmlns:a="http://schemas.openxmlformats.org/drawingml/2006/main">
              <a:ext uri="{FF2B5EF4-FFF2-40B4-BE49-F238E27FC236}">
                <a16:creationId xmlns:a16="http://schemas.microsoft.com/office/drawing/2014/main" id="{72BB6577-4B39-416A-AD00-A63FB28577B0}"/>
              </a:ext>
            </a:extLst>
          </p:cNvPr>
          <p:cNvSpPr>
            <a:spLocks xmlns:a="http://schemas.openxmlformats.org/drawingml/2006/main" noGrp="1"/>
          </p:cNvSpPr>
          <p:nvPr/>
        </p:nvSpPr>
        <p:spPr>
          <a:xfrm xmlns:a="http://schemas.openxmlformats.org/drawingml/2006/main">
            <a:off x="502920" y="7241286"/>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39C5490B-DC19-453E-9D12-7D53697DA1AA}"/>
              </a:ext>
            </a:extLst>
          </p:cNvPr>
          <p:cNvSpPr>
            <a:spLocks xmlns:a="http://schemas.openxmlformats.org/drawingml/2006/main" noGrp="1"/>
          </p:cNvSpPr>
          <p:nvPr/>
        </p:nvSpPr>
        <p:spPr>
          <a:xfrm xmlns:a="http://schemas.openxmlformats.org/drawingml/2006/main">
            <a:off x="502920" y="7241286"/>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3F753042-7246-4DE5-B043-10DDA17480B8}"/>
              </a:ext>
            </a:extLst>
          </p:cNvPr>
          <p:cNvSpPr>
            <a:spLocks xmlns:a="http://schemas.openxmlformats.org/drawingml/2006/main" noGrp="1"/>
          </p:cNvSpPr>
          <p:nvPr/>
        </p:nvSpPr>
        <p:spPr>
          <a:xfrm xmlns:a="http://schemas.openxmlformats.org/drawingml/2006/main">
            <a:off x="674370" y="7336536"/>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A checker must be able to fail</a:t>
            </a:r>
          </a:p>
        </p:txBody>
      </p:sp>
      <p:sp>
        <p:nvSpPr>
          <p:cNvPr id="62" name="boundary-text">
            <a:extLst xmlns:a="http://schemas.openxmlformats.org/drawingml/2006/main">
              <a:ext uri="{FF2B5EF4-FFF2-40B4-BE49-F238E27FC236}">
                <a16:creationId xmlns:a16="http://schemas.microsoft.com/office/drawing/2014/main" id="{30262B3F-61DF-440B-8ADE-EA151F309A30}"/>
              </a:ext>
            </a:extLst>
          </p:cNvPr>
          <p:cNvSpPr>
            <a:spLocks xmlns:a="http://schemas.openxmlformats.org/drawingml/2006/main" noGrp="1"/>
          </p:cNvSpPr>
          <p:nvPr/>
        </p:nvSpPr>
        <p:spPr>
          <a:xfrm xmlns:a="http://schemas.openxmlformats.org/drawingml/2006/main">
            <a:off x="674370" y="7603236"/>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Completion alone is insufficient. Read the successful log and the expected fatal rejection together;</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neither is a protocol-compliance certificate.</a:t>
            </a:r>
          </a:p>
        </p:txBody>
      </p:sp>
    </p:spTree>
    <p:extLst>
      <p:ext uri="{BB962C8B-B14F-4D97-AF65-F5344CB8AC3E}">
        <p14:creationId xmlns:p14="http://schemas.microsoft.com/office/powerpoint/2010/main" val="95460488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ce5c7495710e4c22"/>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8EB96A37-7E30-47CD-B1EB-E159C2534E1B}"/>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12 · SYNTHESIS</a:t>
            </a:r>
          </a:p>
        </p:txBody>
      </p:sp>
      <p:sp>
        <p:nvSpPr>
          <p:cNvPr id="51" name="page-title">
            <a:extLst xmlns:a="http://schemas.openxmlformats.org/drawingml/2006/main">
              <a:ext uri="{FF2B5EF4-FFF2-40B4-BE49-F238E27FC236}">
                <a16:creationId xmlns:a16="http://schemas.microsoft.com/office/drawing/2014/main" id="{767E749A-ACCA-4E9C-901E-B4356BC867BA}"/>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Synthesis: a description becomes gates</a:t>
            </a:r>
          </a:p>
        </p:txBody>
      </p:sp>
      <p:sp>
        <p:nvSpPr>
          <p:cNvPr id="52" name="intro">
            <a:extLst xmlns:a="http://schemas.openxmlformats.org/drawingml/2006/main">
              <a:ext uri="{FF2B5EF4-FFF2-40B4-BE49-F238E27FC236}">
                <a16:creationId xmlns:a16="http://schemas.microsoft.com/office/drawing/2014/main" id="{3A615954-8099-4833-ADE2-17AB90F33FB8}"/>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netlist is a list of logic cells and their connections. Yosys translates the RTL into cells from</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IHP SG13G2 library.</a:t>
            </a:r>
          </a:p>
        </p:txBody>
      </p:sp>
      <p:sp>
        <p:nvSpPr>
          <p:cNvPr id="53" name="component-label-246.26666666666665">
            <a:extLst xmlns:a="http://schemas.openxmlformats.org/drawingml/2006/main">
              <a:ext uri="{FF2B5EF4-FFF2-40B4-BE49-F238E27FC236}">
                <a16:creationId xmlns:a16="http://schemas.microsoft.com/office/drawing/2014/main" id="{F763061F-4D40-4EE1-A454-E060BF63DBC1}"/>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Y N T H E S I S</a:t>
            </a:r>
          </a:p>
        </p:txBody>
      </p:sp>
      <p:sp>
        <p:nvSpPr>
          <p:cNvPr id="54" name="body-0">
            <a:extLst xmlns:a="http://schemas.openxmlformats.org/drawingml/2006/main">
              <a:ext uri="{FF2B5EF4-FFF2-40B4-BE49-F238E27FC236}">
                <a16:creationId xmlns:a16="http://schemas.microsoft.com/office/drawing/2014/main" id="{64ECEB84-EB6D-47B1-8C7E-DFA9D57D6CEB}"/>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process design kit, or PDK, contains the process-specific files used by implementation tools. This
</a:t>
            </a:r>
            <a:r>
              <a:rPr b="1"/>
              <a:t>reference</a:t>
            </a:r>
            <a:r>
              <a:t> uses IHP SG13G2, not the SKY130 library used by the golden APB primer. Standard cells
are predesigned gates and storage elements with characterised timing and physical views.</a:t>
            </a:r>
          </a:p>
        </p:txBody>
      </p:sp>
      <p:sp>
        <p:nvSpPr>
          <p:cNvPr id="55" name="body-1">
            <a:extLst xmlns:a="http://schemas.openxmlformats.org/drawingml/2006/main">
              <a:ext uri="{FF2B5EF4-FFF2-40B4-BE49-F238E27FC236}">
                <a16:creationId xmlns:a16="http://schemas.microsoft.com/office/drawing/2014/main" id="{259D364A-D0A1-4446-9218-0F07930DFFCE}"/>
              </a:ext>
            </a:extLst>
          </p:cNvPr>
          <p:cNvSpPr>
            <a:spLocks xmlns:a="http://schemas.openxmlformats.org/drawingml/2006/main" noGrp="1"/>
          </p:cNvSpPr>
          <p:nvPr/>
        </p:nvSpPr>
        <p:spPr>
          <a:xfrm xmlns:a="http://schemas.openxmlformats.org/drawingml/2006/main">
            <a:off x="502920" y="333057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a:t>
            </a:r>
            <a:r>
              <a:rPr b="1"/>
              <a:t>source</a:t>
            </a:r>
            <a:r>
              <a:t> is compiled and checked under the unit workspace before synthesis. Yosys maps the
functional logic into the pinned IHP SG13G2 standard-cell library. The current netlist contains 131
functional cells, excluding $scopeinfo metadata. The structural checker rejects remaining generic
logic, latches or unresolved instances.</a:t>
            </a:r>
          </a:p>
        </p:txBody>
      </p:sp>
      <p:sp>
        <p:nvSpPr>
          <p:cNvPr id="56" name="body-2">
            <a:extLst xmlns:a="http://schemas.openxmlformats.org/drawingml/2006/main">
              <a:ext uri="{FF2B5EF4-FFF2-40B4-BE49-F238E27FC236}">
                <a16:creationId xmlns:a16="http://schemas.microsoft.com/office/drawing/2014/main" id="{CD73F5D9-AC2B-4522-B931-3F33B66C76CC}"/>
              </a:ext>
            </a:extLst>
          </p:cNvPr>
          <p:cNvSpPr>
            <a:spLocks xmlns:a="http://schemas.openxmlformats.org/drawingml/2006/main" noGrp="1"/>
          </p:cNvSpPr>
          <p:nvPr/>
        </p:nvSpPr>
        <p:spPr>
          <a:xfrm xmlns:a="http://schemas.openxmlformats.org/drawingml/2006/main">
            <a:off x="502920" y="422846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mapped count excludes $scopeinfo metadata. It is not the count of every placed instance
after </a:t>
            </a:r>
            <a:r>
              <a:rPr b="1"/>
              <a:t>clock</a:t>
            </a:r>
            <a:r>
              <a:t> buffers, repair cells and fillers are added. It also does not mean that the original
protocol has been independently proven for all possible transactions.</a:t>
            </a:r>
          </a:p>
        </p:txBody>
      </p:sp>
      <p:sp>
        <p:nvSpPr>
          <p:cNvPr id="57" name="component-label-519.4933333333333">
            <a:extLst xmlns:a="http://schemas.openxmlformats.org/drawingml/2006/main">
              <a:ext uri="{FF2B5EF4-FFF2-40B4-BE49-F238E27FC236}">
                <a16:creationId xmlns:a16="http://schemas.microsoft.com/office/drawing/2014/main" id="{9FE583A5-71AB-4146-90A0-910BCF4FFA6F}"/>
              </a:ext>
            </a:extLst>
          </p:cNvPr>
          <p:cNvSpPr>
            <a:spLocks xmlns:a="http://schemas.openxmlformats.org/drawingml/2006/main" noGrp="1"/>
          </p:cNvSpPr>
          <p:nvPr/>
        </p:nvSpPr>
        <p:spPr>
          <a:xfrm xmlns:a="http://schemas.openxmlformats.org/drawingml/2006/main">
            <a:off x="502920" y="494817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M A P P I N G   R E S U L T</a:t>
            </a:r>
          </a:p>
        </p:txBody>
      </p:sp>
      <p:graphicFrame>
        <p:nvGraphicFramePr>
          <p:cNvPr id="80" name=""/>
          <p:cNvGraphicFramePr/>
          <p:nvPr/>
        </p:nvGraphicFramePr>
        <p:xfrm>
          <a:off xmlns:a="http://schemas.openxmlformats.org/drawingml/2006/main" x="502920" y="5213350"/>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CURRENT RESULT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Top module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spi_core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131</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Technology</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IHP SG13G2</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Unresolved generic logic / latches</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Rejected by structural checker</a:t>
                      </a:r>
                    </a:p>
                  </a:txBody>
                  <a:tcPr marL="91440" marR="91440" marT="45720" marB="45720">
                    <a:lnR w="0">
                      <a:noFill/>
                    </a:lnR>
                    <a:lnB w="0">
                      <a:noFill/>
                    </a:lnB>
                    <a:solidFill>
                      <a:srgbClr val="FAFAFA"/>
                    </a:solidFill>
                  </a:tcPr>
                </a:tc>
              </a:tr>
            </a:tbl>
          </a:graphicData>
        </a:graphic>
      </p:graphicFrame>
      <p:sp>
        <p:nvSpPr>
          <p:cNvPr id="59" name="component-label-725.7">
            <a:extLst xmlns:a="http://schemas.openxmlformats.org/drawingml/2006/main">
              <a:ext uri="{FF2B5EF4-FFF2-40B4-BE49-F238E27FC236}">
                <a16:creationId xmlns:a16="http://schemas.microsoft.com/office/drawing/2014/main" id="{DC92CCCF-B530-4914-8886-538DB0A2D1B6}"/>
              </a:ext>
            </a:extLst>
          </p:cNvPr>
          <p:cNvSpPr>
            <a:spLocks xmlns:a="http://schemas.openxmlformats.org/drawingml/2006/main" noGrp="1"/>
          </p:cNvSpPr>
          <p:nvPr/>
        </p:nvSpPr>
        <p:spPr>
          <a:xfrm xmlns:a="http://schemas.openxmlformats.org/drawingml/2006/main">
            <a:off x="502920" y="69122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60" name="code-panel">
            <a:extLst xmlns:a="http://schemas.openxmlformats.org/drawingml/2006/main">
              <a:ext uri="{FF2B5EF4-FFF2-40B4-BE49-F238E27FC236}">
                <a16:creationId xmlns:a16="http://schemas.microsoft.com/office/drawing/2014/main" id="{1156F11A-1745-4A89-A1D3-C4B399B3F351}"/>
              </a:ext>
            </a:extLst>
          </p:cNvPr>
          <p:cNvSpPr>
            <a:spLocks xmlns:a="http://schemas.openxmlformats.org/drawingml/2006/main" noGrp="1"/>
          </p:cNvSpPr>
          <p:nvPr/>
        </p:nvSpPr>
        <p:spPr>
          <a:xfrm xmlns:a="http://schemas.openxmlformats.org/drawingml/2006/main">
            <a:off x="502920" y="7177469"/>
            <a:ext cx="6556248" cy="53848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1" name="code">
            <a:extLst xmlns:a="http://schemas.openxmlformats.org/drawingml/2006/main">
              <a:ext uri="{FF2B5EF4-FFF2-40B4-BE49-F238E27FC236}">
                <a16:creationId xmlns:a16="http://schemas.microsoft.com/office/drawing/2014/main" id="{F37B016A-24F9-4306-A309-08D48BFC6655}"/>
              </a:ext>
            </a:extLst>
          </p:cNvPr>
          <p:cNvSpPr>
            <a:spLocks xmlns:a="http://schemas.openxmlformats.org/drawingml/2006/main" noGrp="1"/>
          </p:cNvSpPr>
          <p:nvPr/>
        </p:nvSpPr>
        <p:spPr>
          <a:xfrm xmlns:a="http://schemas.openxmlformats.org/drawingml/2006/main">
            <a:off x="617220" y="7272719"/>
            <a:ext cx="6327648" cy="38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make synth</a:t>
            </a:r>
            <a:r>
              <a:rPr>
                <a:solidFill>
                  <a:srgbClr val="EF9529"/>
                </a:solidFill>
              </a:rPr>
              <a:t>
node verify_build.mjs synth</a:t>
            </a:r>
          </a:p>
        </p:txBody>
      </p:sp>
      <p:sp>
        <p:nvSpPr>
          <p:cNvPr id="62" name="code-source">
            <a:extLst xmlns:a="http://schemas.openxmlformats.org/drawingml/2006/main">
              <a:ext uri="{FF2B5EF4-FFF2-40B4-BE49-F238E27FC236}">
                <a16:creationId xmlns:a16="http://schemas.microsoft.com/office/drawing/2014/main" id="{B8742E6D-11BA-4887-A9CF-F5B008DB6C39}"/>
              </a:ext>
            </a:extLst>
          </p:cNvPr>
          <p:cNvSpPr>
            <a:spLocks xmlns:a="http://schemas.openxmlformats.org/drawingml/2006/main" noGrp="1"/>
          </p:cNvSpPr>
          <p:nvPr/>
        </p:nvSpPr>
        <p:spPr>
          <a:xfrm xmlns:a="http://schemas.openxmlformats.org/drawingml/2006/main">
            <a:off x="502920" y="7773099"/>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04_synthesis/synth.tcl; verify_build.mjs synthesis checks</a:t>
            </a:r>
          </a:p>
        </p:txBody>
      </p:sp>
    </p:spTree>
    <p:extLst>
      <p:ext uri="{BB962C8B-B14F-4D97-AF65-F5344CB8AC3E}">
        <p14:creationId xmlns:p14="http://schemas.microsoft.com/office/powerpoint/2010/main" val="95460488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dd50fcf1aa35490b"/>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15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6AE79DCF-A6EB-4B2D-8EA4-CFC972AE08DD}"/>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13 · PHYSICAL IMPLEMENTATION</a:t>
            </a:r>
          </a:p>
        </p:txBody>
      </p:sp>
      <p:sp>
        <p:nvSpPr>
          <p:cNvPr id="51" name="page-title">
            <a:extLst xmlns:a="http://schemas.openxmlformats.org/drawingml/2006/main">
              <a:ext uri="{FF2B5EF4-FFF2-40B4-BE49-F238E27FC236}">
                <a16:creationId xmlns:a16="http://schemas.microsoft.com/office/drawing/2014/main" id="{3D3EC852-7570-4BCD-AC9F-27605530FDDC}"/>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Floorplan and placement</a:t>
            </a:r>
          </a:p>
        </p:txBody>
      </p:sp>
      <p:sp>
        <p:nvSpPr>
          <p:cNvPr id="52" name="intro">
            <a:extLst xmlns:a="http://schemas.openxmlformats.org/drawingml/2006/main">
              <a:ext uri="{FF2B5EF4-FFF2-40B4-BE49-F238E27FC236}">
                <a16:creationId xmlns:a16="http://schemas.microsoft.com/office/drawing/2014/main" id="{FB6980F5-BA4C-421C-AABC-F374C9CA27C3}"/>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floorplan gives the circuit a physical outline. Placement chooses where its cells sit inside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that outline.</a:t>
            </a:r>
          </a:p>
        </p:txBody>
      </p:sp>
      <p:sp>
        <p:nvSpPr>
          <p:cNvPr id="53" name="component-label-246.26666666666665">
            <a:extLst xmlns:a="http://schemas.openxmlformats.org/drawingml/2006/main">
              <a:ext uri="{FF2B5EF4-FFF2-40B4-BE49-F238E27FC236}">
                <a16:creationId xmlns:a16="http://schemas.microsoft.com/office/drawing/2014/main" id="{71012C07-D752-43F0-B7F6-5A580653BE99}"/>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P H Y S I C A L   I M P L E M E N T A T I O N</a:t>
            </a:r>
          </a:p>
        </p:txBody>
      </p:sp>
      <p:sp>
        <p:nvSpPr>
          <p:cNvPr id="54" name="body-0">
            <a:extLst xmlns:a="http://schemas.openxmlformats.org/drawingml/2006/main">
              <a:ext uri="{FF2B5EF4-FFF2-40B4-BE49-F238E27FC236}">
                <a16:creationId xmlns:a16="http://schemas.microsoft.com/office/drawing/2014/main" id="{F0947890-D72C-4FC8-A383-CB0285A89380}"/>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die outline for this standalone block is 300 x 300 um. The floorplan establishes rows and
</a:t>
            </a:r>
            <a:r>
              <a:rPr b="1"/>
              <a:t>reference</a:t>
            </a:r>
            <a:r>
              <a:t> power/pin geometry. The placer must fit cells legally without overlaps and with room for
routing. This is a block-level educational layout, not a complete padframe or package design.</a:t>
            </a:r>
          </a:p>
        </p:txBody>
      </p:sp>
      <p:sp>
        <p:nvSpPr>
          <p:cNvPr id="55" name="body-1">
            <a:extLst xmlns:a="http://schemas.openxmlformats.org/drawingml/2006/main">
              <a:ext uri="{FF2B5EF4-FFF2-40B4-BE49-F238E27FC236}">
                <a16:creationId xmlns:a16="http://schemas.microsoft.com/office/drawing/2014/main" id="{C2F019DC-BEF2-40EC-A0DC-2DA354AB71F0}"/>
              </a:ext>
            </a:extLst>
          </p:cNvPr>
          <p:cNvSpPr>
            <a:spLocks xmlns:a="http://schemas.openxmlformats.org/drawingml/2006/main" noGrp="1"/>
          </p:cNvSpPr>
          <p:nvPr/>
        </p:nvSpPr>
        <p:spPr>
          <a:xfrm xmlns:a="http://schemas.openxmlformats.org/drawingml/2006/main">
            <a:off x="502920" y="333057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Mapped functional logic has 131 cells. After physical additions and fillers, the routed DEF contains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17,622 placed standard-cell instances. A filler occupies empty row sites; it is not another functional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logic gate. That distinction explains why the two counts differ so much.</a:t>
            </a:r>
          </a:p>
        </p:txBody>
      </p:sp>
      <p:sp>
        <p:nvSpPr>
          <p:cNvPr id="56" name="body-2">
            <a:extLst xmlns:a="http://schemas.openxmlformats.org/drawingml/2006/main">
              <a:ext uri="{FF2B5EF4-FFF2-40B4-BE49-F238E27FC236}">
                <a16:creationId xmlns:a16="http://schemas.microsoft.com/office/drawing/2014/main" id="{A86B21A4-EB66-47DB-837F-BF98D903BBAA}"/>
              </a:ext>
            </a:extLst>
          </p:cNvPr>
          <p:cNvSpPr>
            <a:spLocks xmlns:a="http://schemas.openxmlformats.org/drawingml/2006/main" noGrp="1"/>
          </p:cNvSpPr>
          <p:nvPr/>
        </p:nvSpPr>
        <p:spPr>
          <a:xfrm xmlns:a="http://schemas.openxmlformats.org/drawingml/2006/main">
            <a:off x="502920" y="405028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Utilisation is the fraction of core area occupied by placed cell area. It is not simply functional-cell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count divided by die size, and it changes between stages. This note does not substitute APB</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utilisation, row count or I/O count for unavailable protocol-specific measurements.</a:t>
            </a:r>
          </a:p>
        </p:txBody>
      </p:sp>
      <p:sp>
        <p:nvSpPr>
          <p:cNvPr id="57" name="component-label-500.78666666666663">
            <a:extLst xmlns:a="http://schemas.openxmlformats.org/drawingml/2006/main">
              <a:ext uri="{FF2B5EF4-FFF2-40B4-BE49-F238E27FC236}">
                <a16:creationId xmlns:a16="http://schemas.microsoft.com/office/drawing/2014/main" id="{95E186B8-3B8A-4E5F-A8B7-AD29A513DAAC}"/>
              </a:ext>
            </a:extLst>
          </p:cNvPr>
          <p:cNvSpPr>
            <a:spLocks xmlns:a="http://schemas.openxmlformats.org/drawingml/2006/main" noGrp="1"/>
          </p:cNvSpPr>
          <p:nvPr/>
        </p:nvSpPr>
        <p:spPr>
          <a:xfrm xmlns:a="http://schemas.openxmlformats.org/drawingml/2006/main">
            <a:off x="502920" y="47699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A C T U A L   P H Y S I C A L   R E F E R E N C E</a:t>
            </a:r>
          </a:p>
        </p:txBody>
      </p:sp>
      <p:graphicFrame>
        <p:nvGraphicFramePr>
          <p:cNvPr id="76" name=""/>
          <p:cNvGraphicFramePr/>
          <p:nvPr/>
        </p:nvGraphicFramePr>
        <p:xfrm>
          <a:off xmlns:a="http://schemas.openxmlformats.org/drawingml/2006/main" x="502920" y="5035169"/>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Die outline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300 x 300 um</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131</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Placed standard-cell instances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17,622</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Physical inputs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06_floorplanning; 07_placement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Placement agreement</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DEF compared with decoded GDS</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95460488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1b4f2fbe0ad74998"/>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16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F6944BE9-1B39-4E88-A996-501B36328851}"/>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14 · CLOCK AND WIRES</a:t>
            </a:r>
          </a:p>
        </p:txBody>
      </p:sp>
      <p:sp>
        <p:nvSpPr>
          <p:cNvPr id="51" name="page-title">
            <a:extLst xmlns:a="http://schemas.openxmlformats.org/drawingml/2006/main">
              <a:ext uri="{FF2B5EF4-FFF2-40B4-BE49-F238E27FC236}">
                <a16:creationId xmlns:a16="http://schemas.microsoft.com/office/drawing/2014/main" id="{AC20C25C-83DE-45EC-BC58-753555F79698}"/>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Clock tree and routing</a:t>
            </a:r>
          </a:p>
        </p:txBody>
      </p:sp>
      <p:sp>
        <p:nvSpPr>
          <p:cNvPr id="52" name="intro">
            <a:extLst xmlns:a="http://schemas.openxmlformats.org/drawingml/2006/main">
              <a:ext uri="{FF2B5EF4-FFF2-40B4-BE49-F238E27FC236}">
                <a16:creationId xmlns:a16="http://schemas.microsoft.com/office/drawing/2014/main" id="{C1EC179D-5D73-4A2C-8365-03A287BDD9F0}"/>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Clock-tree synthesis distributes clocks to registers. Routing draws the metal connections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between placed cells.</a:t>
            </a:r>
          </a:p>
        </p:txBody>
      </p:sp>
      <p:sp>
        <p:nvSpPr>
          <p:cNvPr id="53" name="component-label-246.26666666666665">
            <a:extLst xmlns:a="http://schemas.openxmlformats.org/drawingml/2006/main">
              <a:ext uri="{FF2B5EF4-FFF2-40B4-BE49-F238E27FC236}">
                <a16:creationId xmlns:a16="http://schemas.microsoft.com/office/drawing/2014/main" id="{C6E0DB3C-74E2-4068-9834-86AEAF4CB0B2}"/>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L O C K   A N D   W I R E S</a:t>
            </a:r>
          </a:p>
        </p:txBody>
      </p:sp>
      <p:sp>
        <p:nvSpPr>
          <p:cNvPr id="54" name="body-0">
            <a:extLst xmlns:a="http://schemas.openxmlformats.org/drawingml/2006/main">
              <a:ext uri="{FF2B5EF4-FFF2-40B4-BE49-F238E27FC236}">
                <a16:creationId xmlns:a16="http://schemas.microsoft.com/office/drawing/2014/main" id="{24C3183A-2C3B-441E-89BA-B884E2037F32}"/>
              </a:ext>
            </a:extLst>
          </p:cNvPr>
          <p:cNvSpPr>
            <a:spLocks xmlns:a="http://schemas.openxmlformats.org/drawingml/2006/main" noGrp="1"/>
          </p:cNvSpPr>
          <p:nvPr/>
        </p:nvSpPr>
        <p:spPr>
          <a:xfrm xmlns:a="http://schemas.openxmlformats.org/drawingml/2006/main">
            <a:off x="502920" y="2610866"/>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register samples its input at a </a:t>
            </a:r>
            <a:r>
              <a:rPr b="1"/>
              <a:t>clock</a:t>
            </a:r>
            <a:r>
              <a:t> edge. Clock buffers distribute that edge across the block;
the difference in arrival times is called skew. The reference is constrained at 50 MHz / 20 ns.</a:t>
            </a:r>
          </a:p>
        </p:txBody>
      </p:sp>
      <p:sp>
        <p:nvSpPr>
          <p:cNvPr id="55" name="body-1">
            <a:extLst xmlns:a="http://schemas.openxmlformats.org/drawingml/2006/main">
              <a:ext uri="{FF2B5EF4-FFF2-40B4-BE49-F238E27FC236}">
                <a16:creationId xmlns:a16="http://schemas.microsoft.com/office/drawing/2014/main" id="{36CC4504-C9EF-48C1-A619-21D003696714}"/>
              </a:ext>
            </a:extLst>
          </p:cNvPr>
          <p:cNvSpPr>
            <a:spLocks xmlns:a="http://schemas.openxmlformats.org/drawingml/2006/main" noGrp="1"/>
          </p:cNvSpPr>
          <p:nvPr/>
        </p:nvSpPr>
        <p:spPr>
          <a:xfrm xmlns:a="http://schemas.openxmlformats.org/drawingml/2006/main">
            <a:off x="502920" y="3152394"/>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OpenROAD completes the staged physical flow. The </a:t>
            </a:r>
            <a:r>
              <a:rPr b="1"/>
              <a:t>reference</a:t>
            </a:r>
            <a:r>
              <a:t> die is 300 x 300 um. DEF records
routed design geometry and cell placement; SPEF captures extracted parasitics used by the timing
analysis. The scripts retain stage-specific output so the result can be investigated instead of
relying on a final banner.</a:t>
            </a:r>
          </a:p>
        </p:txBody>
      </p:sp>
      <p:sp>
        <p:nvSpPr>
          <p:cNvPr id="56" name="body-2">
            <a:extLst xmlns:a="http://schemas.openxmlformats.org/drawingml/2006/main">
              <a:ext uri="{FF2B5EF4-FFF2-40B4-BE49-F238E27FC236}">
                <a16:creationId xmlns:a16="http://schemas.microsoft.com/office/drawing/2014/main" id="{6593B383-23FD-4DCF-9785-C4A1C76D0DD6}"/>
              </a:ext>
            </a:extLst>
          </p:cNvPr>
          <p:cNvSpPr>
            <a:spLocks xmlns:a="http://schemas.openxmlformats.org/drawingml/2006/main" noGrp="1"/>
          </p:cNvSpPr>
          <p:nvPr/>
        </p:nvSpPr>
        <p:spPr>
          <a:xfrm xmlns:a="http://schemas.openxmlformats.org/drawingml/2006/main">
            <a:off x="502920" y="405028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Real interconnect has resistance and capacitance, called parasitics. Extraction writes these in </a:t>
            </a:r>
            <a:r>
              <a:rPr b="1"/>
              <a:t>SPEF</a:t>
            </a:r>
            <a:r>
              <a:t>
for post-route timing. The retained router-rule DRC file is empty. That checks the router view of its
work; it is not a full foundry-deck check of the exported polygons.</a:t>
            </a:r>
          </a:p>
        </p:txBody>
      </p:sp>
      <p:sp>
        <p:nvSpPr>
          <p:cNvPr id="57" name="component-label-500.78666666666663">
            <a:extLst xmlns:a="http://schemas.openxmlformats.org/drawingml/2006/main">
              <a:ext uri="{FF2B5EF4-FFF2-40B4-BE49-F238E27FC236}">
                <a16:creationId xmlns:a16="http://schemas.microsoft.com/office/drawing/2014/main" id="{4650282B-8322-455D-A3A4-D4F3849FFF66}"/>
              </a:ext>
            </a:extLst>
          </p:cNvPr>
          <p:cNvSpPr>
            <a:spLocks xmlns:a="http://schemas.openxmlformats.org/drawingml/2006/main" noGrp="1"/>
          </p:cNvSpPr>
          <p:nvPr/>
        </p:nvSpPr>
        <p:spPr>
          <a:xfrm xmlns:a="http://schemas.openxmlformats.org/drawingml/2006/main">
            <a:off x="502920" y="47699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A D   T H E   P H Y S I C A L   E V I D E N C E</a:t>
            </a:r>
          </a:p>
        </p:txBody>
      </p:sp>
      <p:graphicFrame>
        <p:nvGraphicFramePr>
          <p:cNvPr id="80" name=""/>
          <p:cNvGraphicFramePr/>
          <p:nvPr/>
        </p:nvGraphicFramePr>
        <p:xfrm>
          <a:off xmlns:a="http://schemas.openxmlformats.org/drawingml/2006/main" x="502920" y="5035169"/>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ARTIFACT</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QUESTION IT ANSWERS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09_place_and_route/route.def</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Where are cells and routed connections?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09_place_and_route/route.spef</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Which parasitics were extracted?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Router-rule DRC report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Any reported routing-rule violations?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08_sta/timing_report.txt</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What does extracted reference timing report?</a:t>
                      </a:r>
                    </a:p>
                  </a:txBody>
                  <a:tcPr marL="91440" marR="91440" marT="45720" marB="45720">
                    <a:lnR w="0">
                      <a:noFill/>
                    </a:lnR>
                    <a:lnB w="0">
                      <a:noFill/>
                    </a:lnB>
                    <a:solidFill>
                      <a:srgbClr val="FAFAFA"/>
                    </a:solidFill>
                  </a:tcPr>
                </a:tc>
              </a:tr>
            </a:tbl>
          </a:graphicData>
        </a:graphic>
      </p:graphicFrame>
      <p:sp>
        <p:nvSpPr>
          <p:cNvPr id="59" name="boundary-card">
            <a:extLst xmlns:a="http://schemas.openxmlformats.org/drawingml/2006/main">
              <a:ext uri="{FF2B5EF4-FFF2-40B4-BE49-F238E27FC236}">
                <a16:creationId xmlns:a16="http://schemas.microsoft.com/office/drawing/2014/main" id="{9E7B1AC7-7270-41DA-AA5E-313B436703EE}"/>
              </a:ext>
            </a:extLst>
          </p:cNvPr>
          <p:cNvSpPr>
            <a:spLocks xmlns:a="http://schemas.openxmlformats.org/drawingml/2006/main" noGrp="1"/>
          </p:cNvSpPr>
          <p:nvPr/>
        </p:nvSpPr>
        <p:spPr>
          <a:xfrm xmlns:a="http://schemas.openxmlformats.org/drawingml/2006/main">
            <a:off x="502920" y="6734112"/>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C6DEB5D7-F393-42B5-B833-089844F69275}"/>
              </a:ext>
            </a:extLst>
          </p:cNvPr>
          <p:cNvSpPr>
            <a:spLocks xmlns:a="http://schemas.openxmlformats.org/drawingml/2006/main" noGrp="1"/>
          </p:cNvSpPr>
          <p:nvPr/>
        </p:nvSpPr>
        <p:spPr>
          <a:xfrm xmlns:a="http://schemas.openxmlformats.org/drawingml/2006/main">
            <a:off x="502920" y="6734112"/>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E985551D-8CE7-464F-830E-B5DCF2969807}"/>
              </a:ext>
            </a:extLst>
          </p:cNvPr>
          <p:cNvSpPr>
            <a:spLocks xmlns:a="http://schemas.openxmlformats.org/drawingml/2006/main" noGrp="1"/>
          </p:cNvSpPr>
          <p:nvPr/>
        </p:nvSpPr>
        <p:spPr>
          <a:xfrm xmlns:a="http://schemas.openxmlformats.org/drawingml/2006/main">
            <a:off x="674370" y="6829362"/>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Two checks can both be called DRC</a:t>
            </a:r>
          </a:p>
        </p:txBody>
      </p:sp>
      <p:sp>
        <p:nvSpPr>
          <p:cNvPr id="62" name="boundary-text">
            <a:extLst xmlns:a="http://schemas.openxmlformats.org/drawingml/2006/main">
              <a:ext uri="{FF2B5EF4-FFF2-40B4-BE49-F238E27FC236}">
                <a16:creationId xmlns:a16="http://schemas.microsoft.com/office/drawing/2014/main" id="{71026ADB-9E23-481C-89CF-5BB3B90D5236}"/>
              </a:ext>
            </a:extLst>
          </p:cNvPr>
          <p:cNvSpPr>
            <a:spLocks xmlns:a="http://schemas.openxmlformats.org/drawingml/2006/main" noGrp="1"/>
          </p:cNvSpPr>
          <p:nvPr/>
        </p:nvSpPr>
        <p:spPr>
          <a:xfrm xmlns:a="http://schemas.openxmlformats.org/drawingml/2006/main">
            <a:off x="674370" y="7096062"/>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The empty router report is accepted routing evidence. Foundry DRC is a separate unperformed</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obligation; one result cannot stand in for the other.</a:t>
            </a:r>
          </a:p>
        </p:txBody>
      </p:sp>
    </p:spTree>
    <p:extLst>
      <p:ext uri="{BB962C8B-B14F-4D97-AF65-F5344CB8AC3E}">
        <p14:creationId xmlns:p14="http://schemas.microsoft.com/office/powerpoint/2010/main" val="9546048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ce1860f6e4984bd0"/>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17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7FFC07E0-05FF-4149-AEE8-1E48189E2EC9}"/>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15 · REFERENCE TIMING</a:t>
            </a:r>
          </a:p>
        </p:txBody>
      </p:sp>
      <p:sp>
        <p:nvSpPr>
          <p:cNvPr id="51" name="page-title">
            <a:extLst xmlns:a="http://schemas.openxmlformats.org/drawingml/2006/main">
              <a:ext uri="{FF2B5EF4-FFF2-40B4-BE49-F238E27FC236}">
                <a16:creationId xmlns:a16="http://schemas.microsoft.com/office/drawing/2014/main" id="{DECF99AC-BE48-4BF6-A0D4-A7CE4C4D0C0C}"/>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Two measured reference corners</a:t>
            </a:r>
          </a:p>
        </p:txBody>
      </p:sp>
      <p:sp>
        <p:nvSpPr>
          <p:cNvPr id="52" name="intro">
            <a:extLst xmlns:a="http://schemas.openxmlformats.org/drawingml/2006/main">
              <a:ext uri="{FF2B5EF4-FFF2-40B4-BE49-F238E27FC236}">
                <a16:creationId xmlns:a16="http://schemas.microsoft.com/office/drawing/2014/main" id="{A1B1C805-FAD0-4527-B817-E547FBA52EA2}"/>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Static timing analysis adds cell and wire delays without simulating input patterns. Setup asks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whether data arrives early enough; hold asks whether it stays stable long enough.</a:t>
            </a:r>
          </a:p>
        </p:txBody>
      </p:sp>
      <p:sp>
        <p:nvSpPr>
          <p:cNvPr id="53" name="component-label-246.26666666666665">
            <a:extLst xmlns:a="http://schemas.openxmlformats.org/drawingml/2006/main">
              <a:ext uri="{FF2B5EF4-FFF2-40B4-BE49-F238E27FC236}">
                <a16:creationId xmlns:a16="http://schemas.microsoft.com/office/drawing/2014/main" id="{0A46FB93-5602-4E8F-9C80-669C298EB630}"/>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F E R E N C E   T I M I N G</a:t>
            </a:r>
          </a:p>
        </p:txBody>
      </p:sp>
      <p:sp>
        <p:nvSpPr>
          <p:cNvPr id="54" name="body-0">
            <a:extLst xmlns:a="http://schemas.openxmlformats.org/drawingml/2006/main">
              <a:ext uri="{FF2B5EF4-FFF2-40B4-BE49-F238E27FC236}">
                <a16:creationId xmlns:a16="http://schemas.microsoft.com/office/drawing/2014/main" id="{0CDFCCEF-C0EC-472C-B24A-E0C086463577}"/>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physical </a:t>
            </a:r>
            <a:r>
              <a:rPr b="1"/>
              <a:t>clock</a:t>
            </a:r>
            <a:r>
              <a:t> constraint is 50 MHz / 20 ns. Post-route timing uses the extracted design rather
than an ideal pre-route wire estimate. The report at each corner must be inspected for worst setup
and hold slack and for VIOLATED markers. The reported values are not a timing guarantee under
unstated board, voltage or temperature conditions.</a:t>
            </a:r>
          </a:p>
        </p:txBody>
      </p:sp>
      <p:sp>
        <p:nvSpPr>
          <p:cNvPr id="55" name="body-1">
            <a:extLst xmlns:a="http://schemas.openxmlformats.org/drawingml/2006/main">
              <a:ext uri="{FF2B5EF4-FFF2-40B4-BE49-F238E27FC236}">
                <a16:creationId xmlns:a16="http://schemas.microsoft.com/office/drawing/2014/main" id="{44C5C96D-D832-453C-8A5D-C03D0B37AA52}"/>
              </a:ext>
            </a:extLst>
          </p:cNvPr>
          <p:cNvSpPr>
            <a:spLocks xmlns:a="http://schemas.openxmlformats.org/drawingml/2006/main" noGrp="1"/>
          </p:cNvSpPr>
          <p:nvPr/>
        </p:nvSpPr>
        <p:spPr>
          <a:xfrm xmlns:a="http://schemas.openxmlformats.org/drawingml/2006/main">
            <a:off x="502920" y="350875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Current TT setup/hold slack is +15.79 / +0.17 ns. The slow-corner values are +15.73 / +0.33 ns.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Both reports contain no VIOLATED marker. These numbers are taken directly from the local report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files at document build time; the evidence manifest retains their hashes.</a:t>
            </a:r>
          </a:p>
        </p:txBody>
      </p:sp>
      <p:sp>
        <p:nvSpPr>
          <p:cNvPr id="56" name="body-2">
            <a:extLst xmlns:a="http://schemas.openxmlformats.org/drawingml/2006/main">
              <a:ext uri="{FF2B5EF4-FFF2-40B4-BE49-F238E27FC236}">
                <a16:creationId xmlns:a16="http://schemas.microsoft.com/office/drawing/2014/main" id="{BA11A211-1DDE-4680-9254-F20AF6D19249}"/>
              </a:ext>
            </a:extLst>
          </p:cNvPr>
          <p:cNvSpPr>
            <a:spLocks xmlns:a="http://schemas.openxmlformats.org/drawingml/2006/main" noGrp="1"/>
          </p:cNvSpPr>
          <p:nvPr/>
        </p:nvSpPr>
        <p:spPr>
          <a:xfrm xmlns:a="http://schemas.openxmlformats.org/drawingml/2006/main">
            <a:off x="502920" y="422846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I/O delays are </a:t>
            </a:r>
            <a:r>
              <a:rPr b="1"/>
              <a:t>reference</a:t>
            </a:r>
            <a:r>
              <a:t> budgets, not a contract with an external target, transceiver or PHY. Bus
synchronisation, reset recovery/removal, all additional corners and modes, signal integrity and
board timing need their own analysis. Positive slack in these two reports is therefore called
reference timing closure, not foundry or system signoff.</a:t>
            </a:r>
          </a:p>
        </p:txBody>
      </p:sp>
      <p:sp>
        <p:nvSpPr>
          <p:cNvPr id="57" name="component-label-538.2">
            <a:extLst xmlns:a="http://schemas.openxmlformats.org/drawingml/2006/main">
              <a:ext uri="{FF2B5EF4-FFF2-40B4-BE49-F238E27FC236}">
                <a16:creationId xmlns:a16="http://schemas.microsoft.com/office/drawing/2014/main" id="{DFF15A47-D6C7-43E2-BFEF-254CCB2637E6}"/>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V E   E X T R A C T E D   S L A C K ,   N S</a:t>
            </a:r>
          </a:p>
        </p:txBody>
      </p:sp>
      <p:graphicFrame>
        <p:nvGraphicFramePr>
          <p:cNvPr id="80" name=""/>
          <p:cNvGraphicFramePr/>
          <p:nvPr/>
        </p:nvGraphicFramePr>
        <p:xfrm>
          <a:off xmlns:a="http://schemas.openxmlformats.org/drawingml/2006/main" x="502920" y="5391531"/>
          <a:ext xmlns:a="http://schemas.openxmlformats.org/drawingml/2006/main" cx="6556248" cy="1212850"/>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Corner</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Worst setup</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Worst hold</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TT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15.79</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0.17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Slow</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15.73</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0.33</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Status</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 reports</a:t>
                      </a:r>
                    </a:p>
                  </a:txBody>
                  <a:tcPr marL="91440" marR="91440" marT="45720" marB="45720">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 VIOLATED markers</a:t>
                      </a:r>
                    </a:p>
                  </a:txBody>
                  <a:tcPr marL="91440" marR="91440" marT="45720" marB="45720">
                    <a:lnR w="0">
                      <a:noFill/>
                    </a:lnR>
                    <a:lnB w="0">
                      <a:noFill/>
                    </a:lnB>
                    <a:solidFill>
                      <a:srgbClr val="FFFFFF"/>
                    </a:solidFill>
                  </a:tcPr>
                </a:tc>
              </a:tr>
            </a:tbl>
          </a:graphicData>
        </a:graphic>
      </p:graphicFrame>
      <p:sp>
        <p:nvSpPr>
          <p:cNvPr id="59" name="boundary-card">
            <a:extLst xmlns:a="http://schemas.openxmlformats.org/drawingml/2006/main">
              <a:ext uri="{FF2B5EF4-FFF2-40B4-BE49-F238E27FC236}">
                <a16:creationId xmlns:a16="http://schemas.microsoft.com/office/drawing/2014/main" id="{AFF7A215-9D4D-4B84-B0AC-873224AA48B0}"/>
              </a:ext>
            </a:extLst>
          </p:cNvPr>
          <p:cNvSpPr>
            <a:spLocks xmlns:a="http://schemas.openxmlformats.org/drawingml/2006/main" noGrp="1"/>
          </p:cNvSpPr>
          <p:nvPr/>
        </p:nvSpPr>
        <p:spPr>
          <a:xfrm xmlns:a="http://schemas.openxmlformats.org/drawingml/2006/main">
            <a:off x="502920" y="6787261"/>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12DD590D-2C35-458A-AC95-923D3079D870}"/>
              </a:ext>
            </a:extLst>
          </p:cNvPr>
          <p:cNvSpPr>
            <a:spLocks xmlns:a="http://schemas.openxmlformats.org/drawingml/2006/main" noGrp="1"/>
          </p:cNvSpPr>
          <p:nvPr/>
        </p:nvSpPr>
        <p:spPr>
          <a:xfrm xmlns:a="http://schemas.openxmlformats.org/drawingml/2006/main">
            <a:off x="502920" y="6787261"/>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0D524587-1D11-4248-A0BC-DD33AC574014}"/>
              </a:ext>
            </a:extLst>
          </p:cNvPr>
          <p:cNvSpPr>
            <a:spLocks xmlns:a="http://schemas.openxmlformats.org/drawingml/2006/main" noGrp="1"/>
          </p:cNvSpPr>
          <p:nvPr/>
        </p:nvSpPr>
        <p:spPr>
          <a:xfrm xmlns:a="http://schemas.openxmlformats.org/drawingml/2006/main">
            <a:off x="674370" y="6882511"/>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Positive slack has a stated boundary</a:t>
            </a:r>
          </a:p>
        </p:txBody>
      </p:sp>
      <p:sp>
        <p:nvSpPr>
          <p:cNvPr id="62" name="boundary-text">
            <a:extLst xmlns:a="http://schemas.openxmlformats.org/drawingml/2006/main">
              <a:ext uri="{FF2B5EF4-FFF2-40B4-BE49-F238E27FC236}">
                <a16:creationId xmlns:a16="http://schemas.microsoft.com/office/drawing/2014/main" id="{7784A965-6681-4E11-AA49-009F6B3A24F7}"/>
              </a:ext>
            </a:extLst>
          </p:cNvPr>
          <p:cNvSpPr>
            <a:spLocks xmlns:a="http://schemas.openxmlformats.org/drawingml/2006/main" noGrp="1"/>
          </p:cNvSpPr>
          <p:nvPr/>
        </p:nvSpPr>
        <p:spPr>
          <a:xfrm xmlns:a="http://schemas.openxmlformats.org/drawingml/2006/main">
            <a:off x="674370" y="7149211"/>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Slack is remaining timing margin. These values apply to the listed clocks, I/O budgets and two library</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corners; they are not a board-timing or manufacturing signoff guarantee.</a:t>
            </a:r>
          </a:p>
        </p:txBody>
      </p:sp>
    </p:spTree>
    <p:extLst>
      <p:ext uri="{BB962C8B-B14F-4D97-AF65-F5344CB8AC3E}">
        <p14:creationId xmlns:p14="http://schemas.microsoft.com/office/powerpoint/2010/main" val="9546048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a978b2254cca42dd"/>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18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8D785FBD-5423-4CFB-B019-41F35B8B972A}"/>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16 · GDS STREAM-OUT</a:t>
            </a:r>
          </a:p>
        </p:txBody>
      </p:sp>
      <p:sp>
        <p:nvSpPr>
          <p:cNvPr id="51" name="page-title">
            <a:extLst xmlns:a="http://schemas.openxmlformats.org/drawingml/2006/main">
              <a:ext uri="{FF2B5EF4-FFF2-40B4-BE49-F238E27FC236}">
                <a16:creationId xmlns:a16="http://schemas.microsoft.com/office/drawing/2014/main" id="{A5552C56-67ED-43E8-A2BC-347246E527AA}"/>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Count the right objects</a:t>
            </a:r>
          </a:p>
        </p:txBody>
      </p:sp>
      <p:sp>
        <p:nvSpPr>
          <p:cNvPr id="52" name="intro">
            <a:extLst xmlns:a="http://schemas.openxmlformats.org/drawingml/2006/main">
              <a:ext uri="{FF2B5EF4-FFF2-40B4-BE49-F238E27FC236}">
                <a16:creationId xmlns:a16="http://schemas.microsoft.com/office/drawing/2014/main" id="{9254F15B-73D9-4868-9BAC-FD94269C014F}"/>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GDS stores layout polygons and hierarchical cell references. Stream-out combines routed</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geometry with the real standard-cell layouts from the PDK.</a:t>
            </a:r>
          </a:p>
        </p:txBody>
      </p:sp>
      <p:sp>
        <p:nvSpPr>
          <p:cNvPr id="53" name="component-label-246.26666666666665">
            <a:extLst xmlns:a="http://schemas.openxmlformats.org/drawingml/2006/main">
              <a:ext uri="{FF2B5EF4-FFF2-40B4-BE49-F238E27FC236}">
                <a16:creationId xmlns:a16="http://schemas.microsoft.com/office/drawing/2014/main" id="{9162CD75-0206-4A69-88BF-BB906CFFCFB3}"/>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G D S   S T R E A M - O U T</a:t>
            </a:r>
          </a:p>
        </p:txBody>
      </p:sp>
      <p:sp>
        <p:nvSpPr>
          <p:cNvPr id="54" name="body-0">
            <a:extLst xmlns:a="http://schemas.openxmlformats.org/drawingml/2006/main">
              <a:ext uri="{FF2B5EF4-FFF2-40B4-BE49-F238E27FC236}">
                <a16:creationId xmlns:a16="http://schemas.microsoft.com/office/drawing/2014/main" id="{B289FDDC-9CC4-474C-AB5E-3919A2A7605C}"/>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a:t>
            </a:r>
            <a:r>
              <a:rPr b="1"/>
              <a:t>GDS</a:t>
            </a:r>
            <a:r>
              <a:t> file contains 1,060,628 bytes and 41 structures. The independent decoder finds 17,622
placed standard-cell instances including fillers. That placement count is intentionally much larger
than the 131 mapped functional cells: filler instances occupy unused placement sites and
structures are unique hierarchy definitions.</a:t>
            </a:r>
          </a:p>
        </p:txBody>
      </p:sp>
      <p:sp>
        <p:nvSpPr>
          <p:cNvPr id="55" name="body-1">
            <a:extLst xmlns:a="http://schemas.openxmlformats.org/drawingml/2006/main">
              <a:ext uri="{FF2B5EF4-FFF2-40B4-BE49-F238E27FC236}">
                <a16:creationId xmlns:a16="http://schemas.microsoft.com/office/drawing/2014/main" id="{975A1433-D4F9-459D-B510-E04378E866B4}"/>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decoder compares exported cell identities, coordinates and orientations against the routed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DEF. A deliberately altered placement/export expectation fails, including under Python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optimisation, so acceptance is not implemented with removable assert-only checks. Raw file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SHA256 is a run-specific fingerprint because stream-out timestamps can change.</a:t>
            </a:r>
          </a:p>
        </p:txBody>
      </p:sp>
      <p:sp>
        <p:nvSpPr>
          <p:cNvPr id="56" name="body-2">
            <a:extLst xmlns:a="http://schemas.openxmlformats.org/drawingml/2006/main">
              <a:ext uri="{FF2B5EF4-FFF2-40B4-BE49-F238E27FC236}">
                <a16:creationId xmlns:a16="http://schemas.microsoft.com/office/drawing/2014/main" id="{276EFDB8-9D6E-4349-98A3-E5BD0B1F0ECD}"/>
              </a:ext>
            </a:extLst>
          </p:cNvPr>
          <p:cNvSpPr>
            <a:spLocks xmlns:a="http://schemas.openxmlformats.org/drawingml/2006/main" noGrp="1"/>
          </p:cNvSpPr>
          <p:nvPr/>
        </p:nvSpPr>
        <p:spPr>
          <a:xfrm xmlns:a="http://schemas.openxmlformats.org/drawingml/2006/main">
            <a:off x="502920" y="440664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OpenROAD router-rule DRC report is empty. It is not a foundry-deck DRC result. LVS, antenna,</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scan/DFT, power integrity, padframe, tap/endcap strategy and manufacturing signoff remain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unperformed. No empty routing report is promoted into a DRC-clean tapeout claim.</a:t>
            </a:r>
          </a:p>
        </p:txBody>
      </p:sp>
      <p:sp>
        <p:nvSpPr>
          <p:cNvPr id="57" name="component-label-538.1999999999999">
            <a:extLst xmlns:a="http://schemas.openxmlformats.org/drawingml/2006/main">
              <a:ext uri="{FF2B5EF4-FFF2-40B4-BE49-F238E27FC236}">
                <a16:creationId xmlns:a16="http://schemas.microsoft.com/office/drawing/2014/main" id="{1D77D529-7D37-47C6-ABFF-C12BCAB3113E}"/>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V E   E X P O R T   M E A S U R E M E N T S</a:t>
            </a:r>
          </a:p>
        </p:txBody>
      </p:sp>
      <p:graphicFrame>
        <p:nvGraphicFramePr>
          <p:cNvPr id="76" name=""/>
          <p:cNvGraphicFramePr/>
          <p:nvPr/>
        </p:nvGraphicFramePr>
        <p:xfrm>
          <a:off xmlns:a="http://schemas.openxmlformats.org/drawingml/2006/main" x="502920" y="5391531"/>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Quantity</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Current 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131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GDS bytes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1,060,628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GDS structures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41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Placed standard-cell instances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17,622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Die</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300 x 300 um</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9546048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5d9247364b144f23"/>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19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C6E91057-4AAC-4405-A911-58C652317D60}"/>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17 · UNPERFORMED SIGNOFF</a:t>
            </a:r>
          </a:p>
        </p:txBody>
      </p:sp>
      <p:sp>
        <p:nvSpPr>
          <p:cNvPr id="51" name="page-title">
            <a:extLst xmlns:a="http://schemas.openxmlformats.org/drawingml/2006/main">
              <a:ext uri="{FF2B5EF4-FFF2-40B4-BE49-F238E27FC236}">
                <a16:creationId xmlns:a16="http://schemas.microsoft.com/office/drawing/2014/main" id="{20C4DF09-1D10-49C2-9D4E-35745A26768C}"/>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DRC and LVS: what is still missing</a:t>
            </a:r>
          </a:p>
        </p:txBody>
      </p:sp>
      <p:sp>
        <p:nvSpPr>
          <p:cNvPr id="52" name="intro">
            <a:extLst xmlns:a="http://schemas.openxmlformats.org/drawingml/2006/main">
              <a:ext uri="{FF2B5EF4-FFF2-40B4-BE49-F238E27FC236}">
                <a16:creationId xmlns:a16="http://schemas.microsoft.com/office/drawing/2014/main" id="{064AEC5A-D2A7-48FB-B123-09328B1D9839}"/>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Design rule checking asks whether geometry follows the process rules. Layout versus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schematic asks whether the extracted layout circuit matches the intended netlist.</a:t>
            </a:r>
          </a:p>
        </p:txBody>
      </p:sp>
      <p:sp>
        <p:nvSpPr>
          <p:cNvPr id="53" name="component-label-246.26666666666665">
            <a:extLst xmlns:a="http://schemas.openxmlformats.org/drawingml/2006/main">
              <a:ext uri="{FF2B5EF4-FFF2-40B4-BE49-F238E27FC236}">
                <a16:creationId xmlns:a16="http://schemas.microsoft.com/office/drawing/2014/main" id="{1F0DF433-89B3-405C-AB6A-415C1A125260}"/>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U N P E R F O R M E D   S I G N O F F</a:t>
            </a:r>
          </a:p>
        </p:txBody>
      </p:sp>
      <p:sp>
        <p:nvSpPr>
          <p:cNvPr id="54" name="body-0">
            <a:extLst xmlns:a="http://schemas.openxmlformats.org/drawingml/2006/main">
              <a:ext uri="{FF2B5EF4-FFF2-40B4-BE49-F238E27FC236}">
                <a16:creationId xmlns:a16="http://schemas.microsoft.com/office/drawing/2014/main" id="{5C0D23D0-1B45-4FBC-AED5-11E1F19E4A36}"/>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Foundry DRC requires the applicable, qualified rule deck and an inspected report on the final
polygons. Typical checks include minimum widths, spacing and enclosure. No foundry-deck DRC
result has been accepted for this protocol </a:t>
            </a:r>
            <a:r>
              <a:rPr b="1"/>
              <a:t>reference</a:t>
            </a:r>
            <a:r>
              <a:t>. The router report is narrower evidence.</a:t>
            </a:r>
          </a:p>
        </p:txBody>
      </p:sp>
      <p:sp>
        <p:nvSpPr>
          <p:cNvPr id="55" name="body-1">
            <a:extLst xmlns:a="http://schemas.openxmlformats.org/drawingml/2006/main">
              <a:ext uri="{FF2B5EF4-FFF2-40B4-BE49-F238E27FC236}">
                <a16:creationId xmlns:a16="http://schemas.microsoft.com/office/drawing/2014/main" id="{A8646F21-3C00-47A9-A3AA-D24D90C4FAB6}"/>
              </a:ext>
            </a:extLst>
          </p:cNvPr>
          <p:cNvSpPr>
            <a:spLocks xmlns:a="http://schemas.openxmlformats.org/drawingml/2006/main" noGrp="1"/>
          </p:cNvSpPr>
          <p:nvPr/>
        </p:nvSpPr>
        <p:spPr>
          <a:xfrm xmlns:a="http://schemas.openxmlformats.org/drawingml/2006/main">
            <a:off x="502920" y="333057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LVS requires extracting a circuit from the layout and comparing devices and connectivity with the
intended circuit. A structural </a:t>
            </a:r>
            <a:r>
              <a:rPr b="1"/>
              <a:t>GDS</a:t>
            </a:r>
            <a:r>
              <a:t> decoder checking cell references, coordinates and orientations
does not perform that extraction or connectivity comparison. No accepted LVS match is available.</a:t>
            </a:r>
          </a:p>
        </p:txBody>
      </p:sp>
      <p:sp>
        <p:nvSpPr>
          <p:cNvPr id="56" name="body-2">
            <a:extLst xmlns:a="http://schemas.openxmlformats.org/drawingml/2006/main">
              <a:ext uri="{FF2B5EF4-FFF2-40B4-BE49-F238E27FC236}">
                <a16:creationId xmlns:a16="http://schemas.microsoft.com/office/drawing/2014/main" id="{B0FDF0C4-90D7-4795-B173-7171E4E6612F}"/>
              </a:ext>
            </a:extLst>
          </p:cNvPr>
          <p:cNvSpPr>
            <a:spLocks xmlns:a="http://schemas.openxmlformats.org/drawingml/2006/main" noGrp="1"/>
          </p:cNvSpPr>
          <p:nvPr/>
        </p:nvSpPr>
        <p:spPr>
          <a:xfrm xmlns:a="http://schemas.openxmlformats.org/drawingml/2006/main">
            <a:off x="502920" y="405028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Antenna, scan/DFT, power integrity, padframe, tap/endcap strategy and manufacturing release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remain unperformed. The golden APB primer reports its own separate checks; those results do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transfer to SG13G2 or to this design.</a:t>
            </a:r>
          </a:p>
        </p:txBody>
      </p:sp>
      <p:sp>
        <p:nvSpPr>
          <p:cNvPr id="57" name="component-label-500.78666666666663">
            <a:extLst xmlns:a="http://schemas.openxmlformats.org/drawingml/2006/main">
              <a:ext uri="{FF2B5EF4-FFF2-40B4-BE49-F238E27FC236}">
                <a16:creationId xmlns:a16="http://schemas.microsoft.com/office/drawing/2014/main" id="{A47B2A02-2A9B-4B5B-AAE2-B650121A9FA8}"/>
              </a:ext>
            </a:extLst>
          </p:cNvPr>
          <p:cNvSpPr>
            <a:spLocks xmlns:a="http://schemas.openxmlformats.org/drawingml/2006/main" noGrp="1"/>
          </p:cNvSpPr>
          <p:nvPr/>
        </p:nvSpPr>
        <p:spPr>
          <a:xfrm xmlns:a="http://schemas.openxmlformats.org/drawingml/2006/main">
            <a:off x="502920" y="47699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E P A R A T E   A C C E P T E D   E X P O R T   F R O M   M I S S I N G   S I G N O F F</a:t>
            </a:r>
          </a:p>
        </p:txBody>
      </p:sp>
      <p:graphicFrame>
        <p:nvGraphicFramePr>
          <p:cNvPr id="80" name=""/>
          <p:cNvGraphicFramePr/>
          <p:nvPr/>
        </p:nvGraphicFramePr>
        <p:xfrm>
          <a:off xmlns:a="http://schemas.openxmlformats.org/drawingml/2006/main" x="502920" y="5035169"/>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CHECK</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THIS REFERENCE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Router-rule report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Empty; narrower routing evidence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Decoded GDS placement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structural/export agreement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Foundry-deck DRC</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Extracted-layout LVS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Manufacturing readiness</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claimed</a:t>
                      </a:r>
                    </a:p>
                  </a:txBody>
                  <a:tcPr marL="91440" marR="91440" marT="45720" marB="45720">
                    <a:lnR w="0">
                      <a:noFill/>
                    </a:lnR>
                    <a:lnB w="0">
                      <a:noFill/>
                    </a:lnB>
                    <a:solidFill>
                      <a:srgbClr val="FFFFFF"/>
                    </a:solidFill>
                  </a:tcPr>
                </a:tc>
              </a:tr>
            </a:tbl>
          </a:graphicData>
        </a:graphic>
      </p:graphicFrame>
      <p:sp>
        <p:nvSpPr>
          <p:cNvPr id="59" name="boundary-card">
            <a:extLst xmlns:a="http://schemas.openxmlformats.org/drawingml/2006/main">
              <a:ext uri="{FF2B5EF4-FFF2-40B4-BE49-F238E27FC236}">
                <a16:creationId xmlns:a16="http://schemas.microsoft.com/office/drawing/2014/main" id="{E72972C8-D917-41FD-AC4A-98C75C76DBA7}"/>
              </a:ext>
            </a:extLst>
          </p:cNvPr>
          <p:cNvSpPr>
            <a:spLocks xmlns:a="http://schemas.openxmlformats.org/drawingml/2006/main" noGrp="1"/>
          </p:cNvSpPr>
          <p:nvPr/>
        </p:nvSpPr>
        <p:spPr>
          <a:xfrm xmlns:a="http://schemas.openxmlformats.org/drawingml/2006/main">
            <a:off x="502920" y="7037324"/>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47C57835-7973-4FF2-B5D2-513AA3E53508}"/>
              </a:ext>
            </a:extLst>
          </p:cNvPr>
          <p:cNvSpPr>
            <a:spLocks xmlns:a="http://schemas.openxmlformats.org/drawingml/2006/main" noGrp="1"/>
          </p:cNvSpPr>
          <p:nvPr/>
        </p:nvSpPr>
        <p:spPr>
          <a:xfrm xmlns:a="http://schemas.openxmlformats.org/drawingml/2006/main">
            <a:off x="502920" y="7037324"/>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B5378EC6-82E5-49BA-9D1F-FDFAE6DD1855}"/>
              </a:ext>
            </a:extLst>
          </p:cNvPr>
          <p:cNvSpPr>
            <a:spLocks xmlns:a="http://schemas.openxmlformats.org/drawingml/2006/main" noGrp="1"/>
          </p:cNvSpPr>
          <p:nvPr/>
        </p:nvSpPr>
        <p:spPr>
          <a:xfrm xmlns:a="http://schemas.openxmlformats.org/drawingml/2006/main">
            <a:off x="674370" y="7132574"/>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A GDS file is not tapeout approval</a:t>
            </a:r>
          </a:p>
        </p:txBody>
      </p:sp>
      <p:sp>
        <p:nvSpPr>
          <p:cNvPr id="62" name="boundary-text">
            <a:extLst xmlns:a="http://schemas.openxmlformats.org/drawingml/2006/main">
              <a:ext uri="{FF2B5EF4-FFF2-40B4-BE49-F238E27FC236}">
                <a16:creationId xmlns:a16="http://schemas.microsoft.com/office/drawing/2014/main" id="{8F015794-A7D2-4409-994D-460784813A6E}"/>
              </a:ext>
            </a:extLst>
          </p:cNvPr>
          <p:cNvSpPr>
            <a:spLocks xmlns:a="http://schemas.openxmlformats.org/drawingml/2006/main" noGrp="1"/>
          </p:cNvSpPr>
          <p:nvPr/>
        </p:nvSpPr>
        <p:spPr>
          <a:xfrm xmlns:a="http://schemas.openxmlformats.org/drawingml/2006/main">
            <a:off x="674370" y="7399274"/>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This package is suitable for studying and reproducing a block implementation. Do not hand it off as a</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signoff-clean manufacturing design.</a:t>
            </a:r>
          </a:p>
        </p:txBody>
      </p:sp>
    </p:spTree>
    <p:extLst>
      <p:ext uri="{BB962C8B-B14F-4D97-AF65-F5344CB8AC3E}">
        <p14:creationId xmlns:p14="http://schemas.microsoft.com/office/powerpoint/2010/main" val="9546048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9" name="Picture 2"/>
          <p:cNvPicPr>
            <a:picLocks xmlns:a="http://schemas.openxmlformats.org/drawingml/2006/main" noChangeAspect="1"/>
          </p:cNvPicPr>
          <p:nvPr/>
        </p:nvPicPr>
        <p:blipFill>
          <a:blip xmlns:r="http://schemas.openxmlformats.org/officeDocument/2006/relationships" xmlns:a="http://schemas.openxmlformats.org/drawingml/2006/main" r:embed="R4d17abc5f8bd4c96"/>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20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C2DDB1A5-EB60-4E53-9A60-FF8E89B656B2}"/>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18 · RESULTS SUMMARY</a:t>
            </a:r>
          </a:p>
        </p:txBody>
      </p:sp>
      <p:sp>
        <p:nvSpPr>
          <p:cNvPr id="51" name="page-title">
            <a:extLst xmlns:a="http://schemas.openxmlformats.org/drawingml/2006/main">
              <a:ext uri="{FF2B5EF4-FFF2-40B4-BE49-F238E27FC236}">
                <a16:creationId xmlns:a16="http://schemas.microsoft.com/office/drawing/2014/main" id="{883AA5D0-A7EF-4753-AB6D-5621B144CF2D}"/>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Everything at a glance</a:t>
            </a:r>
          </a:p>
        </p:txBody>
      </p:sp>
      <p:sp>
        <p:nvSpPr>
          <p:cNvPr id="52" name="intro">
            <a:extLst xmlns:a="http://schemas.openxmlformats.org/drawingml/2006/main">
              <a:ext uri="{FF2B5EF4-FFF2-40B4-BE49-F238E27FC236}">
                <a16:creationId xmlns:a16="http://schemas.microsoft.com/office/drawing/2014/main" id="{8BD5116D-BF68-4454-A7A8-7260A5C68AE2}"/>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Read each result together with the question it actually answers. The same PASS label never</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implies every protocol or manufacturing obligation is closed.</a:t>
            </a:r>
          </a:p>
        </p:txBody>
      </p:sp>
      <p:sp>
        <p:nvSpPr>
          <p:cNvPr id="53" name="component-label-246.26666666666665">
            <a:extLst xmlns:a="http://schemas.openxmlformats.org/drawingml/2006/main">
              <a:ext uri="{FF2B5EF4-FFF2-40B4-BE49-F238E27FC236}">
                <a16:creationId xmlns:a16="http://schemas.microsoft.com/office/drawing/2014/main" id="{EA87BAD6-AF23-4D74-86B2-404918563EBF}"/>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S U L T S   S U M M A R Y</a:t>
            </a:r>
          </a:p>
        </p:txBody>
      </p:sp>
      <p:sp>
        <p:nvSpPr>
          <p:cNvPr id="54" name="body-0">
            <a:extLst xmlns:a="http://schemas.openxmlformats.org/drawingml/2006/main">
              <a:ext uri="{FF2B5EF4-FFF2-40B4-BE49-F238E27FC236}">
                <a16:creationId xmlns:a16="http://schemas.microsoft.com/office/drawing/2014/main" id="{D132FFA3-7824-4609-94A3-8CB93E053868}"/>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directed functional result and the physical export result are both useful, but they prove
different things. The physical build uses the fixed wrapper configuration and </a:t>
            </a:r>
            <a:r>
              <a:rPr b="1"/>
              <a:t>reference</a:t>
            </a:r>
            <a:r>
              <a:t> constraints.
Additional modes, external peripherals, arbitrary clock relationships and board operation require
their own evidence.</a:t>
            </a:r>
          </a:p>
        </p:txBody>
      </p:sp>
      <p:sp>
        <p:nvSpPr>
          <p:cNvPr id="55" name="body-1">
            <a:extLst xmlns:a="http://schemas.openxmlformats.org/drawingml/2006/main">
              <a:ext uri="{FF2B5EF4-FFF2-40B4-BE49-F238E27FC236}">
                <a16:creationId xmlns:a16="http://schemas.microsoft.com/office/drawing/2014/main" id="{04DC7A4D-18DF-44B3-9FBA-92F89ECB5122}"/>
              </a:ext>
            </a:extLst>
          </p:cNvPr>
          <p:cNvSpPr>
            <a:spLocks xmlns:a="http://schemas.openxmlformats.org/drawingml/2006/main" noGrp="1"/>
          </p:cNvSpPr>
          <p:nvPr/>
        </p:nvSpPr>
        <p:spPr>
          <a:xfrm xmlns:a="http://schemas.openxmlformats.org/drawingml/2006/main">
            <a:off x="502920" y="3508756"/>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Important protocol boundary: Only four mode/divider pairs are tested; the hardened core is mode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0, divider 2. General multi-byte CS envelopes are absent.</a:t>
            </a:r>
          </a:p>
        </p:txBody>
      </p:sp>
      <p:sp>
        <p:nvSpPr>
          <p:cNvPr id="56" name="component-label-425.22666666666663">
            <a:extLst xmlns:a="http://schemas.openxmlformats.org/drawingml/2006/main">
              <a:ext uri="{FF2B5EF4-FFF2-40B4-BE49-F238E27FC236}">
                <a16:creationId xmlns:a16="http://schemas.microsoft.com/office/drawing/2014/main" id="{8684F9C8-B8C0-43B4-9D76-30D9CB335B02}"/>
              </a:ext>
            </a:extLst>
          </p:cNvPr>
          <p:cNvSpPr>
            <a:spLocks xmlns:a="http://schemas.openxmlformats.org/drawingml/2006/main" noGrp="1"/>
          </p:cNvSpPr>
          <p:nvPr/>
        </p:nvSpPr>
        <p:spPr>
          <a:xfrm xmlns:a="http://schemas.openxmlformats.org/drawingml/2006/main">
            <a:off x="502920" y="405028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F U L L   R E F E R E N C E   F L O W</a:t>
            </a:r>
          </a:p>
        </p:txBody>
      </p:sp>
      <p:graphicFrame>
        <p:nvGraphicFramePr>
          <p:cNvPr id="74" name=""/>
          <p:cNvGraphicFramePr/>
          <p:nvPr/>
        </p:nvGraphicFramePr>
        <p:xfrm>
          <a:off xmlns:a="http://schemas.openxmlformats.org/drawingml/2006/main" x="502920" y="4315460"/>
          <a:ext xmlns:a="http://schemas.openxmlformats.org/drawingml/2006/main" cx="6556248" cy="3335337"/>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STAGE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TOOL / EVIDENCE</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STATUS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Verilator; 1 retained warnings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Review</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Simulation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Independent directed expectations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directed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Negative controls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Deliberate fatal mismatches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rejection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Yosys; 131 mapped cells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mapping</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Floorplan / 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OpenROAD; 300 x 300 um</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Routing / extraction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DEF and SPEF retained</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Timing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TT and slow setup / hold</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KLayout; 1,060,628 bytes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export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Foundry DRC / LVS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 accepted report</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Full-chip / board</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 accepted integration proof</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9546048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3" name="Picture 2"/>
          <p:cNvPicPr>
            <a:picLocks xmlns:a="http://schemas.openxmlformats.org/drawingml/2006/main" noChangeAspect="1"/>
          </p:cNvPicPr>
          <p:nvPr/>
        </p:nvPicPr>
        <p:blipFill>
          <a:blip xmlns:r="http://schemas.openxmlformats.org/officeDocument/2006/relationships" xmlns:a="http://schemas.openxmlformats.org/drawingml/2006/main" r:embed="R2ae04a925b0d43a1"/>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21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AE12CF0A-B76E-497A-AFA4-6DBD75B87714}"/>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19 · RUN IT YOURSELF</a:t>
            </a:r>
          </a:p>
        </p:txBody>
      </p:sp>
      <p:sp>
        <p:nvSpPr>
          <p:cNvPr id="51" name="page-title">
            <a:extLst xmlns:a="http://schemas.openxmlformats.org/drawingml/2006/main">
              <a:ext uri="{FF2B5EF4-FFF2-40B4-BE49-F238E27FC236}">
                <a16:creationId xmlns:a16="http://schemas.microsoft.com/office/drawing/2014/main" id="{81E13ED4-7394-47E0-B530-17F08308EFFA}"/>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Run it yourself in WSL</a:t>
            </a:r>
          </a:p>
        </p:txBody>
      </p:sp>
      <p:sp>
        <p:nvSpPr>
          <p:cNvPr id="52" name="intro">
            <a:extLst xmlns:a="http://schemas.openxmlformats.org/drawingml/2006/main">
              <a:ext uri="{FF2B5EF4-FFF2-40B4-BE49-F238E27FC236}">
                <a16:creationId xmlns:a16="http://schemas.microsoft.com/office/drawing/2014/main" id="{F3EC5F24-CA43-4B2A-BFB5-3716C32A60D9}"/>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Use the pinned source, the unit tool lock and the external PDK revision together.</a:t>
            </a:r>
          </a:p>
        </p:txBody>
      </p:sp>
      <p:sp>
        <p:nvSpPr>
          <p:cNvPr id="53" name="component-label-225.93333333333334">
            <a:extLst xmlns:a="http://schemas.openxmlformats.org/drawingml/2006/main">
              <a:ext uri="{FF2B5EF4-FFF2-40B4-BE49-F238E27FC236}">
                <a16:creationId xmlns:a16="http://schemas.microsoft.com/office/drawing/2014/main" id="{D203D9D9-92D9-44B7-8C5D-1D31BFD60C71}"/>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U N   I T   Y O U R S E L F</a:t>
            </a:r>
          </a:p>
        </p:txBody>
      </p:sp>
      <p:sp>
        <p:nvSpPr>
          <p:cNvPr id="54" name="body-0">
            <a:extLst xmlns:a="http://schemas.openxmlformats.org/drawingml/2006/main">
              <a:ext uri="{FF2B5EF4-FFF2-40B4-BE49-F238E27FC236}">
                <a16:creationId xmlns:a16="http://schemas.microsoft.com/office/drawing/2014/main" id="{D65AF9F9-E524-4C21-B935-DA8CBF7B7353}"/>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proven entry point is a WSL login Bash shell. igny init prepares the packaging runtime.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Unsetting CRUCIBLE_ENV after initialisation allows the unit crucible.toml workspace selection to</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control tool resolution rather than an inherited environment override. This is the observed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workflow, not a change to Crucible internals.</a:t>
            </a:r>
          </a:p>
        </p:txBody>
      </p:sp>
      <p:sp>
        <p:nvSpPr>
          <p:cNvPr id="55" name="body-1">
            <a:extLst xmlns:a="http://schemas.openxmlformats.org/drawingml/2006/main">
              <a:ext uri="{FF2B5EF4-FFF2-40B4-BE49-F238E27FC236}">
                <a16:creationId xmlns:a16="http://schemas.microsoft.com/office/drawing/2014/main" id="{23EC3190-D9EF-49A1-BE3D-EA57F28B77B6}"/>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Each unit has its existing environment and lock. The common tool set includes Icarus, Verilator,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Yosys, OpenROAD and klayout-stream. The separate PDK checkout is IHP SG13G2 revision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22f43352dd8219f9007eb659e422e0d5fe28c5fb. A tool lock does not pin that external PDK by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itself; IHP_PDK_ROOT must point to the matching installation.</a:t>
            </a:r>
          </a:p>
        </p:txBody>
      </p:sp>
      <p:sp>
        <p:nvSpPr>
          <p:cNvPr id="56" name="body-2">
            <a:extLst xmlns:a="http://schemas.openxmlformats.org/drawingml/2006/main">
              <a:ext uri="{FF2B5EF4-FFF2-40B4-BE49-F238E27FC236}">
                <a16:creationId xmlns:a16="http://schemas.microsoft.com/office/drawing/2014/main" id="{16D020C8-46FF-433A-91B9-F4E2CC1820DF}"/>
              </a:ext>
            </a:extLst>
          </p:cNvPr>
          <p:cNvSpPr>
            <a:spLocks xmlns:a="http://schemas.openxmlformats.org/drawingml/2006/main" noGrp="1"/>
          </p:cNvSpPr>
          <p:nvPr/>
        </p:nvSpPr>
        <p:spPr>
          <a:xfrm xmlns:a="http://schemas.openxmlformats.org/drawingml/2006/main">
            <a:off x="502920" y="421297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documented machine could not use the pip klayout package as the expected stream-out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executable; igny tool install klayout-stream supplies the proven converter. make lint sim checks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functional behaviour, make flow executes the staged implementation, and node verify_build.mjs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all inspects artifacts. Review normal and intentionally failing logs before accepting the result.</a:t>
            </a:r>
          </a:p>
        </p:txBody>
      </p:sp>
      <p:sp>
        <p:nvSpPr>
          <p:cNvPr id="57" name="body-3">
            <a:extLst xmlns:a="http://schemas.openxmlformats.org/drawingml/2006/main">
              <a:ext uri="{FF2B5EF4-FFF2-40B4-BE49-F238E27FC236}">
                <a16:creationId xmlns:a16="http://schemas.microsoft.com/office/drawing/2014/main" id="{13D23EC7-62C1-4502-9B24-36BB34E68D99}"/>
              </a:ext>
            </a:extLst>
          </p:cNvPr>
          <p:cNvSpPr>
            <a:spLocks xmlns:a="http://schemas.openxmlformats.org/drawingml/2006/main" noGrp="1"/>
          </p:cNvSpPr>
          <p:nvPr/>
        </p:nvSpPr>
        <p:spPr>
          <a:xfrm xmlns:a="http://schemas.openxmlformats.org/drawingml/2006/main">
            <a:off x="502920" y="511086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Re-running a simulation can replace its VCD and invalidate an earlier document trace hash. Retain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document evidence manifest or regenerate the measured figures after the positive run. Do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silently preserve an old chart while claiming it is the newly generated waveform.</a:t>
            </a:r>
          </a:p>
        </p:txBody>
      </p:sp>
      <p:sp>
        <p:nvSpPr>
          <p:cNvPr id="58" name="component-label-612.1333333333334">
            <a:extLst xmlns:a="http://schemas.openxmlformats.org/drawingml/2006/main">
              <a:ext uri="{FF2B5EF4-FFF2-40B4-BE49-F238E27FC236}">
                <a16:creationId xmlns:a16="http://schemas.microsoft.com/office/drawing/2014/main" id="{642C15B6-6DD8-4B1E-9524-D98A944FAEAC}"/>
              </a:ext>
            </a:extLst>
          </p:cNvPr>
          <p:cNvSpPr>
            <a:spLocks xmlns:a="http://schemas.openxmlformats.org/drawingml/2006/main" noGrp="1"/>
          </p:cNvSpPr>
          <p:nvPr/>
        </p:nvSpPr>
        <p:spPr>
          <a:xfrm xmlns:a="http://schemas.openxmlformats.org/drawingml/2006/main">
            <a:off x="502920" y="583057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59" name="code-panel">
            <a:extLst xmlns:a="http://schemas.openxmlformats.org/drawingml/2006/main">
              <a:ext uri="{FF2B5EF4-FFF2-40B4-BE49-F238E27FC236}">
                <a16:creationId xmlns:a16="http://schemas.microsoft.com/office/drawing/2014/main" id="{B981AACE-2FB2-4F44-94B1-559A542B29C0}"/>
              </a:ext>
            </a:extLst>
          </p:cNvPr>
          <p:cNvSpPr>
            <a:spLocks xmlns:a="http://schemas.openxmlformats.org/drawingml/2006/main" noGrp="1"/>
          </p:cNvSpPr>
          <p:nvPr/>
        </p:nvSpPr>
        <p:spPr>
          <a:xfrm xmlns:a="http://schemas.openxmlformats.org/drawingml/2006/main">
            <a:off x="502920" y="6095746"/>
            <a:ext cx="6556248" cy="146812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0" name="code">
            <a:extLst xmlns:a="http://schemas.openxmlformats.org/drawingml/2006/main">
              <a:ext uri="{FF2B5EF4-FFF2-40B4-BE49-F238E27FC236}">
                <a16:creationId xmlns:a16="http://schemas.microsoft.com/office/drawing/2014/main" id="{ACC57D46-DF4E-477D-8426-1EF199ACBD6A}"/>
              </a:ext>
            </a:extLst>
          </p:cNvPr>
          <p:cNvSpPr>
            <a:spLocks xmlns:a="http://schemas.openxmlformats.org/drawingml/2006/main" noGrp="1"/>
          </p:cNvSpPr>
          <p:nvPr/>
        </p:nvSpPr>
        <p:spPr>
          <a:xfrm xmlns:a="http://schemas.openxmlformats.org/drawingml/2006/main">
            <a:off x="617220" y="6190996"/>
            <a:ext cx="6327648" cy="1315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igny init</a:t>
            </a:r>
            <a:r>
              <a:rPr>
                <a:solidFill>
                  <a:srgbClr val="EF9529"/>
                </a:solidFill>
              </a:rPr>
              <a:t>
unset CRUCIBLE_ENV</a:t>
            </a:r>
            <a:r>
              <a:rPr>
                <a:solidFill>
                  <a:srgbClr val="EF9529"/>
                </a:solidFill>
              </a:rPr>
              <a:t>
cd hw/protocols/spi</a:t>
            </a:r>
            <a:r>
              <a:rPr>
                <a:solidFill>
                  <a:srgbClr val="EF9529"/>
                </a:solidFill>
              </a:rPr>
              <a:t>
igny workspace sync</a:t>
            </a:r>
            <a:r>
              <a:rPr>
                <a:solidFill>
                  <a:srgbClr val="EF9529"/>
                </a:solidFill>
              </a:rPr>
              <a:t>
igny tool install klayout-stream</a:t>
            </a:r>
            <a:r>
              <a:rPr>
                <a:solidFill>
                  <a:srgbClr val="EF9529"/>
                </a:solidFill>
              </a:rPr>
              <a:t>
make lint sim</a:t>
            </a:r>
            <a:r>
              <a:rPr>
                <a:solidFill>
                  <a:srgbClr val="EF9529"/>
                </a:solidFill>
              </a:rPr>
              <a:t>
make flow</a:t>
            </a:r>
            <a:r>
              <a:rPr>
                <a:solidFill>
                  <a:srgbClr val="EF9529"/>
                </a:solidFill>
              </a:rPr>
              <a:t>
node verify_build.mjs all</a:t>
            </a:r>
          </a:p>
        </p:txBody>
      </p:sp>
      <p:sp>
        <p:nvSpPr>
          <p:cNvPr id="61" name="code-source">
            <a:extLst xmlns:a="http://schemas.openxmlformats.org/drawingml/2006/main">
              <a:ext uri="{FF2B5EF4-FFF2-40B4-BE49-F238E27FC236}">
                <a16:creationId xmlns:a16="http://schemas.microsoft.com/office/drawing/2014/main" id="{6EF9C46F-0630-4986-BB02-FF1976A655EF}"/>
              </a:ext>
            </a:extLst>
          </p:cNvPr>
          <p:cNvSpPr>
            <a:spLocks xmlns:a="http://schemas.openxmlformats.org/drawingml/2006/main" noGrp="1"/>
          </p:cNvSpPr>
          <p:nvPr/>
        </p:nvSpPr>
        <p:spPr>
          <a:xfrm xmlns:a="http://schemas.openxmlformats.org/drawingml/2006/main">
            <a:off x="502920" y="7621016"/>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Run after entering the repository in WSL login Bash; PDK required.</a:t>
            </a:r>
          </a:p>
        </p:txBody>
      </p:sp>
    </p:spTree>
    <p:extLst>
      <p:ext uri="{BB962C8B-B14F-4D97-AF65-F5344CB8AC3E}">
        <p14:creationId xmlns:p14="http://schemas.microsoft.com/office/powerpoint/2010/main" val="95460488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9" name="Picture 2"/>
          <p:cNvPicPr>
            <a:picLocks xmlns:a="http://schemas.openxmlformats.org/drawingml/2006/main" noChangeAspect="1"/>
          </p:cNvPicPr>
          <p:nvPr/>
        </p:nvPicPr>
        <p:blipFill>
          <a:blip xmlns:r="http://schemas.openxmlformats.org/officeDocument/2006/relationships" xmlns:a="http://schemas.openxmlformats.org/drawingml/2006/main" r:embed="R6b34a8953e444755"/>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EE35BE97-66E6-404B-A4D1-B4F004CE7150}"/>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20 · SOURCES AND REMAINING WORK</a:t>
            </a:r>
          </a:p>
        </p:txBody>
      </p:sp>
      <p:sp>
        <p:nvSpPr>
          <p:cNvPr id="51" name="page-title">
            <a:extLst xmlns:a="http://schemas.openxmlformats.org/drawingml/2006/main">
              <a:ext uri="{FF2B5EF4-FFF2-40B4-BE49-F238E27FC236}">
                <a16:creationId xmlns:a16="http://schemas.microsoft.com/office/drawing/2014/main" id="{909B2751-79AF-4BC3-A22A-811809826CEC}"/>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Sources, ownership and remaining work</a:t>
            </a:r>
          </a:p>
        </p:txBody>
      </p:sp>
      <p:sp>
        <p:nvSpPr>
          <p:cNvPr id="52" name="intro">
            <a:extLst xmlns:a="http://schemas.openxmlformats.org/drawingml/2006/main">
              <a:ext uri="{FF2B5EF4-FFF2-40B4-BE49-F238E27FC236}">
                <a16:creationId xmlns:a16="http://schemas.microsoft.com/office/drawing/2014/main" id="{7BC2859B-5A7F-4749-B552-1BA68E908256}"/>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pinned revision identifies the baseline; local integration changes are described separately.</a:t>
            </a:r>
          </a:p>
        </p:txBody>
      </p:sp>
      <p:sp>
        <p:nvSpPr>
          <p:cNvPr id="53" name="component-label-225.93333333333334">
            <a:extLst xmlns:a="http://schemas.openxmlformats.org/drawingml/2006/main">
              <a:ext uri="{FF2B5EF4-FFF2-40B4-BE49-F238E27FC236}">
                <a16:creationId xmlns:a16="http://schemas.microsoft.com/office/drawing/2014/main" id="{BED65A6F-C6E2-4EBE-B26D-5ABB1B9B8F03}"/>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S   A N D   R E M A I N I N G   W O R K</a:t>
            </a:r>
          </a:p>
        </p:txBody>
      </p:sp>
      <p:sp>
        <p:nvSpPr>
          <p:cNvPr id="54" name="body-0">
            <a:extLst xmlns:a="http://schemas.openxmlformats.org/drawingml/2006/main">
              <a:ext uri="{FF2B5EF4-FFF2-40B4-BE49-F238E27FC236}">
                <a16:creationId xmlns:a16="http://schemas.microsoft.com/office/drawing/2014/main" id="{B6025A3F-29C4-449B-9FF4-AF12BA5A5ECE}"/>
              </a:ext>
            </a:extLst>
          </p:cNvPr>
          <p:cNvSpPr>
            <a:spLocks xmlns:a="http://schemas.openxmlformats.org/drawingml/2006/main" noGrp="1"/>
          </p:cNvSpPr>
          <p:nvPr/>
        </p:nvSpPr>
        <p:spPr>
          <a:xfrm xmlns:a="http://schemas.openxmlformats.org/drawingml/2006/main">
            <a:off x="502920" y="2417191"/>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Upstream: https://github.com/nandland/spi-master
Pinned commit: 1ab581969f8ea2f794072a144b55cd74e5a54f34
Licence: MIT, russell-merrick, 2019. Original </a:t>
            </a:r>
            <a:r>
              <a:rPr b="1"/>
              <a:t>source</a:t>
            </a:r>
            <a:r>
              <a:t> notices remain in the RTL. The document is
authored by Ignytion; this does not transfer ownership of upstream code or remove its licence
obligations.</a:t>
            </a:r>
          </a:p>
        </p:txBody>
      </p:sp>
      <p:sp>
        <p:nvSpPr>
          <p:cNvPr id="55" name="body-1">
            <a:extLst xmlns:a="http://schemas.openxmlformats.org/drawingml/2006/main">
              <a:ext uri="{FF2B5EF4-FFF2-40B4-BE49-F238E27FC236}">
                <a16:creationId xmlns:a16="http://schemas.microsoft.com/office/drawing/2014/main" id="{FD8F7944-A0BA-47B1-AB62-D5C949468CFD}"/>
              </a:ext>
            </a:extLst>
          </p:cNvPr>
          <p:cNvSpPr>
            <a:spLocks xmlns:a="http://schemas.openxmlformats.org/drawingml/2006/main" noGrp="1"/>
          </p:cNvSpPr>
          <p:nvPr/>
        </p:nvSpPr>
        <p:spPr>
          <a:xfrm xmlns:a="http://schemas.openxmlformats.org/drawingml/2006/main">
            <a:off x="502920" y="3493262"/>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Local modifications, directed test stimulus and </a:t>
            </a:r>
            <a:r>
              <a:rPr b="1"/>
              <a:t>source</a:t>
            </a:r>
            <a:r>
              <a:t> boundaries are recorded in
hw/protocols/spi/README.md and the repository append-only .context.md. The first three
protocol lessons have separate editable 16:9 student decks; this A4 technical note is a reading and
evidence document, not a replacement for their instructor notes.</a:t>
            </a:r>
          </a:p>
        </p:txBody>
      </p:sp>
      <p:sp>
        <p:nvSpPr>
          <p:cNvPr id="56" name="body-2">
            <a:extLst xmlns:a="http://schemas.openxmlformats.org/drawingml/2006/main">
              <a:ext uri="{FF2B5EF4-FFF2-40B4-BE49-F238E27FC236}">
                <a16:creationId xmlns:a16="http://schemas.microsoft.com/office/drawing/2014/main" id="{8CA9952C-830A-4AB9-BE3F-5F5D373E714A}"/>
              </a:ext>
            </a:extLst>
          </p:cNvPr>
          <p:cNvSpPr>
            <a:spLocks xmlns:a="http://schemas.openxmlformats.org/drawingml/2006/main" noGrp="1"/>
          </p:cNvSpPr>
          <p:nvPr/>
        </p:nvSpPr>
        <p:spPr>
          <a:xfrm xmlns:a="http://schemas.openxmlformats.org/drawingml/2006/main">
            <a:off x="502920" y="4391152"/>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Primary reading: Microchip TB3215 for SPI edge conventions, plus the pinned Nandland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implementation.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Primary guide: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https://www.microchip.com/content/dam/mchp/documents/MCU08/ApplicationNotes/Applicatio</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nNotes/TB3215-Getting-Started-with-SPI-DS90003215.pdf</a:t>
            </a:r>
          </a:p>
        </p:txBody>
      </p:sp>
      <p:sp>
        <p:nvSpPr>
          <p:cNvPr id="57" name="body-3">
            <a:extLst xmlns:a="http://schemas.openxmlformats.org/drawingml/2006/main">
              <a:ext uri="{FF2B5EF4-FFF2-40B4-BE49-F238E27FC236}">
                <a16:creationId xmlns:a16="http://schemas.microsoft.com/office/drawing/2014/main" id="{BA8ABE74-04C9-4EA8-9E83-E9DDE3695D96}"/>
              </a:ext>
            </a:extLst>
          </p:cNvPr>
          <p:cNvSpPr>
            <a:spLocks xmlns:a="http://schemas.openxmlformats.org/drawingml/2006/main" noGrp="1"/>
          </p:cNvSpPr>
          <p:nvPr/>
        </p:nvSpPr>
        <p:spPr>
          <a:xfrm xmlns:a="http://schemas.openxmlformats.org/drawingml/2006/main">
            <a:off x="502920" y="5467223"/>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Open work remains explicit: Only four mode/divider pairs are tested; the hardened core is mode 0,
divider 2. General multi-byte CS envelopes are absent. Full-chip integration, manufacturing checks
and board validation are not closed by the standalone </a:t>
            </a:r>
            <a:r>
              <a:rPr b="1"/>
              <a:t>reference</a:t>
            </a:r>
            <a:r>
              <a:t> flow. The reader can reproduce
the listed evidence without assuming those larger obligations have already been completed.</a:t>
            </a:r>
          </a:p>
        </p:txBody>
      </p:sp>
    </p:spTree>
    <p:extLst>
      <p:ext uri="{BB962C8B-B14F-4D97-AF65-F5344CB8AC3E}">
        <p14:creationId xmlns:p14="http://schemas.microsoft.com/office/powerpoint/2010/main" val="95460488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172c474e1dd743c6"/>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38C8DA87-60D1-43EE-AD73-72FA72ECD444}"/>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21 · DESIGN VOCABULARY</a:t>
            </a:r>
          </a:p>
        </p:txBody>
      </p:sp>
      <p:sp>
        <p:nvSpPr>
          <p:cNvPr id="51" name="page-title">
            <a:extLst xmlns:a="http://schemas.openxmlformats.org/drawingml/2006/main">
              <a:ext uri="{FF2B5EF4-FFF2-40B4-BE49-F238E27FC236}">
                <a16:creationId xmlns:a16="http://schemas.microsoft.com/office/drawing/2014/main" id="{E565A1AE-0738-479A-B5C1-3C2130C615F2}"/>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Glossary: design and protocol</a:t>
            </a:r>
          </a:p>
        </p:txBody>
      </p:sp>
      <p:sp>
        <p:nvSpPr>
          <p:cNvPr id="52" name="intro">
            <a:extLst xmlns:a="http://schemas.openxmlformats.org/drawingml/2006/main">
              <a:ext uri="{FF2B5EF4-FFF2-40B4-BE49-F238E27FC236}">
                <a16:creationId xmlns:a16="http://schemas.microsoft.com/office/drawing/2014/main" id="{7D4B16EB-254F-4A49-BF57-02254228ACBD}"/>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Definitions for reading the protocol rules and the checked RTL. Physical implementation</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terms follow on the next page.</a:t>
            </a:r>
          </a:p>
        </p:txBody>
      </p:sp>
      <p:sp>
        <p:nvSpPr>
          <p:cNvPr id="53" name="component-label-246.26666666666665">
            <a:extLst xmlns:a="http://schemas.openxmlformats.org/drawingml/2006/main">
              <a:ext uri="{FF2B5EF4-FFF2-40B4-BE49-F238E27FC236}">
                <a16:creationId xmlns:a16="http://schemas.microsoft.com/office/drawing/2014/main" id="{53DA42BC-614F-4B17-9E61-47B49CACF59D}"/>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D E S I G N   A N D   V E R I F I C A T I O N</a:t>
            </a:r>
          </a:p>
        </p:txBody>
      </p:sp>
      <p:graphicFrame>
        <p:nvGraphicFramePr>
          <p:cNvPr id="68" name=""/>
          <p:cNvGraphicFramePr/>
          <p:nvPr/>
        </p:nvGraphicFramePr>
        <p:xfrm>
          <a:off xmlns:a="http://schemas.openxmlformats.org/drawingml/2006/main" x="502920" y="2610866"/>
          <a:ext xmlns:a="http://schemas.openxmlformats.org/drawingml/2006/main" cx="6556248" cy="4548187"/>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TERM</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MEANS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Protocol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Rules for exchanging information between devices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RTL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Registers and the logic moving values between them</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Verilog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 language used to describe hardware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FSM</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 circuit progressing through defined states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Static source checks; no transaction execution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Testbench</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Code that supplies inputs and checks outputs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Coverage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Which defined situations were exercised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Negative control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An intentionally wrong case the checker must reject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VCD</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Digital signal-change trace from a simulation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Handshake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Signals agreeing when data is accepted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CPOL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Clock idle polarity</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CPHA</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Leading or trailing sample-edge selection</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CS_n</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Active-low peripheral selection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Half-bit divider</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Core cycles between serial clock transitions</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95460488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0B3094B-E5AC-4A55-B983-27F6B9798390}"/>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1bdf591027df44a1"/>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A0BAC267-FE50-4964-AEF4-B2D6FC57AC52}"/>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DFFF7702-5B09-4BEC-AA13-DE4E667221B7}"/>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SPI · RTL TO GDS · A BEGINNER'S WALKTHROUGH</a:t>
            </a:r>
          </a:p>
        </p:txBody>
      </p:sp>
      <p:sp>
        <p:nvSpPr>
          <p:cNvPr id="6" name="Rectangle 5">
            <a:extLst xmlns:a="http://schemas.openxmlformats.org/drawingml/2006/main">
              <a:ext uri="{FF2B5EF4-FFF2-40B4-BE49-F238E27FC236}">
                <a16:creationId xmlns:a16="http://schemas.microsoft.com/office/drawing/2014/main" id="{0DB6C5DD-E374-48C0-BB4C-397234D39222}"/>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915DA1C-F763-4216-9DA5-FB1406DDDF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38CEC14-DDF8-4EB7-8A69-7A6E12738EDA}"/>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938DECC2-F2D5-4C2F-B7E7-76A73F0FA86A}"/>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D64F352-9D76-4407-92A5-A568B9AB3264}"/>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21B13269-7D97-4D99-AF56-E17E81AB7E93}"/>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22 · PHYSICAL VOCABULARY</a:t>
            </a:r>
          </a:p>
        </p:txBody>
      </p:sp>
      <p:sp>
        <p:nvSpPr>
          <p:cNvPr id="51" name="page-title">
            <a:extLst xmlns:a="http://schemas.openxmlformats.org/drawingml/2006/main">
              <a:ext uri="{FF2B5EF4-FFF2-40B4-BE49-F238E27FC236}">
                <a16:creationId xmlns:a16="http://schemas.microsoft.com/office/drawing/2014/main" id="{0D704618-42A7-4657-A28A-FC869D26CC5B}"/>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Glossary: implementation and signoff</a:t>
            </a:r>
          </a:p>
        </p:txBody>
      </p:sp>
      <p:sp>
        <p:nvSpPr>
          <p:cNvPr id="52" name="intro">
            <a:extLst xmlns:a="http://schemas.openxmlformats.org/drawingml/2006/main">
              <a:ext uri="{FF2B5EF4-FFF2-40B4-BE49-F238E27FC236}">
                <a16:creationId xmlns:a16="http://schemas.microsoft.com/office/drawing/2014/main" id="{26CDFE8A-46AC-46D1-BC5F-0F4E04CBE813}"/>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These definitions help distinguish a successfully exported reference layout from a</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manufacturing-ready design.</a:t>
            </a:r>
          </a:p>
        </p:txBody>
      </p:sp>
      <p:sp>
        <p:nvSpPr>
          <p:cNvPr id="53" name="component-label-246.26666666666665">
            <a:extLst xmlns:a="http://schemas.openxmlformats.org/drawingml/2006/main">
              <a:ext uri="{FF2B5EF4-FFF2-40B4-BE49-F238E27FC236}">
                <a16:creationId xmlns:a16="http://schemas.microsoft.com/office/drawing/2014/main" id="{6984438C-C7EC-4A62-94B0-A495868C1BF1}"/>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P H Y S I C A L   I M P L E M E N T A T I O N</a:t>
            </a:r>
          </a:p>
        </p:txBody>
      </p:sp>
      <p:graphicFrame>
        <p:nvGraphicFramePr>
          <p:cNvPr id="68" name=""/>
          <p:cNvGraphicFramePr/>
          <p:nvPr/>
        </p:nvGraphicFramePr>
        <p:xfrm>
          <a:off xmlns:a="http://schemas.openxmlformats.org/drawingml/2006/main" x="502920" y="2610866"/>
          <a:ext xmlns:a="http://schemas.openxmlformats.org/drawingml/2006/main" cx="6556248" cy="545782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TERM</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MEANS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Translate RTL into a technology-cell circuit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Netlist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Cells and the connections between them</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Standard cell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Predesigned logic/storage cell in a process library</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PDK</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Process design kit: process-specific implementation files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SG13G2</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IHP process used by these reference builds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Floorplan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Die/core outline, rows, power and pin geometry</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Choose legal positions for cells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Filler</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Physical row-site cell, not functional logic</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CTS / skew</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Clock distribution / difference in arrival times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Routing / via</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Metal connections / links between metal layers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Parasitics / SPEF</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Wire resistance/capacitance / extracted data format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Corner</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 characterised process, voltage and temperature case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 / slack</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Static timing analysis / remaining timing margin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DEF / 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Placement/routing exchange / polygon hierarchy</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DRC</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Check geometry against applicable process rules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LVS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Compare the extracted layout circuit with its netlist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Signoff</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Accepted applicable release checks; unperformed here</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95460488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2026-10-03T11:44:21.5580000Z</dcterms:created>
  <dcterms:modified xsi:type="dcterms:W3CDTF">2026-10-03T11:44:21.5590000Z</dcterms:modified>
</coreProperties>
</file>