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2a9a9f067d428c" /><Relationship Type="http://schemas.openxmlformats.org/officeDocument/2006/relationships/extended-properties" Target="/docProps/app.xml" Id="Rd3806f682d2a407b" /><Relationship Type="http://schemas.openxmlformats.org/officeDocument/2006/relationships/officeDocument" Target="/ppt/presentation.xml" Id="Rf732fbd059cd4411" /></Relationships>
</file>

<file path=ppt/presentation.xml><?xml version="1.0" encoding="utf-8"?>
<p:presentation xmlns:p="http://schemas.openxmlformats.org/presentationml/2006/main">
  <p:sldMasterIdLst>
    <p:sldMasterId xmlns:r="http://schemas.openxmlformats.org/officeDocument/2006/relationships" id="2147483648" r:id="Rdab6a188fc424c03"/>
  </p:sldMasterIdLst>
  <p:notesMasterIdLst>
    <p:notesMasterId xmlns:r="http://schemas.openxmlformats.org/officeDocument/2006/relationships" r:id="Rbefa7a9efa8541e2"/>
  </p:notesMasterIdLst>
  <p:sldIdLst>
    <p:sldId xmlns:r="http://schemas.openxmlformats.org/officeDocument/2006/relationships" id="256" r:id="Rdf63defc1ff740e2"/>
    <p:sldId xmlns:r="http://schemas.openxmlformats.org/officeDocument/2006/relationships" id="257" r:id="Rb74591fc03b14185"/>
    <p:sldId xmlns:r="http://schemas.openxmlformats.org/officeDocument/2006/relationships" id="258" r:id="R8f29a91d1a3b4a7a"/>
    <p:sldId xmlns:r="http://schemas.openxmlformats.org/officeDocument/2006/relationships" id="259" r:id="R3a9c4b3cf5624481"/>
    <p:sldId xmlns:r="http://schemas.openxmlformats.org/officeDocument/2006/relationships" id="260" r:id="R40390274e7d44c26"/>
    <p:sldId xmlns:r="http://schemas.openxmlformats.org/officeDocument/2006/relationships" id="261" r:id="R442e411db0044a08"/>
    <p:sldId xmlns:r="http://schemas.openxmlformats.org/officeDocument/2006/relationships" id="262" r:id="R776a0989248249b9"/>
    <p:sldId xmlns:r="http://schemas.openxmlformats.org/officeDocument/2006/relationships" id="263" r:id="Rc1fa36f4f40a45a1"/>
    <p:sldId xmlns:r="http://schemas.openxmlformats.org/officeDocument/2006/relationships" id="264" r:id="R276984bd00e44671"/>
    <p:sldId xmlns:r="http://schemas.openxmlformats.org/officeDocument/2006/relationships" id="265" r:id="R63c0d44286ff48dd"/>
    <p:sldId xmlns:r="http://schemas.openxmlformats.org/officeDocument/2006/relationships" id="266" r:id="R72660fe4b0c84a68"/>
    <p:sldId xmlns:r="http://schemas.openxmlformats.org/officeDocument/2006/relationships" id="267" r:id="R99d13191e42c4cba"/>
    <p:sldId xmlns:r="http://schemas.openxmlformats.org/officeDocument/2006/relationships" id="268" r:id="R1819a597812e4d62"/>
    <p:sldId xmlns:r="http://schemas.openxmlformats.org/officeDocument/2006/relationships" id="269" r:id="R6d03a5ac832f4ccc"/>
    <p:sldId xmlns:r="http://schemas.openxmlformats.org/officeDocument/2006/relationships" id="270" r:id="R9dca34d1aa044b8e"/>
    <p:sldId xmlns:r="http://schemas.openxmlformats.org/officeDocument/2006/relationships" id="271" r:id="Rb851fe6af3874b9a"/>
    <p:sldId xmlns:r="http://schemas.openxmlformats.org/officeDocument/2006/relationships" id="272" r:id="R9efb4845af184d20"/>
    <p:sldId xmlns:r="http://schemas.openxmlformats.org/officeDocument/2006/relationships" id="273" r:id="Rda1754eaadb84327"/>
    <p:sldId xmlns:r="http://schemas.openxmlformats.org/officeDocument/2006/relationships" id="274" r:id="Rec14f48a2f3b4b94"/>
    <p:sldId xmlns:r="http://schemas.openxmlformats.org/officeDocument/2006/relationships" id="275" r:id="R019febdd83484dee"/>
    <p:sldId xmlns:r="http://schemas.openxmlformats.org/officeDocument/2006/relationships" id="276" r:id="R3b76a7c5149b438d"/>
    <p:sldId xmlns:r="http://schemas.openxmlformats.org/officeDocument/2006/relationships" id="277" r:id="Rcf033411f6d7466e"/>
    <p:sldId xmlns:r="http://schemas.openxmlformats.org/officeDocument/2006/relationships" id="278" r:id="Ra7154e0660924153"/>
    <p:sldId xmlns:r="http://schemas.openxmlformats.org/officeDocument/2006/relationships" id="279" r:id="R96a1df81a62b441a"/>
  </p:sldIdLst>
  <p:sldSz cx="7562850" cy="10688638"/>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7c9d5bf326142a3" /><Relationship Type="http://schemas.openxmlformats.org/officeDocument/2006/relationships/slideMaster" Target="/ppt/slideMasters/slideMaster1.xml" Id="Rdab6a188fc424c03" /><Relationship Type="http://schemas.openxmlformats.org/officeDocument/2006/relationships/notesMaster" Target="/ppt/notesMasters/notesMaster1.xml" Id="Rbefa7a9efa8541e2" /><Relationship Type="http://schemas.openxmlformats.org/officeDocument/2006/relationships/presProps" Target="/ppt/presProps.xml" Id="R11d7e739e1814c99" /><Relationship Type="http://schemas.openxmlformats.org/officeDocument/2006/relationships/viewProps" Target="/ppt/viewProps.xml" Id="Rb53efcaf50a74d23" /><Relationship Type="http://schemas.openxmlformats.org/officeDocument/2006/relationships/tableStyles" Target="/ppt/tableStyles.xml" Id="R1bca2cb5c148465a" /><Relationship Type="http://schemas.openxmlformats.org/officeDocument/2006/relationships/slide" Target="/ppt/slides/slide1.xml" Id="Rdf63defc1ff740e2" /><Relationship Type="http://schemas.openxmlformats.org/officeDocument/2006/relationships/slide" Target="/ppt/slides/slide2.xml" Id="Rb74591fc03b14185" /><Relationship Type="http://schemas.openxmlformats.org/officeDocument/2006/relationships/slide" Target="/ppt/slides/slide3.xml" Id="R8f29a91d1a3b4a7a" /><Relationship Type="http://schemas.openxmlformats.org/officeDocument/2006/relationships/slide" Target="/ppt/slides/slide4.xml" Id="R3a9c4b3cf5624481" /><Relationship Type="http://schemas.openxmlformats.org/officeDocument/2006/relationships/slide" Target="/ppt/slides/slide5.xml" Id="R40390274e7d44c26" /><Relationship Type="http://schemas.openxmlformats.org/officeDocument/2006/relationships/slide" Target="/ppt/slides/slide6.xml" Id="R442e411db0044a08" /><Relationship Type="http://schemas.openxmlformats.org/officeDocument/2006/relationships/slide" Target="/ppt/slides/slide7.xml" Id="R776a0989248249b9" /><Relationship Type="http://schemas.openxmlformats.org/officeDocument/2006/relationships/slide" Target="/ppt/slides/slide8.xml" Id="Rc1fa36f4f40a45a1" /><Relationship Type="http://schemas.openxmlformats.org/officeDocument/2006/relationships/slide" Target="/ppt/slides/slide9.xml" Id="R276984bd00e44671" /><Relationship Type="http://schemas.openxmlformats.org/officeDocument/2006/relationships/slide" Target="/ppt/slides/slide10.xml" Id="R63c0d44286ff48dd" /><Relationship Type="http://schemas.openxmlformats.org/officeDocument/2006/relationships/slide" Target="/ppt/slides/slide11.xml" Id="R72660fe4b0c84a68" /><Relationship Type="http://schemas.openxmlformats.org/officeDocument/2006/relationships/slide" Target="/ppt/slides/slide12.xml" Id="R99d13191e42c4cba" /><Relationship Type="http://schemas.openxmlformats.org/officeDocument/2006/relationships/slide" Target="/ppt/slides/slide13.xml" Id="R1819a597812e4d62" /><Relationship Type="http://schemas.openxmlformats.org/officeDocument/2006/relationships/slide" Target="/ppt/slides/slide14.xml" Id="R6d03a5ac832f4ccc" /><Relationship Type="http://schemas.openxmlformats.org/officeDocument/2006/relationships/slide" Target="/ppt/slides/slide15.xml" Id="R9dca34d1aa044b8e" /><Relationship Type="http://schemas.openxmlformats.org/officeDocument/2006/relationships/slide" Target="/ppt/slides/slide16.xml" Id="Rb851fe6af3874b9a" /><Relationship Type="http://schemas.openxmlformats.org/officeDocument/2006/relationships/slide" Target="/ppt/slides/slide17.xml" Id="R9efb4845af184d20" /><Relationship Type="http://schemas.openxmlformats.org/officeDocument/2006/relationships/slide" Target="/ppt/slides/slide18.xml" Id="Rda1754eaadb84327" /><Relationship Type="http://schemas.openxmlformats.org/officeDocument/2006/relationships/slide" Target="/ppt/slides/slide19.xml" Id="Rec14f48a2f3b4b94" /><Relationship Type="http://schemas.openxmlformats.org/officeDocument/2006/relationships/slide" Target="/ppt/slides/slide20.xml" Id="R019febdd83484dee" /><Relationship Type="http://schemas.openxmlformats.org/officeDocument/2006/relationships/slide" Target="/ppt/slides/slide21.xml" Id="R3b76a7c5149b438d" /><Relationship Type="http://schemas.openxmlformats.org/officeDocument/2006/relationships/slide" Target="/ppt/slides/slide22.xml" Id="Rcf033411f6d7466e" /><Relationship Type="http://schemas.openxmlformats.org/officeDocument/2006/relationships/slide" Target="/ppt/slides/slide23.xml" Id="Ra7154e0660924153" /><Relationship Type="http://schemas.openxmlformats.org/officeDocument/2006/relationships/slide" Target="/ppt/slides/slide24.xml" Id="R96a1df81a62b44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a4b13e64c042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29912b949c4fd8" /><Relationship Type="http://schemas.openxmlformats.org/officeDocument/2006/relationships/notesMaster" Target="/ppt/notesMasters/notesMaster1.xml" Id="Re9cce66eae5e45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89afeb5f3f4804" /><Relationship Type="http://schemas.openxmlformats.org/officeDocument/2006/relationships/notesMaster" Target="/ppt/notesMasters/notesMaster1.xml" Id="R8e3a638550114e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653ce8172f41ab" /><Relationship Type="http://schemas.openxmlformats.org/officeDocument/2006/relationships/notesMaster" Target="/ppt/notesMasters/notesMaster1.xml" Id="R4e8561ce474d44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d1ebb76da44cc0" /><Relationship Type="http://schemas.openxmlformats.org/officeDocument/2006/relationships/notesMaster" Target="/ppt/notesMasters/notesMaster1.xml" Id="R5a17448f629645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eac90c72eb4a39" /><Relationship Type="http://schemas.openxmlformats.org/officeDocument/2006/relationships/notesMaster" Target="/ppt/notesMasters/notesMaster1.xml" Id="Rf61fbd4957224f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68f382131442c5" /><Relationship Type="http://schemas.openxmlformats.org/officeDocument/2006/relationships/notesMaster" Target="/ppt/notesMasters/notesMaster1.xml" Id="Rda8d611c72e643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111ace4d3c4e3c" /><Relationship Type="http://schemas.openxmlformats.org/officeDocument/2006/relationships/notesMaster" Target="/ppt/notesMasters/notesMaster1.xml" Id="R7d0cf33270aa44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e7424e76b34d87" /><Relationship Type="http://schemas.openxmlformats.org/officeDocument/2006/relationships/notesMaster" Target="/ppt/notesMasters/notesMaster1.xml" Id="R03721573fd6b48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45e6c3f5af484a" /><Relationship Type="http://schemas.openxmlformats.org/officeDocument/2006/relationships/notesMaster" Target="/ppt/notesMasters/notesMaster1.xml" Id="R134b9b8b4f6341d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432802aa24491c" /><Relationship Type="http://schemas.openxmlformats.org/officeDocument/2006/relationships/notesMaster" Target="/ppt/notesMasters/notesMaster1.xml" Id="R1aa765e5495f4a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1520e94b444633" /><Relationship Type="http://schemas.openxmlformats.org/officeDocument/2006/relationships/notesMaster" Target="/ppt/notesMasters/notesMaster1.xml" Id="R0a0f0cf5701240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1b60c931f54fa6" /><Relationship Type="http://schemas.openxmlformats.org/officeDocument/2006/relationships/notesMaster" Target="/ppt/notesMasters/notesMaster1.xml" Id="R36651dc9eaff416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86c4bc9f7b48a6" /><Relationship Type="http://schemas.openxmlformats.org/officeDocument/2006/relationships/notesMaster" Target="/ppt/notesMasters/notesMaster1.xml" Id="Rabb28ab0de0c4ac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55e042b17646c3" /><Relationship Type="http://schemas.openxmlformats.org/officeDocument/2006/relationships/notesMaster" Target="/ppt/notesMasters/notesMaster1.xml" Id="R82715926543643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7458ab71c24a4f" /><Relationship Type="http://schemas.openxmlformats.org/officeDocument/2006/relationships/notesMaster" Target="/ppt/notesMasters/notesMaster1.xml" Id="Rd4e7c7caca3c4f7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a030dc6b00f4f2c" /><Relationship Type="http://schemas.openxmlformats.org/officeDocument/2006/relationships/notesMaster" Target="/ppt/notesMasters/notesMaster1.xml" Id="R0b90419599e84d5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ed7147f1494ea1" /><Relationship Type="http://schemas.openxmlformats.org/officeDocument/2006/relationships/notesMaster" Target="/ppt/notesMasters/notesMaster1.xml" Id="R180bd632a2b4492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066714528d14446" /><Relationship Type="http://schemas.openxmlformats.org/officeDocument/2006/relationships/notesMaster" Target="/ppt/notesMasters/notesMaster1.xml" Id="R76bf422fd2304c3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152921101c640a4" /><Relationship Type="http://schemas.openxmlformats.org/officeDocument/2006/relationships/notesMaster" Target="/ppt/notesMasters/notesMaster1.xml" Id="R42b832840e0f47e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aebbea8b9ac4f05" /><Relationship Type="http://schemas.openxmlformats.org/officeDocument/2006/relationships/notesMaster" Target="/ppt/notesMasters/notesMaster1.xml" Id="Raa1671db5eff4af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2e18bf93ea2439c" /><Relationship Type="http://schemas.openxmlformats.org/officeDocument/2006/relationships/notesMaster" Target="/ppt/notesMasters/notesMaster1.xml" Id="R8444f9849b4f444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a2b9764b2749ed" /><Relationship Type="http://schemas.openxmlformats.org/officeDocument/2006/relationships/notesMaster" Target="/ppt/notesMasters/notesMaster1.xml" Id="R1c28df70ec7047b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8843b172e334595" /><Relationship Type="http://schemas.openxmlformats.org/officeDocument/2006/relationships/notesMaster" Target="/ppt/notesMasters/notesMaster1.xml" Id="R1c089a9b178c412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35023c4c3d9426c" /><Relationship Type="http://schemas.openxmlformats.org/officeDocument/2006/relationships/notesMaster" Target="/ppt/notesMasters/notesMaster1.xml" Id="R7a8aa4d4b77846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Follow usb_ls_core from its communication rules and Verilog source to a routed IHP SG13G2 layout. Worked calculations, measured digital traces and tool results are identified separately. This is an educational block, not a manufactured chip or a signoff-ready design.</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A Verilog description represents circuits, not software instructions running one after another. Registers remember values; combinational logic calculates the next values. A clock advances the registered state. The next pages first explain this protocol at its wires, then connect those rules to the actual reference RTL.</a:t>
            </a:r>
          </a:p>
          <a:p xmlns:a="http://schemas.openxmlformats.org/drawingml/2006/main">
            <a:r>
              <a:t/>
            </a:r>
          </a:p>
          <a:p xmlns:a="http://schemas.openxmlformats.org/drawingml/2006/main">
            <a:r>
              <a:t>The implemented unit is usb_ls_core in hw/protocols/stretch/usb_ls. It is a fixed reference block, not the Jane Street programmable combined emulator or a Tiny Tapeout submission top. No new competition architecture, instruction set, pin map or authority decision is implied by these documents.</a:t>
            </a:r>
          </a:p>
          <a:p xmlns:a="http://schemas.openxmlformats.org/drawingml/2006/main">
            <a:r>
              <a:t/>
            </a:r>
          </a:p>
          <a:p xmlns:a="http://schemas.openxmlformats.org/drawingml/2006/main">
            <a:r>
              <a:t>Receive CRC is discarded and PID matching uses only the low nibble. The simulated diagnostic ROM differs from the hardened production ROM. Later pages give the exact stimulus and the implementation evidence rather than using a broad protocol-compliant label. A successful mapped netlist, routed DEF and decoded GDS establish concrete implementation/export results, not readiness to manufacture.</a:t>
            </a:r>
          </a:p>
          <a:p xmlns:a="http://schemas.openxmlformats.org/drawingml/2006/main">
            <a:r>
              <a:t/>
            </a:r>
          </a:p>
          <a:p xmlns:a="http://schemas.openxmlformats.org/drawingml/2006/main">
            <a:r>
              <a:t>The reading path starts with chip-design vocabulary, then develops the protocol, calculations, local interface and failure cases. Separate sections explain lint, simulation, synthesis, placement, routing, timing and GDS. The last two pages define design and physical terms. No prior ASIC-flow experience is assumed.</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RTL states what hardware should do. A simulator checks selected input sequences before any silicon exists. Synthesis replaces that description with gates from a process library. Physical tools choose positions and metal routes. Timing analysis checks the resulting delays; stream-out writes the mask-layout geometry.</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A 1.5 Mbit/s line has a 666.667 ns nominal bit interval. The reference clock period is 83.333333 ns, so eight ticks occupy one bit. In low-speed signalling the J idle state has D- high and D+ low; K is the opposite differential state. SE0 places both low. These are logical states, not a claim about pad voltages or measured rise/fall times.</a:t>
            </a:r>
          </a:p>
          <a:p xmlns:a="http://schemas.openxmlformats.org/drawingml/2006/main">
            <a:r>
              <a:t/>
            </a:r>
          </a:p>
          <a:p xmlns:a="http://schemas.openxmlformats.org/drawingml/2006/main">
            <a:r>
              <a:t>The digital wrapper exposes separate input, output and output-enable signals. A real host needs suitable electrical pads or a transceiver, host pull-downs, a protected VBUS supply, connector and grounding. Those elements are absent from this block. The report/debug outputs likewise do not turn it into a general USB controller with an application bus.</a:t>
            </a:r>
          </a:p>
          <a:p xmlns:a="http://schemas.openxmlformats.org/drawingml/2006/main">
            <a:r>
              <a:t/>
            </a:r>
          </a:p>
          <a:p xmlns:a="http://schemas.openxmlformats.org/drawingml/2006/main">
            <a:r>
              <a:t>The hardened configuration sets FULL_SPEED=0. A full-speed example from another test cannot be reused by changing only a caption. Bit timing, idle polarity and the physical connection role must all agree with the low-speed configuration.</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NRZI sends a zero by changing between J and K and a one by retaining the prior state. The byte is still processed least-significant bit first. A run of six consecutive data ones requires insertion of a zero before the next original bit. The inserted bit changes the line state but is removed by the receiver rather than delivered as payload.</a:t>
            </a:r>
          </a:p>
          <a:p xmlns:a="http://schemas.openxmlformats.org/drawingml/2006/main">
            <a:r>
              <a:t/>
            </a:r>
          </a:p>
          <a:p xmlns:a="http://schemas.openxmlformats.org/drawingml/2006/main">
            <a:r>
              <a:t>For an isolated FF byte, eight original one bits occupy nine encoded slots because one zero is inserted after the sixth one. With a starting J state, the first six ones retain J, the stuffed zero changes to K, and the final two ones retain K. An adjacent byte can alter the stuffing count because the consecutive-one state crosses byte boundaries.</a:t>
            </a:r>
          </a:p>
          <a:p xmlns:a="http://schemas.openxmlformats.org/drawingml/2006/main">
            <a:r>
              <a:t/>
            </a:r>
          </a:p>
          <a:p xmlns:a="http://schemas.openxmlformats.org/drawingml/2006/main">
            <a:r>
              <a:t>Nine slots at 1.5 Mbit/s take 6 us, compared with 5.333 us for eight unstuffed slots. This classroom calculation omits SYNC, PID, CRC and packet boundaries. A payload byte rate cannot be inferred by dividing the line bit rate by eight and ignoring these costs.</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A USB PID carries a four-bit packet identifier and its complemented high nibble. DATA0 is C3: the low nibble is 3 and the high nibble is C. Requiring the XOR of those nibbles to be F detects an inconsistent PID complement. The imported receive path recognises PIDs from only the low nibble; this additional integrity check is not demonstrated.</a:t>
            </a:r>
          </a:p>
          <a:p xmlns:a="http://schemas.openxmlformats.org/drawingml/2006/main">
            <a:r>
              <a:t/>
            </a:r>
          </a:p>
          <a:p xmlns:a="http://schemas.openxmlformats.org/drawingml/2006/main">
            <a:r>
              <a:t>A data packet also carries CRC16 over its payload, using the USB data CRC polynomial. The reflected byte-by-byte classroom calculation starts at FFFF, uses A001 for least-significant-bit-first updates, and complements the final state. For ASCII 123456789 this convention produces B4C8. This is a worked arithmetic vector, not a new passing DUT CRC test.</a:t>
            </a:r>
          </a:p>
          <a:p xmlns:a="http://schemas.openxmlformats.org/drawingml/2006/main">
            <a:r>
              <a:t/>
            </a:r>
          </a:p>
          <a:p xmlns:a="http://schemas.openxmlformats.org/drawingml/2006/main">
            <a:r>
              <a:t>Source review and the directed bench show the present receive engine discarding its two CRC bytes. The bench deliberately sends 00 00 and says they are ignored. A malformed received CRC can therefore leave the payload path apparently successful. The whitepaper does not label this engine a compliant general-purpose USB implementation.</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usb_ls_core instantiates usb_hid_host with FULL_SPEED fixed to zero. The default ROM_FILE is the production HID microcode image in 01_rtl. A synchronous ROM read supplies four-bit instructions to the controller. The wrapper exposes device_type, report_valid, connection_error, busy, report_data and hid_registers, alongside the differential pin interface.</a:t>
            </a:r>
          </a:p>
          <a:p xmlns:a="http://schemas.openxmlformats.org/drawingml/2006/main">
            <a:r>
              <a:t/>
            </a:r>
          </a:p>
          <a:p xmlns:a="http://schemas.openxmlformats.org/drawingml/2006/main">
            <a:r>
              <a:t>Reset is synchronous active high. The cs input remains high for normal execution. Inputs pass through the upstream sampled filter, whose presence is not itself a CDC signoff claim. The 64-bit report/debug values are specific to this implementation and should not be confused with arbitrary bulk-transfer payload ports.</a:t>
            </a:r>
          </a:p>
          <a:p xmlns:a="http://schemas.openxmlformats.org/drawingml/2006/main">
            <a:r>
              <a:t/>
            </a:r>
          </a:p>
          <a:p xmlns:a="http://schemas.openxmlformats.org/drawingml/2006/main">
            <a:r>
              <a:t>The simulation overrides ROM_FILE with a short diagnostic program. This deliberately exercises the real top-level line-code machinery, but it does not execute the production enumeration program used in the physical build. The distinction is a verification boundary, not merely a different path name.</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The bench keeps cs asserted, resets the controller, then decodes its transmitted stream independently. Expected bytes are 80, C3, FF, 00, A5, AA and BB. The sequence includes a synchronisation byte, a data PID and data patterns chosen to exercise both line transitions and long runs of ones. AA and BB are expected diagnostic bytes, not evidence of valid generated CRC for the preceding packet.</a:t>
            </a:r>
          </a:p>
          <a:p xmlns:a="http://schemas.openxmlformats.org/drawingml/2006/main">
            <a:r>
              <a:t/>
            </a:r>
          </a:p>
          <a:p xmlns:a="http://schemas.openxmlformats.org/drawingml/2006/main">
            <a:r>
              <a:t>The receive model drives a separate stuffed NRZI stream. Its first payload byte is FF; subsequent bytes are formed by (index x 37) XOR A5 and truncated to eight bits. The receive monitor compares each reported byte with this independent expectation. A timeout catches a stalled program rather than allowing an endless wait to resemble a quiet pass.</a:t>
            </a:r>
          </a:p>
          <a:p xmlns:a="http://schemas.openxmlformats.org/drawingml/2006/main">
            <a:r>
              <a:t/>
            </a:r>
          </a:p>
          <a:p xmlns:a="http://schemas.openxmlformats.org/drawingml/2006/main">
            <a:r>
              <a:t>After packet reception, the test asserts reset and checks released line/device state. Production HID discovery, descriptors, endpoint scheduling, recovery across real devices and all control-transfer phases remain outside this diagnostic run.</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A receiver that ignores CRC can report a corrupted payload as if it were usable. A PID matcher that checks only the low nibble can classify some invalid identifiers as recognised packet types. These are source-backed limitations of the imported engine. The directed line-code test cannot repair either contract simply by producing correct example packets.</a:t>
            </a:r>
          </a:p>
          <a:p xmlns:a="http://schemas.openxmlformats.org/drawingml/2006/main">
            <a:r>
              <a:t/>
            </a:r>
          </a:p>
          <a:p xmlns:a="http://schemas.openxmlformats.org/drawingml/2006/main">
            <a:r>
              <a:t>The production microcode is retained and hardened, but its real-device enumeration behaviour is unverified here. A follow-up must first define expected descriptor exchanges and error responses, then use decisive checks against the production ROM. Adding more diagnostic payload bytes would improve data-pattern coverage but would not close that different obligation.</a:t>
            </a:r>
          </a:p>
          <a:p xmlns:a="http://schemas.openxmlformats.org/drawingml/2006/main">
            <a:r>
              <a:t/>
            </a:r>
          </a:p>
          <a:p xmlns:a="http://schemas.openxmlformats.org/drawingml/2006/main">
            <a:r>
              <a:t>Physical host circuitry also remains necessary. VBUS protection, disconnect/connect detection, pad tolerances and board captures cannot be inferred from a digital GDS file. Any deployment decision must treat this as a restricted educational reference with explicit missing guarantees.</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Beginning in J, the isolated data sequence 1 1 1 1 1 1 1 1 is encoded as six holds, one inserted transition, then two holds. A decoder comparing adjacent line samples obtains six ones, recognises the mandatory zero after that run, removes it, and continues with the remaining two ones. The recovered byte is FF.</a:t>
            </a:r>
          </a:p>
          <a:p xmlns:a="http://schemas.openxmlformats.org/drawingml/2006/main">
            <a:r>
              <a:t/>
            </a:r>
          </a:p>
          <a:p xmlns:a="http://schemas.openxmlformats.org/drawingml/2006/main">
            <a:r>
              <a:t>EOP in the directed low-speed test is two SE0 bit intervals followed by J. At eight clocks per bit, two SE0 intervals occupy sixteen 12 MHz clock ticks, or 1.333333 us. The bench checks that boundary independently of its payload-byte comparisons. An EOP duration check is still not an analogue waveform-compliance measurement.</a:t>
            </a:r>
          </a:p>
          <a:p xmlns:a="http://schemas.openxmlformats.org/drawingml/2006/main">
            <a:r>
              <a:t/>
            </a:r>
          </a:p>
          <a:p xmlns:a="http://schemas.openxmlformats.org/drawingml/2006/main">
            <a:r>
              <a:t>The USB bench currently retains assertions and logs rather than a plotted positive VCD. Accordingly this document offers a labelled ideal table and reproducing source, not a fabricated measured chart. Capturing and decoding a production-ROM waveform is useful follow-up work.</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The retained report contains 26 warning messages and 0 error messages. Categories present: DECLFILENAME, PINMISSING, PROCASSINIT, UNUSEDPARAM, UNUSEDSIGNAL. These figures count report message headers; repeated warnings are not necessarily independent defects. The report is hashed in this document evidence manifest.</a:t>
            </a:r>
          </a:p>
          <a:p xmlns:a="http://schemas.openxmlformats.org/drawingml/2006/main">
            <a:r>
              <a:t/>
            </a:r>
          </a:p>
          <a:p xmlns:a="http://schemas.openxmlformats.org/drawingml/2006/main">
            <a:r>
              <a:t>The invocation deliberately uses -Wno-fatal so warnings remain visible while lint execution can complete. A successful command therefore does not mean every warning was resolved. Width changes, incomplete cases, reset use and unconnected ports need review against the wrapper contract and directed tests.</a:t>
            </a:r>
          </a:p>
          <a:p xmlns:a="http://schemas.openxmlformats.org/drawingml/2006/main">
            <a:r>
              <a:t/>
            </a:r>
          </a:p>
          <a:p xmlns:a="http://schemas.openxmlformats.org/drawingml/2006/main">
            <a:r>
              <a:t>Lint cannot show that a receive byte is correct, that a transaction finishes, or that an external electrical interface is safe. Those questions require a checking testbench, implementation evidence and separate board or signoff work.</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The passing diagnostic test checks independent TX and RX NRZI, stuffing, two-bit SE0 EOP, eight payload bytes and reset. A deliberately changed expected receive byte produces a fatal failure. This gives stronger evidence than a run that merely reaches finish, while keeping the stimulus narrow and reproducible.</a:t>
            </a:r>
          </a:p>
          <a:p xmlns:a="http://schemas.openxmlformats.org/drawingml/2006/main">
            <a:r>
              <a:t/>
            </a:r>
          </a:p>
          <a:p xmlns:a="http://schemas.openxmlformats.org/drawingml/2006/main">
            <a:r>
              <a:t>The imported upstream cocotb example is preserved but not accepted as decisive verification: its assertions and line timing do not establish the requested low-speed behaviour. The locally checked bench drives the same real top-level core through a diagnostic ROM and uses independent expectations.</a:t>
            </a:r>
          </a:p>
          <a:p xmlns:a="http://schemas.openxmlformats.org/drawingml/2006/main">
            <a:r>
              <a:t/>
            </a:r>
          </a:p>
          <a:p xmlns:a="http://schemas.openxmlformats.org/drawingml/2006/main">
            <a:r>
              <a:t>Neither the normal nor the negative-control run demonstrates receive CRC checking, a complemented PID check, complete enumeration, multiple HID devices, disconnect recovery or electrical compliance. In particular the production-ROM physical result and diagnostic-ROM functional result must be reported side by side, not merged into a production-functional claim.</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A process design kit, or PDK, contains the process-specific files used by implementation tools. This reference uses IHP SG13G2, not the SKY130 library used by the golden APB primer. Standard cells are predesigned gates and storage elements with characterised timing and physical views.</a:t>
            </a:r>
          </a:p>
          <a:p xmlns:a="http://schemas.openxmlformats.org/drawingml/2006/main">
            <a:r>
              <a:t/>
            </a:r>
          </a:p>
          <a:p xmlns:a="http://schemas.openxmlformats.org/drawingml/2006/main">
            <a:r>
              <a:t>The source is compiled and checked under the unit workspace before synthesis. Yosys maps the functional logic into the pinned IHP SG13G2 standard-cell library. The current netlist contains 2608 functional cells, excluding $scopeinfo metadata. The structural checker rejects remaining generic logic, latches or unresolved instances.</a:t>
            </a:r>
          </a:p>
          <a:p xmlns:a="http://schemas.openxmlformats.org/drawingml/2006/main">
            <a:r>
              <a:t/>
            </a:r>
          </a:p>
          <a:p xmlns:a="http://schemas.openxmlformats.org/drawingml/2006/main">
            <a:r>
              <a:t>The mapped count excludes $scopeinfo metadata. It is not the count of every placed instance after clock buffers, repair cells and fillers are added. It also does not mean that the original protocol has been independently proven for all possible transactions.</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The die outline for this standalone block is 500 x 500 um. The floorplan establishes rows and reference power/pin geometry. The placer must fit cells legally without overlaps and with room for routing. This is a block-level educational layout, not a complete padframe or package design.</a:t>
            </a:r>
          </a:p>
          <a:p xmlns:a="http://schemas.openxmlformats.org/drawingml/2006/main">
            <a:r>
              <a:t/>
            </a:r>
          </a:p>
          <a:p xmlns:a="http://schemas.openxmlformats.org/drawingml/2006/main">
            <a:r>
              <a:t>Mapped functional logic has 2608 cells. After physical additions and fillers, the routed DEF contains 49,699 placed standard-cell instances. A filler occupies empty row sites; it is not another functional logic gate. That distinction explains why the two counts differ so much.</a:t>
            </a:r>
          </a:p>
          <a:p xmlns:a="http://schemas.openxmlformats.org/drawingml/2006/main">
            <a:r>
              <a:t/>
            </a:r>
          </a:p>
          <a:p xmlns:a="http://schemas.openxmlformats.org/drawingml/2006/main">
            <a:r>
              <a:t>Utilisation is the fraction of core area occupied by placed cell area. It is not simply functional-cell count divided by die size, and it changes between stages. This note does not substitute APB utilisation, row count or I/O count for unavailable protocol-specific measurements.</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A register samples its input at a clock edge. Clock buffers distribute that edge across the block; the difference in arrival times is called skew. The reference is constrained at 12 MHz / 83.333333 ns.</a:t>
            </a:r>
          </a:p>
          <a:p xmlns:a="http://schemas.openxmlformats.org/drawingml/2006/main">
            <a:r>
              <a:t/>
            </a:r>
          </a:p>
          <a:p xmlns:a="http://schemas.openxmlformats.org/drawingml/2006/main">
            <a:r>
              <a:t>OpenROAD completes the staged physical flow. The reference die is 500 x 500 um. DEF records routed design geometry and cell placement; SPEF captures extracted parasitics used by the timing analysis. The scripts retain stage-specific output so the result can be investigated instead of relying on a final banner.</a:t>
            </a:r>
          </a:p>
          <a:p xmlns:a="http://schemas.openxmlformats.org/drawingml/2006/main">
            <a:r>
              <a:t/>
            </a:r>
          </a:p>
          <a:p xmlns:a="http://schemas.openxmlformats.org/drawingml/2006/main">
            <a:r>
              <a:t>Real interconnect has resistance and capacitance, called parasitics. Extraction writes these in SPEF for post-route timing. The retained router-rule DRC file is empty. That checks the router view of its work; it is not a full foundry-deck check of the exported polygons.</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The physical clock constraint is 12 MHz / 83.333333 ns. Post-route timing uses the extracted design rather than an ideal pre-route wire estimate. The report at each corner must be inspected for worst setup and hold slack and for VIOLATED markers. The reported values are not a timing guarantee under unstated board, voltage or temperature conditions.</a:t>
            </a:r>
          </a:p>
          <a:p xmlns:a="http://schemas.openxmlformats.org/drawingml/2006/main">
            <a:r>
              <a:t/>
            </a:r>
          </a:p>
          <a:p xmlns:a="http://schemas.openxmlformats.org/drawingml/2006/main">
            <a:r>
              <a:t>Current TT setup/hold slack is +76.96 / +0.16 ns. The slow-corner values are +73.83 / +0.21 ns. Both reports contain no VIOLATED marker. These numbers are taken directly from the local report files at document build time; the evidence manifest retains their hashes.</a:t>
            </a:r>
          </a:p>
          <a:p xmlns:a="http://schemas.openxmlformats.org/drawingml/2006/main">
            <a:r>
              <a:t/>
            </a:r>
          </a:p>
          <a:p xmlns:a="http://schemas.openxmlformats.org/drawingml/2006/main">
            <a:r>
              <a:t>I/O delays are reference budgets, not a contract with an external target, transceiver or PHY. Bus synchronisation, reset recovery/removal, all additional corners and modes, signal integrity and board timing need their own analysis. Positive slack in these two reports is therefore called reference timing closure, not foundry or system signoff.</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The GDS file contains 4,371,854 bytes and 49 structures. The independent decoder finds 49,699 placed standard-cell instances including fillers. That placement count is intentionally much larger than the 2608 mapped functional cells: filler instances occupy unused placement sites and structures are unique hierarchy definitions.</a:t>
            </a:r>
          </a:p>
          <a:p xmlns:a="http://schemas.openxmlformats.org/drawingml/2006/main">
            <a:r>
              <a:t/>
            </a:r>
          </a:p>
          <a:p xmlns:a="http://schemas.openxmlformats.org/drawingml/2006/main">
            <a:r>
              <a:t>The decoder compares exported cell identities, coordinates and orientations against the routed DEF. A deliberately altered placement/export expectation fails, including under Python optimisation, so acceptance is not implemented with removable assert-only checks. Raw file SHA256 is a run-specific fingerprint because stream-out timestamps can change.</a:t>
            </a:r>
          </a:p>
          <a:p xmlns:a="http://schemas.openxmlformats.org/drawingml/2006/main">
            <a:r>
              <a:t/>
            </a:r>
          </a:p>
          <a:p xmlns:a="http://schemas.openxmlformats.org/drawingml/2006/main">
            <a:r>
              <a:t>The OpenROAD router-rule DRC report is empty. It is not a foundry-deck DRC result. LVS, antenna, scan/DFT, power integrity, padframe, tap/endcap strategy and manufacturing signoff remain unperformed. No empty routing report is promoted into a DRC-clean tapeout claim.</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Foundry DRC requires the applicable, qualified rule deck and an inspected report on the final polygons. Typical checks include minimum widths, spacing and enclosure. No foundry-deck DRC result has been accepted for this protocol reference. The router report is narrower evidence.</a:t>
            </a:r>
          </a:p>
          <a:p xmlns:a="http://schemas.openxmlformats.org/drawingml/2006/main">
            <a:r>
              <a:t/>
            </a:r>
          </a:p>
          <a:p xmlns:a="http://schemas.openxmlformats.org/drawingml/2006/main">
            <a:r>
              <a:t>LVS requires extracting a circuit from the layout and comparing devices and connectivity with the intended circuit. A structural GDS decoder checking cell references, coordinates and orientations does not perform that extraction or connectivity comparison. No accepted LVS match is available.</a:t>
            </a:r>
          </a:p>
          <a:p xmlns:a="http://schemas.openxmlformats.org/drawingml/2006/main">
            <a:r>
              <a:t/>
            </a:r>
          </a:p>
          <a:p xmlns:a="http://schemas.openxmlformats.org/drawingml/2006/main">
            <a:r>
              <a:t>Antenna, scan/DFT, power integrity, padframe, tap/endcap strategy and manufacturing release remain unperformed. The golden APB primer reports its own separate checks; those results do not transfer to SG13G2 or to this design.</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The directed functional result and the physical export result are both useful, but they prove different things. The physical build uses the fixed wrapper configuration and reference constraints. Additional modes, external peripherals, arbitrary clock relationships and board operation require their own evidence.</a:t>
            </a:r>
          </a:p>
          <a:p xmlns:a="http://schemas.openxmlformats.org/drawingml/2006/main">
            <a:r>
              <a:t/>
            </a:r>
          </a:p>
          <a:p xmlns:a="http://schemas.openxmlformats.org/drawingml/2006/main">
            <a:r>
              <a:t>Important protocol boundary: Receive CRC is discarded and PID matching uses only the low nibble. The simulated diagnostic ROM differs from the hardened production ROM.</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The proven entry point is a WSL login Bash shell. igny init prepares the packaging runtime. Unsetting CRUCIBLE_ENV after initialisation allows the unit crucible.toml workspace selection to control tool resolution rather than an inherited environment override. This is the observed workflow, not a change to Crucible internals.</a:t>
            </a:r>
          </a:p>
          <a:p xmlns:a="http://schemas.openxmlformats.org/drawingml/2006/main">
            <a:r>
              <a:t/>
            </a:r>
          </a:p>
          <a:p xmlns:a="http://schemas.openxmlformats.org/drawingml/2006/main">
            <a:r>
              <a:t>Each unit has its existing environment and lock. The common tool set includes Icarus, Verilator, Yosys, OpenROAD and klayout-stream. The separate PDK checkout is IHP SG13G2 revision 22f43352dd8219f9007eb659e422e0d5fe28c5fb. A tool lock does not pin that external PDK by itself; IHP_PDK_ROOT must point to the matching installation.</a:t>
            </a:r>
          </a:p>
          <a:p xmlns:a="http://schemas.openxmlformats.org/drawingml/2006/main">
            <a:r>
              <a:t/>
            </a:r>
          </a:p>
          <a:p xmlns:a="http://schemas.openxmlformats.org/drawingml/2006/main">
            <a:r>
              <a:t>The documented machine could not use the pip klayout package as the expected stream-out executable; igny tool install klayout-stream supplies the proven converter. make lint sim checks functional behaviour, make flow executes the staged implementation, and node verify_build.mjs all inspects artifacts. Review normal and intentionally failing logs before accepting the result.</a:t>
            </a:r>
          </a:p>
          <a:p xmlns:a="http://schemas.openxmlformats.org/drawingml/2006/main">
            <a:r>
              <a:t/>
            </a:r>
          </a:p>
          <a:p xmlns:a="http://schemas.openxmlformats.org/drawingml/2006/main">
            <a:r>
              <a:t>Re-running a simulation can replace its VCD and invalidate an earlier document trace hash. Retain a document evidence manifest or regenerate the measured figures after the positive run. Do not silently preserve an old chart while claiming it is the newly generated waveform.</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Upstream: https://github.com/m1nl/usb_hid_host</a:t>
            </a:r>
          </a:p>
          <a:p xmlns:a="http://schemas.openxmlformats.org/drawingml/2006/main">
            <a:r>
              <a:t>Pinned commit: e49217661b275554807760d4e12097b0f189316a</a:t>
            </a:r>
          </a:p>
          <a:p xmlns:a="http://schemas.openxmlformats.org/drawingml/2006/main">
            <a:r>
              <a:t>Licence: Apache-2.0; original authors retained. Original source notices remain in the RTL. The document is authored by Ignytion; this does not transfer ownership of upstream code or remove its licence obligations.</a:t>
            </a:r>
          </a:p>
          <a:p xmlns:a="http://schemas.openxmlformats.org/drawingml/2006/main">
            <a:r>
              <a:t/>
            </a:r>
          </a:p>
          <a:p xmlns:a="http://schemas.openxmlformats.org/drawingml/2006/main">
            <a:r>
              <a:t>Local modifications, directed test stimulus and source boundaries are recorded in hw/protocols/stretch/usb_ls/README.md and the repository append-only .context.md. The first three protocol lessons have separate editable 16:9 student decks; this A4 technical note is a reading and evidence document, not a replacement for their instructor notes.</a:t>
            </a:r>
          </a:p>
          <a:p xmlns:a="http://schemas.openxmlformats.org/drawingml/2006/main">
            <a:r>
              <a:t/>
            </a:r>
          </a:p>
          <a:p xmlns:a="http://schemas.openxmlformats.org/drawingml/2006/main">
            <a:r>
              <a:t>Primary reading: USB 2.0 specification, chapters 7 and 8, in specs/USB_low_speed.pdf; usb.org is the canonical download.</a:t>
            </a:r>
          </a:p>
          <a:p xmlns:a="http://schemas.openxmlformats.org/drawingml/2006/main">
            <a:r>
              <a:t>Canonical specification download: https://www.usb.org/document-library/usb-20-specification</a:t>
            </a:r>
          </a:p>
          <a:p xmlns:a="http://schemas.openxmlformats.org/drawingml/2006/main">
            <a:r>
              <a:t/>
            </a:r>
          </a:p>
          <a:p xmlns:a="http://schemas.openxmlformats.org/drawingml/2006/main">
            <a:r>
              <a:t>Open work remains explicit: Receive CRC is discarded and PID matching uses only the low nibble. The simulated diagnostic ROM differs from the hardened production ROM. Full-chip integration, manufacturing checks and board validation are not closed by the standalone reference flow. The reader can reproduce the listed evidence without assuming those larger obligations have already been completed.</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docs/USB_LS_Protocol_RTL_to_GDS_Ignytion_A4.pptx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hw/protocols/stretch/usb_ls</a:t>
            </a:r>
          </a:p>
          <a:p xmlns:a="http://schemas.openxmlformats.org/drawingml/2006/main">
            <a:r>
              <a:t>https://github.com/m1nl/usb_hid_host</a:t>
            </a:r>
          </a:p>
          <a:p xmlns:a="http://schemas.openxmlformats.org/drawingml/2006/main">
            <a:r>
              <a:t>Pinned commit e49217661b275554807760d4e12097b0f189316a</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hw/protocols/stretch/usb_ls/UPSTREAM_LICENSE.txt</a:t>
            </a:r>
          </a:p>
          <a:p xmlns:a="http://schemas.openxmlformats.org/drawingml/2006/main">
            <a:r>
              <a:t># Created     : 2026-10-03</a:t>
            </a:r>
          </a:p>
          <a:p xmlns:a="http://schemas.openxmlformats.org/drawingml/2006/main">
            <a:r>
              <a:t># Description : Low-speed USB reference integration; upstream notices preserved.</a:t>
            </a:r>
          </a:p>
          <a:p xmlns:a="http://schemas.openxmlformats.org/drawingml/2006/main">
            <a:r>
              <a:t># ===============================================================================</a:t>
            </a:r>
          </a:p>
          <a:p xmlns:a="http://schemas.openxmlformats.org/drawingml/2006/main">
            <a:r>
              <a:t>                                 Apache License</a:t>
            </a:r>
          </a:p>
          <a:p xmlns:a="http://schemas.openxmlformats.org/drawingml/2006/main">
            <a:r>
              <a:t>                           Version 2.0, January 2004</a:t>
            </a:r>
          </a:p>
          <a:p xmlns:a="http://schemas.openxmlformats.org/drawingml/2006/main">
            <a:r>
              <a:t>                        http://www.apache.org/licenses/</a:t>
            </a:r>
          </a:p>
          <a:p xmlns:a="http://schemas.openxmlformats.org/drawingml/2006/main">
            <a:r>
              <a:t/>
            </a:r>
          </a:p>
          <a:p xmlns:a="http://schemas.openxmlformats.org/drawingml/2006/main">
            <a:r>
              <a:t>   TERMS AND CONDITIONS FOR USE, REPRODUCTION, AND DISTRIBUTION</a:t>
            </a:r>
          </a:p>
          <a:p xmlns:a="http://schemas.openxmlformats.org/drawingml/2006/main">
            <a:r>
              <a:t/>
            </a:r>
          </a:p>
          <a:p xmlns:a="http://schemas.openxmlformats.org/drawingml/2006/main">
            <a:r>
              <a:t>   1. Definitions.</a:t>
            </a:r>
          </a:p>
          <a:p xmlns:a="http://schemas.openxmlformats.org/drawingml/2006/main">
            <a:r>
              <a:t/>
            </a:r>
          </a:p>
          <a:p xmlns:a="http://schemas.openxmlformats.org/drawingml/2006/main">
            <a:r>
              <a:t>      "License" shall mean the terms and conditions for use, reproduction,</a:t>
            </a:r>
          </a:p>
          <a:p xmlns:a="http://schemas.openxmlformats.org/drawingml/2006/main">
            <a:r>
              <a:t>      and distribution as defined by Sections 1 through 9 of this document.</a:t>
            </a:r>
          </a:p>
          <a:p xmlns:a="http://schemas.openxmlformats.org/drawingml/2006/main">
            <a:r>
              <a:t/>
            </a:r>
          </a:p>
          <a:p xmlns:a="http://schemas.openxmlformats.org/drawingml/2006/main">
            <a:r>
              <a:t>      "Licensor" shall mean the copyright owner or entity authorized by</a:t>
            </a:r>
          </a:p>
          <a:p xmlns:a="http://schemas.openxmlformats.org/drawingml/2006/main">
            <a:r>
              <a:t>      the copyright owner that is granting the License.</a:t>
            </a:r>
          </a:p>
          <a:p xmlns:a="http://schemas.openxmlformats.org/drawingml/2006/main">
            <a:r>
              <a:t/>
            </a:r>
          </a:p>
          <a:p xmlns:a="http://schemas.openxmlformats.org/drawingml/2006/main">
            <a:r>
              <a:t>      "Legal Entity" shall mean the union of the acting entity and all</a:t>
            </a:r>
          </a:p>
          <a:p xmlns:a="http://schemas.openxmlformats.org/drawingml/2006/main">
            <a:r>
              <a:t>      other entities that control, are controlled by, or are under common</a:t>
            </a:r>
          </a:p>
          <a:p xmlns:a="http://schemas.openxmlformats.org/drawingml/2006/main">
            <a:r>
              <a:t>      control with that entity. For the purposes of this definition,</a:t>
            </a:r>
          </a:p>
          <a:p xmlns:a="http://schemas.openxmlformats.org/drawingml/2006/main">
            <a:r>
              <a:t>      "control" means (i) the power, direct or indirect, to cause the</a:t>
            </a:r>
          </a:p>
          <a:p xmlns:a="http://schemas.openxmlformats.org/drawingml/2006/main">
            <a:r>
              <a:t>      direction or management of such entity, whether by contract or</a:t>
            </a:r>
          </a:p>
          <a:p xmlns:a="http://schemas.openxmlformats.org/drawingml/2006/main">
            <a:r>
              <a:t>      otherwise, or (ii) ownership of fifty percent (50%) or more of the</a:t>
            </a:r>
          </a:p>
          <a:p xmlns:a="http://schemas.openxmlformats.org/drawingml/2006/main">
            <a:r>
              <a:t>      outstanding shares, or (iii) beneficial ownership of such entity.</a:t>
            </a:r>
          </a:p>
          <a:p xmlns:a="http://schemas.openxmlformats.org/drawingml/2006/main">
            <a:r>
              <a:t/>
            </a:r>
          </a:p>
          <a:p xmlns:a="http://schemas.openxmlformats.org/drawingml/2006/main">
            <a:r>
              <a:t>      "You" (or "Your") shall mean an individual or Legal Entity</a:t>
            </a:r>
          </a:p>
          <a:p xmlns:a="http://schemas.openxmlformats.org/drawingml/2006/main">
            <a:r>
              <a:t>      exercising permissions granted by this License.</a:t>
            </a:r>
          </a:p>
          <a:p xmlns:a="http://schemas.openxmlformats.org/drawingml/2006/main">
            <a:r>
              <a:t/>
            </a:r>
          </a:p>
          <a:p xmlns:a="http://schemas.openxmlformats.org/drawingml/2006/main">
            <a:r>
              <a:t>      "Source" form shall mean the preferred form for making modifications,</a:t>
            </a:r>
          </a:p>
          <a:p xmlns:a="http://schemas.openxmlformats.org/drawingml/2006/main">
            <a:r>
              <a:t>      including but not limited to software source code, documentation</a:t>
            </a:r>
          </a:p>
          <a:p xmlns:a="http://schemas.openxmlformats.org/drawingml/2006/main">
            <a:r>
              <a:t>      source, and configuration files.</a:t>
            </a:r>
          </a:p>
          <a:p xmlns:a="http://schemas.openxmlformats.org/drawingml/2006/main">
            <a:r>
              <a:t/>
            </a:r>
          </a:p>
          <a:p xmlns:a="http://schemas.openxmlformats.org/drawingml/2006/main">
            <a:r>
              <a:t>      "Object" form shall mean any form resulting from mechanical</a:t>
            </a:r>
          </a:p>
          <a:p xmlns:a="http://schemas.openxmlformats.org/drawingml/2006/main">
            <a:r>
              <a:t>      transformation or translation of a Source form, including but</a:t>
            </a:r>
          </a:p>
          <a:p xmlns:a="http://schemas.openxmlformats.org/drawingml/2006/main">
            <a:r>
              <a:t>      not limited to compiled object code, generated documentation,</a:t>
            </a:r>
          </a:p>
          <a:p xmlns:a="http://schemas.openxmlformats.org/drawingml/2006/main">
            <a:r>
              <a:t>      and conversions to other media types.</a:t>
            </a:r>
          </a:p>
          <a:p xmlns:a="http://schemas.openxmlformats.org/drawingml/2006/main">
            <a:r>
              <a:t/>
            </a:r>
          </a:p>
          <a:p xmlns:a="http://schemas.openxmlformats.org/drawingml/2006/main">
            <a:r>
              <a:t>      "Work" shall mean the work of authorship, whether in Source or</a:t>
            </a:r>
          </a:p>
          <a:p xmlns:a="http://schemas.openxmlformats.org/drawingml/2006/main">
            <a:r>
              <a:t>      Object form, made available under the License, as indicated by a</a:t>
            </a:r>
          </a:p>
          <a:p xmlns:a="http://schemas.openxmlformats.org/drawingml/2006/main">
            <a:r>
              <a:t>      copyright notice that is included in or attached to the work</a:t>
            </a:r>
          </a:p>
          <a:p xmlns:a="http://schemas.openxmlformats.org/drawingml/2006/main">
            <a:r>
              <a:t>      (an example is provided in the Appendix below).</a:t>
            </a:r>
          </a:p>
          <a:p xmlns:a="http://schemas.openxmlformats.org/drawingml/2006/main">
            <a:r>
              <a:t/>
            </a:r>
          </a:p>
          <a:p xmlns:a="http://schemas.openxmlformats.org/drawingml/2006/main">
            <a:r>
              <a:t>      "Derivative Works" shall mean any work, whether in Source or Object</a:t>
            </a:r>
          </a:p>
          <a:p xmlns:a="http://schemas.openxmlformats.org/drawingml/2006/main">
            <a:r>
              <a:t>      form, that is based on (or derived from) the Work and for which the</a:t>
            </a:r>
          </a:p>
          <a:p xmlns:a="http://schemas.openxmlformats.org/drawingml/2006/main">
            <a:r>
              <a:t>      editorial revisions, annotations, elaborations, or other modifications</a:t>
            </a:r>
          </a:p>
          <a:p xmlns:a="http://schemas.openxmlformats.org/drawingml/2006/main">
            <a:r>
              <a:t>      represent, as a whole, an original work of authorship. For the purposes</a:t>
            </a:r>
          </a:p>
          <a:p xmlns:a="http://schemas.openxmlformats.org/drawingml/2006/main">
            <a:r>
              <a:t>      of this License, Derivative Works shall not include works that remain</a:t>
            </a:r>
          </a:p>
          <a:p xmlns:a="http://schemas.openxmlformats.org/drawingml/2006/main">
            <a:r>
              <a:t>      separable from, or merely link (or bind by name) to the interfaces of,</a:t>
            </a:r>
          </a:p>
          <a:p xmlns:a="http://schemas.openxmlformats.org/drawingml/2006/main">
            <a:r>
              <a:t>      the Work and Derivative Works thereof.</a:t>
            </a:r>
          </a:p>
          <a:p xmlns:a="http://schemas.openxmlformats.org/drawingml/2006/main">
            <a:r>
              <a:t/>
            </a:r>
          </a:p>
          <a:p xmlns:a="http://schemas.openxmlformats.org/drawingml/2006/main">
            <a:r>
              <a:t>      "Contribution" shall mean any work of authorship, including</a:t>
            </a:r>
          </a:p>
          <a:p xmlns:a="http://schemas.openxmlformats.org/drawingml/2006/main">
            <a:r>
              <a:t>      the original version of the Work and any modifications or additions</a:t>
            </a:r>
          </a:p>
          <a:p xmlns:a="http://schemas.openxmlformats.org/drawingml/2006/main">
            <a:r>
              <a:t>      to that Work or Derivative Works thereof, that is intentionally</a:t>
            </a:r>
          </a:p>
          <a:p xmlns:a="http://schemas.openxmlformats.org/drawingml/2006/main">
            <a:r>
              <a:t>      submitted to Licensor for inclusion in the Work by the copyright owner</a:t>
            </a:r>
          </a:p>
          <a:p xmlns:a="http://schemas.openxmlformats.org/drawingml/2006/main">
            <a:r>
              <a:t>      or by an individual or Legal Entity authorized to submit on behalf of</a:t>
            </a:r>
          </a:p>
          <a:p xmlns:a="http://schemas.openxmlformats.org/drawingml/2006/main">
            <a:r>
              <a:t>      the copyright owner. For the purposes of this definition, "submitted"</a:t>
            </a:r>
          </a:p>
          <a:p xmlns:a="http://schemas.openxmlformats.org/drawingml/2006/main">
            <a:r>
              <a:t>      means any form of electronic, verbal, or written communication sent</a:t>
            </a:r>
          </a:p>
          <a:p xmlns:a="http://schemas.openxmlformats.org/drawingml/2006/main">
            <a:r>
              <a:t>      to the Licensor or its representatives, including but not limited to</a:t>
            </a:r>
          </a:p>
          <a:p xmlns:a="http://schemas.openxmlformats.org/drawingml/2006/main">
            <a:r>
              <a:t>      communication on electronic mailing lists, source code control systems,</a:t>
            </a:r>
          </a:p>
          <a:p xmlns:a="http://schemas.openxmlformats.org/drawingml/2006/main">
            <a:r>
              <a:t>      and issue tracking systems that are managed by, or on behalf of, the</a:t>
            </a:r>
          </a:p>
          <a:p xmlns:a="http://schemas.openxmlformats.org/drawingml/2006/main">
            <a:r>
              <a:t>      Licensor for the purpose of discussing and improving the Work, but</a:t>
            </a:r>
          </a:p>
          <a:p xmlns:a="http://schemas.openxmlformats.org/drawingml/2006/main">
            <a:r>
              <a:t>      excluding communication that is conspicuously marked or otherwise</a:t>
            </a:r>
          </a:p>
          <a:p xmlns:a="http://schemas.openxmlformats.org/drawingml/2006/main">
            <a:r>
              <a:t>      designated in writing by the copyright owner as "Not a Contribution."</a:t>
            </a:r>
          </a:p>
          <a:p xmlns:a="http://schemas.openxmlformats.org/drawingml/2006/main">
            <a:r>
              <a:t/>
            </a:r>
          </a:p>
          <a:p xmlns:a="http://schemas.openxmlformats.org/drawingml/2006/main">
            <a:r>
              <a:t>      "Contributor" shall mean Licensor and any individual or Legal Entity</a:t>
            </a:r>
          </a:p>
          <a:p xmlns:a="http://schemas.openxmlformats.org/drawingml/2006/main">
            <a:r>
              <a:t>      on behalf of whom a Contribution has been received by Licensor and</a:t>
            </a:r>
          </a:p>
          <a:p xmlns:a="http://schemas.openxmlformats.org/drawingml/2006/main">
            <a:r>
              <a:t>      subsequently incorporated within the Work.</a:t>
            </a:r>
          </a:p>
          <a:p xmlns:a="http://schemas.openxmlformats.org/drawingml/2006/main">
            <a:r>
              <a:t/>
            </a:r>
          </a:p>
          <a:p xmlns:a="http://schemas.openxmlformats.org/drawingml/2006/main">
            <a:r>
              <a:t>   2. Grant of Copyright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copyright license to reproduce, prepare Derivative Works of,</a:t>
            </a:r>
          </a:p>
          <a:p xmlns:a="http://schemas.openxmlformats.org/drawingml/2006/main">
            <a:r>
              <a:t>      publicly display, publicly perform, sublicense, and distribute the</a:t>
            </a:r>
          </a:p>
          <a:p xmlns:a="http://schemas.openxmlformats.org/drawingml/2006/main">
            <a:r>
              <a:t>      Work and such Derivative Works in Source or Object form.</a:t>
            </a:r>
          </a:p>
          <a:p xmlns:a="http://schemas.openxmlformats.org/drawingml/2006/main">
            <a:r>
              <a:t/>
            </a:r>
          </a:p>
          <a:p xmlns:a="http://schemas.openxmlformats.org/drawingml/2006/main">
            <a:r>
              <a:t>   3. Grant of Patent License. Subject to the terms and conditions of</a:t>
            </a:r>
          </a:p>
          <a:p xmlns:a="http://schemas.openxmlformats.org/drawingml/2006/main">
            <a:r>
              <a:t>      this License, each Contributor hereby grants to You a perpetual,</a:t>
            </a:r>
          </a:p>
          <a:p xmlns:a="http://schemas.openxmlformats.org/drawingml/2006/main">
            <a:r>
              <a:t>      worldwide, non-exclusive, no-charge, royalty-free, irrevocable</a:t>
            </a:r>
          </a:p>
          <a:p xmlns:a="http://schemas.openxmlformats.org/drawingml/2006/main">
            <a:r>
              <a:t>      (except as stated in this section) patent license to make, have made,</a:t>
            </a:r>
          </a:p>
          <a:p xmlns:a="http://schemas.openxmlformats.org/drawingml/2006/main">
            <a:r>
              <a:t>      use, offer to sell, sell, import, and otherwise transfer the Work,</a:t>
            </a:r>
          </a:p>
          <a:p xmlns:a="http://schemas.openxmlformats.org/drawingml/2006/main">
            <a:r>
              <a:t>      where such license applies only to those patent claims licensable</a:t>
            </a:r>
          </a:p>
          <a:p xmlns:a="http://schemas.openxmlformats.org/drawingml/2006/main">
            <a:r>
              <a:t>      by such Contributor that are necessarily infringed by their</a:t>
            </a:r>
          </a:p>
          <a:p xmlns:a="http://schemas.openxmlformats.org/drawingml/2006/main">
            <a:r>
              <a:t>      Contribution(s) alone or by combination of their Contribution(s)</a:t>
            </a:r>
          </a:p>
          <a:p xmlns:a="http://schemas.openxmlformats.org/drawingml/2006/main">
            <a:r>
              <a:t>      with the Work to which such Contribution(s) was submitted. If You</a:t>
            </a:r>
          </a:p>
          <a:p xmlns:a="http://schemas.openxmlformats.org/drawingml/2006/main">
            <a:r>
              <a:t>      institute patent litigation against any entity (including a</a:t>
            </a:r>
          </a:p>
          <a:p xmlns:a="http://schemas.openxmlformats.org/drawingml/2006/main">
            <a:r>
              <a:t>      cross-claim or counterclaim in a lawsuit) alleging that the Work</a:t>
            </a:r>
          </a:p>
          <a:p xmlns:a="http://schemas.openxmlformats.org/drawingml/2006/main">
            <a:r>
              <a:t>      or a Contribution incorporated within the Work constitutes direct</a:t>
            </a:r>
          </a:p>
          <a:p xmlns:a="http://schemas.openxmlformats.org/drawingml/2006/main">
            <a:r>
              <a:t>      or contributory patent infringement, then any patent licenses</a:t>
            </a:r>
          </a:p>
          <a:p xmlns:a="http://schemas.openxmlformats.org/drawingml/2006/main">
            <a:r>
              <a:t>      granted to You under this License for that Work shall terminate</a:t>
            </a:r>
          </a:p>
          <a:p xmlns:a="http://schemas.openxmlformats.org/drawingml/2006/main">
            <a:r>
              <a:t>      as of the date such litigation is filed.</a:t>
            </a:r>
          </a:p>
          <a:p xmlns:a="http://schemas.openxmlformats.org/drawingml/2006/main">
            <a:r>
              <a:t/>
            </a:r>
          </a:p>
          <a:p xmlns:a="http://schemas.openxmlformats.org/drawingml/2006/main">
            <a:r>
              <a:t>   4. Redistribution. You may reproduce and distribute copies of the</a:t>
            </a:r>
          </a:p>
          <a:p xmlns:a="http://schemas.openxmlformats.org/drawingml/2006/main">
            <a:r>
              <a:t>      Work or Derivative Works thereof in any medium, with or without</a:t>
            </a:r>
          </a:p>
          <a:p xmlns:a="http://schemas.openxmlformats.org/drawingml/2006/main">
            <a:r>
              <a:t>      modifications, and in Source or Object form, provided that You</a:t>
            </a:r>
          </a:p>
          <a:p xmlns:a="http://schemas.openxmlformats.org/drawingml/2006/main">
            <a:r>
              <a:t>      meet the following conditions:</a:t>
            </a:r>
          </a:p>
          <a:p xmlns:a="http://schemas.openxmlformats.org/drawingml/2006/main">
            <a:r>
              <a:t/>
            </a:r>
          </a:p>
          <a:p xmlns:a="http://schemas.openxmlformats.org/drawingml/2006/main">
            <a:r>
              <a:t>      (a) You must give any other recipients of the Work or</a:t>
            </a:r>
          </a:p>
          <a:p xmlns:a="http://schemas.openxmlformats.org/drawingml/2006/main">
            <a:r>
              <a:t>          Derivative Works a copy of this License; and</a:t>
            </a:r>
          </a:p>
          <a:p xmlns:a="http://schemas.openxmlformats.org/drawingml/2006/main">
            <a:r>
              <a:t/>
            </a:r>
          </a:p>
          <a:p xmlns:a="http://schemas.openxmlformats.org/drawingml/2006/main">
            <a:r>
              <a:t>      (b) You must cause any modified files to carry prominent notices</a:t>
            </a:r>
          </a:p>
          <a:p xmlns:a="http://schemas.openxmlformats.org/drawingml/2006/main">
            <a:r>
              <a:t>          stating that You changed the files; and</a:t>
            </a:r>
          </a:p>
          <a:p xmlns:a="http://schemas.openxmlformats.org/drawingml/2006/main">
            <a:r>
              <a:t/>
            </a:r>
          </a:p>
          <a:p xmlns:a="http://schemas.openxmlformats.org/drawingml/2006/main">
            <a:r>
              <a:t>      (c) You must retain, in the Source form of any Derivative Works</a:t>
            </a:r>
          </a:p>
          <a:p xmlns:a="http://schemas.openxmlformats.org/drawingml/2006/main">
            <a:r>
              <a:t>          that You distribute, all copyright, patent, trademark, and</a:t>
            </a:r>
          </a:p>
          <a:p xmlns:a="http://schemas.openxmlformats.org/drawingml/2006/main">
            <a:r>
              <a:t>          attribution notices from the Source form of the Work,</a:t>
            </a:r>
          </a:p>
          <a:p xmlns:a="http://schemas.openxmlformats.org/drawingml/2006/main">
            <a:r>
              <a:t>          excluding those notices that do not pertain to any part of</a:t>
            </a:r>
          </a:p>
          <a:p xmlns:a="http://schemas.openxmlformats.org/drawingml/2006/main">
            <a:r>
              <a:t>          the Derivative Works; and</a:t>
            </a:r>
          </a:p>
          <a:p xmlns:a="http://schemas.openxmlformats.org/drawingml/2006/main">
            <a:r>
              <a:t/>
            </a:r>
          </a:p>
          <a:p xmlns:a="http://schemas.openxmlformats.org/drawingml/2006/main">
            <a:r>
              <a:t>      (d) If the Work includes a "NOTICE" text file as part of its</a:t>
            </a:r>
          </a:p>
          <a:p xmlns:a="http://schemas.openxmlformats.org/drawingml/2006/main">
            <a:r>
              <a:t>          distribution, then any Derivative Works that You distribute must</a:t>
            </a:r>
          </a:p>
          <a:p xmlns:a="http://schemas.openxmlformats.org/drawingml/2006/main">
            <a:r>
              <a:t>          include a readable copy of the attribution notices contained</a:t>
            </a:r>
          </a:p>
          <a:p xmlns:a="http://schemas.openxmlformats.org/drawingml/2006/main">
            <a:r>
              <a:t>          within such NOTICE file, excluding those notices that do not</a:t>
            </a:r>
          </a:p>
          <a:p xmlns:a="http://schemas.openxmlformats.org/drawingml/2006/main">
            <a:r>
              <a:t>          pertain to any part of the Derivative Works, in at least one</a:t>
            </a:r>
          </a:p>
          <a:p xmlns:a="http://schemas.openxmlformats.org/drawingml/2006/main">
            <a:r>
              <a:t>          of the following places: within a NOTICE text file distributed</a:t>
            </a:r>
          </a:p>
          <a:p xmlns:a="http://schemas.openxmlformats.org/drawingml/2006/main">
            <a:r>
              <a:t>          as part of the Derivative Works; within the Source form or</a:t>
            </a:r>
          </a:p>
          <a:p xmlns:a="http://schemas.openxmlformats.org/drawingml/2006/main">
            <a:r>
              <a:t>          documentation, if provided along with the Derivative Works; or,</a:t>
            </a:r>
          </a:p>
          <a:p xmlns:a="http://schemas.openxmlformats.org/drawingml/2006/main">
            <a:r>
              <a:t>          within a display generated by the Derivative Works, if and</a:t>
            </a:r>
          </a:p>
          <a:p xmlns:a="http://schemas.openxmlformats.org/drawingml/2006/main">
            <a:r>
              <a:t>          wherever such third-party notices normally appear. The contents</a:t>
            </a:r>
          </a:p>
          <a:p xmlns:a="http://schemas.openxmlformats.org/drawingml/2006/main">
            <a:r>
              <a:t>          of the NOTICE file are for informational purposes only and</a:t>
            </a:r>
          </a:p>
          <a:p xmlns:a="http://schemas.openxmlformats.org/drawingml/2006/main">
            <a:r>
              <a:t>          do not modify the License. You may add Your own attribution</a:t>
            </a:r>
          </a:p>
          <a:p xmlns:a="http://schemas.openxmlformats.org/drawingml/2006/main">
            <a:r>
              <a:t>          notices within Derivative Works that You distribute, alongside</a:t>
            </a:r>
          </a:p>
          <a:p xmlns:a="http://schemas.openxmlformats.org/drawingml/2006/main">
            <a:r>
              <a:t>          or as an addendum to the NOTICE text from the Work, provided</a:t>
            </a:r>
          </a:p>
          <a:p xmlns:a="http://schemas.openxmlformats.org/drawingml/2006/main">
            <a:r>
              <a:t>          that such additional attribution notices cannot be construed</a:t>
            </a:r>
          </a:p>
          <a:p xmlns:a="http://schemas.openxmlformats.org/drawingml/2006/main">
            <a:r>
              <a:t>          as modifying the License.</a:t>
            </a:r>
          </a:p>
          <a:p xmlns:a="http://schemas.openxmlformats.org/drawingml/2006/main">
            <a:r>
              <a:t/>
            </a:r>
          </a:p>
          <a:p xmlns:a="http://schemas.openxmlformats.org/drawingml/2006/main">
            <a:r>
              <a:t>      You may add Your own copyright statement to Your modifications and</a:t>
            </a:r>
          </a:p>
          <a:p xmlns:a="http://schemas.openxmlformats.org/drawingml/2006/main">
            <a:r>
              <a:t>      may provide additional or different license terms and conditions</a:t>
            </a:r>
          </a:p>
          <a:p xmlns:a="http://schemas.openxmlformats.org/drawingml/2006/main">
            <a:r>
              <a:t>      for use, reproduction, or distribution of Your modifications, or</a:t>
            </a:r>
          </a:p>
          <a:p xmlns:a="http://schemas.openxmlformats.org/drawingml/2006/main">
            <a:r>
              <a:t>      for any such Derivative Works as a whole, provided Your use,</a:t>
            </a:r>
          </a:p>
          <a:p xmlns:a="http://schemas.openxmlformats.org/drawingml/2006/main">
            <a:r>
              <a:t>      reproduction, and distribution of the Work otherwise complies with</a:t>
            </a:r>
          </a:p>
          <a:p xmlns:a="http://schemas.openxmlformats.org/drawingml/2006/main">
            <a:r>
              <a:t>      the conditions stated in this License.</a:t>
            </a:r>
          </a:p>
          <a:p xmlns:a="http://schemas.openxmlformats.org/drawingml/2006/main">
            <a:r>
              <a:t/>
            </a:r>
          </a:p>
          <a:p xmlns:a="http://schemas.openxmlformats.org/drawingml/2006/main">
            <a:r>
              <a:t>   5. Submission of Contributions. Unless You explicitly state otherwise,</a:t>
            </a:r>
          </a:p>
          <a:p xmlns:a="http://schemas.openxmlformats.org/drawingml/2006/main">
            <a:r>
              <a:t>      any Contribution intentionally submitted for inclusion in the Work</a:t>
            </a:r>
          </a:p>
          <a:p xmlns:a="http://schemas.openxmlformats.org/drawingml/2006/main">
            <a:r>
              <a:t>      by You to the Licensor shall be under the terms and conditions of</a:t>
            </a:r>
          </a:p>
          <a:p xmlns:a="http://schemas.openxmlformats.org/drawingml/2006/main">
            <a:r>
              <a:t>      this License, without any additional terms or conditions.</a:t>
            </a:r>
          </a:p>
          <a:p xmlns:a="http://schemas.openxmlformats.org/drawingml/2006/main">
            <a:r>
              <a:t>      Notwithstanding the above, nothing herein shall supersede or modify</a:t>
            </a:r>
          </a:p>
          <a:p xmlns:a="http://schemas.openxmlformats.org/drawingml/2006/main">
            <a:r>
              <a:t>      the terms of any separate license agreement you may have executed</a:t>
            </a:r>
          </a:p>
          <a:p xmlns:a="http://schemas.openxmlformats.org/drawingml/2006/main">
            <a:r>
              <a:t>      with Licensor regarding such Contributions.</a:t>
            </a:r>
          </a:p>
          <a:p xmlns:a="http://schemas.openxmlformats.org/drawingml/2006/main">
            <a:r>
              <a:t/>
            </a:r>
          </a:p>
          <a:p xmlns:a="http://schemas.openxmlformats.org/drawingml/2006/main">
            <a:r>
              <a:t>   6. Trademarks. This License does not grant permission to use the trade</a:t>
            </a:r>
          </a:p>
          <a:p xmlns:a="http://schemas.openxmlformats.org/drawingml/2006/main">
            <a:r>
              <a:t>      names, trademarks, service marks, or product names of the Licensor,</a:t>
            </a:r>
          </a:p>
          <a:p xmlns:a="http://schemas.openxmlformats.org/drawingml/2006/main">
            <a:r>
              <a:t>      except as required for reasonable and customary use in describing the</a:t>
            </a:r>
          </a:p>
          <a:p xmlns:a="http://schemas.openxmlformats.org/drawingml/2006/main">
            <a:r>
              <a:t>      origin of the Work and reproducing the content of the NOTICE file.</a:t>
            </a:r>
          </a:p>
          <a:p xmlns:a="http://schemas.openxmlformats.org/drawingml/2006/main">
            <a:r>
              <a:t/>
            </a:r>
          </a:p>
          <a:p xmlns:a="http://schemas.openxmlformats.org/drawingml/2006/main">
            <a:r>
              <a:t>   7. Disclaimer of Warranty. Unless required by applicable law or</a:t>
            </a:r>
          </a:p>
          <a:p xmlns:a="http://schemas.openxmlformats.org/drawingml/2006/main">
            <a:r>
              <a:t>      agreed to in writing, Licensor provides the Work (and each</a:t>
            </a:r>
          </a:p>
          <a:p xmlns:a="http://schemas.openxmlformats.org/drawingml/2006/main">
            <a:r>
              <a:t>      Contributor provides its Contributions) on an "AS IS" BASIS,</a:t>
            </a:r>
          </a:p>
          <a:p xmlns:a="http://schemas.openxmlformats.org/drawingml/2006/main">
            <a:r>
              <a:t>      WITHOUT WARRANTIES OR CONDITIONS OF ANY KIND, either express or</a:t>
            </a:r>
          </a:p>
          <a:p xmlns:a="http://schemas.openxmlformats.org/drawingml/2006/main">
            <a:r>
              <a:t>      implied, including, without limitation, any warranties or conditions</a:t>
            </a:r>
          </a:p>
          <a:p xmlns:a="http://schemas.openxmlformats.org/drawingml/2006/main">
            <a:r>
              <a:t>      of TITLE, NON-INFRINGEMENT, MERCHANTABILITY, or FITNESS FOR A</a:t>
            </a:r>
          </a:p>
          <a:p xmlns:a="http://schemas.openxmlformats.org/drawingml/2006/main">
            <a:r>
              <a:t>      PARTICULAR PURPOSE. You are solely responsible for determining the</a:t>
            </a:r>
          </a:p>
          <a:p xmlns:a="http://schemas.openxmlformats.org/drawingml/2006/main">
            <a:r>
              <a:t>      appropriateness of using or redistributing the Work and assume any</a:t>
            </a:r>
          </a:p>
          <a:p xmlns:a="http://schemas.openxmlformats.org/drawingml/2006/main">
            <a:r>
              <a:t>      risks associated with Your exercise of permissions under this License.</a:t>
            </a:r>
          </a:p>
          <a:p xmlns:a="http://schemas.openxmlformats.org/drawingml/2006/main">
            <a:r>
              <a:t/>
            </a:r>
          </a:p>
          <a:p xmlns:a="http://schemas.openxmlformats.org/drawingml/2006/main">
            <a:r>
              <a:t>   8. Limitation of Liability. In no event and under no legal theory,</a:t>
            </a:r>
          </a:p>
          <a:p xmlns:a="http://schemas.openxmlformats.org/drawingml/2006/main">
            <a:r>
              <a:t>      whether in tort (including negligence), contract, or otherwise,</a:t>
            </a:r>
          </a:p>
          <a:p xmlns:a="http://schemas.openxmlformats.org/drawingml/2006/main">
            <a:r>
              <a:t>      unless required by applicable law (such as deliberate and grossly</a:t>
            </a:r>
          </a:p>
          <a:p xmlns:a="http://schemas.openxmlformats.org/drawingml/2006/main">
            <a:r>
              <a:t>      negligent acts) or agreed to in writing, shall any Contributor be</a:t>
            </a:r>
          </a:p>
          <a:p xmlns:a="http://schemas.openxmlformats.org/drawingml/2006/main">
            <a:r>
              <a:t>      liable to You for damages, including any direct, indirect, special,</a:t>
            </a:r>
          </a:p>
          <a:p xmlns:a="http://schemas.openxmlformats.org/drawingml/2006/main">
            <a:r>
              <a:t>      incidental, or consequential damages of any character arising as a</a:t>
            </a:r>
          </a:p>
          <a:p xmlns:a="http://schemas.openxmlformats.org/drawingml/2006/main">
            <a:r>
              <a:t>      result of this License or out of the use or inability to use the</a:t>
            </a:r>
          </a:p>
          <a:p xmlns:a="http://schemas.openxmlformats.org/drawingml/2006/main">
            <a:r>
              <a:t>      Work (including but not limited to damages for loss of goodwill,</a:t>
            </a:r>
          </a:p>
          <a:p xmlns:a="http://schemas.openxmlformats.org/drawingml/2006/main">
            <a:r>
              <a:t>      work stoppage, computer failure or malfunction, or any and all</a:t>
            </a:r>
          </a:p>
          <a:p xmlns:a="http://schemas.openxmlformats.org/drawingml/2006/main">
            <a:r>
              <a:t>      other commercial damages or losses), even if such Contributor</a:t>
            </a:r>
          </a:p>
          <a:p xmlns:a="http://schemas.openxmlformats.org/drawingml/2006/main">
            <a:r>
              <a:t>      has been advised of the possibility of such damages.</a:t>
            </a:r>
          </a:p>
          <a:p xmlns:a="http://schemas.openxmlformats.org/drawingml/2006/main">
            <a:r>
              <a:t/>
            </a:r>
          </a:p>
          <a:p xmlns:a="http://schemas.openxmlformats.org/drawingml/2006/main">
            <a:r>
              <a:t>   9. Accepting Warranty or Additional Liability. While redistributing</a:t>
            </a:r>
          </a:p>
          <a:p xmlns:a="http://schemas.openxmlformats.org/drawingml/2006/main">
            <a:r>
              <a:t>      the Work or Derivative Works thereof, You may choose to offer,</a:t>
            </a:r>
          </a:p>
          <a:p xmlns:a="http://schemas.openxmlformats.org/drawingml/2006/main">
            <a:r>
              <a:t>      and charge a fee for, acceptance of support, warranty, indemnity,</a:t>
            </a:r>
          </a:p>
          <a:p xmlns:a="http://schemas.openxmlformats.org/drawingml/2006/main">
            <a:r>
              <a:t>      or other liability obligations and/or rights consistent with this</a:t>
            </a:r>
          </a:p>
          <a:p xmlns:a="http://schemas.openxmlformats.org/drawingml/2006/main">
            <a:r>
              <a:t>      License. However, in accepting such obligations, You may act only</a:t>
            </a:r>
          </a:p>
          <a:p xmlns:a="http://schemas.openxmlformats.org/drawingml/2006/main">
            <a:r>
              <a:t>      on Your own behalf and on Your sole responsibility, not on behalf</a:t>
            </a:r>
          </a:p>
          <a:p xmlns:a="http://schemas.openxmlformats.org/drawingml/2006/main">
            <a:r>
              <a:t>      of any other Contributor, and only if You agree to indemnify,</a:t>
            </a:r>
          </a:p>
          <a:p xmlns:a="http://schemas.openxmlformats.org/drawingml/2006/main">
            <a:r>
              <a:t>      defend, and hold each Contributor harmless for any liability</a:t>
            </a:r>
          </a:p>
          <a:p xmlns:a="http://schemas.openxmlformats.org/drawingml/2006/main">
            <a:r>
              <a:t>      incurred by, or claims asserted against, such Contributor by reason</a:t>
            </a:r>
          </a:p>
          <a:p xmlns:a="http://schemas.openxmlformats.org/drawingml/2006/main">
            <a:r>
              <a:t>      of your accepting any such warranty or additional liability.</a:t>
            </a:r>
          </a:p>
          <a:p xmlns:a="http://schemas.openxmlformats.org/drawingml/2006/main">
            <a:r>
              <a:t/>
            </a:r>
          </a:p>
          <a:p xmlns:a="http://schemas.openxmlformats.org/drawingml/2006/main">
            <a:r>
              <a:t>   END OF TERMS AND CONDITIONS</a:t>
            </a:r>
          </a:p>
          <a:p xmlns:a="http://schemas.openxmlformats.org/drawingml/2006/main">
            <a:r>
              <a:t/>
            </a:r>
          </a:p>
          <a:p xmlns:a="http://schemas.openxmlformats.org/drawingml/2006/main">
            <a:r>
              <a:t>   APPENDIX: How to apply the Apache License to your work.</a:t>
            </a:r>
          </a:p>
          <a:p xmlns:a="http://schemas.openxmlformats.org/drawingml/2006/main">
            <a:r>
              <a:t/>
            </a:r>
          </a:p>
          <a:p xmlns:a="http://schemas.openxmlformats.org/drawingml/2006/main">
            <a:r>
              <a:t>      To apply the Apache License to your work, attach the following</a:t>
            </a:r>
          </a:p>
          <a:p xmlns:a="http://schemas.openxmlformats.org/drawingml/2006/main">
            <a:r>
              <a:t>      boilerplate notice, with the fields enclosed by brackets "[]"</a:t>
            </a:r>
          </a:p>
          <a:p xmlns:a="http://schemas.openxmlformats.org/drawingml/2006/main">
            <a:r>
              <a:t>      replaced with your own identifying information. (Don't include</a:t>
            </a:r>
          </a:p>
          <a:p xmlns:a="http://schemas.openxmlformats.org/drawingml/2006/main">
            <a:r>
              <a:t>      the brackets!)  The text should be enclosed in the appropriate</a:t>
            </a:r>
          </a:p>
          <a:p xmlns:a="http://schemas.openxmlformats.org/drawingml/2006/main">
            <a:r>
              <a:t>      comment syntax for the file format. We also recommend that a</a:t>
            </a:r>
          </a:p>
          <a:p xmlns:a="http://schemas.openxmlformats.org/drawingml/2006/main">
            <a:r>
              <a:t>      file or class name and description of purpose be included on the</a:t>
            </a:r>
          </a:p>
          <a:p xmlns:a="http://schemas.openxmlformats.org/drawingml/2006/main">
            <a:r>
              <a:t>      same "printed page" as the copyright notice for easier</a:t>
            </a:r>
          </a:p>
          <a:p xmlns:a="http://schemas.openxmlformats.org/drawingml/2006/main">
            <a:r>
              <a:t>      identification within third-party archives.</a:t>
            </a:r>
          </a:p>
          <a:p xmlns:a="http://schemas.openxmlformats.org/drawingml/2006/main">
            <a:r>
              <a:t/>
            </a:r>
          </a:p>
          <a:p xmlns:a="http://schemas.openxmlformats.org/drawingml/2006/main">
            <a:r>
              <a:t>   Copyright [yyyy] [name of copyright owner]</a:t>
            </a:r>
          </a:p>
          <a:p xmlns:a="http://schemas.openxmlformats.org/drawingml/2006/main">
            <a:r>
              <a:t/>
            </a:r>
          </a:p>
          <a:p xmlns:a="http://schemas.openxmlformats.org/drawingml/2006/main">
            <a:r>
              <a:t>   Licensed under the Apache License, Version 2.0 (the "License");</a:t>
            </a:r>
          </a:p>
          <a:p xmlns:a="http://schemas.openxmlformats.org/drawingml/2006/main">
            <a:r>
              <a:t>   you may not use this file except in compliance with the License.</a:t>
            </a:r>
          </a:p>
          <a:p xmlns:a="http://schemas.openxmlformats.org/drawingml/2006/main">
            <a:r>
              <a:t>   You may obtain a copy of the License at</a:t>
            </a:r>
          </a:p>
          <a:p xmlns:a="http://schemas.openxmlformats.org/drawingml/2006/main">
            <a:r>
              <a:t/>
            </a:r>
          </a:p>
          <a:p xmlns:a="http://schemas.openxmlformats.org/drawingml/2006/main">
            <a:r>
              <a:t>       http://www.apache.org/licenses/LICENSE-2.0</a:t>
            </a:r>
          </a:p>
          <a:p xmlns:a="http://schemas.openxmlformats.org/drawingml/2006/main">
            <a:r>
              <a:t/>
            </a:r>
          </a:p>
          <a:p xmlns:a="http://schemas.openxmlformats.org/drawingml/2006/main">
            <a:r>
              <a:t>   Unless required by applicable law or agreed to in writing, software</a:t>
            </a:r>
          </a:p>
          <a:p xmlns:a="http://schemas.openxmlformats.org/drawingml/2006/main">
            <a:r>
              <a:t>   distributed under the License is distributed on an "AS IS" BASIS,</a:t>
            </a:r>
          </a:p>
          <a:p xmlns:a="http://schemas.openxmlformats.org/drawingml/2006/main">
            <a:r>
              <a:t>   WITHOUT WARRANTIES OR CONDITIONS OF ANY KIND, either express or implied.</a:t>
            </a:r>
          </a:p>
          <a:p xmlns:a="http://schemas.openxmlformats.org/drawingml/2006/main">
            <a:r>
              <a:t>   See the License for the specific language governing permissions and</a:t>
            </a:r>
          </a:p>
          <a:p xmlns:a="http://schemas.openxmlformats.org/drawingml/2006/main">
            <a:r>
              <a:t>   limitations under the License.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ab1c1be88740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ffb8de3d74451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64fbd15e90644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564fdd0fbdd42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accc6abaa94c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6db2db1e5d4d6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4e87c93d8e94b7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f2efafc17214d7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62c77119f82466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64612da6a6e4f7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00985861ace439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62CA05C-6E50-42CC-B4D2-57C6DC3CD90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7CD0E29E-AEDC-4840-B035-11BB77BFA560}"/>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210894F3-26B3-4F3D-9A2F-2B4A1EF43D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12CAE7C0-AD14-4252-88C5-B4AA88A89B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6DD429A-21C0-4A81-92ED-F2BED52FE4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47321BC-6192-4319-8435-AB6341C27C6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4500578-2F96-4211-A75B-ECB70D0E15F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79E1ED1-28A5-4699-92AC-0FCF4A24F6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6427A510-565D-4F9C-A8C9-D146ED5601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A10EDD3-6850-45FE-B130-B926534247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02A9A1B-1D5B-4709-B6FC-FEFA8B179D44}"/>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41E3FEB-F404-4700-9B21-0087D42CB0F1}"/>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7D4BCFF-498C-4591-AFFD-F0ED11A77C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0864E9C8-6FDA-4F80-B6EA-36A8E24E07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DE7465E-A787-477D-AF75-AD8580E1240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B711CE-5023-4781-9AAA-F154E0EFFE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E814C47-7BB8-4949-867F-116409FDFE36}"/>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84C77C21-C45A-474E-A391-1C06C597CD22}"/>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29BA3DE8-A93F-409B-9370-3C290171817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812515D3-7298-41D2-B161-918DDDDF2A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10F6B2F-FFAD-4551-AB11-C50AE69EF9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E86609-E3B6-4703-B953-C2269350A83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2931ADB-4213-42AC-BE43-8A60E3F26EE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9B057F7-9A24-40CE-BCE5-09FDEDEAA027}"/>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1EAD7ED9-717E-4C53-892F-0954956CA250}"/>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4BCE2BD-14F9-4946-9EB8-B532833A2B4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D5EFE12F-7908-4918-8774-134305B3E9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8" name="Footer Placeholder 7">
            <a:extLst xmlns:a="http://schemas.openxmlformats.org/drawingml/2006/main">
              <a:ext uri="{FF2B5EF4-FFF2-40B4-BE49-F238E27FC236}">
                <a16:creationId xmlns:a16="http://schemas.microsoft.com/office/drawing/2014/main" id="{7620CAF5-0B58-49FA-9D57-1CE4BB7A208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E214FE3-0A13-4ABE-A546-12E3B8511C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F5E0A0F-BB7B-4E72-B04B-EFDA3E7D5C0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B1A01693-8FC1-40B1-8953-FB51E8041E7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4" name="Footer Placeholder 3">
            <a:extLst xmlns:a="http://schemas.openxmlformats.org/drawingml/2006/main">
              <a:ext uri="{FF2B5EF4-FFF2-40B4-BE49-F238E27FC236}">
                <a16:creationId xmlns:a16="http://schemas.microsoft.com/office/drawing/2014/main" id="{66DD8EA9-822C-4BE6-859B-266C008EE5E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305EA04-3AEC-4524-A05C-C41DC46B2D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E5C8FE6-5183-453F-BC0B-D60C6E1317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3" name="Footer Placeholder 2">
            <a:extLst xmlns:a="http://schemas.openxmlformats.org/drawingml/2006/main">
              <a:ext uri="{FF2B5EF4-FFF2-40B4-BE49-F238E27FC236}">
                <a16:creationId xmlns:a16="http://schemas.microsoft.com/office/drawing/2014/main" id="{CCCB4F83-3D3B-44D5-AB55-35B7D38E2A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FE4BCC9-D09B-4D61-89DD-F47ED3EF9E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328E33C-36E7-40BA-8546-16C0B23EFDE2}"/>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AFA0382-9253-4CE7-90E2-7228B7543007}"/>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786A2B73-1980-4859-AF4F-EF67F6A30944}"/>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E870568-6E11-4392-A3B8-A82BF8D439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F66801D5-B899-4B4B-92ED-E62AEF7A09E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E3C4A94-9123-414B-8DD2-11D5F918B6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C0D29A-0F22-47F2-8914-8873FE6C80FB}"/>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D674A026-9FD3-4642-95F7-2D70B38E1272}"/>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3EA4BCDF-F1CE-4FA0-AAE3-DA1EA5E0DC4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14A6488-AFE9-4100-8754-10B3C4F4F5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543F26C8-D1FE-4BAC-8B38-316D295DD29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257B662-2F86-4D6A-B73E-2CD04F0420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6B96B0-8A36-4F6D-8D73-140F64C45B9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4B11DDEF-A2C3-4C5E-A177-93D8A340D9A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0580CCE-A127-469D-93F4-202BC7BBBC4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E4AA41C0-F693-458E-84FE-416C71419E0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7615B0E-1CCF-4E16-8280-5017ABB835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101E824-B302-4D5B-895B-AE1D9656A5D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8ADAFA0-6070-48E3-B5E3-23123DF1E0B1}"/>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7D63816-1529-4294-B8A3-592C5F8A73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DC980C8C-A5E8-4647-A69F-57504E0C48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0B120B1-10E7-49E4-819D-1D16A492A34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ac2f87e6ef40fa" /><Relationship Type="http://schemas.openxmlformats.org/officeDocument/2006/relationships/slideLayout" Target="/ppt/slideLayouts/slideLayout1.xml" Id="R5285c4ce6cf647a6" /><Relationship Type="http://schemas.openxmlformats.org/officeDocument/2006/relationships/slideLayout" Target="/ppt/slideLayouts/slideLayout2.xml" Id="R31b5bd3cbb554cd1" /><Relationship Type="http://schemas.openxmlformats.org/officeDocument/2006/relationships/slideLayout" Target="/ppt/slideLayouts/slideLayout3.xml" Id="R1147db00c7024fd4" /><Relationship Type="http://schemas.openxmlformats.org/officeDocument/2006/relationships/slideLayout" Target="/ppt/slideLayouts/slideLayout4.xml" Id="Ra2214413643f4dad" /><Relationship Type="http://schemas.openxmlformats.org/officeDocument/2006/relationships/slideLayout" Target="/ppt/slideLayouts/slideLayout5.xml" Id="R76fba7f8f24f4e90" /><Relationship Type="http://schemas.openxmlformats.org/officeDocument/2006/relationships/slideLayout" Target="/ppt/slideLayouts/slideLayout6.xml" Id="Rd3c0c3cc388b45ca" /><Relationship Type="http://schemas.openxmlformats.org/officeDocument/2006/relationships/slideLayout" Target="/ppt/slideLayouts/slideLayout7.xml" Id="R52ea05f0647c4222" /><Relationship Type="http://schemas.openxmlformats.org/officeDocument/2006/relationships/slideLayout" Target="/ppt/slideLayouts/slideLayout8.xml" Id="R8955f08e88c6465d" /><Relationship Type="http://schemas.openxmlformats.org/officeDocument/2006/relationships/slideLayout" Target="/ppt/slideLayouts/slideLayout9.xml" Id="R0dd7387c07ba4ca5" /><Relationship Type="http://schemas.openxmlformats.org/officeDocument/2006/relationships/slideLayout" Target="/ppt/slideLayouts/slideLayout10.xml" Id="Rb2c872401e8348f1" /><Relationship Type="http://schemas.openxmlformats.org/officeDocument/2006/relationships/slideLayout" Target="/ppt/slideLayouts/slideLayout11.xml" Id="R82c06e48545a4fa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ACC26DC-9F26-4CE2-AB58-05D6FA54400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8C0FC6A-4258-42DD-B0F8-45E0FB886F5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62E5D4C-38BD-4BBE-9136-0DDE7E5DD6C4}"/>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4F5C28D0-5E2B-4440-B219-EE7C20CBA017}"/>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DA6F0E9-572D-4C99-8675-03EC3F6C212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85c4ce6cf647a6"/>
    <p:sldLayoutId xmlns:r="http://schemas.openxmlformats.org/officeDocument/2006/relationships" id="2147483650" r:id="R31b5bd3cbb554cd1"/>
    <p:sldLayoutId xmlns:r="http://schemas.openxmlformats.org/officeDocument/2006/relationships" id="2147483651" r:id="R1147db00c7024fd4"/>
    <p:sldLayoutId xmlns:r="http://schemas.openxmlformats.org/officeDocument/2006/relationships" id="2147483652" r:id="Ra2214413643f4dad"/>
    <p:sldLayoutId xmlns:r="http://schemas.openxmlformats.org/officeDocument/2006/relationships" id="2147483653" r:id="R76fba7f8f24f4e90"/>
    <p:sldLayoutId xmlns:r="http://schemas.openxmlformats.org/officeDocument/2006/relationships" id="2147483654" r:id="Rd3c0c3cc388b45ca"/>
    <p:sldLayoutId xmlns:r="http://schemas.openxmlformats.org/officeDocument/2006/relationships" id="2147483655" r:id="R52ea05f0647c4222"/>
    <p:sldLayoutId xmlns:r="http://schemas.openxmlformats.org/officeDocument/2006/relationships" id="2147483656" r:id="R8955f08e88c6465d"/>
    <p:sldLayoutId xmlns:r="http://schemas.openxmlformats.org/officeDocument/2006/relationships" id="2147483657" r:id="R0dd7387c07ba4ca5"/>
    <p:sldLayoutId xmlns:r="http://schemas.openxmlformats.org/officeDocument/2006/relationships" id="2147483658" r:id="Rb2c872401e8348f1"/>
    <p:sldLayoutId xmlns:r="http://schemas.openxmlformats.org/officeDocument/2006/relationships" id="2147483659" r:id="R82c06e48545a4fa2"/>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eb93d461a193464d" /><Relationship Type="http://schemas.openxmlformats.org/officeDocument/2006/relationships/image" Target="/ppt/media/image.png" Id="R96bddd2a3c614a41" /><Relationship Type="http://schemas.openxmlformats.org/officeDocument/2006/relationships/notesSlide" Target="/ppt/notesSlides/notesSlide1.xml" Id="Rb7f4d9a75f8247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4089934c56624410" /><Relationship Type="http://schemas.openxmlformats.org/officeDocument/2006/relationships/image" Target="/ppt/media/image.png" Id="R4cb20d9717264c7d" /><Relationship Type="http://schemas.openxmlformats.org/officeDocument/2006/relationships/notesSlide" Target="/ppt/notesSlides/notesSlide2.xml" Id="R67655329eace4f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87d33f3b8df452b" /><Relationship Type="http://schemas.openxmlformats.org/officeDocument/2006/relationships/image" Target="/ppt/media/image.png" Id="R2ad55d38192041c7" /><Relationship Type="http://schemas.openxmlformats.org/officeDocument/2006/relationships/notesSlide" Target="/ppt/notesSlides/notesSlide3.xml" Id="Rf4670817002a4c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0379beec8f2b4b2f" /><Relationship Type="http://schemas.openxmlformats.org/officeDocument/2006/relationships/image" Target="/ppt/media/image.png" Id="R488ec0349163482c" /><Relationship Type="http://schemas.openxmlformats.org/officeDocument/2006/relationships/notesSlide" Target="/ppt/notesSlides/notesSlide4.xml" Id="R598efa088ec94e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e8466fca8d44c2f" /><Relationship Type="http://schemas.openxmlformats.org/officeDocument/2006/relationships/image" Target="/ppt/media/image.png" Id="R3598de43b77e4b8e" /><Relationship Type="http://schemas.openxmlformats.org/officeDocument/2006/relationships/notesSlide" Target="/ppt/notesSlides/notesSlide5.xml" Id="R720c9835206847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60e0c1b8de7a49c7" /><Relationship Type="http://schemas.openxmlformats.org/officeDocument/2006/relationships/image" Target="/ppt/media/image.png" Id="Rbaf0730d89a04c76" /><Relationship Type="http://schemas.openxmlformats.org/officeDocument/2006/relationships/notesSlide" Target="/ppt/notesSlides/notesSlide6.xml" Id="Rdff189a231044e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fccbaa1ee9554c16" /><Relationship Type="http://schemas.openxmlformats.org/officeDocument/2006/relationships/image" Target="/ppt/media/image.png" Id="Rbb63a0f73b84415b" /><Relationship Type="http://schemas.openxmlformats.org/officeDocument/2006/relationships/notesSlide" Target="/ppt/notesSlides/notesSlide7.xml" Id="R8d8aec00053848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37f74313c0a94a72" /><Relationship Type="http://schemas.openxmlformats.org/officeDocument/2006/relationships/image" Target="/ppt/media/image.png" Id="R4cad2a72c9b54506" /><Relationship Type="http://schemas.openxmlformats.org/officeDocument/2006/relationships/notesSlide" Target="/ppt/notesSlides/notesSlide8.xml" Id="R350dac038c2446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57f0aadc05684d46" /><Relationship Type="http://schemas.openxmlformats.org/officeDocument/2006/relationships/image" Target="/ppt/media/image.png" Id="R7868f2fba8c84f7d" /><Relationship Type="http://schemas.openxmlformats.org/officeDocument/2006/relationships/notesSlide" Target="/ppt/notesSlides/notesSlide9.xml" Id="R4f3ed7c3a5c24c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cde08c82c1d044b0" /><Relationship Type="http://schemas.openxmlformats.org/officeDocument/2006/relationships/image" Target="/ppt/media/image.png" Id="R1325807f2fae4dfb" /><Relationship Type="http://schemas.openxmlformats.org/officeDocument/2006/relationships/notesSlide" Target="/ppt/notesSlides/notesSlide10.xml" Id="Rf234e41fb6b040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17a03e6cd8245fc" /><Relationship Type="http://schemas.openxmlformats.org/officeDocument/2006/relationships/image" Target="/ppt/media/image.png" Id="Re6ba42f269cd4daa" /><Relationship Type="http://schemas.openxmlformats.org/officeDocument/2006/relationships/notesSlide" Target="/ppt/notesSlides/notesSlide11.xml" Id="R6dcafee2fe9c4a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1690656561fe4b5f" /><Relationship Type="http://schemas.openxmlformats.org/officeDocument/2006/relationships/image" Target="/ppt/media/image.png" Id="R9ff947401d2941ea" /><Relationship Type="http://schemas.openxmlformats.org/officeDocument/2006/relationships/notesSlide" Target="/ppt/notesSlides/notesSlide12.xml" Id="Rd86f9144a8a94f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ce7b448476344137" /><Relationship Type="http://schemas.openxmlformats.org/officeDocument/2006/relationships/image" Target="/ppt/media/image.png" Id="R7fa3f798a4044e28" /><Relationship Type="http://schemas.openxmlformats.org/officeDocument/2006/relationships/notesSlide" Target="/ppt/notesSlides/notesSlide13.xml" Id="Rce93d990dd934e7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bbcb8222ca514100" /><Relationship Type="http://schemas.openxmlformats.org/officeDocument/2006/relationships/image" Target="/ppt/media/image.png" Id="Rafe1d58833764d48" /><Relationship Type="http://schemas.openxmlformats.org/officeDocument/2006/relationships/notesSlide" Target="/ppt/notesSlides/notesSlide14.xml" Id="Rf2c8536652f64cb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644b53bbdde3461e" /><Relationship Type="http://schemas.openxmlformats.org/officeDocument/2006/relationships/image" Target="/ppt/media/image.png" Id="R5b249ae909d34dc9" /><Relationship Type="http://schemas.openxmlformats.org/officeDocument/2006/relationships/notesSlide" Target="/ppt/notesSlides/notesSlide15.xml" Id="Rfcab6928bb984ef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5a1db0e1cd4b4946" /><Relationship Type="http://schemas.openxmlformats.org/officeDocument/2006/relationships/image" Target="/ppt/media/image.png" Id="Reb9915ae38bc4805" /><Relationship Type="http://schemas.openxmlformats.org/officeDocument/2006/relationships/notesSlide" Target="/ppt/notesSlides/notesSlide16.xml" Id="R990d261600ad4d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18b8583982154404" /><Relationship Type="http://schemas.openxmlformats.org/officeDocument/2006/relationships/image" Target="/ppt/media/image.png" Id="R0ca24f744aa1422e" /><Relationship Type="http://schemas.openxmlformats.org/officeDocument/2006/relationships/notesSlide" Target="/ppt/notesSlides/notesSlide17.xml" Id="Re3c8f890463c4e2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f14c280fbac74c69" /><Relationship Type="http://schemas.openxmlformats.org/officeDocument/2006/relationships/image" Target="/ppt/media/image.png" Id="R4807bbd70ef74cb7" /><Relationship Type="http://schemas.openxmlformats.org/officeDocument/2006/relationships/notesSlide" Target="/ppt/notesSlides/notesSlide18.xml" Id="Rf2a1636c50a147a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464c9360bc2e4056" /><Relationship Type="http://schemas.openxmlformats.org/officeDocument/2006/relationships/image" Target="/ppt/media/image.png" Id="Rdafa23c0865848bb" /><Relationship Type="http://schemas.openxmlformats.org/officeDocument/2006/relationships/notesSlide" Target="/ppt/notesSlides/notesSlide19.xml" Id="R567126549287417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7be7ceb58c4f42c1" /><Relationship Type="http://schemas.openxmlformats.org/officeDocument/2006/relationships/image" Target="/ppt/media/image.png" Id="Rb32a0c2bed4f4a5f" /><Relationship Type="http://schemas.openxmlformats.org/officeDocument/2006/relationships/notesSlide" Target="/ppt/notesSlides/notesSlide20.xml" Id="R500df659ea51403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b13fc60fbe9a40a9" /><Relationship Type="http://schemas.openxmlformats.org/officeDocument/2006/relationships/image" Target="/ppt/media/image.png" Id="R52a8ad84a3b14cd7" /><Relationship Type="http://schemas.openxmlformats.org/officeDocument/2006/relationships/notesSlide" Target="/ppt/notesSlides/notesSlide21.xml" Id="R5f0caae600814e7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7509fdb2eefd4eee" /><Relationship Type="http://schemas.openxmlformats.org/officeDocument/2006/relationships/image" Target="/ppt/media/image.png" Id="R5f5e50101b4a4a59" /><Relationship Type="http://schemas.openxmlformats.org/officeDocument/2006/relationships/notesSlide" Target="/ppt/notesSlides/notesSlide22.xml" Id="R967ac990fe984ad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b1caa63430e9426e" /><Relationship Type="http://schemas.openxmlformats.org/officeDocument/2006/relationships/image" Target="/ppt/media/image.png" Id="R55dc9cfbe6af44ff" /><Relationship Type="http://schemas.openxmlformats.org/officeDocument/2006/relationships/notesSlide" Target="/ppt/notesSlides/notesSlide23.xml" Id="Ra716a15f704f47f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5188bbf9350d4a97" /><Relationship Type="http://schemas.openxmlformats.org/officeDocument/2006/relationships/image" Target="/ppt/media/image.png" Id="R07daeca4c9954ba4" /><Relationship Type="http://schemas.openxmlformats.org/officeDocument/2006/relationships/notesSlide" Target="/ppt/notesSlides/notesSlide24.xml" Id="Rcb31b5025f0e41e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2B6C94B-9F02-4896-882A-2FAE792A311E}"/>
              </a:ext>
            </a:extLst>
          </p:cNvPr>
          <p:cNvSpPr>
            <a:spLocks xmlns:a="http://schemas.openxmlformats.org/drawingml/2006/main" noGrp="1"/>
          </p:cNvSpPr>
          <p:nvPr/>
        </p:nvSpPr>
        <p:spPr>
          <a:xfrm xmlns:a="http://schemas.openxmlformats.org/drawingml/2006/main">
            <a:off x="0" y="0"/>
            <a:ext cx="7562088" cy="73152"/>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45" name="Picture 2"/>
          <p:cNvPicPr>
            <a:picLocks xmlns:a="http://schemas.openxmlformats.org/drawingml/2006/main" noChangeAspect="1"/>
          </p:cNvPicPr>
          <p:nvPr/>
        </p:nvPicPr>
        <p:blipFill>
          <a:blip xmlns:r="http://schemas.openxmlformats.org/officeDocument/2006/relationships" xmlns:a="http://schemas.openxmlformats.org/drawingml/2006/main" r:embed="R96bddd2a3c614a41"/>
          <a:stretch xmlns:a="http://schemas.openxmlformats.org/drawingml/2006/main">
            <a:fillRect l="0" t="0" r="0" b="0"/>
          </a:stretch>
        </p:blipFill>
        <p:spPr>
          <a:xfrm xmlns:a="http://schemas.openxmlformats.org/drawingml/2006/main">
            <a:off x="395935" y="425196"/>
            <a:ext cx="701344" cy="88699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64EC3AAB-16B8-460F-ABA5-19144F9DD9A1}"/>
              </a:ext>
            </a:extLst>
          </p:cNvPr>
          <p:cNvSpPr>
            <a:spLocks xmlns:a="http://schemas.openxmlformats.org/drawingml/2006/main" noGrp="1"/>
          </p:cNvSpPr>
          <p:nvPr/>
        </p:nvSpPr>
        <p:spPr>
          <a:xfrm xmlns:a="http://schemas.openxmlformats.org/drawingml/2006/main">
            <a:off x="1188720" y="813816"/>
            <a:ext cx="1801368" cy="3657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2400" b="1">
                <a:solidFill>
                  <a:srgbClr val="111111"/>
                </a:solidFill>
                <a:latin typeface="Segoe UI"/>
                <a:ea typeface="Segoe UI"/>
                <a:cs typeface="Segoe UI"/>
              </a:rPr>
              <a:t>Ignytion </a:t>
            </a:r>
            <a:r>
              <a:rPr sz="2400" b="1">
                <a:solidFill>
                  <a:srgbClr val="EF9529"/>
                </a:solidFill>
                <a:latin typeface="Segoe UI"/>
                <a:ea typeface="Segoe UI"/>
                <a:cs typeface="Segoe UI"/>
              </a:rPr>
              <a:t>io</a:t>
            </a:r>
          </a:p>
        </p:txBody>
      </p:sp>
      <p:sp>
        <p:nvSpPr>
          <p:cNvPr id="35" name="Rectangle 34">
            <a:extLst xmlns:a="http://schemas.openxmlformats.org/drawingml/2006/main">
              <a:ext uri="{FF2B5EF4-FFF2-40B4-BE49-F238E27FC236}">
                <a16:creationId xmlns:a16="http://schemas.microsoft.com/office/drawing/2014/main" id="{C3F2DE74-3B5E-43A2-AFC6-AD24E1B64E09}"/>
              </a:ext>
            </a:extLst>
          </p:cNvPr>
          <p:cNvSpPr>
            <a:spLocks xmlns:a="http://schemas.openxmlformats.org/drawingml/2006/main" noGrp="1"/>
          </p:cNvSpPr>
          <p:nvPr/>
        </p:nvSpPr>
        <p:spPr>
          <a:xfrm xmlns:a="http://schemas.openxmlformats.org/drawingml/2006/main">
            <a:off x="502920" y="99669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7A8FD6B-8300-4C17-8DBB-32B2B10616ED}"/>
              </a:ext>
            </a:extLst>
          </p:cNvPr>
          <p:cNvSpPr>
            <a:spLocks xmlns:a="http://schemas.openxmlformats.org/drawingml/2006/main" noGrp="1"/>
          </p:cNvSpPr>
          <p:nvPr/>
        </p:nvSpPr>
        <p:spPr>
          <a:xfrm xmlns:a="http://schemas.openxmlformats.org/drawingml/2006/main">
            <a:off x="502920" y="10040112"/>
            <a:ext cx="27432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Ignytion IO · ignytion.io</a:t>
            </a:r>
          </a:p>
        </p:txBody>
      </p:sp>
      <p:sp>
        <p:nvSpPr>
          <p:cNvPr id="37" name="TextBox 36">
            <a:extLst xmlns:a="http://schemas.openxmlformats.org/drawingml/2006/main">
              <a:ext uri="{FF2B5EF4-FFF2-40B4-BE49-F238E27FC236}">
                <a16:creationId xmlns:a16="http://schemas.microsoft.com/office/drawing/2014/main" id="{A582495A-20B1-46DA-9F7F-89BD2306CF85}"/>
              </a:ext>
            </a:extLst>
          </p:cNvPr>
          <p:cNvSpPr>
            <a:spLocks xmlns:a="http://schemas.openxmlformats.org/drawingml/2006/main" noGrp="1"/>
          </p:cNvSpPr>
          <p:nvPr/>
        </p:nvSpPr>
        <p:spPr>
          <a:xfrm xmlns:a="http://schemas.openxmlformats.org/drawingml/2006/main">
            <a:off x="4315968" y="10040112"/>
            <a:ext cx="27432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LOW-SPEED USB PROTOCOL SERIES · OCTOBER 2026</a:t>
            </a:r>
          </a:p>
        </p:txBody>
      </p:sp>
      <p:sp>
        <p:nvSpPr>
          <p:cNvPr id="39" name="eyebrow">
            <a:extLst xmlns:a="http://schemas.openxmlformats.org/drawingml/2006/main">
              <a:ext uri="{FF2B5EF4-FFF2-40B4-BE49-F238E27FC236}">
                <a16:creationId xmlns:a16="http://schemas.microsoft.com/office/drawing/2014/main" id="{497FBBAB-0845-4AB9-8727-D3BB5C0B7C6B}"/>
              </a:ext>
            </a:extLst>
          </p:cNvPr>
          <p:cNvSpPr>
            <a:spLocks xmlns:a="http://schemas.openxmlformats.org/drawingml/2006/main" noGrp="1"/>
          </p:cNvSpPr>
          <p:nvPr/>
        </p:nvSpPr>
        <p:spPr>
          <a:xfrm xmlns:a="http://schemas.openxmlformats.org/drawingml/2006/main">
            <a:off x="502920" y="1920240"/>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00" b="1">
                <a:solidFill>
                  <a:srgbClr val="EF9529"/>
                </a:solidFill>
                <a:latin typeface="Segoe UI"/>
                <a:ea typeface="Segoe UI"/>
                <a:cs typeface="Segoe UI"/>
              </a:defRPr>
            </a:pPr>
            <a:r>
              <a:rPr sz="1100" b="1">
                <a:solidFill>
                  <a:srgbClr val="EF9529"/>
                </a:solidFill>
                <a:latin typeface="Segoe UI"/>
                <a:ea typeface="Segoe UI"/>
                <a:cs typeface="Segoe UI"/>
              </a:rPr>
              <a:t>IGNYTION IO · TECHNICAL LAB NOTE</a:t>
            </a:r>
          </a:p>
        </p:txBody>
      </p:sp>
      <p:sp>
        <p:nvSpPr>
          <p:cNvPr id="40" name="cover-title">
            <a:extLst xmlns:a="http://schemas.openxmlformats.org/drawingml/2006/main">
              <a:ext uri="{FF2B5EF4-FFF2-40B4-BE49-F238E27FC236}">
                <a16:creationId xmlns:a16="http://schemas.microsoft.com/office/drawing/2014/main" id="{45EA03D4-9BBC-4CA2-8B34-A089DF846EE4}"/>
              </a:ext>
            </a:extLst>
          </p:cNvPr>
          <p:cNvSpPr>
            <a:spLocks xmlns:a="http://schemas.openxmlformats.org/drawingml/2006/main" noGrp="1"/>
          </p:cNvSpPr>
          <p:nvPr/>
        </p:nvSpPr>
        <p:spPr>
          <a:xfrm xmlns:a="http://schemas.openxmlformats.org/drawingml/2006/main">
            <a:off x="502920" y="2468880"/>
            <a:ext cx="6556248" cy="2011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00" b="1">
                <a:solidFill>
                  <a:srgbClr val="111111"/>
                </a:solidFill>
                <a:latin typeface="Segoe UI"/>
                <a:ea typeface="Segoe UI"/>
                <a:cs typeface="Segoe UI"/>
              </a:defRPr>
            </a:pPr>
            <a:r>
              <a:rPr sz="3400" b="1">
                <a:solidFill>
                  <a:srgbClr val="111111"/>
                </a:solidFill>
                <a:latin typeface="Segoe UI"/>
                <a:ea typeface="Segoe UI"/>
                <a:cs typeface="Segoe UI"/>
              </a:rPr>
              <a:t>Low-speed USB protocol:</a:t>
            </a:r>
          </a:p>
          <a:p xmlns:a="http://schemas.openxmlformats.org/drawingml/2006/main">
            <a:pPr>
              <a:defRPr sz="3400" b="1">
                <a:solidFill>
                  <a:srgbClr val="111111"/>
                </a:solidFill>
                <a:latin typeface="Segoe UI"/>
                <a:ea typeface="Segoe UI"/>
                <a:cs typeface="Segoe UI"/>
              </a:defRPr>
            </a:pPr>
            <a:r>
              <a:rPr sz="3400" b="1">
                <a:solidFill>
                  <a:srgbClr val="111111"/>
                </a:solidFill>
                <a:latin typeface="Segoe UI"/>
                <a:ea typeface="Segoe UI"/>
                <a:cs typeface="Segoe UI"/>
              </a:rPr>
              <a:t>From RTL to routed GDS</a:t>
            </a:r>
          </a:p>
        </p:txBody>
      </p:sp>
      <p:sp>
        <p:nvSpPr>
          <p:cNvPr id="41" name="intro">
            <a:extLst xmlns:a="http://schemas.openxmlformats.org/drawingml/2006/main">
              <a:ext uri="{FF2B5EF4-FFF2-40B4-BE49-F238E27FC236}">
                <a16:creationId xmlns:a16="http://schemas.microsoft.com/office/drawing/2014/main" id="{7DF43938-AD32-4C7A-8648-49675C98A25B}"/>
              </a:ext>
            </a:extLst>
          </p:cNvPr>
          <p:cNvSpPr>
            <a:spLocks xmlns:a="http://schemas.openxmlformats.org/drawingml/2006/main" noGrp="1"/>
          </p:cNvSpPr>
          <p:nvPr/>
        </p:nvSpPr>
        <p:spPr>
          <a:xfrm xmlns:a="http://schemas.openxmlformats.org/drawingml/2006/main">
            <a:off x="502920" y="4754880"/>
            <a:ext cx="6556248"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00" b="0">
                <a:solidFill>
                  <a:srgbClr val="EF9529"/>
                </a:solidFill>
                <a:latin typeface="Segoe UI"/>
                <a:ea typeface="Segoe UI"/>
                <a:cs typeface="Segoe UI"/>
              </a:defRPr>
            </a:pPr>
            <a:r>
              <a:rPr sz="1400" b="0">
                <a:solidFill>
                  <a:srgbClr val="EF9529"/>
                </a:solidFill>
                <a:latin typeface="Segoe UI"/>
                <a:ea typeface="Segoe UI"/>
                <a:cs typeface="Segoe UI"/>
              </a:rPr>
              <a:t>A beginner's walkthrough of a checked open-source reference build</a:t>
            </a:r>
          </a:p>
        </p:txBody>
      </p:sp>
      <p:sp>
        <p:nvSpPr>
          <p:cNvPr id="42" name="body-0">
            <a:extLst xmlns:a="http://schemas.openxmlformats.org/drawingml/2006/main">
              <a:ext uri="{FF2B5EF4-FFF2-40B4-BE49-F238E27FC236}">
                <a16:creationId xmlns:a16="http://schemas.microsoft.com/office/drawing/2014/main" id="{5CC4FC37-1C22-4BCB-B5EB-18C1DC8CFED2}"/>
              </a:ext>
            </a:extLst>
          </p:cNvPr>
          <p:cNvSpPr>
            <a:spLocks xmlns:a="http://schemas.openxmlformats.org/drawingml/2006/main" noGrp="1"/>
          </p:cNvSpPr>
          <p:nvPr/>
        </p:nvSpPr>
        <p:spPr>
          <a:xfrm xmlns:a="http://schemas.openxmlformats.org/drawingml/2006/main">
            <a:off x="502920" y="5486400"/>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Follow usb_ls_core from its communication rules and Verilog </a:t>
            </a:r>
            <a:r>
              <a:rPr b="1"/>
              <a:t>source</a:t>
            </a:r>
            <a:r>
              <a:t> to a routed IHP SG13G2
layout. Worked calculations, measured digital traces and tool results are identified separately. This
is an educational block, not a manufactured chip or a signoff-ready design.</a:t>
            </a:r>
          </a:p>
        </p:txBody>
      </p:sp>
      <p:graphicFrame>
        <p:nvGraphicFramePr>
          <p:cNvPr id="54" name=""/>
          <p:cNvGraphicFramePr/>
          <p:nvPr/>
        </p:nvGraphicFramePr>
        <p:xfrm>
          <a:off xmlns:a="http://schemas.openxmlformats.org/drawingml/2006/main" x="502920" y="6492240"/>
          <a:ext xmlns:a="http://schemas.openxmlformats.org/drawingml/2006/main" cx="6556248" cy="2122488"/>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STAGE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PRODUCED</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RESULT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Simulation</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Listed directed checks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directed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2608 mapped functional cells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mapping</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Routing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Routed DEF and extracted SPEF</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Timing</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TT and slow setup / hold</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GDS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Decoded placement agreement</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export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Foundry DRC / LVS</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 accepted result</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3823380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4cb20d9717264c7d"/>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B081D3A2-C4F7-42DC-90A1-549147D2923D}"/>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CONTENTS</a:t>
            </a:r>
          </a:p>
        </p:txBody>
      </p:sp>
      <p:sp>
        <p:nvSpPr>
          <p:cNvPr id="51" name="page-title">
            <a:extLst xmlns:a="http://schemas.openxmlformats.org/drawingml/2006/main">
              <a:ext uri="{FF2B5EF4-FFF2-40B4-BE49-F238E27FC236}">
                <a16:creationId xmlns:a16="http://schemas.microsoft.com/office/drawing/2014/main" id="{3B916F43-8E69-4ECE-899B-85251176516A}"/>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What is in this document</a:t>
            </a:r>
          </a:p>
        </p:txBody>
      </p:sp>
      <p:sp>
        <p:nvSpPr>
          <p:cNvPr id="52" name="intro">
            <a:extLst xmlns:a="http://schemas.openxmlformats.org/drawingml/2006/main">
              <a:ext uri="{FF2B5EF4-FFF2-40B4-BE49-F238E27FC236}">
                <a16:creationId xmlns:a16="http://schemas.microsoft.com/office/drawing/2014/main" id="{EEA68DF5-B52F-4A1F-A4CB-BA0FDFFD3899}"/>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Start with the wire-level rules, then follow the same circuit through the tools. Each section has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specific evidence boundary.</a:t>
            </a:r>
          </a:p>
        </p:txBody>
      </p:sp>
      <p:sp>
        <p:nvSpPr>
          <p:cNvPr id="53" name="component-label-246.26666666666665">
            <a:extLst xmlns:a="http://schemas.openxmlformats.org/drawingml/2006/main">
              <a:ext uri="{FF2B5EF4-FFF2-40B4-BE49-F238E27FC236}">
                <a16:creationId xmlns:a16="http://schemas.microsoft.com/office/drawing/2014/main" id="{F8C23E64-96C2-4F85-8196-C229778BDDC0}"/>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A D I N G   M A P</a:t>
            </a:r>
          </a:p>
        </p:txBody>
      </p:sp>
      <p:graphicFrame>
        <p:nvGraphicFramePr>
          <p:cNvPr id="68" name=""/>
          <p:cNvGraphicFramePr/>
          <p:nvPr/>
        </p:nvGraphicFramePr>
        <p:xfrm>
          <a:off xmlns:a="http://schemas.openxmlformats.org/drawingml/2006/main" x="502920" y="2610866"/>
          <a:ext xmlns:a="http://schemas.openxmlformats.org/drawingml/2006/main" cx="6556248" cy="6670675"/>
        </p:xfrm>
        <a:graphic xmlns:a="http://schemas.openxmlformats.org/drawingml/2006/main">
          <a:graphicData uri="http://schemas.openxmlformats.org/drawingml/2006/table">
            <a:tbl>
              <a:tblPr/>
              <a:tblGrid>
                <a:gridCol w="5507248"/>
                <a:gridCol w="1049000"/>
              </a:tblGrid>
              <a:tr h="303213">
                <a:tc>
                  <a:txBody>
                    <a:bodyPr lIns="76200" tIns="57150" rIns="76200" bIns="57150">
                      <a:noAutofit/>
                    </a:bodyPr>
                    <a:lstStyle/>
                    <a:p>
                      <a:r>
                        <a:rPr sz="950" b="1">
                          <a:solidFill>
                            <a:srgbClr val="EDEDED"/>
                          </a:solidFill>
                          <a:latin typeface="Segoe UI"/>
                          <a:ea typeface="Segoe UI"/>
                          <a:cs typeface="Segoe UI"/>
                        </a:rPr>
                        <a:t>SECTION</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PAGE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Start here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03</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Chip design in ten minutes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04</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Low speed is a separate line state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05</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NRZI and a stuffed zero</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06</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PID integrity and CRC are not optional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A ROM-driven restricted HID host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08</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What the diagnostic program exercises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09</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Integrity gaps remain actionable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Reconstruct FF from line states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Lint: read code before running it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12</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Diagnostic PASS, enumeration unproven</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13</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 a description becomes gates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14</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Floorplan and 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15</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Clock tree and routing</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16</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Two measured reference corners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Count the right objects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18</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DRC and LVS: what is still missing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19</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Everything at a glance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20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Run it yourself in WSL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21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Sources, ownership and remaining work</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22</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Design and physical glossary</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23–24</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85572410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1" name="Picture 2"/>
          <p:cNvPicPr>
            <a:picLocks xmlns:a="http://schemas.openxmlformats.org/drawingml/2006/main" noChangeAspect="1"/>
          </p:cNvPicPr>
          <p:nvPr/>
        </p:nvPicPr>
        <p:blipFill>
          <a:blip xmlns:r="http://schemas.openxmlformats.org/officeDocument/2006/relationships" xmlns:a="http://schemas.openxmlformats.org/drawingml/2006/main" r:embed="R2ad55d38192041c7"/>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BBADDDD7-D8E1-437D-AD8E-985E985B12AB}"/>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 · START HERE</a:t>
            </a:r>
          </a:p>
        </p:txBody>
      </p:sp>
      <p:sp>
        <p:nvSpPr>
          <p:cNvPr id="51" name="page-title">
            <a:extLst xmlns:a="http://schemas.openxmlformats.org/drawingml/2006/main">
              <a:ext uri="{FF2B5EF4-FFF2-40B4-BE49-F238E27FC236}">
                <a16:creationId xmlns:a16="http://schemas.microsoft.com/office/drawing/2014/main" id="{7BF3B8C0-680B-4D2C-8E37-879EDDF4F2FE}"/>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Start here</a:t>
            </a:r>
          </a:p>
        </p:txBody>
      </p:sp>
      <p:sp>
        <p:nvSpPr>
          <p:cNvPr id="52" name="intro">
            <a:extLst xmlns:a="http://schemas.openxmlformats.org/drawingml/2006/main">
              <a:ext uri="{FF2B5EF4-FFF2-40B4-BE49-F238E27FC236}">
                <a16:creationId xmlns:a16="http://schemas.microsoft.com/office/drawing/2014/main" id="{D2D0D0CF-EA42-4CAC-907A-3318B0E31641}"/>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protocol is an agreement about how connected devices exchange information: which wire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carries each bit, when to sample it, and how to recognise a complete transfer.</a:t>
            </a:r>
          </a:p>
        </p:txBody>
      </p:sp>
      <p:sp>
        <p:nvSpPr>
          <p:cNvPr id="53" name="component-label-246.26666666666665">
            <a:extLst xmlns:a="http://schemas.openxmlformats.org/drawingml/2006/main">
              <a:ext uri="{FF2B5EF4-FFF2-40B4-BE49-F238E27FC236}">
                <a16:creationId xmlns:a16="http://schemas.microsoft.com/office/drawing/2014/main" id="{ED6E9CFA-5DD8-4054-8E5A-D21996A2D860}"/>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W H A T   W E   B U I L T   A N D   W H A T   I T   P R O V E S</a:t>
            </a:r>
          </a:p>
        </p:txBody>
      </p:sp>
      <p:sp>
        <p:nvSpPr>
          <p:cNvPr id="54" name="body-0">
            <a:extLst xmlns:a="http://schemas.openxmlformats.org/drawingml/2006/main">
              <a:ext uri="{FF2B5EF4-FFF2-40B4-BE49-F238E27FC236}">
                <a16:creationId xmlns:a16="http://schemas.microsoft.com/office/drawing/2014/main" id="{49232352-7E9B-457C-B3F9-1FE7ABCC5C57}"/>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Verilog description represents circuits, not software instructions running one after another.
Registers remember values; combinational logic calculates the next values. A </a:t>
            </a:r>
            <a:r>
              <a:rPr b="1"/>
              <a:t>clock</a:t>
            </a:r>
            <a:r>
              <a:t> advances the
registered state. The next pages first explain this protocol at its wires, then connect those rules to
the actual reference RTL.</a:t>
            </a:r>
          </a:p>
        </p:txBody>
      </p:sp>
      <p:sp>
        <p:nvSpPr>
          <p:cNvPr id="55" name="body-1">
            <a:extLst xmlns:a="http://schemas.openxmlformats.org/drawingml/2006/main">
              <a:ext uri="{FF2B5EF4-FFF2-40B4-BE49-F238E27FC236}">
                <a16:creationId xmlns:a16="http://schemas.microsoft.com/office/drawing/2014/main" id="{5CA0AC5E-B210-4E31-A709-1006DCD5DACE}"/>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implemented unit is usb_ls_core in hw/protocols/stretch/usb_ls. It is a fixed </a:t>
            </a:r>
            <a:r>
              <a:rPr b="1"/>
              <a:t>reference</a:t>
            </a:r>
            <a:r>
              <a:t> block,
not the Jane Street programmable combined emulator or a Tiny Tapeout submission top. No new
competition architecture, instruction set, pin map or authority decision is implied by these
documents.</a:t>
            </a:r>
          </a:p>
        </p:txBody>
      </p:sp>
      <p:sp>
        <p:nvSpPr>
          <p:cNvPr id="56" name="body-2">
            <a:extLst xmlns:a="http://schemas.openxmlformats.org/drawingml/2006/main">
              <a:ext uri="{FF2B5EF4-FFF2-40B4-BE49-F238E27FC236}">
                <a16:creationId xmlns:a16="http://schemas.microsoft.com/office/drawing/2014/main" id="{17F39091-FCBD-4779-8291-2A4148ADB878}"/>
              </a:ext>
            </a:extLst>
          </p:cNvPr>
          <p:cNvSpPr>
            <a:spLocks xmlns:a="http://schemas.openxmlformats.org/drawingml/2006/main" noGrp="1"/>
          </p:cNvSpPr>
          <p:nvPr/>
        </p:nvSpPr>
        <p:spPr>
          <a:xfrm xmlns:a="http://schemas.openxmlformats.org/drawingml/2006/main">
            <a:off x="502920" y="4406646"/>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Receive CRC is discarded and PID matching uses only the low nibble. The simulated diagnostic
ROM differs from the hardened production ROM. Later pages give the exact stimulus and the
implementation evidence rather than using a broad protocol-compliant label. A successful
mapped netlist, routed DEF and decoded </a:t>
            </a:r>
            <a:r>
              <a:rPr b="1"/>
              <a:t>GDS</a:t>
            </a:r>
            <a:r>
              <a:t> establish concrete implementation/export results,
not readiness to manufacture.</a:t>
            </a:r>
          </a:p>
        </p:txBody>
      </p:sp>
      <p:sp>
        <p:nvSpPr>
          <p:cNvPr id="57" name="body-3">
            <a:extLst xmlns:a="http://schemas.openxmlformats.org/drawingml/2006/main">
              <a:ext uri="{FF2B5EF4-FFF2-40B4-BE49-F238E27FC236}">
                <a16:creationId xmlns:a16="http://schemas.microsoft.com/office/drawing/2014/main" id="{3252A6F9-6765-4D89-AFE0-A8C29CC03493}"/>
              </a:ext>
            </a:extLst>
          </p:cNvPr>
          <p:cNvSpPr>
            <a:spLocks xmlns:a="http://schemas.openxmlformats.org/drawingml/2006/main" noGrp="1"/>
          </p:cNvSpPr>
          <p:nvPr/>
        </p:nvSpPr>
        <p:spPr>
          <a:xfrm xmlns:a="http://schemas.openxmlformats.org/drawingml/2006/main">
            <a:off x="502920" y="5482717"/>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reading path starts with chip-design vocabulary, then develops the protocol, calculations,
local interface and failure cases. Separate sections explain lint, simulation, synthesis, placement,
routing, timing and </a:t>
            </a:r>
            <a:r>
              <a:rPr b="1"/>
              <a:t>GDS</a:t>
            </a:r>
            <a:r>
              <a:t>. The last two pages define design and physical terms. No prior ASIC-flow
experience is assumed.</a:t>
            </a:r>
          </a:p>
        </p:txBody>
      </p:sp>
      <p:sp>
        <p:nvSpPr>
          <p:cNvPr id="58" name="component-label-669.8800000000001">
            <a:extLst xmlns:a="http://schemas.openxmlformats.org/drawingml/2006/main">
              <a:ext uri="{FF2B5EF4-FFF2-40B4-BE49-F238E27FC236}">
                <a16:creationId xmlns:a16="http://schemas.microsoft.com/office/drawing/2014/main" id="{CF8FA082-FFDB-4476-8162-7C47B3C11776}"/>
              </a:ext>
            </a:extLst>
          </p:cNvPr>
          <p:cNvSpPr>
            <a:spLocks xmlns:a="http://schemas.openxmlformats.org/drawingml/2006/main" noGrp="1"/>
          </p:cNvSpPr>
          <p:nvPr/>
        </p:nvSpPr>
        <p:spPr>
          <a:xfrm xmlns:a="http://schemas.openxmlformats.org/drawingml/2006/main">
            <a:off x="502920" y="6380607"/>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E V I D E N C E   V O C A B U L A R Y</a:t>
            </a:r>
          </a:p>
        </p:txBody>
      </p:sp>
      <p:graphicFrame>
        <p:nvGraphicFramePr>
          <p:cNvPr id="78" name=""/>
          <p:cNvGraphicFramePr/>
          <p:nvPr/>
        </p:nvGraphicFramePr>
        <p:xfrm>
          <a:off xmlns:a="http://schemas.openxmlformats.org/drawingml/2006/main" x="502920" y="6645783"/>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Label</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Meaning in this document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Worked example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Explicit assumptions; independently calculated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Measured trace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Positive digital regression VCD, where present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Directed PASS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Listed assertions and negative controls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Routed / decoded 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Physical export and structural agreement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Signoff</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performed or claimed</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85572410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8" name="Picture 2"/>
          <p:cNvPicPr>
            <a:picLocks xmlns:a="http://schemas.openxmlformats.org/drawingml/2006/main" noChangeAspect="1"/>
          </p:cNvPicPr>
          <p:nvPr/>
        </p:nvPicPr>
        <p:blipFill>
          <a:blip xmlns:r="http://schemas.openxmlformats.org/officeDocument/2006/relationships" xmlns:a="http://schemas.openxmlformats.org/drawingml/2006/main" r:embed="R488ec0349163482c"/>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68FA62C5-A8D5-4B7E-98D2-3F9533F4D1A8}"/>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 · CHIP DESIGN</a:t>
            </a:r>
          </a:p>
        </p:txBody>
      </p:sp>
      <p:sp>
        <p:nvSpPr>
          <p:cNvPr id="51" name="page-title">
            <a:extLst xmlns:a="http://schemas.openxmlformats.org/drawingml/2006/main">
              <a:ext uri="{FF2B5EF4-FFF2-40B4-BE49-F238E27FC236}">
                <a16:creationId xmlns:a16="http://schemas.microsoft.com/office/drawing/2014/main" id="{1F32B4D7-590C-435C-8FAA-B376CDC21106}"/>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Chip design in ten minutes</a:t>
            </a:r>
          </a:p>
        </p:txBody>
      </p:sp>
      <p:sp>
        <p:nvSpPr>
          <p:cNvPr id="52" name="intro">
            <a:extLst xmlns:a="http://schemas.openxmlformats.org/drawingml/2006/main">
              <a:ext uri="{FF2B5EF4-FFF2-40B4-BE49-F238E27FC236}">
                <a16:creationId xmlns:a16="http://schemas.microsoft.com/office/drawing/2014/main" id="{CA1DEDE4-855C-439D-A37C-699CB5E3F6C5}"/>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Each stage makes the same circuit more concrete. The folders below are the actual unit</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layout, not a copied APB command list.</a:t>
            </a:r>
          </a:p>
        </p:txBody>
      </p:sp>
      <p:sp>
        <p:nvSpPr>
          <p:cNvPr id="53" name="component-label-246.26666666666665">
            <a:extLst xmlns:a="http://schemas.openxmlformats.org/drawingml/2006/main">
              <a:ext uri="{FF2B5EF4-FFF2-40B4-BE49-F238E27FC236}">
                <a16:creationId xmlns:a16="http://schemas.microsoft.com/office/drawing/2014/main" id="{03FCDFCA-92DD-4F99-A552-3F7C6A2D1932}"/>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H I P   D E S I G N</a:t>
            </a:r>
          </a:p>
        </p:txBody>
      </p:sp>
      <p:sp>
        <p:nvSpPr>
          <p:cNvPr id="54" name="body-0">
            <a:extLst xmlns:a="http://schemas.openxmlformats.org/drawingml/2006/main">
              <a:ext uri="{FF2B5EF4-FFF2-40B4-BE49-F238E27FC236}">
                <a16:creationId xmlns:a16="http://schemas.microsoft.com/office/drawing/2014/main" id="{EA967AA4-3E37-4862-8D10-BF7AC0C45D1F}"/>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RTL states what hardware should do. A simulator checks selected input sequences before any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silicon exists. Synthesis replaces that description with gates from a process library. Physical tools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choose positions and metal routes. Timing analysis checks the resulting delays; stream-out writes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mask-layout geometry.</a:t>
            </a:r>
          </a:p>
        </p:txBody>
      </p:sp>
      <p:sp>
        <p:nvSpPr>
          <p:cNvPr id="55" name="component-label-368.3733333333333">
            <a:extLst xmlns:a="http://schemas.openxmlformats.org/drawingml/2006/main">
              <a:ext uri="{FF2B5EF4-FFF2-40B4-BE49-F238E27FC236}">
                <a16:creationId xmlns:a16="http://schemas.microsoft.com/office/drawing/2014/main" id="{1E4AC04F-FDD7-4822-9E7B-9F0B55AE5B03}"/>
              </a:ext>
            </a:extLst>
          </p:cNvPr>
          <p:cNvSpPr>
            <a:spLocks xmlns:a="http://schemas.openxmlformats.org/drawingml/2006/main" noGrp="1"/>
          </p:cNvSpPr>
          <p:nvPr/>
        </p:nvSpPr>
        <p:spPr>
          <a:xfrm xmlns:a="http://schemas.openxmlformats.org/drawingml/2006/main">
            <a:off x="502920" y="350875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T H E   P I P E L I N E ,   S T A G E   B Y   S T A G E</a:t>
            </a:r>
          </a:p>
        </p:txBody>
      </p:sp>
      <p:graphicFrame>
        <p:nvGraphicFramePr>
          <p:cNvPr id="72" name=""/>
          <p:cNvGraphicFramePr/>
          <p:nvPr/>
        </p:nvGraphicFramePr>
        <p:xfrm>
          <a:off xmlns:a="http://schemas.openxmlformats.org/drawingml/2006/main" x="502920" y="3773932"/>
          <a:ext xmlns:a="http://schemas.openxmlformats.org/drawingml/2006/main" cx="6556248" cy="3941762"/>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FOLDER</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HAPPENS HERE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00_lint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Read code for risky patterns; retained warnings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01_rtl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Pinned source and the local wrapper</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02_sim</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Independent stimulus, comparisons and fatal controls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03_verification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Supplemental checks; not a universal UVM PASS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04_synthesis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Map functional logic to SG13G2 cells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05_dft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Manufacturing test work remains unperformed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06_floorplanning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Die outline, rows, power and pin locations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07_placement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Choose legal positions for mapped cells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09_place_and_route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Clock tree, routing and SPEF extraction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08_sta</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Read post-route TT and slow timing reports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10_gds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Stream-out and independent placement decoder</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11_physical_verification</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Foundry DRC / LVS remain 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85572410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3598de43b77e4b8e"/>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05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5FEB6466-2AAD-41B6-8BBE-0135379E26C5}"/>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3 · ELECTRICAL BOUNDARY</a:t>
            </a:r>
          </a:p>
        </p:txBody>
      </p:sp>
      <p:sp>
        <p:nvSpPr>
          <p:cNvPr id="51" name="page-title">
            <a:extLst xmlns:a="http://schemas.openxmlformats.org/drawingml/2006/main">
              <a:ext uri="{FF2B5EF4-FFF2-40B4-BE49-F238E27FC236}">
                <a16:creationId xmlns:a16="http://schemas.microsoft.com/office/drawing/2014/main" id="{D743B476-F801-4B87-A2A5-D55AFD1F6EE4}"/>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Low speed is a separate line state</a:t>
            </a:r>
          </a:p>
        </p:txBody>
      </p:sp>
      <p:sp>
        <p:nvSpPr>
          <p:cNvPr id="52" name="intro">
            <a:extLst xmlns:a="http://schemas.openxmlformats.org/drawingml/2006/main">
              <a:ext uri="{FF2B5EF4-FFF2-40B4-BE49-F238E27FC236}">
                <a16:creationId xmlns:a16="http://schemas.microsoft.com/office/drawing/2014/main" id="{C3401AB9-9793-4FD1-AFC4-305352A85D43}"/>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restricted host uses a 12 MHz clock and eight clock ticks per low-speed bit.</a:t>
            </a:r>
          </a:p>
        </p:txBody>
      </p:sp>
      <p:sp>
        <p:nvSpPr>
          <p:cNvPr id="53" name="component-label-225.93333333333334">
            <a:extLst xmlns:a="http://schemas.openxmlformats.org/drawingml/2006/main">
              <a:ext uri="{FF2B5EF4-FFF2-40B4-BE49-F238E27FC236}">
                <a16:creationId xmlns:a16="http://schemas.microsoft.com/office/drawing/2014/main" id="{C1AA3FDA-F0AC-40C2-8FDB-441F909401D1}"/>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E L E C T R I C A L   B O U N D A R Y</a:t>
            </a:r>
          </a:p>
        </p:txBody>
      </p:sp>
      <p:sp>
        <p:nvSpPr>
          <p:cNvPr id="54" name="body-0">
            <a:extLst xmlns:a="http://schemas.openxmlformats.org/drawingml/2006/main">
              <a:ext uri="{FF2B5EF4-FFF2-40B4-BE49-F238E27FC236}">
                <a16:creationId xmlns:a16="http://schemas.microsoft.com/office/drawing/2014/main" id="{C86DE050-D137-494D-BC93-7AB742288AC8}"/>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1.5 Mbit/s line has a 666.667 ns nominal bit interval. The </a:t>
            </a:r>
            <a:r>
              <a:rPr b="1"/>
              <a:t>reference</a:t>
            </a:r>
            <a:r>
              <a:t> clock period is 83.333333 ns,
so eight ticks occupy one bit. In low-speed signalling the J idle state has D- high and D+ low; K is
the opposite differential state. SE0 places both low. These are logical states, not a claim about pad
voltages or measured rise/fall times.</a:t>
            </a:r>
          </a:p>
        </p:txBody>
      </p:sp>
      <p:sp>
        <p:nvSpPr>
          <p:cNvPr id="55" name="body-1">
            <a:extLst xmlns:a="http://schemas.openxmlformats.org/drawingml/2006/main">
              <a:ext uri="{FF2B5EF4-FFF2-40B4-BE49-F238E27FC236}">
                <a16:creationId xmlns:a16="http://schemas.microsoft.com/office/drawing/2014/main" id="{C516DFD9-AFCE-449D-9B7E-F8A248D5A527}"/>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digital wrapper exposes separate input, output and output-enable signals. A real host needs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suitable electrical pads or a transceiver, host pull-downs, a protected VBUS supply, connector and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grounding. Those elements are absent from this block. The report/debug outputs likewise do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turn it into a general USB controller with an application bus.</a:t>
            </a:r>
          </a:p>
        </p:txBody>
      </p:sp>
      <p:sp>
        <p:nvSpPr>
          <p:cNvPr id="56" name="body-2">
            <a:extLst xmlns:a="http://schemas.openxmlformats.org/drawingml/2006/main">
              <a:ext uri="{FF2B5EF4-FFF2-40B4-BE49-F238E27FC236}">
                <a16:creationId xmlns:a16="http://schemas.microsoft.com/office/drawing/2014/main" id="{BBC91A61-5C51-4540-ACDA-1E293E99806F}"/>
              </a:ext>
            </a:extLst>
          </p:cNvPr>
          <p:cNvSpPr>
            <a:spLocks xmlns:a="http://schemas.openxmlformats.org/drawingml/2006/main" noGrp="1"/>
          </p:cNvSpPr>
          <p:nvPr/>
        </p:nvSpPr>
        <p:spPr>
          <a:xfrm xmlns:a="http://schemas.openxmlformats.org/drawingml/2006/main">
            <a:off x="502920" y="421297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hardened configuration sets FULL_SPEED=0. A full-speed example from another test cannot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be reused by changing only a caption. Bit timing, idle polarity and the physical connection role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must all agree with the low-speed configuration.</a:t>
            </a:r>
          </a:p>
        </p:txBody>
      </p:sp>
      <p:sp>
        <p:nvSpPr>
          <p:cNvPr id="57" name="component-label-517.8666666666667">
            <a:extLst xmlns:a="http://schemas.openxmlformats.org/drawingml/2006/main">
              <a:ext uri="{FF2B5EF4-FFF2-40B4-BE49-F238E27FC236}">
                <a16:creationId xmlns:a16="http://schemas.microsoft.com/office/drawing/2014/main" id="{3C8BCE6D-945F-4517-8C03-3F29E8F5CFF2}"/>
              </a:ext>
            </a:extLst>
          </p:cNvPr>
          <p:cNvSpPr>
            <a:spLocks xmlns:a="http://schemas.openxmlformats.org/drawingml/2006/main" noGrp="1"/>
          </p:cNvSpPr>
          <p:nvPr/>
        </p:nvSpPr>
        <p:spPr>
          <a:xfrm xmlns:a="http://schemas.openxmlformats.org/drawingml/2006/main">
            <a:off x="502920" y="493268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O W - S P E E D   L O G I C A L   S T A T E S</a:t>
            </a:r>
          </a:p>
        </p:txBody>
      </p:sp>
      <p:graphicFrame>
        <p:nvGraphicFramePr>
          <p:cNvPr id="76" name=""/>
          <p:cNvGraphicFramePr/>
          <p:nvPr/>
        </p:nvGraphicFramePr>
        <p:xfrm>
          <a:off xmlns:a="http://schemas.openxmlformats.org/drawingml/2006/main" x="502920" y="5197856"/>
          <a:ext xmlns:a="http://schemas.openxmlformats.org/drawingml/2006/main" cx="6556248" cy="1516063"/>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State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D+</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D-</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J idle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K</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SE0</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SE1</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 not normal packet data</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85572410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baf0730d89a04c76"/>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06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0F41D68E-F6CB-4F66-A098-A2F9E1BC0C1F}"/>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4 · LINE CODING</a:t>
            </a:r>
          </a:p>
        </p:txBody>
      </p:sp>
      <p:sp>
        <p:nvSpPr>
          <p:cNvPr id="51" name="page-title">
            <a:extLst xmlns:a="http://schemas.openxmlformats.org/drawingml/2006/main">
              <a:ext uri="{FF2B5EF4-FFF2-40B4-BE49-F238E27FC236}">
                <a16:creationId xmlns:a16="http://schemas.microsoft.com/office/drawing/2014/main" id="{D395DDAF-AD1C-4FAA-8C49-E24694D35CC2}"/>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NRZI and a stuffed zero</a:t>
            </a:r>
          </a:p>
        </p:txBody>
      </p:sp>
      <p:sp>
        <p:nvSpPr>
          <p:cNvPr id="52" name="intro">
            <a:extLst xmlns:a="http://schemas.openxmlformats.org/drawingml/2006/main">
              <a:ext uri="{FF2B5EF4-FFF2-40B4-BE49-F238E27FC236}">
                <a16:creationId xmlns:a16="http://schemas.microsoft.com/office/drawing/2014/main" id="{89FE25F7-B98A-4FB5-9CD4-FE6324AE4C7D}"/>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Data bits are reconstructed from changes between sampled differential states.</a:t>
            </a:r>
          </a:p>
        </p:txBody>
      </p:sp>
      <p:sp>
        <p:nvSpPr>
          <p:cNvPr id="53" name="component-label-225.93333333333334">
            <a:extLst xmlns:a="http://schemas.openxmlformats.org/drawingml/2006/main">
              <a:ext uri="{FF2B5EF4-FFF2-40B4-BE49-F238E27FC236}">
                <a16:creationId xmlns:a16="http://schemas.microsoft.com/office/drawing/2014/main" id="{AABEE14F-74A1-4325-91E9-5A060A8CDE94}"/>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N E   C O D I N G</a:t>
            </a:r>
          </a:p>
        </p:txBody>
      </p:sp>
      <p:sp>
        <p:nvSpPr>
          <p:cNvPr id="54" name="body-0">
            <a:extLst xmlns:a="http://schemas.openxmlformats.org/drawingml/2006/main">
              <a:ext uri="{FF2B5EF4-FFF2-40B4-BE49-F238E27FC236}">
                <a16:creationId xmlns:a16="http://schemas.microsoft.com/office/drawing/2014/main" id="{93825D1A-7269-461A-B04D-4C2CD1DA9FA3}"/>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
            </a:r>
            <a:r>
              <a:rPr b="1"/>
              <a:t>NRZI</a:t>
            </a:r>
            <a:r>
              <a:t> sends a zero by changing between J and K and a one by retaining the prior state. The byte is
still processed least-significant bit first. A run of six consecutive data ones requires insertion of a
zero before the next original bit. The inserted bit changes the line state but is removed by the
receiver rather than delivered as payload.</a:t>
            </a:r>
          </a:p>
        </p:txBody>
      </p:sp>
      <p:sp>
        <p:nvSpPr>
          <p:cNvPr id="55" name="body-1">
            <a:extLst xmlns:a="http://schemas.openxmlformats.org/drawingml/2006/main">
              <a:ext uri="{FF2B5EF4-FFF2-40B4-BE49-F238E27FC236}">
                <a16:creationId xmlns:a16="http://schemas.microsoft.com/office/drawing/2014/main" id="{0F266D33-ECA5-44AF-8623-916CEDF8D306}"/>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For an isolated FF byte, eight original one bits occupy nine encoded slots because one zero is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inserted after the sixth one. With a starting J state, the first six ones retain J, the stuffed zero</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changes to K, and the final two ones retain K. An adjacent byte can alter the stuffing count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because the consecutive-one state crosses byte boundaries.</a:t>
            </a:r>
          </a:p>
        </p:txBody>
      </p:sp>
      <p:sp>
        <p:nvSpPr>
          <p:cNvPr id="56" name="body-2">
            <a:extLst xmlns:a="http://schemas.openxmlformats.org/drawingml/2006/main">
              <a:ext uri="{FF2B5EF4-FFF2-40B4-BE49-F238E27FC236}">
                <a16:creationId xmlns:a16="http://schemas.microsoft.com/office/drawing/2014/main" id="{A1437158-F25C-45C3-BFAA-AFC7A7888901}"/>
              </a:ext>
            </a:extLst>
          </p:cNvPr>
          <p:cNvSpPr>
            <a:spLocks xmlns:a="http://schemas.openxmlformats.org/drawingml/2006/main" noGrp="1"/>
          </p:cNvSpPr>
          <p:nvPr/>
        </p:nvSpPr>
        <p:spPr>
          <a:xfrm xmlns:a="http://schemas.openxmlformats.org/drawingml/2006/main">
            <a:off x="502920" y="421297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Nine slots at 1.5 Mbit/s take 6 us, compared with 5.333 us for eight unstuffed slots. This classroom
calculation omits SYNC, PID, CRC and packet boundaries. A </a:t>
            </a:r>
            <a:r>
              <a:rPr b="1"/>
              <a:t>payload</a:t>
            </a:r>
            <a:r>
              <a:t> byte rate cannot be inferred
by dividing the line bit rate by eight and ignoring these costs.</a:t>
            </a:r>
          </a:p>
        </p:txBody>
      </p:sp>
      <p:sp>
        <p:nvSpPr>
          <p:cNvPr id="57" name="component-label-517.8666666666667">
            <a:extLst xmlns:a="http://schemas.openxmlformats.org/drawingml/2006/main">
              <a:ext uri="{FF2B5EF4-FFF2-40B4-BE49-F238E27FC236}">
                <a16:creationId xmlns:a16="http://schemas.microsoft.com/office/drawing/2014/main" id="{55A7037A-89EE-4980-8955-F76D58384A52}"/>
              </a:ext>
            </a:extLst>
          </p:cNvPr>
          <p:cNvSpPr>
            <a:spLocks xmlns:a="http://schemas.openxmlformats.org/drawingml/2006/main" noGrp="1"/>
          </p:cNvSpPr>
          <p:nvPr/>
        </p:nvSpPr>
        <p:spPr>
          <a:xfrm xmlns:a="http://schemas.openxmlformats.org/drawingml/2006/main">
            <a:off x="502920" y="493268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W O R K E D   I S O L A T E D   F F</a:t>
            </a:r>
          </a:p>
        </p:txBody>
      </p:sp>
      <p:graphicFrame>
        <p:nvGraphicFramePr>
          <p:cNvPr id="76" name=""/>
          <p:cNvGraphicFramePr/>
          <p:nvPr/>
        </p:nvGraphicFramePr>
        <p:xfrm>
          <a:off xmlns:a="http://schemas.openxmlformats.org/drawingml/2006/main" x="502920" y="5197856"/>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Slots</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Original data / line action</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1..6</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Six ones; hold J</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7</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Stuffed zero; change to K</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8..9</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Remaining two ones; hold K</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Decoded payload</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FF; stuffed slot removed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85572410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bb63a0f73b84415b"/>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07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CDBDCCE4-AE49-465E-9CBF-54E52FF703A0}"/>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5 · PACKET RULES</a:t>
            </a:r>
          </a:p>
        </p:txBody>
      </p:sp>
      <p:sp>
        <p:nvSpPr>
          <p:cNvPr id="51" name="page-title">
            <a:extLst xmlns:a="http://schemas.openxmlformats.org/drawingml/2006/main">
              <a:ext uri="{FF2B5EF4-FFF2-40B4-BE49-F238E27FC236}">
                <a16:creationId xmlns:a16="http://schemas.microsoft.com/office/drawing/2014/main" id="{120BFEAB-C516-4528-8BB3-B18411381D95}"/>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PID integrity and CRC are not optional</a:t>
            </a:r>
          </a:p>
        </p:txBody>
      </p:sp>
      <p:sp>
        <p:nvSpPr>
          <p:cNvPr id="52" name="intro">
            <a:extLst xmlns:a="http://schemas.openxmlformats.org/drawingml/2006/main">
              <a:ext uri="{FF2B5EF4-FFF2-40B4-BE49-F238E27FC236}">
                <a16:creationId xmlns:a16="http://schemas.microsoft.com/office/drawing/2014/main" id="{73E60DF3-2CAD-42E2-A4B7-33F913FDE5F2}"/>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Line-code success alone does not prove packet acceptance or USB compliance.</a:t>
            </a:r>
          </a:p>
        </p:txBody>
      </p:sp>
      <p:sp>
        <p:nvSpPr>
          <p:cNvPr id="53" name="component-label-225.93333333333334">
            <a:extLst xmlns:a="http://schemas.openxmlformats.org/drawingml/2006/main">
              <a:ext uri="{FF2B5EF4-FFF2-40B4-BE49-F238E27FC236}">
                <a16:creationId xmlns:a16="http://schemas.microsoft.com/office/drawing/2014/main" id="{62A6B5FB-F5EA-46F0-BDC9-32CDAAA04F41}"/>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P A C K E T   R U L E S</a:t>
            </a:r>
          </a:p>
        </p:txBody>
      </p:sp>
      <p:sp>
        <p:nvSpPr>
          <p:cNvPr id="54" name="body-0">
            <a:extLst xmlns:a="http://schemas.openxmlformats.org/drawingml/2006/main">
              <a:ext uri="{FF2B5EF4-FFF2-40B4-BE49-F238E27FC236}">
                <a16:creationId xmlns:a16="http://schemas.microsoft.com/office/drawing/2014/main" id="{F7C3B4E3-8D91-4CCA-B2EC-A9D9785C2EDD}"/>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 USB PID carries a four-bit packet identifier and its complemented high nibble. DATA0 is C3: the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low nibble is 3 and the high nibble is C. Requiring the XOR of those nibbles to be F detects an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inconsistent PID complement. The imported receive path recognises PIDs from only the low</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nibble; this additional integrity check is not demonstrated.</a:t>
            </a:r>
          </a:p>
        </p:txBody>
      </p:sp>
      <p:sp>
        <p:nvSpPr>
          <p:cNvPr id="55" name="body-1">
            <a:extLst xmlns:a="http://schemas.openxmlformats.org/drawingml/2006/main">
              <a:ext uri="{FF2B5EF4-FFF2-40B4-BE49-F238E27FC236}">
                <a16:creationId xmlns:a16="http://schemas.microsoft.com/office/drawing/2014/main" id="{8B634CF3-B2B5-4745-A155-201C7C6515D2}"/>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data packet also carries </a:t>
            </a:r>
            <a:r>
              <a:rPr b="1"/>
              <a:t>CRC16</a:t>
            </a:r>
            <a:r>
              <a:t> over its payload, using the USB data CRC polynomial. The
reflected byte-by-byte classroom calculation starts at FFFF, uses A001 for least-significant-bit-first
updates, and complements the final state. For ASCII 123456789 this convention produces B4C8.
This is a worked arithmetic vector, not a new passing DUT CRC test.</a:t>
            </a:r>
          </a:p>
        </p:txBody>
      </p:sp>
      <p:sp>
        <p:nvSpPr>
          <p:cNvPr id="56" name="body-2">
            <a:extLst xmlns:a="http://schemas.openxmlformats.org/drawingml/2006/main">
              <a:ext uri="{FF2B5EF4-FFF2-40B4-BE49-F238E27FC236}">
                <a16:creationId xmlns:a16="http://schemas.microsoft.com/office/drawing/2014/main" id="{08C4981C-8E45-4780-8EF4-C910A7ED6CFA}"/>
              </a:ext>
            </a:extLst>
          </p:cNvPr>
          <p:cNvSpPr>
            <a:spLocks xmlns:a="http://schemas.openxmlformats.org/drawingml/2006/main" noGrp="1"/>
          </p:cNvSpPr>
          <p:nvPr/>
        </p:nvSpPr>
        <p:spPr>
          <a:xfrm xmlns:a="http://schemas.openxmlformats.org/drawingml/2006/main">
            <a:off x="502920" y="421297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
            </a:r>
            <a:r>
              <a:rPr b="1"/>
              <a:t>Source</a:t>
            </a:r>
            <a:r>
              <a:t> review and the directed bench show the present receive engine discarding its two CRC
bytes. The bench deliberately sends 00 00 and says they are ignored. A malformed received CRC
can therefore leave the payload path apparently successful. The whitepaper does not label this
engine a compliant general-purpose USB implementation.</a:t>
            </a:r>
          </a:p>
        </p:txBody>
      </p:sp>
      <p:sp>
        <p:nvSpPr>
          <p:cNvPr id="57" name="component-label-536.5733333333334">
            <a:extLst xmlns:a="http://schemas.openxmlformats.org/drawingml/2006/main">
              <a:ext uri="{FF2B5EF4-FFF2-40B4-BE49-F238E27FC236}">
                <a16:creationId xmlns:a16="http://schemas.microsoft.com/office/drawing/2014/main" id="{8D5A8C05-3E5D-4A38-B2BB-76CCCC8FE927}"/>
              </a:ext>
            </a:extLst>
          </p:cNvPr>
          <p:cNvSpPr>
            <a:spLocks xmlns:a="http://schemas.openxmlformats.org/drawingml/2006/main" noGrp="1"/>
          </p:cNvSpPr>
          <p:nvPr/>
        </p:nvSpPr>
        <p:spPr>
          <a:xfrm xmlns:a="http://schemas.openxmlformats.org/drawingml/2006/main">
            <a:off x="502920" y="5110861"/>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I N T E G R I T Y   B O U N D A R Y</a:t>
            </a:r>
          </a:p>
        </p:txBody>
      </p:sp>
      <p:graphicFrame>
        <p:nvGraphicFramePr>
          <p:cNvPr id="76" name=""/>
          <p:cNvGraphicFramePr/>
          <p:nvPr/>
        </p:nvGraphicFramePr>
        <p:xfrm>
          <a:off xmlns:a="http://schemas.openxmlformats.org/drawingml/2006/main" x="502920" y="5376037"/>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Check</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This reference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NRZI and inserted-zero handling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Directed simulation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PID complemented nibble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Not established; low nibble used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Received payload CRC16</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validated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Complete USB compliance</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Not claimed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85572410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2" name="Picture 2"/>
          <p:cNvPicPr>
            <a:picLocks xmlns:a="http://schemas.openxmlformats.org/drawingml/2006/main" noChangeAspect="1"/>
          </p:cNvPicPr>
          <p:nvPr/>
        </p:nvPicPr>
        <p:blipFill>
          <a:blip xmlns:r="http://schemas.openxmlformats.org/officeDocument/2006/relationships" xmlns:a="http://schemas.openxmlformats.org/drawingml/2006/main" r:embed="R4cad2a72c9b54506"/>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08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2CEF81FC-E38E-4C78-955B-9EAE1E4498CC}"/>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6 · RTL INTERFACE</a:t>
            </a:r>
          </a:p>
        </p:txBody>
      </p:sp>
      <p:sp>
        <p:nvSpPr>
          <p:cNvPr id="51" name="page-title">
            <a:extLst xmlns:a="http://schemas.openxmlformats.org/drawingml/2006/main">
              <a:ext uri="{FF2B5EF4-FFF2-40B4-BE49-F238E27FC236}">
                <a16:creationId xmlns:a16="http://schemas.microsoft.com/office/drawing/2014/main" id="{2A67FF33-F0CB-4427-8E3D-52234E0D6DBB}"/>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A ROM-driven restricted HID host</a:t>
            </a:r>
          </a:p>
        </p:txBody>
      </p:sp>
      <p:sp>
        <p:nvSpPr>
          <p:cNvPr id="52" name="intro">
            <a:extLst xmlns:a="http://schemas.openxmlformats.org/drawingml/2006/main">
              <a:ext uri="{FF2B5EF4-FFF2-40B4-BE49-F238E27FC236}">
                <a16:creationId xmlns:a16="http://schemas.microsoft.com/office/drawing/2014/main" id="{3C53EDF5-E1F8-48CC-97B1-31E9822F2401}"/>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wrapper embeds a synchronous 1024-by-4-bit instruction ROM.</a:t>
            </a:r>
          </a:p>
        </p:txBody>
      </p:sp>
      <p:sp>
        <p:nvSpPr>
          <p:cNvPr id="53" name="component-label-225.93333333333334">
            <a:extLst xmlns:a="http://schemas.openxmlformats.org/drawingml/2006/main">
              <a:ext uri="{FF2B5EF4-FFF2-40B4-BE49-F238E27FC236}">
                <a16:creationId xmlns:a16="http://schemas.microsoft.com/office/drawing/2014/main" id="{46BAD472-2AF0-4CC1-B6A4-35791F13B9E9}"/>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T L   I N T E R F A C E</a:t>
            </a:r>
          </a:p>
        </p:txBody>
      </p:sp>
      <p:sp>
        <p:nvSpPr>
          <p:cNvPr id="54" name="body-0">
            <a:extLst xmlns:a="http://schemas.openxmlformats.org/drawingml/2006/main">
              <a:ext uri="{FF2B5EF4-FFF2-40B4-BE49-F238E27FC236}">
                <a16:creationId xmlns:a16="http://schemas.microsoft.com/office/drawing/2014/main" id="{A63145E7-A25F-4E94-92FF-D606909FB378}"/>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usb_ls_core instantiates usb_hid_host with FULL_SPEED fixed to zero. The default ROM_FILE is the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production HID microcode image in 01_rtl. A synchronous ROM read supplies four-bit instructions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to the controller. The wrapper exposes device_type, report_valid, connection_error, busy,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report_data and hid_registers, alongside the differential pin interface.</a:t>
            </a:r>
          </a:p>
        </p:txBody>
      </p:sp>
      <p:sp>
        <p:nvSpPr>
          <p:cNvPr id="55" name="body-1">
            <a:extLst xmlns:a="http://schemas.openxmlformats.org/drawingml/2006/main">
              <a:ext uri="{FF2B5EF4-FFF2-40B4-BE49-F238E27FC236}">
                <a16:creationId xmlns:a16="http://schemas.microsoft.com/office/drawing/2014/main" id="{0E0E1CDA-F708-4A98-A126-C1B0071A8B43}"/>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
            </a:r>
            <a:r>
              <a:rPr b="1"/>
              <a:t>Reset</a:t>
            </a:r>
            <a:r>
              <a:t> is synchronous active high. The cs input remains high for normal execution. Inputs pass
through the upstream sampled filter, whose presence is not itself a CDC signoff claim. The 64-bit
report/debug values are specific to this implementation and should not be confused with arbitrary
bulk-transfer payload ports.</a:t>
            </a:r>
          </a:p>
        </p:txBody>
      </p:sp>
      <p:sp>
        <p:nvSpPr>
          <p:cNvPr id="56" name="body-2">
            <a:extLst xmlns:a="http://schemas.openxmlformats.org/drawingml/2006/main">
              <a:ext uri="{FF2B5EF4-FFF2-40B4-BE49-F238E27FC236}">
                <a16:creationId xmlns:a16="http://schemas.microsoft.com/office/drawing/2014/main" id="{1B8BA5BA-5555-4C6F-8DFF-AC19C2462255}"/>
              </a:ext>
            </a:extLst>
          </p:cNvPr>
          <p:cNvSpPr>
            <a:spLocks xmlns:a="http://schemas.openxmlformats.org/drawingml/2006/main" noGrp="1"/>
          </p:cNvSpPr>
          <p:nvPr/>
        </p:nvSpPr>
        <p:spPr>
          <a:xfrm xmlns:a="http://schemas.openxmlformats.org/drawingml/2006/main">
            <a:off x="502920" y="421297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simulation overrides ROM_FILE with a short diagnostic program. This deliberately exercises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real top-level line-code machinery, but it does not execute the production enumeration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program used in the physical build. The distinction is a verification boundary, not merely a</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different path name.</a:t>
            </a:r>
          </a:p>
        </p:txBody>
      </p:sp>
      <p:sp>
        <p:nvSpPr>
          <p:cNvPr id="57" name="component-label-536.5733333333334">
            <a:extLst xmlns:a="http://schemas.openxmlformats.org/drawingml/2006/main">
              <a:ext uri="{FF2B5EF4-FFF2-40B4-BE49-F238E27FC236}">
                <a16:creationId xmlns:a16="http://schemas.microsoft.com/office/drawing/2014/main" id="{D7CE8D06-230D-402A-8D63-2260FE030C37}"/>
              </a:ext>
            </a:extLst>
          </p:cNvPr>
          <p:cNvSpPr>
            <a:spLocks xmlns:a="http://schemas.openxmlformats.org/drawingml/2006/main" noGrp="1"/>
          </p:cNvSpPr>
          <p:nvPr/>
        </p:nvSpPr>
        <p:spPr>
          <a:xfrm xmlns:a="http://schemas.openxmlformats.org/drawingml/2006/main">
            <a:off x="502920" y="5110861"/>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58" name="code-panel">
            <a:extLst xmlns:a="http://schemas.openxmlformats.org/drawingml/2006/main">
              <a:ext uri="{FF2B5EF4-FFF2-40B4-BE49-F238E27FC236}">
                <a16:creationId xmlns:a16="http://schemas.microsoft.com/office/drawing/2014/main" id="{A659A43D-6A7F-4C45-8374-EEFBEDA13C58}"/>
              </a:ext>
            </a:extLst>
          </p:cNvPr>
          <p:cNvSpPr>
            <a:spLocks xmlns:a="http://schemas.openxmlformats.org/drawingml/2006/main" noGrp="1"/>
          </p:cNvSpPr>
          <p:nvPr/>
        </p:nvSpPr>
        <p:spPr>
          <a:xfrm xmlns:a="http://schemas.openxmlformats.org/drawingml/2006/main">
            <a:off x="502920" y="5376037"/>
            <a:ext cx="6556248" cy="115824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59" name="code">
            <a:extLst xmlns:a="http://schemas.openxmlformats.org/drawingml/2006/main">
              <a:ext uri="{FF2B5EF4-FFF2-40B4-BE49-F238E27FC236}">
                <a16:creationId xmlns:a16="http://schemas.microsoft.com/office/drawing/2014/main" id="{730D6F73-E1CE-447D-AF08-A92A845760E6}"/>
              </a:ext>
            </a:extLst>
          </p:cNvPr>
          <p:cNvSpPr>
            <a:spLocks xmlns:a="http://schemas.openxmlformats.org/drawingml/2006/main" noGrp="1"/>
          </p:cNvSpPr>
          <p:nvPr/>
        </p:nvSpPr>
        <p:spPr>
          <a:xfrm xmlns:a="http://schemas.openxmlformats.org/drawingml/2006/main">
            <a:off x="617220" y="5471287"/>
            <a:ext cx="6327648" cy="1005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DEDED"/>
                </a:solidFill>
              </a:rPr>
              <a:t>module usb_ls_core #(</a:t>
            </a:r>
            <a:r>
              <a:rPr>
                <a:solidFill>
                  <a:srgbClr val="EDEDED"/>
                </a:solidFill>
              </a:rPr>
              <a:t>
parameter ROM_FILE = "01_rtl/usb_hid_host_rom.mem"</a:t>
            </a:r>
            <a:r>
              <a:rPr>
                <a:solidFill>
                  <a:srgbClr val="EDEDED"/>
                </a:solidFill>
              </a:rPr>
              <a:t>
)(</a:t>
            </a:r>
            <a:r>
              <a:rPr>
                <a:solidFill>
                  <a:srgbClr val="EDEDED"/>
                </a:solidFill>
              </a:rPr>
              <a:t>
input wire clk, rst, cs,</a:t>
            </a:r>
            <a:r>
              <a:rPr>
                <a:solidFill>
                  <a:srgbClr val="EDEDED"/>
                </a:solidFill>
              </a:rPr>
              <a:t>
input wire usb_dm_i, usb_dp_i,</a:t>
            </a:r>
            <a:r>
              <a:rPr>
                <a:solidFill>
                  <a:srgbClr val="EDEDED"/>
                </a:solidFill>
              </a:rPr>
              <a:t>
output wire usb_dm_o, usb_dp_o, usb_oe,</a:t>
            </a:r>
          </a:p>
        </p:txBody>
      </p:sp>
      <p:sp>
        <p:nvSpPr>
          <p:cNvPr id="60" name="code-source">
            <a:extLst xmlns:a="http://schemas.openxmlformats.org/drawingml/2006/main">
              <a:ext uri="{FF2B5EF4-FFF2-40B4-BE49-F238E27FC236}">
                <a16:creationId xmlns:a16="http://schemas.microsoft.com/office/drawing/2014/main" id="{FF0D4B4D-D12C-4E2C-B66E-2FBA4F9FFD20}"/>
              </a:ext>
            </a:extLst>
          </p:cNvPr>
          <p:cNvSpPr>
            <a:spLocks xmlns:a="http://schemas.openxmlformats.org/drawingml/2006/main" noGrp="1"/>
          </p:cNvSpPr>
          <p:nvPr/>
        </p:nvSpPr>
        <p:spPr>
          <a:xfrm xmlns:a="http://schemas.openxmlformats.org/drawingml/2006/main">
            <a:off x="502920" y="6591427"/>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01_rtl/usb_ls_core.v:10; excerpt, not a complete module</a:t>
            </a:r>
          </a:p>
        </p:txBody>
      </p:sp>
    </p:spTree>
    <p:extLst>
      <p:ext uri="{BB962C8B-B14F-4D97-AF65-F5344CB8AC3E}">
        <p14:creationId xmlns:p14="http://schemas.microsoft.com/office/powerpoint/2010/main" val="185572410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7868f2fba8c84f7d"/>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09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8DC4FD2E-A753-4D65-A724-0FEF13EEAFC1}"/>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7 · CONTROL SEQUENCE</a:t>
            </a:r>
          </a:p>
        </p:txBody>
      </p:sp>
      <p:sp>
        <p:nvSpPr>
          <p:cNvPr id="51" name="page-title">
            <a:extLst xmlns:a="http://schemas.openxmlformats.org/drawingml/2006/main">
              <a:ext uri="{FF2B5EF4-FFF2-40B4-BE49-F238E27FC236}">
                <a16:creationId xmlns:a16="http://schemas.microsoft.com/office/drawing/2014/main" id="{768D1CFB-4B86-42D6-92BC-B220EDF71022}"/>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What the diagnostic program exercises</a:t>
            </a:r>
          </a:p>
        </p:txBody>
      </p:sp>
      <p:sp>
        <p:nvSpPr>
          <p:cNvPr id="52" name="intro">
            <a:extLst xmlns:a="http://schemas.openxmlformats.org/drawingml/2006/main">
              <a:ext uri="{FF2B5EF4-FFF2-40B4-BE49-F238E27FC236}">
                <a16:creationId xmlns:a16="http://schemas.microsoft.com/office/drawing/2014/main" id="{B1193E74-17D1-472F-9B19-5D86201B2A81}"/>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diagnostic ROM is a controlled stimulus path, not an enumeration claim.</a:t>
            </a:r>
          </a:p>
        </p:txBody>
      </p:sp>
      <p:sp>
        <p:nvSpPr>
          <p:cNvPr id="53" name="component-label-225.93333333333334">
            <a:extLst xmlns:a="http://schemas.openxmlformats.org/drawingml/2006/main">
              <a:ext uri="{FF2B5EF4-FFF2-40B4-BE49-F238E27FC236}">
                <a16:creationId xmlns:a16="http://schemas.microsoft.com/office/drawing/2014/main" id="{9433CC1A-C070-4FEE-81A6-D34F26EE914A}"/>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O N T R O L   S E Q U E N C E</a:t>
            </a:r>
          </a:p>
        </p:txBody>
      </p:sp>
      <p:sp>
        <p:nvSpPr>
          <p:cNvPr id="54" name="body-0">
            <a:extLst xmlns:a="http://schemas.openxmlformats.org/drawingml/2006/main">
              <a:ext uri="{FF2B5EF4-FFF2-40B4-BE49-F238E27FC236}">
                <a16:creationId xmlns:a16="http://schemas.microsoft.com/office/drawing/2014/main" id="{FFC57E6F-E04E-4F9F-82C9-C081E8EA727A}"/>
              </a:ext>
            </a:extLst>
          </p:cNvPr>
          <p:cNvSpPr>
            <a:spLocks xmlns:a="http://schemas.openxmlformats.org/drawingml/2006/main" noGrp="1"/>
          </p:cNvSpPr>
          <p:nvPr/>
        </p:nvSpPr>
        <p:spPr>
          <a:xfrm xmlns:a="http://schemas.openxmlformats.org/drawingml/2006/main">
            <a:off x="502920" y="2417191"/>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bench keeps cs asserted, resets the controller, then decodes its transmitted stream</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independently. Expected bytes are 80, C3, FF, 00, A5, AA and BB. The sequence includes a</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synchronisation byte, a data PID and data patterns chosen to exercise both line transitions and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long runs of ones. AA and BB are expected diagnostic bytes, not evidence of valid generated CRC</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for the preceding packet.</a:t>
            </a:r>
          </a:p>
        </p:txBody>
      </p:sp>
      <p:sp>
        <p:nvSpPr>
          <p:cNvPr id="55" name="body-1">
            <a:extLst xmlns:a="http://schemas.openxmlformats.org/drawingml/2006/main">
              <a:ext uri="{FF2B5EF4-FFF2-40B4-BE49-F238E27FC236}">
                <a16:creationId xmlns:a16="http://schemas.microsoft.com/office/drawing/2014/main" id="{EE602D03-3185-4AEC-B5C1-5F9BBB73928D}"/>
              </a:ext>
            </a:extLst>
          </p:cNvPr>
          <p:cNvSpPr>
            <a:spLocks xmlns:a="http://schemas.openxmlformats.org/drawingml/2006/main" noGrp="1"/>
          </p:cNvSpPr>
          <p:nvPr/>
        </p:nvSpPr>
        <p:spPr>
          <a:xfrm xmlns:a="http://schemas.openxmlformats.org/drawingml/2006/main">
            <a:off x="502920" y="3493262"/>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receive model drives a separate stuffed </a:t>
            </a:r>
            <a:r>
              <a:rPr b="1"/>
              <a:t>NRZI</a:t>
            </a:r>
            <a:r>
              <a:t> stream. Its first payload byte is FF; subsequent
bytes are formed by (index x 37) XOR A5 and truncated to eight bits. The receive monitor
compares each reported byte with this independent expectation. A timeout catches a stalled
program rather than allowing an endless wait to resemble a quiet pass.</a:t>
            </a:r>
          </a:p>
        </p:txBody>
      </p:sp>
      <p:sp>
        <p:nvSpPr>
          <p:cNvPr id="56" name="body-2">
            <a:extLst xmlns:a="http://schemas.openxmlformats.org/drawingml/2006/main">
              <a:ext uri="{FF2B5EF4-FFF2-40B4-BE49-F238E27FC236}">
                <a16:creationId xmlns:a16="http://schemas.microsoft.com/office/drawing/2014/main" id="{5022119C-FCFC-45D9-97FF-FE6AAD1D2C66}"/>
              </a:ext>
            </a:extLst>
          </p:cNvPr>
          <p:cNvSpPr>
            <a:spLocks xmlns:a="http://schemas.openxmlformats.org/drawingml/2006/main" noGrp="1"/>
          </p:cNvSpPr>
          <p:nvPr/>
        </p:nvSpPr>
        <p:spPr>
          <a:xfrm xmlns:a="http://schemas.openxmlformats.org/drawingml/2006/main">
            <a:off x="502920" y="4391152"/>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After packet reception, the test asserts </a:t>
            </a:r>
            <a:r>
              <a:rPr b="1"/>
              <a:t>reset</a:t>
            </a:r>
            <a:r>
              <a:t> and checks released line/device state. Production HID
discovery, descriptors, endpoint scheduling, recovery across real devices and all control-transfer
phases remain outside this diagnostic run.</a:t>
            </a:r>
          </a:p>
        </p:txBody>
      </p:sp>
      <p:sp>
        <p:nvSpPr>
          <p:cNvPr id="57" name="component-label-536.5733333333334">
            <a:extLst xmlns:a="http://schemas.openxmlformats.org/drawingml/2006/main">
              <a:ext uri="{FF2B5EF4-FFF2-40B4-BE49-F238E27FC236}">
                <a16:creationId xmlns:a16="http://schemas.microsoft.com/office/drawing/2014/main" id="{0F299C52-97B6-4406-8EA1-BFB432F6C9FD}"/>
              </a:ext>
            </a:extLst>
          </p:cNvPr>
          <p:cNvSpPr>
            <a:spLocks xmlns:a="http://schemas.openxmlformats.org/drawingml/2006/main" noGrp="1"/>
          </p:cNvSpPr>
          <p:nvPr/>
        </p:nvSpPr>
        <p:spPr>
          <a:xfrm xmlns:a="http://schemas.openxmlformats.org/drawingml/2006/main">
            <a:off x="502920" y="5110861"/>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I N D E P E N D E N T   D I A G N O S T I C   E X P E C T A T I O N S</a:t>
            </a:r>
          </a:p>
        </p:txBody>
      </p:sp>
      <p:graphicFrame>
        <p:nvGraphicFramePr>
          <p:cNvPr id="76" name=""/>
          <p:cNvGraphicFramePr/>
          <p:nvPr/>
        </p:nvGraphicFramePr>
        <p:xfrm>
          <a:off xmlns:a="http://schemas.openxmlformats.org/drawingml/2006/main" x="502920" y="5376037"/>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Direction</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Expected content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TX byte stream</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80 C3 FF 00 A5 AA BB</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RX payload</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FF; then (k x 37) XOR A5</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RX CRC bytes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00 00; knowingly ignored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Reset result</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Output released; device state quiescent</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85572410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1325807f2fae4dfb"/>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10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6A33881C-5B3E-4BBC-9136-2FFE795D5AA9}"/>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8 · FAILURE ANALYSIS</a:t>
            </a:r>
          </a:p>
        </p:txBody>
      </p:sp>
      <p:sp>
        <p:nvSpPr>
          <p:cNvPr id="51" name="page-title">
            <a:extLst xmlns:a="http://schemas.openxmlformats.org/drawingml/2006/main">
              <a:ext uri="{FF2B5EF4-FFF2-40B4-BE49-F238E27FC236}">
                <a16:creationId xmlns:a16="http://schemas.microsoft.com/office/drawing/2014/main" id="{F22A60A9-1700-442E-BF27-CD3F5ECF2CAC}"/>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Integrity gaps remain actionable</a:t>
            </a:r>
          </a:p>
        </p:txBody>
      </p:sp>
      <p:sp>
        <p:nvSpPr>
          <p:cNvPr id="52" name="intro">
            <a:extLst xmlns:a="http://schemas.openxmlformats.org/drawingml/2006/main">
              <a:ext uri="{FF2B5EF4-FFF2-40B4-BE49-F238E27FC236}">
                <a16:creationId xmlns:a16="http://schemas.microsoft.com/office/drawing/2014/main" id="{7A3DD2F2-D5F5-4427-8928-CD8749B61B2D}"/>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known limitation should determine the next verification task, not disappear behind a PASS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label.</a:t>
            </a:r>
          </a:p>
        </p:txBody>
      </p:sp>
      <p:sp>
        <p:nvSpPr>
          <p:cNvPr id="53" name="component-label-246.26666666666665">
            <a:extLst xmlns:a="http://schemas.openxmlformats.org/drawingml/2006/main">
              <a:ext uri="{FF2B5EF4-FFF2-40B4-BE49-F238E27FC236}">
                <a16:creationId xmlns:a16="http://schemas.microsoft.com/office/drawing/2014/main" id="{207C0AFE-3781-4CC1-AC66-D8A0BE447258}"/>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F A I L U R E   A N A L Y S I S</a:t>
            </a:r>
          </a:p>
        </p:txBody>
      </p:sp>
      <p:sp>
        <p:nvSpPr>
          <p:cNvPr id="54" name="body-0">
            <a:extLst xmlns:a="http://schemas.openxmlformats.org/drawingml/2006/main">
              <a:ext uri="{FF2B5EF4-FFF2-40B4-BE49-F238E27FC236}">
                <a16:creationId xmlns:a16="http://schemas.microsoft.com/office/drawing/2014/main" id="{CD0D5B69-3243-4278-887D-F4F231B64FBC}"/>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receiver that ignores CRC can report a corrupted </a:t>
            </a:r>
            <a:r>
              <a:rPr b="1"/>
              <a:t>payload</a:t>
            </a:r>
            <a:r>
              <a:t> as if it were usable. A PID matcher that
checks only the low nibble can classify some invalid identifiers as recognised packet types. These
are source-backed limitations of the imported engine. The directed line-code test cannot repair
either contract simply by producing correct example packets.</a:t>
            </a:r>
          </a:p>
        </p:txBody>
      </p:sp>
      <p:sp>
        <p:nvSpPr>
          <p:cNvPr id="55" name="body-1">
            <a:extLst xmlns:a="http://schemas.openxmlformats.org/drawingml/2006/main">
              <a:ext uri="{FF2B5EF4-FFF2-40B4-BE49-F238E27FC236}">
                <a16:creationId xmlns:a16="http://schemas.microsoft.com/office/drawing/2014/main" id="{430EB9B5-F92F-4D96-A3D1-FDDF18BCA160}"/>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production microcode is retained and hardened, but its real-device enumeration behaviour is
unverified here. A follow-up must first define expected descriptor exchanges and error responses,
then use decisive checks against the production ROM. Adding more diagnostic </a:t>
            </a:r>
            <a:r>
              <a:rPr b="1"/>
              <a:t>payload</a:t>
            </a:r>
            <a:r>
              <a:t> bytes
would improve data-pattern coverage but would not close that different obligation.</a:t>
            </a:r>
          </a:p>
        </p:txBody>
      </p:sp>
      <p:sp>
        <p:nvSpPr>
          <p:cNvPr id="56" name="body-2">
            <a:extLst xmlns:a="http://schemas.openxmlformats.org/drawingml/2006/main">
              <a:ext uri="{FF2B5EF4-FFF2-40B4-BE49-F238E27FC236}">
                <a16:creationId xmlns:a16="http://schemas.microsoft.com/office/drawing/2014/main" id="{51F7EBFA-87C2-47E2-9091-5581FE0C9A79}"/>
              </a:ext>
            </a:extLst>
          </p:cNvPr>
          <p:cNvSpPr>
            <a:spLocks xmlns:a="http://schemas.openxmlformats.org/drawingml/2006/main" noGrp="1"/>
          </p:cNvSpPr>
          <p:nvPr/>
        </p:nvSpPr>
        <p:spPr>
          <a:xfrm xmlns:a="http://schemas.openxmlformats.org/drawingml/2006/main">
            <a:off x="502920" y="440664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Physical host circuitry also remains necessary. VBUS protection, disconnect/connect detection, pad
tolerances and board captures cannot be inferred from a digital </a:t>
            </a:r>
            <a:r>
              <a:rPr b="1"/>
              <a:t>GDS</a:t>
            </a:r>
            <a:r>
              <a:t> file. Any deployment
decision must treat this as a restricted educational reference with explicit missing guarantees.</a:t>
            </a:r>
          </a:p>
        </p:txBody>
      </p:sp>
      <p:sp>
        <p:nvSpPr>
          <p:cNvPr id="57" name="component-label-538.1999999999999">
            <a:extLst xmlns:a="http://schemas.openxmlformats.org/drawingml/2006/main">
              <a:ext uri="{FF2B5EF4-FFF2-40B4-BE49-F238E27FC236}">
                <a16:creationId xmlns:a16="http://schemas.microsoft.com/office/drawing/2014/main" id="{EF34D0C1-FE22-442E-AB34-E4691EB6C706}"/>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N E X T   V E R I F I C A T I O N   O B L I G A T I O N S</a:t>
            </a:r>
          </a:p>
        </p:txBody>
      </p:sp>
      <p:graphicFrame>
        <p:nvGraphicFramePr>
          <p:cNvPr id="76" name=""/>
          <p:cNvGraphicFramePr/>
          <p:nvPr/>
        </p:nvGraphicFramePr>
        <p:xfrm>
          <a:off xmlns:a="http://schemas.openxmlformats.org/drawingml/2006/main" x="502920" y="5391531"/>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Area</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Needed evidence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Packet integrity</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Bad PID / CRC rejected decisively</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Production ROM</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Enumeration scenarios and faults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Electrical host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Pads, VBUS, connector and measured timing</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Compliance</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Applicable USB test plan, not this bench</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85572410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e6ba42f269cd4daa"/>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11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6CEE5BC0-FC7E-4F97-86B8-C65FEA7ED773}"/>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9 · WORKED EXAMPLE</a:t>
            </a:r>
          </a:p>
        </p:txBody>
      </p:sp>
      <p:sp>
        <p:nvSpPr>
          <p:cNvPr id="51" name="page-title">
            <a:extLst xmlns:a="http://schemas.openxmlformats.org/drawingml/2006/main">
              <a:ext uri="{FF2B5EF4-FFF2-40B4-BE49-F238E27FC236}">
                <a16:creationId xmlns:a16="http://schemas.microsoft.com/office/drawing/2014/main" id="{1AA5B152-DD3B-4ABB-856C-17511DCE8062}"/>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Reconstruct FF from line states</a:t>
            </a:r>
          </a:p>
        </p:txBody>
      </p:sp>
      <p:sp>
        <p:nvSpPr>
          <p:cNvPr id="52" name="intro">
            <a:extLst xmlns:a="http://schemas.openxmlformats.org/drawingml/2006/main">
              <a:ext uri="{FF2B5EF4-FFF2-40B4-BE49-F238E27FC236}">
                <a16:creationId xmlns:a16="http://schemas.microsoft.com/office/drawing/2014/main" id="{B79EE929-3C1B-4966-9B51-63A59B241137}"/>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This page uses an ideal logical example; no USB waveform file is claimed.</a:t>
            </a:r>
          </a:p>
        </p:txBody>
      </p:sp>
      <p:sp>
        <p:nvSpPr>
          <p:cNvPr id="53" name="component-label-225.93333333333334">
            <a:extLst xmlns:a="http://schemas.openxmlformats.org/drawingml/2006/main">
              <a:ext uri="{FF2B5EF4-FFF2-40B4-BE49-F238E27FC236}">
                <a16:creationId xmlns:a16="http://schemas.microsoft.com/office/drawing/2014/main" id="{90812D36-F241-4E23-9866-1933B167AF5B}"/>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W O R K E D   E X A M P L E</a:t>
            </a:r>
          </a:p>
        </p:txBody>
      </p:sp>
      <p:sp>
        <p:nvSpPr>
          <p:cNvPr id="54" name="body-0">
            <a:extLst xmlns:a="http://schemas.openxmlformats.org/drawingml/2006/main">
              <a:ext uri="{FF2B5EF4-FFF2-40B4-BE49-F238E27FC236}">
                <a16:creationId xmlns:a16="http://schemas.microsoft.com/office/drawing/2014/main" id="{69CB6E27-5561-49D2-AD77-6289DEFB6DFE}"/>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Beginning in J, the isolated data sequence 1 1 1 1 1 1 1 1 is encoded as six holds, one inserted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transition, then two holds. A decoder comparing adjacent line samples obtains six ones,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recognises the mandatory zero after that run, removes it, and continues with the remaining two</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ones. The recovered byte is FF.</a:t>
            </a:r>
          </a:p>
        </p:txBody>
      </p:sp>
      <p:sp>
        <p:nvSpPr>
          <p:cNvPr id="55" name="body-1">
            <a:extLst xmlns:a="http://schemas.openxmlformats.org/drawingml/2006/main">
              <a:ext uri="{FF2B5EF4-FFF2-40B4-BE49-F238E27FC236}">
                <a16:creationId xmlns:a16="http://schemas.microsoft.com/office/drawing/2014/main" id="{87EED9ED-A96D-4C85-A714-89812FDCFD52}"/>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EOP in the directed low-speed test is two SE0 bit intervals followed by J. At eight clocks per bit,
two SE0 intervals occupy sixteen 12 MHz </a:t>
            </a:r>
            <a:r>
              <a:rPr b="1"/>
              <a:t>clock</a:t>
            </a:r>
            <a:r>
              <a:t> ticks, or 1.333333 us. The bench checks that
boundary independently of its payload-byte comparisons. An EOP duration check is still not an
analogue waveform-compliance measurement.</a:t>
            </a:r>
          </a:p>
        </p:txBody>
      </p:sp>
      <p:sp>
        <p:nvSpPr>
          <p:cNvPr id="56" name="body-2">
            <a:extLst xmlns:a="http://schemas.openxmlformats.org/drawingml/2006/main">
              <a:ext uri="{FF2B5EF4-FFF2-40B4-BE49-F238E27FC236}">
                <a16:creationId xmlns:a16="http://schemas.microsoft.com/office/drawing/2014/main" id="{6E5C3DD8-F052-45E7-BF06-86DD3CFE71D6}"/>
              </a:ext>
            </a:extLst>
          </p:cNvPr>
          <p:cNvSpPr>
            <a:spLocks xmlns:a="http://schemas.openxmlformats.org/drawingml/2006/main" noGrp="1"/>
          </p:cNvSpPr>
          <p:nvPr/>
        </p:nvSpPr>
        <p:spPr>
          <a:xfrm xmlns:a="http://schemas.openxmlformats.org/drawingml/2006/main">
            <a:off x="502920" y="421297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USB bench currently retains assertions and logs rather than a plotted positive VCD.
Accordingly this document offers a labelled ideal table and reproducing </a:t>
            </a:r>
            <a:r>
              <a:rPr b="1"/>
              <a:t>source</a:t>
            </a:r>
            <a:r>
              <a:t>, not a fabricated
measured chart. Capturing and decoding a production-ROM waveform is useful follow-up work.</a:t>
            </a:r>
          </a:p>
        </p:txBody>
      </p:sp>
      <p:sp>
        <p:nvSpPr>
          <p:cNvPr id="57" name="component-label-517.8666666666667">
            <a:extLst xmlns:a="http://schemas.openxmlformats.org/drawingml/2006/main">
              <a:ext uri="{FF2B5EF4-FFF2-40B4-BE49-F238E27FC236}">
                <a16:creationId xmlns:a16="http://schemas.microsoft.com/office/drawing/2014/main" id="{65A280C4-2D5A-41E4-B94A-385447043E1E}"/>
              </a:ext>
            </a:extLst>
          </p:cNvPr>
          <p:cNvSpPr>
            <a:spLocks xmlns:a="http://schemas.openxmlformats.org/drawingml/2006/main" noGrp="1"/>
          </p:cNvSpPr>
          <p:nvPr/>
        </p:nvSpPr>
        <p:spPr>
          <a:xfrm xmlns:a="http://schemas.openxmlformats.org/drawingml/2006/main">
            <a:off x="502920" y="493268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I D E A L   S A M P L E   D E C O D E R</a:t>
            </a:r>
          </a:p>
        </p:txBody>
      </p:sp>
      <p:graphicFrame>
        <p:nvGraphicFramePr>
          <p:cNvPr id="76" name=""/>
          <p:cNvGraphicFramePr/>
          <p:nvPr/>
        </p:nvGraphicFramePr>
        <p:xfrm>
          <a:off xmlns:a="http://schemas.openxmlformats.org/drawingml/2006/main" x="502920" y="5197856"/>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Encoded observation</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Recovered interpretation</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J J J J J J</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Six consecutive ones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K after six ones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Stuffed zero; remove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K K</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Final two ones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SE0 SE0, then J</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Directed EOP boundary</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85572410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9ff947401d2941ea"/>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CC798632-94D4-46AB-B39F-C6122288F947}"/>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10 · LINT</a:t>
            </a:r>
          </a:p>
        </p:txBody>
      </p:sp>
      <p:sp>
        <p:nvSpPr>
          <p:cNvPr id="51" name="page-title">
            <a:extLst xmlns:a="http://schemas.openxmlformats.org/drawingml/2006/main">
              <a:ext uri="{FF2B5EF4-FFF2-40B4-BE49-F238E27FC236}">
                <a16:creationId xmlns:a16="http://schemas.microsoft.com/office/drawing/2014/main" id="{CC528880-00A8-4302-B0FC-01C8829AA821}"/>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Lint: read code before running it</a:t>
            </a:r>
          </a:p>
        </p:txBody>
      </p:sp>
      <p:sp>
        <p:nvSpPr>
          <p:cNvPr id="52" name="intro">
            <a:extLst xmlns:a="http://schemas.openxmlformats.org/drawingml/2006/main">
              <a:ext uri="{FF2B5EF4-FFF2-40B4-BE49-F238E27FC236}">
                <a16:creationId xmlns:a16="http://schemas.microsoft.com/office/drawing/2014/main" id="{9C4A50BD-6C24-432F-A833-9243AA7AF1C5}"/>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Verilator checks legal but suspicious code patterns without exercising transactions. A warning</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count is a review starting point, not proof of correctness.</a:t>
            </a:r>
          </a:p>
        </p:txBody>
      </p:sp>
      <p:sp>
        <p:nvSpPr>
          <p:cNvPr id="53" name="component-label-246.26666666666665">
            <a:extLst xmlns:a="http://schemas.openxmlformats.org/drawingml/2006/main">
              <a:ext uri="{FF2B5EF4-FFF2-40B4-BE49-F238E27FC236}">
                <a16:creationId xmlns:a16="http://schemas.microsoft.com/office/drawing/2014/main" id="{754F323F-C075-462A-B4DB-B01E606CF1F4}"/>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N T</a:t>
            </a:r>
          </a:p>
        </p:txBody>
      </p:sp>
      <p:sp>
        <p:nvSpPr>
          <p:cNvPr id="54" name="body-0">
            <a:extLst xmlns:a="http://schemas.openxmlformats.org/drawingml/2006/main">
              <a:ext uri="{FF2B5EF4-FFF2-40B4-BE49-F238E27FC236}">
                <a16:creationId xmlns:a16="http://schemas.microsoft.com/office/drawing/2014/main" id="{C835CD2F-525F-468B-B43B-839B0976E7D0}"/>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retained report contains 26 warning messages and 0 error messages. Categories present: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DECLFILENAME, PINMISSING, PROCASSINIT, UNUSEDPARAM, UNUSEDSIGNAL. These figures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count report message headers; repeated warnings are not necessarily independent defects. The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report is hashed in this document evidence manifest.</a:t>
            </a:r>
          </a:p>
        </p:txBody>
      </p:sp>
      <p:sp>
        <p:nvSpPr>
          <p:cNvPr id="55" name="body-1">
            <a:extLst xmlns:a="http://schemas.openxmlformats.org/drawingml/2006/main">
              <a:ext uri="{FF2B5EF4-FFF2-40B4-BE49-F238E27FC236}">
                <a16:creationId xmlns:a16="http://schemas.microsoft.com/office/drawing/2014/main" id="{97A24C61-B044-431F-B68C-9C87C84EC352}"/>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invocation deliberately uses -Wno-fatal so warnings remain visible while lint execution can
complete. A successful command therefore does not mean every warning was resolved. Width
changes, incomplete cases, </a:t>
            </a:r>
            <a:r>
              <a:rPr b="1"/>
              <a:t>reset</a:t>
            </a:r>
            <a:r>
              <a:t> use and unconnected ports need review against the wrapper
contract and directed tests.</a:t>
            </a:r>
          </a:p>
        </p:txBody>
      </p:sp>
      <p:sp>
        <p:nvSpPr>
          <p:cNvPr id="56" name="body-2">
            <a:extLst xmlns:a="http://schemas.openxmlformats.org/drawingml/2006/main">
              <a:ext uri="{FF2B5EF4-FFF2-40B4-BE49-F238E27FC236}">
                <a16:creationId xmlns:a16="http://schemas.microsoft.com/office/drawing/2014/main" id="{A9CEAF72-10F7-43A9-919A-25371148F9E2}"/>
              </a:ext>
            </a:extLst>
          </p:cNvPr>
          <p:cNvSpPr>
            <a:spLocks xmlns:a="http://schemas.openxmlformats.org/drawingml/2006/main" noGrp="1"/>
          </p:cNvSpPr>
          <p:nvPr/>
        </p:nvSpPr>
        <p:spPr>
          <a:xfrm xmlns:a="http://schemas.openxmlformats.org/drawingml/2006/main">
            <a:off x="502920" y="440664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Lint cannot show that a receive byte is correct, that a transaction finishes, or that an external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electrical interface is safe. Those questions require a checking testbench, implementation evidence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and separate board or signoff work.</a:t>
            </a:r>
          </a:p>
        </p:txBody>
      </p:sp>
      <p:sp>
        <p:nvSpPr>
          <p:cNvPr id="57" name="component-label-538.1999999999999">
            <a:extLst xmlns:a="http://schemas.openxmlformats.org/drawingml/2006/main">
              <a:ext uri="{FF2B5EF4-FFF2-40B4-BE49-F238E27FC236}">
                <a16:creationId xmlns:a16="http://schemas.microsoft.com/office/drawing/2014/main" id="{1488264B-0C53-4DC0-910A-9BCA0CD6C698}"/>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T A I N E D   W A R N I N G   R E V I E W</a:t>
            </a:r>
          </a:p>
        </p:txBody>
      </p:sp>
      <p:graphicFrame>
        <p:nvGraphicFramePr>
          <p:cNvPr id="80" name=""/>
          <p:cNvGraphicFramePr/>
          <p:nvPr/>
        </p:nvGraphicFramePr>
        <p:xfrm>
          <a:off xmlns:a="http://schemas.openxmlformats.org/drawingml/2006/main" x="502920" y="5391531"/>
          <a:ext xmlns:a="http://schemas.openxmlformats.org/drawingml/2006/main" cx="6556248" cy="16668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Warning message headers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26</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Error message headers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Clean warning-free RTL?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claimed</a:t>
                      </a:r>
                    </a:p>
                  </a:txBody>
                  <a:tcPr marL="91440" marR="91440" marT="45720" marB="45720">
                    <a:lnR w="0">
                      <a:noFill/>
                    </a:lnR>
                    <a:lnB w="4763">
                      <a:solidFill>
                        <a:srgbClr val="EAEAEA"/>
                      </a:solidFill>
                      <a:prstDash val="solid"/>
                    </a:lnB>
                    <a:solidFill>
                      <a:srgbClr val="FFFFFF"/>
                    </a:solidFill>
                  </a:tcPr>
                </a:tc>
              </a:tr>
              <a:tr h="454025">
                <a:tc>
                  <a:txBody>
                    <a:bodyPr lIns="76200" tIns="57150" rIns="76200" bIns="57150">
                      <a:noAutofit/>
                    </a:bodyPr>
                    <a:lstStyle/>
                    <a:p>
                      <a:r>
                        <a:rPr sz="950" b="0">
                          <a:solidFill>
                            <a:srgbClr val="444444"/>
                          </a:solidFill>
                          <a:latin typeface="Segoe UI"/>
                          <a:ea typeface="Segoe UI"/>
                          <a:cs typeface="Segoe UI"/>
                        </a:rPr>
                        <a:t>Protocol behaviour proved by</a:t>
                      </a:r>
                    </a:p>
                    <a:p>
                      <a:r>
                        <a:rPr sz="950" b="0">
                          <a:solidFill>
                            <a:srgbClr val="444444"/>
                          </a:solidFill>
                          <a:latin typeface="Segoe UI"/>
                          <a:ea typeface="Segoe UI"/>
                          <a:cs typeface="Segoe UI"/>
                        </a:rPr>
                        <a:t>lint?</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a:t>
                      </a:r>
                    </a:p>
                  </a:txBody>
                  <a:tcPr marL="91440" marR="91440" marT="45720" marB="45720">
                    <a:lnR w="0">
                      <a:noFill/>
                    </a:lnR>
                    <a:lnB w="0">
                      <a:noFill/>
                    </a:lnB>
                    <a:solidFill>
                      <a:srgbClr val="FAFAFA"/>
                    </a:solidFill>
                  </a:tcPr>
                </a:tc>
              </a:tr>
            </a:tbl>
          </a:graphicData>
        </a:graphic>
      </p:graphicFrame>
      <p:sp>
        <p:nvSpPr>
          <p:cNvPr id="59" name="component-label-760.24">
            <a:extLst xmlns:a="http://schemas.openxmlformats.org/drawingml/2006/main">
              <a:ext uri="{FF2B5EF4-FFF2-40B4-BE49-F238E27FC236}">
                <a16:creationId xmlns:a16="http://schemas.microsoft.com/office/drawing/2014/main" id="{267FB001-E267-4BC5-ADE8-7C5A88DB64DD}"/>
              </a:ext>
            </a:extLst>
          </p:cNvPr>
          <p:cNvSpPr>
            <a:spLocks xmlns:a="http://schemas.openxmlformats.org/drawingml/2006/main" noGrp="1"/>
          </p:cNvSpPr>
          <p:nvPr/>
        </p:nvSpPr>
        <p:spPr>
          <a:xfrm xmlns:a="http://schemas.openxmlformats.org/drawingml/2006/main">
            <a:off x="502920" y="724128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60" name="code-panel">
            <a:extLst xmlns:a="http://schemas.openxmlformats.org/drawingml/2006/main">
              <a:ext uri="{FF2B5EF4-FFF2-40B4-BE49-F238E27FC236}">
                <a16:creationId xmlns:a16="http://schemas.microsoft.com/office/drawing/2014/main" id="{76E393D3-A17F-48C1-B5BF-C36D893344A3}"/>
              </a:ext>
            </a:extLst>
          </p:cNvPr>
          <p:cNvSpPr>
            <a:spLocks xmlns:a="http://schemas.openxmlformats.org/drawingml/2006/main" noGrp="1"/>
          </p:cNvSpPr>
          <p:nvPr/>
        </p:nvSpPr>
        <p:spPr>
          <a:xfrm xmlns:a="http://schemas.openxmlformats.org/drawingml/2006/main">
            <a:off x="502920" y="7506462"/>
            <a:ext cx="6556248" cy="69342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1" name="code">
            <a:extLst xmlns:a="http://schemas.openxmlformats.org/drawingml/2006/main">
              <a:ext uri="{FF2B5EF4-FFF2-40B4-BE49-F238E27FC236}">
                <a16:creationId xmlns:a16="http://schemas.microsoft.com/office/drawing/2014/main" id="{3924BFAC-58DD-4443-88A7-7DD883D85DDC}"/>
              </a:ext>
            </a:extLst>
          </p:cNvPr>
          <p:cNvSpPr>
            <a:spLocks xmlns:a="http://schemas.openxmlformats.org/drawingml/2006/main" noGrp="1"/>
          </p:cNvSpPr>
          <p:nvPr/>
        </p:nvSpPr>
        <p:spPr>
          <a:xfrm xmlns:a="http://schemas.openxmlformats.org/drawingml/2006/main">
            <a:off x="617220" y="7601712"/>
            <a:ext cx="6327648" cy="541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make lint</a:t>
            </a:r>
            <a:r>
              <a:rPr>
                <a:solidFill>
                  <a:srgbClr val="9A9AA0"/>
                </a:solidFill>
              </a:rPr>
              <a:t>
# inspect, do not just count</a:t>
            </a:r>
            <a:r>
              <a:rPr>
                <a:solidFill>
                  <a:srgbClr val="9A9AA0"/>
                </a:solidFill>
              </a:rPr>
              <a:t>
# 00_lint/lint_report.txt</a:t>
            </a:r>
          </a:p>
        </p:txBody>
      </p:sp>
      <p:sp>
        <p:nvSpPr>
          <p:cNvPr id="62" name="code-source">
            <a:extLst xmlns:a="http://schemas.openxmlformats.org/drawingml/2006/main">
              <a:ext uri="{FF2B5EF4-FFF2-40B4-BE49-F238E27FC236}">
                <a16:creationId xmlns:a16="http://schemas.microsoft.com/office/drawing/2014/main" id="{4484350F-3B32-417A-9F29-604133D25287}"/>
              </a:ext>
            </a:extLst>
          </p:cNvPr>
          <p:cNvSpPr>
            <a:spLocks xmlns:a="http://schemas.openxmlformats.org/drawingml/2006/main" noGrp="1"/>
          </p:cNvSpPr>
          <p:nvPr/>
        </p:nvSpPr>
        <p:spPr>
          <a:xfrm xmlns:a="http://schemas.openxmlformats.org/drawingml/2006/main">
            <a:off x="502920" y="8257032"/>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00_lint/Makefile and run_flow.sh: retained Verilator report</a:t>
            </a:r>
          </a:p>
        </p:txBody>
      </p:sp>
    </p:spTree>
    <p:extLst>
      <p:ext uri="{BB962C8B-B14F-4D97-AF65-F5344CB8AC3E}">
        <p14:creationId xmlns:p14="http://schemas.microsoft.com/office/powerpoint/2010/main" val="185572410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7fa3f798a4044e28"/>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3C5E9342-210F-49FD-9F9E-9B2D65915868}"/>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11 · SIMULATION AND VERIFICATION</a:t>
            </a:r>
          </a:p>
        </p:txBody>
      </p:sp>
      <p:sp>
        <p:nvSpPr>
          <p:cNvPr id="51" name="page-title">
            <a:extLst xmlns:a="http://schemas.openxmlformats.org/drawingml/2006/main">
              <a:ext uri="{FF2B5EF4-FFF2-40B4-BE49-F238E27FC236}">
                <a16:creationId xmlns:a16="http://schemas.microsoft.com/office/drawing/2014/main" id="{3D69160F-4810-4EC1-AFA1-62896F74A916}"/>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Diagnostic PASS, enumeration unproven</a:t>
            </a:r>
          </a:p>
        </p:txBody>
      </p:sp>
      <p:sp>
        <p:nvSpPr>
          <p:cNvPr id="52" name="intro">
            <a:extLst xmlns:a="http://schemas.openxmlformats.org/drawingml/2006/main">
              <a:ext uri="{FF2B5EF4-FFF2-40B4-BE49-F238E27FC236}">
                <a16:creationId xmlns:a16="http://schemas.microsoft.com/office/drawing/2014/main" id="{1355DE8B-2E05-4567-9DF4-0BB4B14803AF}"/>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testbench is code that drives the circuit and judges its outputs. These directed checks use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independent expected data and deliberately failing controls.</a:t>
            </a:r>
          </a:p>
        </p:txBody>
      </p:sp>
      <p:sp>
        <p:nvSpPr>
          <p:cNvPr id="53" name="component-label-246.26666666666665">
            <a:extLst xmlns:a="http://schemas.openxmlformats.org/drawingml/2006/main">
              <a:ext uri="{FF2B5EF4-FFF2-40B4-BE49-F238E27FC236}">
                <a16:creationId xmlns:a16="http://schemas.microsoft.com/office/drawing/2014/main" id="{966CCE6C-6F66-45ED-A9ED-DBFF3FD0BA42}"/>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I M U L A T I O N   A N D   V E R I F I C A T I O N</a:t>
            </a:r>
          </a:p>
        </p:txBody>
      </p:sp>
      <p:sp>
        <p:nvSpPr>
          <p:cNvPr id="54" name="body-0">
            <a:extLst xmlns:a="http://schemas.openxmlformats.org/drawingml/2006/main">
              <a:ext uri="{FF2B5EF4-FFF2-40B4-BE49-F238E27FC236}">
                <a16:creationId xmlns:a16="http://schemas.microsoft.com/office/drawing/2014/main" id="{8E5D6C1A-D8B7-45F4-8760-52CEC20C4008}"/>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passing diagnostic test checks independent TX and RX </a:t>
            </a:r>
            <a:r>
              <a:rPr b="1"/>
              <a:t>NRZI</a:t>
            </a:r>
            <a:r>
              <a:t>, stuffing, two-bit SE0 EOP, eight
payload bytes and reset. A deliberately changed expected receive byte produces a fatal failure.
This gives stronger evidence than a run that merely reaches finish, while keeping the stimulus
narrow and reproducible.</a:t>
            </a:r>
          </a:p>
        </p:txBody>
      </p:sp>
      <p:sp>
        <p:nvSpPr>
          <p:cNvPr id="55" name="body-1">
            <a:extLst xmlns:a="http://schemas.openxmlformats.org/drawingml/2006/main">
              <a:ext uri="{FF2B5EF4-FFF2-40B4-BE49-F238E27FC236}">
                <a16:creationId xmlns:a16="http://schemas.microsoft.com/office/drawing/2014/main" id="{6E721CE5-0D7A-4586-A2F8-96A41A963D45}"/>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imported upstream cocotb example is preserved but not accepted as decisive verification: its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assertions and line timing do not establish the requested low-speed behaviour. The locally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checked bench drives the same real top-level core through a diagnostic ROM and uses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independent expectations.</a:t>
            </a:r>
          </a:p>
        </p:txBody>
      </p:sp>
      <p:sp>
        <p:nvSpPr>
          <p:cNvPr id="56" name="body-2">
            <a:extLst xmlns:a="http://schemas.openxmlformats.org/drawingml/2006/main">
              <a:ext uri="{FF2B5EF4-FFF2-40B4-BE49-F238E27FC236}">
                <a16:creationId xmlns:a16="http://schemas.microsoft.com/office/drawing/2014/main" id="{8C86CAB2-F045-4452-9261-F85F1EACCF54}"/>
              </a:ext>
            </a:extLst>
          </p:cNvPr>
          <p:cNvSpPr>
            <a:spLocks xmlns:a="http://schemas.openxmlformats.org/drawingml/2006/main" noGrp="1"/>
          </p:cNvSpPr>
          <p:nvPr/>
        </p:nvSpPr>
        <p:spPr>
          <a:xfrm xmlns:a="http://schemas.openxmlformats.org/drawingml/2006/main">
            <a:off x="502920" y="440664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Neither the normal nor the negative-control run demonstrates receive CRC checking, a</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complemented PID check, complete enumeration, multiple HID devices, disconnect recovery or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electrical compliance. In particular the production-ROM physical result and diagnostic-ROM</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functional result must be reported side by side, not merged into a production-functional claim.</a:t>
            </a:r>
          </a:p>
        </p:txBody>
      </p:sp>
      <p:sp>
        <p:nvSpPr>
          <p:cNvPr id="57" name="component-label-556.9066666666666">
            <a:extLst xmlns:a="http://schemas.openxmlformats.org/drawingml/2006/main">
              <a:ext uri="{FF2B5EF4-FFF2-40B4-BE49-F238E27FC236}">
                <a16:creationId xmlns:a16="http://schemas.microsoft.com/office/drawing/2014/main" id="{00D889A1-BA99-4A49-A368-CFF6FD7AAD97}"/>
              </a:ext>
            </a:extLst>
          </p:cNvPr>
          <p:cNvSpPr>
            <a:spLocks xmlns:a="http://schemas.openxmlformats.org/drawingml/2006/main" noGrp="1"/>
          </p:cNvSpPr>
          <p:nvPr/>
        </p:nvSpPr>
        <p:spPr>
          <a:xfrm xmlns:a="http://schemas.openxmlformats.org/drawingml/2006/main">
            <a:off x="502920" y="530453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P R O O F   A N D   D E L I B E R A T E   B O U N D A R Y</a:t>
            </a:r>
          </a:p>
        </p:txBody>
      </p:sp>
      <p:graphicFrame>
        <p:nvGraphicFramePr>
          <p:cNvPr id="80" name=""/>
          <p:cNvGraphicFramePr/>
          <p:nvPr/>
        </p:nvGraphicFramePr>
        <p:xfrm>
          <a:off xmlns:a="http://schemas.openxmlformats.org/drawingml/2006/main" x="502920" y="5569712"/>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Result</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Meaning</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Diagnostic normal run</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Directed line-code / payload PASS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Injected mismatch</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Fatal checker rejection</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Production ROM in synthesis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Implemented; not enumerated by this test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Foundry / USB compliance</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0">
                      <a:noFill/>
                    </a:lnB>
                    <a:solidFill>
                      <a:srgbClr val="FAFAFA"/>
                    </a:solidFill>
                  </a:tcPr>
                </a:tc>
              </a:tr>
            </a:tbl>
          </a:graphicData>
        </a:graphic>
      </p:graphicFrame>
      <p:sp>
        <p:nvSpPr>
          <p:cNvPr id="59" name="boundary-card">
            <a:extLst xmlns:a="http://schemas.openxmlformats.org/drawingml/2006/main">
              <a:ext uri="{FF2B5EF4-FFF2-40B4-BE49-F238E27FC236}">
                <a16:creationId xmlns:a16="http://schemas.microsoft.com/office/drawing/2014/main" id="{F85573BD-ABAF-4241-AAB7-61DF5A100DBD}"/>
              </a:ext>
            </a:extLst>
          </p:cNvPr>
          <p:cNvSpPr>
            <a:spLocks xmlns:a="http://schemas.openxmlformats.org/drawingml/2006/main" noGrp="1"/>
          </p:cNvSpPr>
          <p:nvPr/>
        </p:nvSpPr>
        <p:spPr>
          <a:xfrm xmlns:a="http://schemas.openxmlformats.org/drawingml/2006/main">
            <a:off x="502920" y="7268655"/>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16C653F4-B92A-4FDD-A45E-9D6540535485}"/>
              </a:ext>
            </a:extLst>
          </p:cNvPr>
          <p:cNvSpPr>
            <a:spLocks xmlns:a="http://schemas.openxmlformats.org/drawingml/2006/main" noGrp="1"/>
          </p:cNvSpPr>
          <p:nvPr/>
        </p:nvSpPr>
        <p:spPr>
          <a:xfrm xmlns:a="http://schemas.openxmlformats.org/drawingml/2006/main">
            <a:off x="502920" y="7268655"/>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1769B44C-1B47-490C-96BA-0E8BB7880759}"/>
              </a:ext>
            </a:extLst>
          </p:cNvPr>
          <p:cNvSpPr>
            <a:spLocks xmlns:a="http://schemas.openxmlformats.org/drawingml/2006/main" noGrp="1"/>
          </p:cNvSpPr>
          <p:nvPr/>
        </p:nvSpPr>
        <p:spPr>
          <a:xfrm xmlns:a="http://schemas.openxmlformats.org/drawingml/2006/main">
            <a:off x="674370" y="7363905"/>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A checker must be able to fail</a:t>
            </a:r>
          </a:p>
        </p:txBody>
      </p:sp>
      <p:sp>
        <p:nvSpPr>
          <p:cNvPr id="62" name="boundary-text">
            <a:extLst xmlns:a="http://schemas.openxmlformats.org/drawingml/2006/main">
              <a:ext uri="{FF2B5EF4-FFF2-40B4-BE49-F238E27FC236}">
                <a16:creationId xmlns:a16="http://schemas.microsoft.com/office/drawing/2014/main" id="{07542A9B-57B6-45D1-B56F-BC49BE37268E}"/>
              </a:ext>
            </a:extLst>
          </p:cNvPr>
          <p:cNvSpPr>
            <a:spLocks xmlns:a="http://schemas.openxmlformats.org/drawingml/2006/main" noGrp="1"/>
          </p:cNvSpPr>
          <p:nvPr/>
        </p:nvSpPr>
        <p:spPr>
          <a:xfrm xmlns:a="http://schemas.openxmlformats.org/drawingml/2006/main">
            <a:off x="674370" y="7630605"/>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Completion alone is insufficient. Read the successful log and the expected fatal rejection together;</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neither is a protocol-compliance certificate.</a:t>
            </a:r>
          </a:p>
        </p:txBody>
      </p:sp>
    </p:spTree>
    <p:extLst>
      <p:ext uri="{BB962C8B-B14F-4D97-AF65-F5344CB8AC3E}">
        <p14:creationId xmlns:p14="http://schemas.microsoft.com/office/powerpoint/2010/main" val="185572410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afe1d58833764d48"/>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9C5C3A6B-67A2-4843-9A37-36CD2D4EB58D}"/>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12 · SYNTHESIS</a:t>
            </a:r>
          </a:p>
        </p:txBody>
      </p:sp>
      <p:sp>
        <p:nvSpPr>
          <p:cNvPr id="51" name="page-title">
            <a:extLst xmlns:a="http://schemas.openxmlformats.org/drawingml/2006/main">
              <a:ext uri="{FF2B5EF4-FFF2-40B4-BE49-F238E27FC236}">
                <a16:creationId xmlns:a16="http://schemas.microsoft.com/office/drawing/2014/main" id="{561D9B05-C00E-4776-AFC7-78D3FE015C5A}"/>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Synthesis: a description becomes gates</a:t>
            </a:r>
          </a:p>
        </p:txBody>
      </p:sp>
      <p:sp>
        <p:nvSpPr>
          <p:cNvPr id="52" name="intro">
            <a:extLst xmlns:a="http://schemas.openxmlformats.org/drawingml/2006/main">
              <a:ext uri="{FF2B5EF4-FFF2-40B4-BE49-F238E27FC236}">
                <a16:creationId xmlns:a16="http://schemas.microsoft.com/office/drawing/2014/main" id="{A0C2BE7A-BFC7-4B25-9D98-0B157FC792BC}"/>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netlist is a list of logic cells and their connections. Yosys translates the RTL into cells from</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IHP SG13G2 library.</a:t>
            </a:r>
          </a:p>
        </p:txBody>
      </p:sp>
      <p:sp>
        <p:nvSpPr>
          <p:cNvPr id="53" name="component-label-246.26666666666665">
            <a:extLst xmlns:a="http://schemas.openxmlformats.org/drawingml/2006/main">
              <a:ext uri="{FF2B5EF4-FFF2-40B4-BE49-F238E27FC236}">
                <a16:creationId xmlns:a16="http://schemas.microsoft.com/office/drawing/2014/main" id="{43E9D344-B53B-4553-9969-34C548CB986F}"/>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Y N T H E S I S</a:t>
            </a:r>
          </a:p>
        </p:txBody>
      </p:sp>
      <p:sp>
        <p:nvSpPr>
          <p:cNvPr id="54" name="body-0">
            <a:extLst xmlns:a="http://schemas.openxmlformats.org/drawingml/2006/main">
              <a:ext uri="{FF2B5EF4-FFF2-40B4-BE49-F238E27FC236}">
                <a16:creationId xmlns:a16="http://schemas.microsoft.com/office/drawing/2014/main" id="{58D8ACA1-838C-4424-B58B-8B68B580D99D}"/>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process design kit, or PDK, contains the process-specific files used by implementation tools. This
</a:t>
            </a:r>
            <a:r>
              <a:rPr b="1"/>
              <a:t>reference</a:t>
            </a:r>
            <a:r>
              <a:t> uses IHP SG13G2, not the SKY130 library used by the golden APB primer. Standard cells
are predesigned gates and storage elements with characterised timing and physical views.</a:t>
            </a:r>
          </a:p>
        </p:txBody>
      </p:sp>
      <p:sp>
        <p:nvSpPr>
          <p:cNvPr id="55" name="body-1">
            <a:extLst xmlns:a="http://schemas.openxmlformats.org/drawingml/2006/main">
              <a:ext uri="{FF2B5EF4-FFF2-40B4-BE49-F238E27FC236}">
                <a16:creationId xmlns:a16="http://schemas.microsoft.com/office/drawing/2014/main" id="{3CB4F90B-6604-42B4-A7AC-8302245EC868}"/>
              </a:ext>
            </a:extLst>
          </p:cNvPr>
          <p:cNvSpPr>
            <a:spLocks xmlns:a="http://schemas.openxmlformats.org/drawingml/2006/main" noGrp="1"/>
          </p:cNvSpPr>
          <p:nvPr/>
        </p:nvSpPr>
        <p:spPr>
          <a:xfrm xmlns:a="http://schemas.openxmlformats.org/drawingml/2006/main">
            <a:off x="502920" y="333057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a:t>
            </a:r>
            <a:r>
              <a:rPr b="1"/>
              <a:t>source</a:t>
            </a:r>
            <a:r>
              <a:t> is compiled and checked under the unit workspace before synthesis. Yosys maps the
functional logic into the pinned IHP SG13G2 standard-cell library. The current netlist contains
2608 functional cells, excluding $scopeinfo metadata. The structural checker rejects remaining
generic logic, latches or unresolved instances.</a:t>
            </a:r>
          </a:p>
        </p:txBody>
      </p:sp>
      <p:sp>
        <p:nvSpPr>
          <p:cNvPr id="56" name="body-2">
            <a:extLst xmlns:a="http://schemas.openxmlformats.org/drawingml/2006/main">
              <a:ext uri="{FF2B5EF4-FFF2-40B4-BE49-F238E27FC236}">
                <a16:creationId xmlns:a16="http://schemas.microsoft.com/office/drawing/2014/main" id="{84B8091D-2612-4A7D-95F4-CFD2F1DBD85C}"/>
              </a:ext>
            </a:extLst>
          </p:cNvPr>
          <p:cNvSpPr>
            <a:spLocks xmlns:a="http://schemas.openxmlformats.org/drawingml/2006/main" noGrp="1"/>
          </p:cNvSpPr>
          <p:nvPr/>
        </p:nvSpPr>
        <p:spPr>
          <a:xfrm xmlns:a="http://schemas.openxmlformats.org/drawingml/2006/main">
            <a:off x="502920" y="422846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mapped count excludes $scopeinfo metadata. It is not the count of every placed instance
after </a:t>
            </a:r>
            <a:r>
              <a:rPr b="1"/>
              <a:t>clock</a:t>
            </a:r>
            <a:r>
              <a:t> buffers, repair cells and fillers are added. It also does not mean that the original
protocol has been independently proven for all possible transactions.</a:t>
            </a:r>
          </a:p>
        </p:txBody>
      </p:sp>
      <p:sp>
        <p:nvSpPr>
          <p:cNvPr id="57" name="component-label-519.4933333333333">
            <a:extLst xmlns:a="http://schemas.openxmlformats.org/drawingml/2006/main">
              <a:ext uri="{FF2B5EF4-FFF2-40B4-BE49-F238E27FC236}">
                <a16:creationId xmlns:a16="http://schemas.microsoft.com/office/drawing/2014/main" id="{921A904E-C969-489A-9A25-A5621B94236B}"/>
              </a:ext>
            </a:extLst>
          </p:cNvPr>
          <p:cNvSpPr>
            <a:spLocks xmlns:a="http://schemas.openxmlformats.org/drawingml/2006/main" noGrp="1"/>
          </p:cNvSpPr>
          <p:nvPr/>
        </p:nvSpPr>
        <p:spPr>
          <a:xfrm xmlns:a="http://schemas.openxmlformats.org/drawingml/2006/main">
            <a:off x="502920" y="494817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M A P P I N G   R E S U L T</a:t>
            </a:r>
          </a:p>
        </p:txBody>
      </p:sp>
      <p:graphicFrame>
        <p:nvGraphicFramePr>
          <p:cNvPr id="80" name=""/>
          <p:cNvGraphicFramePr/>
          <p:nvPr/>
        </p:nvGraphicFramePr>
        <p:xfrm>
          <a:off xmlns:a="http://schemas.openxmlformats.org/drawingml/2006/main" x="502920" y="5213350"/>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CURRENT RESULT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Top module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usb_ls_core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2608</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Technology</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IHP SG13G2</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Unresolved generic logic / latches</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Rejected by structural checker</a:t>
                      </a:r>
                    </a:p>
                  </a:txBody>
                  <a:tcPr marL="91440" marR="91440" marT="45720" marB="45720">
                    <a:lnR w="0">
                      <a:noFill/>
                    </a:lnR>
                    <a:lnB w="0">
                      <a:noFill/>
                    </a:lnB>
                    <a:solidFill>
                      <a:srgbClr val="FAFAFA"/>
                    </a:solidFill>
                  </a:tcPr>
                </a:tc>
              </a:tr>
            </a:tbl>
          </a:graphicData>
        </a:graphic>
      </p:graphicFrame>
      <p:sp>
        <p:nvSpPr>
          <p:cNvPr id="59" name="component-label-725.7">
            <a:extLst xmlns:a="http://schemas.openxmlformats.org/drawingml/2006/main">
              <a:ext uri="{FF2B5EF4-FFF2-40B4-BE49-F238E27FC236}">
                <a16:creationId xmlns:a16="http://schemas.microsoft.com/office/drawing/2014/main" id="{E58AD44F-BFE5-4354-B165-9190D7AA62EC}"/>
              </a:ext>
            </a:extLst>
          </p:cNvPr>
          <p:cNvSpPr>
            <a:spLocks xmlns:a="http://schemas.openxmlformats.org/drawingml/2006/main" noGrp="1"/>
          </p:cNvSpPr>
          <p:nvPr/>
        </p:nvSpPr>
        <p:spPr>
          <a:xfrm xmlns:a="http://schemas.openxmlformats.org/drawingml/2006/main">
            <a:off x="502920" y="69122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60" name="code-panel">
            <a:extLst xmlns:a="http://schemas.openxmlformats.org/drawingml/2006/main">
              <a:ext uri="{FF2B5EF4-FFF2-40B4-BE49-F238E27FC236}">
                <a16:creationId xmlns:a16="http://schemas.microsoft.com/office/drawing/2014/main" id="{3738D160-2758-4A16-9A47-DBEEACF2E654}"/>
              </a:ext>
            </a:extLst>
          </p:cNvPr>
          <p:cNvSpPr>
            <a:spLocks xmlns:a="http://schemas.openxmlformats.org/drawingml/2006/main" noGrp="1"/>
          </p:cNvSpPr>
          <p:nvPr/>
        </p:nvSpPr>
        <p:spPr>
          <a:xfrm xmlns:a="http://schemas.openxmlformats.org/drawingml/2006/main">
            <a:off x="502920" y="7177469"/>
            <a:ext cx="6556248" cy="53848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1" name="code">
            <a:extLst xmlns:a="http://schemas.openxmlformats.org/drawingml/2006/main">
              <a:ext uri="{FF2B5EF4-FFF2-40B4-BE49-F238E27FC236}">
                <a16:creationId xmlns:a16="http://schemas.microsoft.com/office/drawing/2014/main" id="{593189FD-501D-4605-BA7E-3C5FABA69059}"/>
              </a:ext>
            </a:extLst>
          </p:cNvPr>
          <p:cNvSpPr>
            <a:spLocks xmlns:a="http://schemas.openxmlformats.org/drawingml/2006/main" noGrp="1"/>
          </p:cNvSpPr>
          <p:nvPr/>
        </p:nvSpPr>
        <p:spPr>
          <a:xfrm xmlns:a="http://schemas.openxmlformats.org/drawingml/2006/main">
            <a:off x="617220" y="7272719"/>
            <a:ext cx="6327648" cy="38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make synth</a:t>
            </a:r>
            <a:r>
              <a:rPr>
                <a:solidFill>
                  <a:srgbClr val="EF9529"/>
                </a:solidFill>
              </a:rPr>
              <a:t>
node verify_build.mjs synth</a:t>
            </a:r>
          </a:p>
        </p:txBody>
      </p:sp>
      <p:sp>
        <p:nvSpPr>
          <p:cNvPr id="62" name="code-source">
            <a:extLst xmlns:a="http://schemas.openxmlformats.org/drawingml/2006/main">
              <a:ext uri="{FF2B5EF4-FFF2-40B4-BE49-F238E27FC236}">
                <a16:creationId xmlns:a16="http://schemas.microsoft.com/office/drawing/2014/main" id="{E8F8D62B-09DA-4F13-8E26-ED5C8B0FD770}"/>
              </a:ext>
            </a:extLst>
          </p:cNvPr>
          <p:cNvSpPr>
            <a:spLocks xmlns:a="http://schemas.openxmlformats.org/drawingml/2006/main" noGrp="1"/>
          </p:cNvSpPr>
          <p:nvPr/>
        </p:nvSpPr>
        <p:spPr>
          <a:xfrm xmlns:a="http://schemas.openxmlformats.org/drawingml/2006/main">
            <a:off x="502920" y="7773099"/>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04_synthesis/synth.tcl; verify_build.mjs synthesis checks</a:t>
            </a:r>
          </a:p>
        </p:txBody>
      </p:sp>
    </p:spTree>
    <p:extLst>
      <p:ext uri="{BB962C8B-B14F-4D97-AF65-F5344CB8AC3E}">
        <p14:creationId xmlns:p14="http://schemas.microsoft.com/office/powerpoint/2010/main" val="185572410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5b249ae909d34dc9"/>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15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70355948-1833-402F-80C0-1B4A35C0581B}"/>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13 · PHYSICAL IMPLEMENTATION</a:t>
            </a:r>
          </a:p>
        </p:txBody>
      </p:sp>
      <p:sp>
        <p:nvSpPr>
          <p:cNvPr id="51" name="page-title">
            <a:extLst xmlns:a="http://schemas.openxmlformats.org/drawingml/2006/main">
              <a:ext uri="{FF2B5EF4-FFF2-40B4-BE49-F238E27FC236}">
                <a16:creationId xmlns:a16="http://schemas.microsoft.com/office/drawing/2014/main" id="{EE1A232D-35C8-4CB8-8DF2-27690119E349}"/>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Floorplan and placement</a:t>
            </a:r>
          </a:p>
        </p:txBody>
      </p:sp>
      <p:sp>
        <p:nvSpPr>
          <p:cNvPr id="52" name="intro">
            <a:extLst xmlns:a="http://schemas.openxmlformats.org/drawingml/2006/main">
              <a:ext uri="{FF2B5EF4-FFF2-40B4-BE49-F238E27FC236}">
                <a16:creationId xmlns:a16="http://schemas.microsoft.com/office/drawing/2014/main" id="{31159A6C-D8B0-4107-8096-CA916D1782AF}"/>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floorplan gives the circuit a physical outline. Placement chooses where its cells sit inside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that outline.</a:t>
            </a:r>
          </a:p>
        </p:txBody>
      </p:sp>
      <p:sp>
        <p:nvSpPr>
          <p:cNvPr id="53" name="component-label-246.26666666666665">
            <a:extLst xmlns:a="http://schemas.openxmlformats.org/drawingml/2006/main">
              <a:ext uri="{FF2B5EF4-FFF2-40B4-BE49-F238E27FC236}">
                <a16:creationId xmlns:a16="http://schemas.microsoft.com/office/drawing/2014/main" id="{90151970-E38A-41EE-B78C-DF4BBFC4E823}"/>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P H Y S I C A L   I M P L E M E N T A T I O N</a:t>
            </a:r>
          </a:p>
        </p:txBody>
      </p:sp>
      <p:sp>
        <p:nvSpPr>
          <p:cNvPr id="54" name="body-0">
            <a:extLst xmlns:a="http://schemas.openxmlformats.org/drawingml/2006/main">
              <a:ext uri="{FF2B5EF4-FFF2-40B4-BE49-F238E27FC236}">
                <a16:creationId xmlns:a16="http://schemas.microsoft.com/office/drawing/2014/main" id="{226F761F-9DF6-42AF-ADC2-64CAE7B16CDE}"/>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die outline for this standalone block is 500 x 500 um. The floorplan establishes rows and
</a:t>
            </a:r>
            <a:r>
              <a:rPr b="1"/>
              <a:t>reference</a:t>
            </a:r>
            <a:r>
              <a:t> power/pin geometry. The placer must fit cells legally without overlaps and with room for
routing. This is a block-level educational layout, not a complete padframe or package design.</a:t>
            </a:r>
          </a:p>
        </p:txBody>
      </p:sp>
      <p:sp>
        <p:nvSpPr>
          <p:cNvPr id="55" name="body-1">
            <a:extLst xmlns:a="http://schemas.openxmlformats.org/drawingml/2006/main">
              <a:ext uri="{FF2B5EF4-FFF2-40B4-BE49-F238E27FC236}">
                <a16:creationId xmlns:a16="http://schemas.microsoft.com/office/drawing/2014/main" id="{89555847-79CD-441F-AA2A-B38BE0860499}"/>
              </a:ext>
            </a:extLst>
          </p:cNvPr>
          <p:cNvSpPr>
            <a:spLocks xmlns:a="http://schemas.openxmlformats.org/drawingml/2006/main" noGrp="1"/>
          </p:cNvSpPr>
          <p:nvPr/>
        </p:nvSpPr>
        <p:spPr>
          <a:xfrm xmlns:a="http://schemas.openxmlformats.org/drawingml/2006/main">
            <a:off x="502920" y="333057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Mapped functional logic has 2608 cells. After physical additions and fillers, the routed DEF</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contains 49,699 placed standard-cell instances. A filler occupies empty row sites; it is not another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functional logic gate. That distinction explains why the two counts differ so much.</a:t>
            </a:r>
          </a:p>
        </p:txBody>
      </p:sp>
      <p:sp>
        <p:nvSpPr>
          <p:cNvPr id="56" name="body-2">
            <a:extLst xmlns:a="http://schemas.openxmlformats.org/drawingml/2006/main">
              <a:ext uri="{FF2B5EF4-FFF2-40B4-BE49-F238E27FC236}">
                <a16:creationId xmlns:a16="http://schemas.microsoft.com/office/drawing/2014/main" id="{564A0F0D-3091-43AD-BC4C-612C72B611A3}"/>
              </a:ext>
            </a:extLst>
          </p:cNvPr>
          <p:cNvSpPr>
            <a:spLocks xmlns:a="http://schemas.openxmlformats.org/drawingml/2006/main" noGrp="1"/>
          </p:cNvSpPr>
          <p:nvPr/>
        </p:nvSpPr>
        <p:spPr>
          <a:xfrm xmlns:a="http://schemas.openxmlformats.org/drawingml/2006/main">
            <a:off x="502920" y="4050284"/>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Utilisation is the fraction of core area occupied by placed cell area. It is not simply functional-cell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count divided by die size, and it changes between stages. This note does not substitute APB</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utilisation, row count or I/O count for unavailable protocol-specific measurements.</a:t>
            </a:r>
          </a:p>
        </p:txBody>
      </p:sp>
      <p:sp>
        <p:nvSpPr>
          <p:cNvPr id="57" name="component-label-500.78666666666663">
            <a:extLst xmlns:a="http://schemas.openxmlformats.org/drawingml/2006/main">
              <a:ext uri="{FF2B5EF4-FFF2-40B4-BE49-F238E27FC236}">
                <a16:creationId xmlns:a16="http://schemas.microsoft.com/office/drawing/2014/main" id="{8B4925E0-2FE0-421B-96A8-920DBE963211}"/>
              </a:ext>
            </a:extLst>
          </p:cNvPr>
          <p:cNvSpPr>
            <a:spLocks xmlns:a="http://schemas.openxmlformats.org/drawingml/2006/main" noGrp="1"/>
          </p:cNvSpPr>
          <p:nvPr/>
        </p:nvSpPr>
        <p:spPr>
          <a:xfrm xmlns:a="http://schemas.openxmlformats.org/drawingml/2006/main">
            <a:off x="502920" y="47699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A C T U A L   P H Y S I C A L   R E F E R E N C E</a:t>
            </a:r>
          </a:p>
        </p:txBody>
      </p:sp>
      <p:graphicFrame>
        <p:nvGraphicFramePr>
          <p:cNvPr id="76" name=""/>
          <p:cNvGraphicFramePr/>
          <p:nvPr/>
        </p:nvGraphicFramePr>
        <p:xfrm>
          <a:off xmlns:a="http://schemas.openxmlformats.org/drawingml/2006/main" x="502920" y="5035169"/>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Die outline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500 x 500 um</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2608</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Placed standard-cell instances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49,699</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Physical inputs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06_floorplanning; 07_placement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Placement agreement</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DEF compared with decoded GDS</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85572410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eb9915ae38bc4805"/>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16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2273515E-9BF0-47A8-AEF8-15858B6DECD9}"/>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14 · CLOCK AND WIRES</a:t>
            </a:r>
          </a:p>
        </p:txBody>
      </p:sp>
      <p:sp>
        <p:nvSpPr>
          <p:cNvPr id="51" name="page-title">
            <a:extLst xmlns:a="http://schemas.openxmlformats.org/drawingml/2006/main">
              <a:ext uri="{FF2B5EF4-FFF2-40B4-BE49-F238E27FC236}">
                <a16:creationId xmlns:a16="http://schemas.microsoft.com/office/drawing/2014/main" id="{D2B24CAC-7CDA-45FA-AB04-889F65D0164A}"/>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Clock tree and routing</a:t>
            </a:r>
          </a:p>
        </p:txBody>
      </p:sp>
      <p:sp>
        <p:nvSpPr>
          <p:cNvPr id="52" name="intro">
            <a:extLst xmlns:a="http://schemas.openxmlformats.org/drawingml/2006/main">
              <a:ext uri="{FF2B5EF4-FFF2-40B4-BE49-F238E27FC236}">
                <a16:creationId xmlns:a16="http://schemas.microsoft.com/office/drawing/2014/main" id="{8555FB14-3584-48F1-B7A5-AA973200FB4F}"/>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Clock-tree synthesis distributes clocks to registers. Routing draws the metal connections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between placed cells.</a:t>
            </a:r>
          </a:p>
        </p:txBody>
      </p:sp>
      <p:sp>
        <p:nvSpPr>
          <p:cNvPr id="53" name="component-label-246.26666666666665">
            <a:extLst xmlns:a="http://schemas.openxmlformats.org/drawingml/2006/main">
              <a:ext uri="{FF2B5EF4-FFF2-40B4-BE49-F238E27FC236}">
                <a16:creationId xmlns:a16="http://schemas.microsoft.com/office/drawing/2014/main" id="{8E0437F5-F539-4DC1-8F79-34F0DE5F0C9C}"/>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L O C K   A N D   W I R E S</a:t>
            </a:r>
          </a:p>
        </p:txBody>
      </p:sp>
      <p:sp>
        <p:nvSpPr>
          <p:cNvPr id="54" name="body-0">
            <a:extLst xmlns:a="http://schemas.openxmlformats.org/drawingml/2006/main">
              <a:ext uri="{FF2B5EF4-FFF2-40B4-BE49-F238E27FC236}">
                <a16:creationId xmlns:a16="http://schemas.microsoft.com/office/drawing/2014/main" id="{2B3FD8B1-66CF-4DB6-B602-2A134E2878F2}"/>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register samples its input at a </a:t>
            </a:r>
            <a:r>
              <a:rPr b="1"/>
              <a:t>clock</a:t>
            </a:r>
            <a:r>
              <a:t> edge. Clock buffers distribute that edge across the block;
the difference in arrival times is called skew. The reference is constrained at 12 MHz / 83.333333
ns.</a:t>
            </a:r>
          </a:p>
        </p:txBody>
      </p:sp>
      <p:sp>
        <p:nvSpPr>
          <p:cNvPr id="55" name="body-1">
            <a:extLst xmlns:a="http://schemas.openxmlformats.org/drawingml/2006/main">
              <a:ext uri="{FF2B5EF4-FFF2-40B4-BE49-F238E27FC236}">
                <a16:creationId xmlns:a16="http://schemas.microsoft.com/office/drawing/2014/main" id="{0A8A2D1A-290C-41E0-BFCB-0DF08D7CB502}"/>
              </a:ext>
            </a:extLst>
          </p:cNvPr>
          <p:cNvSpPr>
            <a:spLocks xmlns:a="http://schemas.openxmlformats.org/drawingml/2006/main" noGrp="1"/>
          </p:cNvSpPr>
          <p:nvPr/>
        </p:nvSpPr>
        <p:spPr>
          <a:xfrm xmlns:a="http://schemas.openxmlformats.org/drawingml/2006/main">
            <a:off x="502920" y="333057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OpenROAD completes the staged physical flow. The </a:t>
            </a:r>
            <a:r>
              <a:rPr b="1"/>
              <a:t>reference</a:t>
            </a:r>
            <a:r>
              <a:t> die is 500 x 500 um. DEF records
routed design geometry and cell placement; SPEF captures extracted parasitics used by the timing
analysis. The scripts retain stage-specific output so the result can be investigated instead of
relying on a final banner.</a:t>
            </a:r>
          </a:p>
        </p:txBody>
      </p:sp>
      <p:sp>
        <p:nvSpPr>
          <p:cNvPr id="56" name="body-2">
            <a:extLst xmlns:a="http://schemas.openxmlformats.org/drawingml/2006/main">
              <a:ext uri="{FF2B5EF4-FFF2-40B4-BE49-F238E27FC236}">
                <a16:creationId xmlns:a16="http://schemas.microsoft.com/office/drawing/2014/main" id="{7770EAE1-F89C-4D44-8B0A-3F77089AC982}"/>
              </a:ext>
            </a:extLst>
          </p:cNvPr>
          <p:cNvSpPr>
            <a:spLocks xmlns:a="http://schemas.openxmlformats.org/drawingml/2006/main" noGrp="1"/>
          </p:cNvSpPr>
          <p:nvPr/>
        </p:nvSpPr>
        <p:spPr>
          <a:xfrm xmlns:a="http://schemas.openxmlformats.org/drawingml/2006/main">
            <a:off x="502920" y="422846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Real interconnect has resistance and capacitance, called parasitics. Extraction writes these in </a:t>
            </a:r>
            <a:r>
              <a:rPr b="1"/>
              <a:t>SPEF</a:t>
            </a:r>
            <a:r>
              <a:t>
for post-route timing. The retained router-rule DRC file is empty. That checks the router view of its
work; it is not a full foundry-deck check of the exported polygons.</a:t>
            </a:r>
          </a:p>
        </p:txBody>
      </p:sp>
      <p:sp>
        <p:nvSpPr>
          <p:cNvPr id="57" name="component-label-519.4933333333333">
            <a:extLst xmlns:a="http://schemas.openxmlformats.org/drawingml/2006/main">
              <a:ext uri="{FF2B5EF4-FFF2-40B4-BE49-F238E27FC236}">
                <a16:creationId xmlns:a16="http://schemas.microsoft.com/office/drawing/2014/main" id="{D6FDBF7D-9C6F-499A-9C70-5B971FD45438}"/>
              </a:ext>
            </a:extLst>
          </p:cNvPr>
          <p:cNvSpPr>
            <a:spLocks xmlns:a="http://schemas.openxmlformats.org/drawingml/2006/main" noGrp="1"/>
          </p:cNvSpPr>
          <p:nvPr/>
        </p:nvSpPr>
        <p:spPr>
          <a:xfrm xmlns:a="http://schemas.openxmlformats.org/drawingml/2006/main">
            <a:off x="502920" y="494817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A D   T H E   P H Y S I C A L   E V I D E N C E</a:t>
            </a:r>
          </a:p>
        </p:txBody>
      </p:sp>
      <p:graphicFrame>
        <p:nvGraphicFramePr>
          <p:cNvPr id="80" name=""/>
          <p:cNvGraphicFramePr/>
          <p:nvPr/>
        </p:nvGraphicFramePr>
        <p:xfrm>
          <a:off xmlns:a="http://schemas.openxmlformats.org/drawingml/2006/main" x="502920" y="5213350"/>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ARTIFACT</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QUESTION IT ANSWERS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09_place_and_route/route.def</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Where are cells and routed connections?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09_place_and_route/route.spef</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Which parasitics were extracted?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Router-rule DRC report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Any reported routing-rule violations?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08_sta/timing_report.txt</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What does extracted reference timing report?</a:t>
                      </a:r>
                    </a:p>
                  </a:txBody>
                  <a:tcPr marL="91440" marR="91440" marT="45720" marB="45720">
                    <a:lnR w="0">
                      <a:noFill/>
                    </a:lnR>
                    <a:lnB w="0">
                      <a:noFill/>
                    </a:lnB>
                    <a:solidFill>
                      <a:srgbClr val="FAFAFA"/>
                    </a:solidFill>
                  </a:tcPr>
                </a:tc>
              </a:tr>
            </a:tbl>
          </a:graphicData>
        </a:graphic>
      </p:graphicFrame>
      <p:sp>
        <p:nvSpPr>
          <p:cNvPr id="59" name="boundary-card">
            <a:extLst xmlns:a="http://schemas.openxmlformats.org/drawingml/2006/main">
              <a:ext uri="{FF2B5EF4-FFF2-40B4-BE49-F238E27FC236}">
                <a16:creationId xmlns:a16="http://schemas.microsoft.com/office/drawing/2014/main" id="{69362F36-0C07-48B4-A829-2677C1120B08}"/>
              </a:ext>
            </a:extLst>
          </p:cNvPr>
          <p:cNvSpPr>
            <a:spLocks xmlns:a="http://schemas.openxmlformats.org/drawingml/2006/main" noGrp="1"/>
          </p:cNvSpPr>
          <p:nvPr/>
        </p:nvSpPr>
        <p:spPr>
          <a:xfrm xmlns:a="http://schemas.openxmlformats.org/drawingml/2006/main">
            <a:off x="502920" y="6912293"/>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D62E5589-8963-40F0-AC95-D01D5AFF407F}"/>
              </a:ext>
            </a:extLst>
          </p:cNvPr>
          <p:cNvSpPr>
            <a:spLocks xmlns:a="http://schemas.openxmlformats.org/drawingml/2006/main" noGrp="1"/>
          </p:cNvSpPr>
          <p:nvPr/>
        </p:nvSpPr>
        <p:spPr>
          <a:xfrm xmlns:a="http://schemas.openxmlformats.org/drawingml/2006/main">
            <a:off x="502920" y="6912293"/>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4820888A-14F7-4B12-82B9-A85F70CD3EE7}"/>
              </a:ext>
            </a:extLst>
          </p:cNvPr>
          <p:cNvSpPr>
            <a:spLocks xmlns:a="http://schemas.openxmlformats.org/drawingml/2006/main" noGrp="1"/>
          </p:cNvSpPr>
          <p:nvPr/>
        </p:nvSpPr>
        <p:spPr>
          <a:xfrm xmlns:a="http://schemas.openxmlformats.org/drawingml/2006/main">
            <a:off x="674370" y="7007543"/>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Two checks can both be called DRC</a:t>
            </a:r>
          </a:p>
        </p:txBody>
      </p:sp>
      <p:sp>
        <p:nvSpPr>
          <p:cNvPr id="62" name="boundary-text">
            <a:extLst xmlns:a="http://schemas.openxmlformats.org/drawingml/2006/main">
              <a:ext uri="{FF2B5EF4-FFF2-40B4-BE49-F238E27FC236}">
                <a16:creationId xmlns:a16="http://schemas.microsoft.com/office/drawing/2014/main" id="{93AB0D61-8F10-463F-A52C-8799D591DEF2}"/>
              </a:ext>
            </a:extLst>
          </p:cNvPr>
          <p:cNvSpPr>
            <a:spLocks xmlns:a="http://schemas.openxmlformats.org/drawingml/2006/main" noGrp="1"/>
          </p:cNvSpPr>
          <p:nvPr/>
        </p:nvSpPr>
        <p:spPr>
          <a:xfrm xmlns:a="http://schemas.openxmlformats.org/drawingml/2006/main">
            <a:off x="674370" y="7274243"/>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The empty router report is accepted routing evidence. Foundry DRC is a separate unperformed</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obligation; one result cannot stand in for the other.</a:t>
            </a:r>
          </a:p>
        </p:txBody>
      </p:sp>
    </p:spTree>
    <p:extLst>
      <p:ext uri="{BB962C8B-B14F-4D97-AF65-F5344CB8AC3E}">
        <p14:creationId xmlns:p14="http://schemas.microsoft.com/office/powerpoint/2010/main" val="185572410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0ca24f744aa1422e"/>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17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B0A41BD8-8C40-4047-BB02-2B793E370ABD}"/>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15 · REFERENCE TIMING</a:t>
            </a:r>
          </a:p>
        </p:txBody>
      </p:sp>
      <p:sp>
        <p:nvSpPr>
          <p:cNvPr id="51" name="page-title">
            <a:extLst xmlns:a="http://schemas.openxmlformats.org/drawingml/2006/main">
              <a:ext uri="{FF2B5EF4-FFF2-40B4-BE49-F238E27FC236}">
                <a16:creationId xmlns:a16="http://schemas.microsoft.com/office/drawing/2014/main" id="{3E965C98-82BC-48DE-8C03-635302B7CFF8}"/>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Two measured reference corners</a:t>
            </a:r>
          </a:p>
        </p:txBody>
      </p:sp>
      <p:sp>
        <p:nvSpPr>
          <p:cNvPr id="52" name="intro">
            <a:extLst xmlns:a="http://schemas.openxmlformats.org/drawingml/2006/main">
              <a:ext uri="{FF2B5EF4-FFF2-40B4-BE49-F238E27FC236}">
                <a16:creationId xmlns:a16="http://schemas.microsoft.com/office/drawing/2014/main" id="{4443928F-6766-420A-9BFA-96115B88A009}"/>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Static timing analysis adds cell and wire delays without simulating input patterns. Setup asks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whether data arrives early enough; hold asks whether it stays stable long enough.</a:t>
            </a:r>
          </a:p>
        </p:txBody>
      </p:sp>
      <p:sp>
        <p:nvSpPr>
          <p:cNvPr id="53" name="component-label-246.26666666666665">
            <a:extLst xmlns:a="http://schemas.openxmlformats.org/drawingml/2006/main">
              <a:ext uri="{FF2B5EF4-FFF2-40B4-BE49-F238E27FC236}">
                <a16:creationId xmlns:a16="http://schemas.microsoft.com/office/drawing/2014/main" id="{AFB49E2F-A1BD-4DBA-8BD9-ADA3F25653B9}"/>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F E R E N C E   T I M I N G</a:t>
            </a:r>
          </a:p>
        </p:txBody>
      </p:sp>
      <p:sp>
        <p:nvSpPr>
          <p:cNvPr id="54" name="body-0">
            <a:extLst xmlns:a="http://schemas.openxmlformats.org/drawingml/2006/main">
              <a:ext uri="{FF2B5EF4-FFF2-40B4-BE49-F238E27FC236}">
                <a16:creationId xmlns:a16="http://schemas.microsoft.com/office/drawing/2014/main" id="{FA77B517-C399-45FB-A99A-22916A0F0578}"/>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physical </a:t>
            </a:r>
            <a:r>
              <a:rPr b="1"/>
              <a:t>clock</a:t>
            </a:r>
            <a:r>
              <a:t> constraint is 12 MHz / 83.333333 ns. Post-route timing uses the extracted
design rather than an ideal pre-route wire estimate. The report at each corner must be inspected
for worst setup and hold slack and for VIOLATED markers. The reported values are not a timing
guarantee under unstated board, voltage or temperature conditions.</a:t>
            </a:r>
          </a:p>
        </p:txBody>
      </p:sp>
      <p:sp>
        <p:nvSpPr>
          <p:cNvPr id="55" name="body-1">
            <a:extLst xmlns:a="http://schemas.openxmlformats.org/drawingml/2006/main">
              <a:ext uri="{FF2B5EF4-FFF2-40B4-BE49-F238E27FC236}">
                <a16:creationId xmlns:a16="http://schemas.microsoft.com/office/drawing/2014/main" id="{E2230E80-95B5-4774-93DF-08261C9F140E}"/>
              </a:ext>
            </a:extLst>
          </p:cNvPr>
          <p:cNvSpPr>
            <a:spLocks xmlns:a="http://schemas.openxmlformats.org/drawingml/2006/main" noGrp="1"/>
          </p:cNvSpPr>
          <p:nvPr/>
        </p:nvSpPr>
        <p:spPr>
          <a:xfrm xmlns:a="http://schemas.openxmlformats.org/drawingml/2006/main">
            <a:off x="502920" y="350875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Current TT setup/hold slack is +76.96 / +0.16 ns. The slow-corner values are +73.83 / +0.21 ns.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Both reports contain no VIOLATED marker. These numbers are taken directly from the local report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files at document build time; the evidence manifest retains their hashes.</a:t>
            </a:r>
          </a:p>
        </p:txBody>
      </p:sp>
      <p:sp>
        <p:nvSpPr>
          <p:cNvPr id="56" name="body-2">
            <a:extLst xmlns:a="http://schemas.openxmlformats.org/drawingml/2006/main">
              <a:ext uri="{FF2B5EF4-FFF2-40B4-BE49-F238E27FC236}">
                <a16:creationId xmlns:a16="http://schemas.microsoft.com/office/drawing/2014/main" id="{C5A1192C-6EC2-4779-A74B-9320BAED4AAA}"/>
              </a:ext>
            </a:extLst>
          </p:cNvPr>
          <p:cNvSpPr>
            <a:spLocks xmlns:a="http://schemas.openxmlformats.org/drawingml/2006/main" noGrp="1"/>
          </p:cNvSpPr>
          <p:nvPr/>
        </p:nvSpPr>
        <p:spPr>
          <a:xfrm xmlns:a="http://schemas.openxmlformats.org/drawingml/2006/main">
            <a:off x="502920" y="422846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I/O delays are </a:t>
            </a:r>
            <a:r>
              <a:rPr b="1"/>
              <a:t>reference</a:t>
            </a:r>
            <a:r>
              <a:t> budgets, not a contract with an external target, transceiver or PHY. Bus
synchronisation, reset recovery/removal, all additional corners and modes, signal integrity and
board timing need their own analysis. Positive slack in these two reports is therefore called
reference timing closure, not foundry or system signoff.</a:t>
            </a:r>
          </a:p>
        </p:txBody>
      </p:sp>
      <p:sp>
        <p:nvSpPr>
          <p:cNvPr id="57" name="component-label-538.2">
            <a:extLst xmlns:a="http://schemas.openxmlformats.org/drawingml/2006/main">
              <a:ext uri="{FF2B5EF4-FFF2-40B4-BE49-F238E27FC236}">
                <a16:creationId xmlns:a16="http://schemas.microsoft.com/office/drawing/2014/main" id="{AC92B9B6-B11C-4193-8F94-24A76EC3ACBA}"/>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V E   E X T R A C T E D   S L A C K ,   N S</a:t>
            </a:r>
          </a:p>
        </p:txBody>
      </p:sp>
      <p:graphicFrame>
        <p:nvGraphicFramePr>
          <p:cNvPr id="80" name=""/>
          <p:cNvGraphicFramePr/>
          <p:nvPr/>
        </p:nvGraphicFramePr>
        <p:xfrm>
          <a:off xmlns:a="http://schemas.openxmlformats.org/drawingml/2006/main" x="502920" y="5391531"/>
          <a:ext xmlns:a="http://schemas.openxmlformats.org/drawingml/2006/main" cx="6556248" cy="1212850"/>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Corner</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Worst setup</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Worst hold</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TT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76.96</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0.16</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Slow</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73.83</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0.21</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Status</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 reports</a:t>
                      </a:r>
                    </a:p>
                  </a:txBody>
                  <a:tcPr marL="91440" marR="91440" marT="45720" marB="45720">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 VIOLATED markers</a:t>
                      </a:r>
                    </a:p>
                  </a:txBody>
                  <a:tcPr marL="91440" marR="91440" marT="45720" marB="45720">
                    <a:lnR w="0">
                      <a:noFill/>
                    </a:lnR>
                    <a:lnB w="0">
                      <a:noFill/>
                    </a:lnB>
                    <a:solidFill>
                      <a:srgbClr val="FFFFFF"/>
                    </a:solidFill>
                  </a:tcPr>
                </a:tc>
              </a:tr>
            </a:tbl>
          </a:graphicData>
        </a:graphic>
      </p:graphicFrame>
      <p:sp>
        <p:nvSpPr>
          <p:cNvPr id="59" name="boundary-card">
            <a:extLst xmlns:a="http://schemas.openxmlformats.org/drawingml/2006/main">
              <a:ext uri="{FF2B5EF4-FFF2-40B4-BE49-F238E27FC236}">
                <a16:creationId xmlns:a16="http://schemas.microsoft.com/office/drawing/2014/main" id="{7DE597F8-C21A-492A-ABA3-B44C97FCA950}"/>
              </a:ext>
            </a:extLst>
          </p:cNvPr>
          <p:cNvSpPr>
            <a:spLocks xmlns:a="http://schemas.openxmlformats.org/drawingml/2006/main" noGrp="1"/>
          </p:cNvSpPr>
          <p:nvPr/>
        </p:nvSpPr>
        <p:spPr>
          <a:xfrm xmlns:a="http://schemas.openxmlformats.org/drawingml/2006/main">
            <a:off x="502920" y="6787261"/>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3AEB7524-0CCC-4333-B159-0F77B9D6E323}"/>
              </a:ext>
            </a:extLst>
          </p:cNvPr>
          <p:cNvSpPr>
            <a:spLocks xmlns:a="http://schemas.openxmlformats.org/drawingml/2006/main" noGrp="1"/>
          </p:cNvSpPr>
          <p:nvPr/>
        </p:nvSpPr>
        <p:spPr>
          <a:xfrm xmlns:a="http://schemas.openxmlformats.org/drawingml/2006/main">
            <a:off x="502920" y="6787261"/>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783966A1-830E-4F0A-B7C3-445BC718DF48}"/>
              </a:ext>
            </a:extLst>
          </p:cNvPr>
          <p:cNvSpPr>
            <a:spLocks xmlns:a="http://schemas.openxmlformats.org/drawingml/2006/main" noGrp="1"/>
          </p:cNvSpPr>
          <p:nvPr/>
        </p:nvSpPr>
        <p:spPr>
          <a:xfrm xmlns:a="http://schemas.openxmlformats.org/drawingml/2006/main">
            <a:off x="674370" y="6882511"/>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Positive slack has a stated boundary</a:t>
            </a:r>
          </a:p>
        </p:txBody>
      </p:sp>
      <p:sp>
        <p:nvSpPr>
          <p:cNvPr id="62" name="boundary-text">
            <a:extLst xmlns:a="http://schemas.openxmlformats.org/drawingml/2006/main">
              <a:ext uri="{FF2B5EF4-FFF2-40B4-BE49-F238E27FC236}">
                <a16:creationId xmlns:a16="http://schemas.microsoft.com/office/drawing/2014/main" id="{EF12762F-3287-432F-B441-B446E3D29804}"/>
              </a:ext>
            </a:extLst>
          </p:cNvPr>
          <p:cNvSpPr>
            <a:spLocks xmlns:a="http://schemas.openxmlformats.org/drawingml/2006/main" noGrp="1"/>
          </p:cNvSpPr>
          <p:nvPr/>
        </p:nvSpPr>
        <p:spPr>
          <a:xfrm xmlns:a="http://schemas.openxmlformats.org/drawingml/2006/main">
            <a:off x="674370" y="7149211"/>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Slack is remaining timing margin. These values apply to the listed clocks, I/O budgets and two library</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corners; they are not a board-timing or manufacturing signoff guarantee.</a:t>
            </a:r>
          </a:p>
        </p:txBody>
      </p:sp>
    </p:spTree>
    <p:extLst>
      <p:ext uri="{BB962C8B-B14F-4D97-AF65-F5344CB8AC3E}">
        <p14:creationId xmlns:p14="http://schemas.microsoft.com/office/powerpoint/2010/main" val="185572410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4807bbd70ef74cb7"/>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18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843CFCA3-81DB-4272-A21D-6A0F463AD63F}"/>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16 · GDS STREAM-OUT</a:t>
            </a:r>
          </a:p>
        </p:txBody>
      </p:sp>
      <p:sp>
        <p:nvSpPr>
          <p:cNvPr id="51" name="page-title">
            <a:extLst xmlns:a="http://schemas.openxmlformats.org/drawingml/2006/main">
              <a:ext uri="{FF2B5EF4-FFF2-40B4-BE49-F238E27FC236}">
                <a16:creationId xmlns:a16="http://schemas.microsoft.com/office/drawing/2014/main" id="{9539CF7F-91E8-42B9-B2D8-1DE014E62F29}"/>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Count the right objects</a:t>
            </a:r>
          </a:p>
        </p:txBody>
      </p:sp>
      <p:sp>
        <p:nvSpPr>
          <p:cNvPr id="52" name="intro">
            <a:extLst xmlns:a="http://schemas.openxmlformats.org/drawingml/2006/main">
              <a:ext uri="{FF2B5EF4-FFF2-40B4-BE49-F238E27FC236}">
                <a16:creationId xmlns:a16="http://schemas.microsoft.com/office/drawing/2014/main" id="{1F9B8553-1BEE-4A52-8486-D55D014A7558}"/>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GDS stores layout polygons and hierarchical cell references. Stream-out combines routed</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geometry with the real standard-cell layouts from the PDK.</a:t>
            </a:r>
          </a:p>
        </p:txBody>
      </p:sp>
      <p:sp>
        <p:nvSpPr>
          <p:cNvPr id="53" name="component-label-246.26666666666665">
            <a:extLst xmlns:a="http://schemas.openxmlformats.org/drawingml/2006/main">
              <a:ext uri="{FF2B5EF4-FFF2-40B4-BE49-F238E27FC236}">
                <a16:creationId xmlns:a16="http://schemas.microsoft.com/office/drawing/2014/main" id="{3C7E4678-0A52-47FD-8F07-A812F1D190B8}"/>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G D S   S T R E A M - O U T</a:t>
            </a:r>
          </a:p>
        </p:txBody>
      </p:sp>
      <p:sp>
        <p:nvSpPr>
          <p:cNvPr id="54" name="body-0">
            <a:extLst xmlns:a="http://schemas.openxmlformats.org/drawingml/2006/main">
              <a:ext uri="{FF2B5EF4-FFF2-40B4-BE49-F238E27FC236}">
                <a16:creationId xmlns:a16="http://schemas.microsoft.com/office/drawing/2014/main" id="{CCD14EF0-F768-4432-8032-86416FE4C5EE}"/>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a:t>
            </a:r>
            <a:r>
              <a:rPr b="1"/>
              <a:t>GDS</a:t>
            </a:r>
            <a:r>
              <a:t> file contains 4,371,854 bytes and 49 structures. The independent decoder finds 49,699
placed standard-cell instances including fillers. That placement count is intentionally much larger
than the 2608 mapped functional cells: filler instances occupy unused placement sites and
structures are unique hierarchy definitions.</a:t>
            </a:r>
          </a:p>
        </p:txBody>
      </p:sp>
      <p:sp>
        <p:nvSpPr>
          <p:cNvPr id="55" name="body-1">
            <a:extLst xmlns:a="http://schemas.openxmlformats.org/drawingml/2006/main">
              <a:ext uri="{FF2B5EF4-FFF2-40B4-BE49-F238E27FC236}">
                <a16:creationId xmlns:a16="http://schemas.microsoft.com/office/drawing/2014/main" id="{94EB5652-BE9B-45FB-8800-49E983A8EC3B}"/>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decoder compares exported cell identities, coordinates and orientations against the routed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DEF. A deliberately altered placement/export expectation fails, including under Python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optimisation, so acceptance is not implemented with removable assert-only checks. Raw file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SHA256 is a run-specific fingerprint because stream-out timestamps can change.</a:t>
            </a:r>
          </a:p>
        </p:txBody>
      </p:sp>
      <p:sp>
        <p:nvSpPr>
          <p:cNvPr id="56" name="body-2">
            <a:extLst xmlns:a="http://schemas.openxmlformats.org/drawingml/2006/main">
              <a:ext uri="{FF2B5EF4-FFF2-40B4-BE49-F238E27FC236}">
                <a16:creationId xmlns:a16="http://schemas.microsoft.com/office/drawing/2014/main" id="{2394F17B-7305-4929-9A73-2212AD060E2D}"/>
              </a:ext>
            </a:extLst>
          </p:cNvPr>
          <p:cNvSpPr>
            <a:spLocks xmlns:a="http://schemas.openxmlformats.org/drawingml/2006/main" noGrp="1"/>
          </p:cNvSpPr>
          <p:nvPr/>
        </p:nvSpPr>
        <p:spPr>
          <a:xfrm xmlns:a="http://schemas.openxmlformats.org/drawingml/2006/main">
            <a:off x="502920" y="440664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OpenROAD router-rule DRC report is empty. It is not a foundry-deck DRC result. LVS, antenna,</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scan/DFT, power integrity, padframe, tap/endcap strategy and manufacturing signoff remain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unperformed. No empty routing report is promoted into a DRC-clean tapeout claim.</a:t>
            </a:r>
          </a:p>
        </p:txBody>
      </p:sp>
      <p:sp>
        <p:nvSpPr>
          <p:cNvPr id="57" name="component-label-538.1999999999999">
            <a:extLst xmlns:a="http://schemas.openxmlformats.org/drawingml/2006/main">
              <a:ext uri="{FF2B5EF4-FFF2-40B4-BE49-F238E27FC236}">
                <a16:creationId xmlns:a16="http://schemas.microsoft.com/office/drawing/2014/main" id="{2A35388D-1AB1-4245-9D4F-773900557834}"/>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V E   E X P O R T   M E A S U R E M E N T S</a:t>
            </a:r>
          </a:p>
        </p:txBody>
      </p:sp>
      <p:graphicFrame>
        <p:nvGraphicFramePr>
          <p:cNvPr id="76" name=""/>
          <p:cNvGraphicFramePr/>
          <p:nvPr/>
        </p:nvGraphicFramePr>
        <p:xfrm>
          <a:off xmlns:a="http://schemas.openxmlformats.org/drawingml/2006/main" x="502920" y="5391531"/>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Quantity</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Current 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2608</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GDS bytes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4,371,854</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GDS structures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49</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Placed standard-cell instances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49,699</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Die</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500 x 500 um</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85572410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dafa23c0865848bb"/>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19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14E27178-2635-4F34-A223-F08834A492C9}"/>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17 · UNPERFORMED SIGNOFF</a:t>
            </a:r>
          </a:p>
        </p:txBody>
      </p:sp>
      <p:sp>
        <p:nvSpPr>
          <p:cNvPr id="51" name="page-title">
            <a:extLst xmlns:a="http://schemas.openxmlformats.org/drawingml/2006/main">
              <a:ext uri="{FF2B5EF4-FFF2-40B4-BE49-F238E27FC236}">
                <a16:creationId xmlns:a16="http://schemas.microsoft.com/office/drawing/2014/main" id="{003DA6F4-5615-452E-A4DF-EB393DFBA607}"/>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DRC and LVS: what is still missing</a:t>
            </a:r>
          </a:p>
        </p:txBody>
      </p:sp>
      <p:sp>
        <p:nvSpPr>
          <p:cNvPr id="52" name="intro">
            <a:extLst xmlns:a="http://schemas.openxmlformats.org/drawingml/2006/main">
              <a:ext uri="{FF2B5EF4-FFF2-40B4-BE49-F238E27FC236}">
                <a16:creationId xmlns:a16="http://schemas.microsoft.com/office/drawing/2014/main" id="{6960F0AB-C7A0-465F-8C47-C1455E02C1DE}"/>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Design rule checking asks whether geometry follows the process rules. Layout versus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schematic asks whether the extracted layout circuit matches the intended netlist.</a:t>
            </a:r>
          </a:p>
        </p:txBody>
      </p:sp>
      <p:sp>
        <p:nvSpPr>
          <p:cNvPr id="53" name="component-label-246.26666666666665">
            <a:extLst xmlns:a="http://schemas.openxmlformats.org/drawingml/2006/main">
              <a:ext uri="{FF2B5EF4-FFF2-40B4-BE49-F238E27FC236}">
                <a16:creationId xmlns:a16="http://schemas.microsoft.com/office/drawing/2014/main" id="{69200CD2-96BF-46F3-A7D4-B9CE0F09B1C5}"/>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U N P E R F O R M E D   S I G N O F F</a:t>
            </a:r>
          </a:p>
        </p:txBody>
      </p:sp>
      <p:sp>
        <p:nvSpPr>
          <p:cNvPr id="54" name="body-0">
            <a:extLst xmlns:a="http://schemas.openxmlformats.org/drawingml/2006/main">
              <a:ext uri="{FF2B5EF4-FFF2-40B4-BE49-F238E27FC236}">
                <a16:creationId xmlns:a16="http://schemas.microsoft.com/office/drawing/2014/main" id="{02A70E03-EFED-4CF4-8E8A-02A4E5F1A181}"/>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Foundry DRC requires the applicable, qualified rule deck and an inspected report on the final
polygons. Typical checks include minimum widths, spacing and enclosure. No foundry-deck DRC
result has been accepted for this protocol </a:t>
            </a:r>
            <a:r>
              <a:rPr b="1"/>
              <a:t>reference</a:t>
            </a:r>
            <a:r>
              <a:t>. The router report is narrower evidence.</a:t>
            </a:r>
          </a:p>
        </p:txBody>
      </p:sp>
      <p:sp>
        <p:nvSpPr>
          <p:cNvPr id="55" name="body-1">
            <a:extLst xmlns:a="http://schemas.openxmlformats.org/drawingml/2006/main">
              <a:ext uri="{FF2B5EF4-FFF2-40B4-BE49-F238E27FC236}">
                <a16:creationId xmlns:a16="http://schemas.microsoft.com/office/drawing/2014/main" id="{B86F0E12-4F16-4451-9A08-D27D677CC599}"/>
              </a:ext>
            </a:extLst>
          </p:cNvPr>
          <p:cNvSpPr>
            <a:spLocks xmlns:a="http://schemas.openxmlformats.org/drawingml/2006/main" noGrp="1"/>
          </p:cNvSpPr>
          <p:nvPr/>
        </p:nvSpPr>
        <p:spPr>
          <a:xfrm xmlns:a="http://schemas.openxmlformats.org/drawingml/2006/main">
            <a:off x="502920" y="333057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LVS requires extracting a circuit from the layout and comparing devices and connectivity with the
intended circuit. A structural </a:t>
            </a:r>
            <a:r>
              <a:rPr b="1"/>
              <a:t>GDS</a:t>
            </a:r>
            <a:r>
              <a:t> decoder checking cell references, coordinates and orientations
does not perform that extraction or connectivity comparison. No accepted LVS match is available.</a:t>
            </a:r>
          </a:p>
        </p:txBody>
      </p:sp>
      <p:sp>
        <p:nvSpPr>
          <p:cNvPr id="56" name="body-2">
            <a:extLst xmlns:a="http://schemas.openxmlformats.org/drawingml/2006/main">
              <a:ext uri="{FF2B5EF4-FFF2-40B4-BE49-F238E27FC236}">
                <a16:creationId xmlns:a16="http://schemas.microsoft.com/office/drawing/2014/main" id="{0744A2AE-2416-451D-901A-04EC1B921825}"/>
              </a:ext>
            </a:extLst>
          </p:cNvPr>
          <p:cNvSpPr>
            <a:spLocks xmlns:a="http://schemas.openxmlformats.org/drawingml/2006/main" noGrp="1"/>
          </p:cNvSpPr>
          <p:nvPr/>
        </p:nvSpPr>
        <p:spPr>
          <a:xfrm xmlns:a="http://schemas.openxmlformats.org/drawingml/2006/main">
            <a:off x="502920" y="4050284"/>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Antenna, scan/DFT, power integrity, padframe, tap/endcap strategy and manufacturing release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remain unperformed. The golden APB primer reports its own separate checks; those results do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transfer to SG13G2 or to this design.</a:t>
            </a:r>
          </a:p>
        </p:txBody>
      </p:sp>
      <p:sp>
        <p:nvSpPr>
          <p:cNvPr id="57" name="component-label-500.78666666666663">
            <a:extLst xmlns:a="http://schemas.openxmlformats.org/drawingml/2006/main">
              <a:ext uri="{FF2B5EF4-FFF2-40B4-BE49-F238E27FC236}">
                <a16:creationId xmlns:a16="http://schemas.microsoft.com/office/drawing/2014/main" id="{2D882A44-D4FF-4B87-AA93-576647299F0C}"/>
              </a:ext>
            </a:extLst>
          </p:cNvPr>
          <p:cNvSpPr>
            <a:spLocks xmlns:a="http://schemas.openxmlformats.org/drawingml/2006/main" noGrp="1"/>
          </p:cNvSpPr>
          <p:nvPr/>
        </p:nvSpPr>
        <p:spPr>
          <a:xfrm xmlns:a="http://schemas.openxmlformats.org/drawingml/2006/main">
            <a:off x="502920" y="47699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E P A R A T E   A C C E P T E D   E X P O R T   F R O M   M I S S I N G   S I G N O F F</a:t>
            </a:r>
          </a:p>
        </p:txBody>
      </p:sp>
      <p:graphicFrame>
        <p:nvGraphicFramePr>
          <p:cNvPr id="80" name=""/>
          <p:cNvGraphicFramePr/>
          <p:nvPr/>
        </p:nvGraphicFramePr>
        <p:xfrm>
          <a:off xmlns:a="http://schemas.openxmlformats.org/drawingml/2006/main" x="502920" y="5035169"/>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CHECK</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THIS REFERENCE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Router-rule report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Empty; narrower routing evidence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Decoded GDS placement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structural/export agreement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Foundry-deck DRC</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Extracted-layout LVS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Manufacturing readiness</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claimed</a:t>
                      </a:r>
                    </a:p>
                  </a:txBody>
                  <a:tcPr marL="91440" marR="91440" marT="45720" marB="45720">
                    <a:lnR w="0">
                      <a:noFill/>
                    </a:lnR>
                    <a:lnB w="0">
                      <a:noFill/>
                    </a:lnB>
                    <a:solidFill>
                      <a:srgbClr val="FFFFFF"/>
                    </a:solidFill>
                  </a:tcPr>
                </a:tc>
              </a:tr>
            </a:tbl>
          </a:graphicData>
        </a:graphic>
      </p:graphicFrame>
      <p:sp>
        <p:nvSpPr>
          <p:cNvPr id="59" name="boundary-card">
            <a:extLst xmlns:a="http://schemas.openxmlformats.org/drawingml/2006/main">
              <a:ext uri="{FF2B5EF4-FFF2-40B4-BE49-F238E27FC236}">
                <a16:creationId xmlns:a16="http://schemas.microsoft.com/office/drawing/2014/main" id="{987EDBDB-6848-415A-9713-2C8AB04C294C}"/>
              </a:ext>
            </a:extLst>
          </p:cNvPr>
          <p:cNvSpPr>
            <a:spLocks xmlns:a="http://schemas.openxmlformats.org/drawingml/2006/main" noGrp="1"/>
          </p:cNvSpPr>
          <p:nvPr/>
        </p:nvSpPr>
        <p:spPr>
          <a:xfrm xmlns:a="http://schemas.openxmlformats.org/drawingml/2006/main">
            <a:off x="502920" y="7037324"/>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77CCA016-91C0-4DBE-B551-7E8717065B5E}"/>
              </a:ext>
            </a:extLst>
          </p:cNvPr>
          <p:cNvSpPr>
            <a:spLocks xmlns:a="http://schemas.openxmlformats.org/drawingml/2006/main" noGrp="1"/>
          </p:cNvSpPr>
          <p:nvPr/>
        </p:nvSpPr>
        <p:spPr>
          <a:xfrm xmlns:a="http://schemas.openxmlformats.org/drawingml/2006/main">
            <a:off x="502920" y="7037324"/>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720BFC3C-D90E-43C6-ADC0-D88AD42D9488}"/>
              </a:ext>
            </a:extLst>
          </p:cNvPr>
          <p:cNvSpPr>
            <a:spLocks xmlns:a="http://schemas.openxmlformats.org/drawingml/2006/main" noGrp="1"/>
          </p:cNvSpPr>
          <p:nvPr/>
        </p:nvSpPr>
        <p:spPr>
          <a:xfrm xmlns:a="http://schemas.openxmlformats.org/drawingml/2006/main">
            <a:off x="674370" y="7132574"/>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A GDS file is not tapeout approval</a:t>
            </a:r>
          </a:p>
        </p:txBody>
      </p:sp>
      <p:sp>
        <p:nvSpPr>
          <p:cNvPr id="62" name="boundary-text">
            <a:extLst xmlns:a="http://schemas.openxmlformats.org/drawingml/2006/main">
              <a:ext uri="{FF2B5EF4-FFF2-40B4-BE49-F238E27FC236}">
                <a16:creationId xmlns:a16="http://schemas.microsoft.com/office/drawing/2014/main" id="{3E697211-A2AA-4A8D-8AAD-9A63A7B3BF7A}"/>
              </a:ext>
            </a:extLst>
          </p:cNvPr>
          <p:cNvSpPr>
            <a:spLocks xmlns:a="http://schemas.openxmlformats.org/drawingml/2006/main" noGrp="1"/>
          </p:cNvSpPr>
          <p:nvPr/>
        </p:nvSpPr>
        <p:spPr>
          <a:xfrm xmlns:a="http://schemas.openxmlformats.org/drawingml/2006/main">
            <a:off x="674370" y="7399274"/>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This package is suitable for studying and reproducing a block implementation. Do not hand it off as a</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signoff-clean manufacturing design.</a:t>
            </a:r>
          </a:p>
        </p:txBody>
      </p:sp>
    </p:spTree>
    <p:extLst>
      <p:ext uri="{BB962C8B-B14F-4D97-AF65-F5344CB8AC3E}">
        <p14:creationId xmlns:p14="http://schemas.microsoft.com/office/powerpoint/2010/main" val="185572410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9" name="Picture 2"/>
          <p:cNvPicPr>
            <a:picLocks xmlns:a="http://schemas.openxmlformats.org/drawingml/2006/main" noChangeAspect="1"/>
          </p:cNvPicPr>
          <p:nvPr/>
        </p:nvPicPr>
        <p:blipFill>
          <a:blip xmlns:r="http://schemas.openxmlformats.org/officeDocument/2006/relationships" xmlns:a="http://schemas.openxmlformats.org/drawingml/2006/main" r:embed="Rb32a0c2bed4f4a5f"/>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20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620116FF-9F0E-463B-819E-9AC9B6F5FACB}"/>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18 · RESULTS SUMMARY</a:t>
            </a:r>
          </a:p>
        </p:txBody>
      </p:sp>
      <p:sp>
        <p:nvSpPr>
          <p:cNvPr id="51" name="page-title">
            <a:extLst xmlns:a="http://schemas.openxmlformats.org/drawingml/2006/main">
              <a:ext uri="{FF2B5EF4-FFF2-40B4-BE49-F238E27FC236}">
                <a16:creationId xmlns:a16="http://schemas.microsoft.com/office/drawing/2014/main" id="{2F687D85-2569-4557-89BA-A9D7CFF2E620}"/>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Everything at a glance</a:t>
            </a:r>
          </a:p>
        </p:txBody>
      </p:sp>
      <p:sp>
        <p:nvSpPr>
          <p:cNvPr id="52" name="intro">
            <a:extLst xmlns:a="http://schemas.openxmlformats.org/drawingml/2006/main">
              <a:ext uri="{FF2B5EF4-FFF2-40B4-BE49-F238E27FC236}">
                <a16:creationId xmlns:a16="http://schemas.microsoft.com/office/drawing/2014/main" id="{D33A467C-C26D-42EF-BEF4-CF60FE78D03B}"/>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Read each result together with the question it actually answers. The same PASS label never</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implies every protocol or manufacturing obligation is closed.</a:t>
            </a:r>
          </a:p>
        </p:txBody>
      </p:sp>
      <p:sp>
        <p:nvSpPr>
          <p:cNvPr id="53" name="component-label-246.26666666666665">
            <a:extLst xmlns:a="http://schemas.openxmlformats.org/drawingml/2006/main">
              <a:ext uri="{FF2B5EF4-FFF2-40B4-BE49-F238E27FC236}">
                <a16:creationId xmlns:a16="http://schemas.microsoft.com/office/drawing/2014/main" id="{0D23CCA6-CC4E-4588-AA30-A09495343871}"/>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S U L T S   S U M M A R Y</a:t>
            </a:r>
          </a:p>
        </p:txBody>
      </p:sp>
      <p:sp>
        <p:nvSpPr>
          <p:cNvPr id="54" name="body-0">
            <a:extLst xmlns:a="http://schemas.openxmlformats.org/drawingml/2006/main">
              <a:ext uri="{FF2B5EF4-FFF2-40B4-BE49-F238E27FC236}">
                <a16:creationId xmlns:a16="http://schemas.microsoft.com/office/drawing/2014/main" id="{F89EB562-B5E0-414D-9DA5-566C36C2CF94}"/>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directed functional result and the physical export result are both useful, but they prove
different things. The physical build uses the fixed wrapper configuration and </a:t>
            </a:r>
            <a:r>
              <a:rPr b="1"/>
              <a:t>reference</a:t>
            </a:r>
            <a:r>
              <a:t> constraints.
Additional modes, external peripherals, arbitrary clock relationships and board operation require
their own evidence.</a:t>
            </a:r>
          </a:p>
        </p:txBody>
      </p:sp>
      <p:sp>
        <p:nvSpPr>
          <p:cNvPr id="55" name="body-1">
            <a:extLst xmlns:a="http://schemas.openxmlformats.org/drawingml/2006/main">
              <a:ext uri="{FF2B5EF4-FFF2-40B4-BE49-F238E27FC236}">
                <a16:creationId xmlns:a16="http://schemas.microsoft.com/office/drawing/2014/main" id="{F10CE45B-7D17-49C7-9F41-61F4212DDDC8}"/>
              </a:ext>
            </a:extLst>
          </p:cNvPr>
          <p:cNvSpPr>
            <a:spLocks xmlns:a="http://schemas.openxmlformats.org/drawingml/2006/main" noGrp="1"/>
          </p:cNvSpPr>
          <p:nvPr/>
        </p:nvSpPr>
        <p:spPr>
          <a:xfrm xmlns:a="http://schemas.openxmlformats.org/drawingml/2006/main">
            <a:off x="502920" y="3508756"/>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Important protocol boundary: Receive CRC is discarded and PID matching uses only the low</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nibble. The simulated diagnostic ROM differs from the hardened production ROM.</a:t>
            </a:r>
          </a:p>
        </p:txBody>
      </p:sp>
      <p:sp>
        <p:nvSpPr>
          <p:cNvPr id="56" name="component-label-425.22666666666663">
            <a:extLst xmlns:a="http://schemas.openxmlformats.org/drawingml/2006/main">
              <a:ext uri="{FF2B5EF4-FFF2-40B4-BE49-F238E27FC236}">
                <a16:creationId xmlns:a16="http://schemas.microsoft.com/office/drawing/2014/main" id="{A4568FDB-0071-4F1E-B636-44CECFC60233}"/>
              </a:ext>
            </a:extLst>
          </p:cNvPr>
          <p:cNvSpPr>
            <a:spLocks xmlns:a="http://schemas.openxmlformats.org/drawingml/2006/main" noGrp="1"/>
          </p:cNvSpPr>
          <p:nvPr/>
        </p:nvSpPr>
        <p:spPr>
          <a:xfrm xmlns:a="http://schemas.openxmlformats.org/drawingml/2006/main">
            <a:off x="502920" y="405028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F U L L   R E F E R E N C E   F L O W</a:t>
            </a:r>
          </a:p>
        </p:txBody>
      </p:sp>
      <p:graphicFrame>
        <p:nvGraphicFramePr>
          <p:cNvPr id="74" name=""/>
          <p:cNvGraphicFramePr/>
          <p:nvPr/>
        </p:nvGraphicFramePr>
        <p:xfrm>
          <a:off xmlns:a="http://schemas.openxmlformats.org/drawingml/2006/main" x="502920" y="4315460"/>
          <a:ext xmlns:a="http://schemas.openxmlformats.org/drawingml/2006/main" cx="6556248" cy="3335337"/>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STAGE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TOOL / EVIDENCE</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STATUS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Verilator; 26 retained warnings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Review</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Simulation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Independent directed expectations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directed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Negative controls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Deliberate fatal mismatches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rejection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Yosys; 2608 mapped cells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mapping</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Floorplan / 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OpenROAD; 500 x 500 um</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Routing / extraction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DEF and SPEF retained</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Timing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TT and slow setup / hold</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KLayout; 4,371,854 bytes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export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Foundry DRC / LVS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 accepted report</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Full-chip / board</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 accepted integration proof</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85572410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3" name="Picture 2"/>
          <p:cNvPicPr>
            <a:picLocks xmlns:a="http://schemas.openxmlformats.org/drawingml/2006/main" noChangeAspect="1"/>
          </p:cNvPicPr>
          <p:nvPr/>
        </p:nvPicPr>
        <p:blipFill>
          <a:blip xmlns:r="http://schemas.openxmlformats.org/officeDocument/2006/relationships" xmlns:a="http://schemas.openxmlformats.org/drawingml/2006/main" r:embed="R52a8ad84a3b14cd7"/>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21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8E5984A1-1C74-47C9-83A0-2213A9EAAB25}"/>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19 · RUN IT YOURSELF</a:t>
            </a:r>
          </a:p>
        </p:txBody>
      </p:sp>
      <p:sp>
        <p:nvSpPr>
          <p:cNvPr id="51" name="page-title">
            <a:extLst xmlns:a="http://schemas.openxmlformats.org/drawingml/2006/main">
              <a:ext uri="{FF2B5EF4-FFF2-40B4-BE49-F238E27FC236}">
                <a16:creationId xmlns:a16="http://schemas.microsoft.com/office/drawing/2014/main" id="{4B271DAB-4B93-45D1-94BE-7902C39D6879}"/>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Run it yourself in WSL</a:t>
            </a:r>
          </a:p>
        </p:txBody>
      </p:sp>
      <p:sp>
        <p:nvSpPr>
          <p:cNvPr id="52" name="intro">
            <a:extLst xmlns:a="http://schemas.openxmlformats.org/drawingml/2006/main">
              <a:ext uri="{FF2B5EF4-FFF2-40B4-BE49-F238E27FC236}">
                <a16:creationId xmlns:a16="http://schemas.microsoft.com/office/drawing/2014/main" id="{6ACEDFD8-0FB4-4BEF-8016-534D489F424B}"/>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Use the pinned source, the unit tool lock and the external PDK revision together.</a:t>
            </a:r>
          </a:p>
        </p:txBody>
      </p:sp>
      <p:sp>
        <p:nvSpPr>
          <p:cNvPr id="53" name="component-label-225.93333333333334">
            <a:extLst xmlns:a="http://schemas.openxmlformats.org/drawingml/2006/main">
              <a:ext uri="{FF2B5EF4-FFF2-40B4-BE49-F238E27FC236}">
                <a16:creationId xmlns:a16="http://schemas.microsoft.com/office/drawing/2014/main" id="{9E6DB5BC-8DCF-449E-AE1A-7A20BDD2AB86}"/>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U N   I T   Y O U R S E L F</a:t>
            </a:r>
          </a:p>
        </p:txBody>
      </p:sp>
      <p:sp>
        <p:nvSpPr>
          <p:cNvPr id="54" name="body-0">
            <a:extLst xmlns:a="http://schemas.openxmlformats.org/drawingml/2006/main">
              <a:ext uri="{FF2B5EF4-FFF2-40B4-BE49-F238E27FC236}">
                <a16:creationId xmlns:a16="http://schemas.microsoft.com/office/drawing/2014/main" id="{A080A36C-5DE0-4E77-B79A-A7088BAF16A8}"/>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proven entry point is a WSL login Bash shell. igny init prepares the packaging runtime.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Unsetting CRUCIBLE_ENV after initialisation allows the unit crucible.toml workspace selection to</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control tool resolution rather than an inherited environment override. This is the observed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workflow, not a change to Crucible internals.</a:t>
            </a:r>
          </a:p>
        </p:txBody>
      </p:sp>
      <p:sp>
        <p:nvSpPr>
          <p:cNvPr id="55" name="body-1">
            <a:extLst xmlns:a="http://schemas.openxmlformats.org/drawingml/2006/main">
              <a:ext uri="{FF2B5EF4-FFF2-40B4-BE49-F238E27FC236}">
                <a16:creationId xmlns:a16="http://schemas.microsoft.com/office/drawing/2014/main" id="{8629345E-00BD-436A-8ED9-8A352BD0307B}"/>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Each unit has its existing environment and lock. The common tool set includes Icarus, Verilator,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Yosys, OpenROAD and klayout-stream. The separate PDK checkout is IHP SG13G2 revision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22f43352dd8219f9007eb659e422e0d5fe28c5fb. A tool lock does not pin that external PDK by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itself; IHP_PDK_ROOT must point to the matching installation.</a:t>
            </a:r>
          </a:p>
        </p:txBody>
      </p:sp>
      <p:sp>
        <p:nvSpPr>
          <p:cNvPr id="56" name="body-2">
            <a:extLst xmlns:a="http://schemas.openxmlformats.org/drawingml/2006/main">
              <a:ext uri="{FF2B5EF4-FFF2-40B4-BE49-F238E27FC236}">
                <a16:creationId xmlns:a16="http://schemas.microsoft.com/office/drawing/2014/main" id="{B5740C5E-B233-421A-B8B6-E2CE94A3D179}"/>
              </a:ext>
            </a:extLst>
          </p:cNvPr>
          <p:cNvSpPr>
            <a:spLocks xmlns:a="http://schemas.openxmlformats.org/drawingml/2006/main" noGrp="1"/>
          </p:cNvSpPr>
          <p:nvPr/>
        </p:nvSpPr>
        <p:spPr>
          <a:xfrm xmlns:a="http://schemas.openxmlformats.org/drawingml/2006/main">
            <a:off x="502920" y="421297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documented machine could not use the pip klayout package as the expected stream-out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executable; igny tool install klayout-stream supplies the proven converter. make lint sim checks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functional behaviour, make flow executes the staged implementation, and node verify_build.mjs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all inspects artifacts. Review normal and intentionally failing logs before accepting the result.</a:t>
            </a:r>
          </a:p>
        </p:txBody>
      </p:sp>
      <p:sp>
        <p:nvSpPr>
          <p:cNvPr id="57" name="body-3">
            <a:extLst xmlns:a="http://schemas.openxmlformats.org/drawingml/2006/main">
              <a:ext uri="{FF2B5EF4-FFF2-40B4-BE49-F238E27FC236}">
                <a16:creationId xmlns:a16="http://schemas.microsoft.com/office/drawing/2014/main" id="{C7C13BF5-294B-4B96-B252-407640FED8CD}"/>
              </a:ext>
            </a:extLst>
          </p:cNvPr>
          <p:cNvSpPr>
            <a:spLocks xmlns:a="http://schemas.openxmlformats.org/drawingml/2006/main" noGrp="1"/>
          </p:cNvSpPr>
          <p:nvPr/>
        </p:nvSpPr>
        <p:spPr>
          <a:xfrm xmlns:a="http://schemas.openxmlformats.org/drawingml/2006/main">
            <a:off x="502920" y="511086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Re-running a simulation can replace its VCD and invalidate an earlier document trace hash. Retain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 document evidence manifest or regenerate the measured figures after the positive run. Do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silently preserve an old chart while claiming it is the newly generated waveform.</a:t>
            </a:r>
          </a:p>
        </p:txBody>
      </p:sp>
      <p:sp>
        <p:nvSpPr>
          <p:cNvPr id="58" name="component-label-612.1333333333334">
            <a:extLst xmlns:a="http://schemas.openxmlformats.org/drawingml/2006/main">
              <a:ext uri="{FF2B5EF4-FFF2-40B4-BE49-F238E27FC236}">
                <a16:creationId xmlns:a16="http://schemas.microsoft.com/office/drawing/2014/main" id="{82893D25-9D9E-4C02-906D-8D155F3ECBEF}"/>
              </a:ext>
            </a:extLst>
          </p:cNvPr>
          <p:cNvSpPr>
            <a:spLocks xmlns:a="http://schemas.openxmlformats.org/drawingml/2006/main" noGrp="1"/>
          </p:cNvSpPr>
          <p:nvPr/>
        </p:nvSpPr>
        <p:spPr>
          <a:xfrm xmlns:a="http://schemas.openxmlformats.org/drawingml/2006/main">
            <a:off x="502920" y="583057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59" name="code-panel">
            <a:extLst xmlns:a="http://schemas.openxmlformats.org/drawingml/2006/main">
              <a:ext uri="{FF2B5EF4-FFF2-40B4-BE49-F238E27FC236}">
                <a16:creationId xmlns:a16="http://schemas.microsoft.com/office/drawing/2014/main" id="{982F4D62-BA62-4B95-AF14-57EFFDD09EC9}"/>
              </a:ext>
            </a:extLst>
          </p:cNvPr>
          <p:cNvSpPr>
            <a:spLocks xmlns:a="http://schemas.openxmlformats.org/drawingml/2006/main" noGrp="1"/>
          </p:cNvSpPr>
          <p:nvPr/>
        </p:nvSpPr>
        <p:spPr>
          <a:xfrm xmlns:a="http://schemas.openxmlformats.org/drawingml/2006/main">
            <a:off x="502920" y="6095746"/>
            <a:ext cx="6556248" cy="146812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0" name="code">
            <a:extLst xmlns:a="http://schemas.openxmlformats.org/drawingml/2006/main">
              <a:ext uri="{FF2B5EF4-FFF2-40B4-BE49-F238E27FC236}">
                <a16:creationId xmlns:a16="http://schemas.microsoft.com/office/drawing/2014/main" id="{29187F4C-02E8-4FC9-8591-EDAD34027C7C}"/>
              </a:ext>
            </a:extLst>
          </p:cNvPr>
          <p:cNvSpPr>
            <a:spLocks xmlns:a="http://schemas.openxmlformats.org/drawingml/2006/main" noGrp="1"/>
          </p:cNvSpPr>
          <p:nvPr/>
        </p:nvSpPr>
        <p:spPr>
          <a:xfrm xmlns:a="http://schemas.openxmlformats.org/drawingml/2006/main">
            <a:off x="617220" y="6190996"/>
            <a:ext cx="6327648" cy="1315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igny init</a:t>
            </a:r>
            <a:r>
              <a:rPr>
                <a:solidFill>
                  <a:srgbClr val="EF9529"/>
                </a:solidFill>
              </a:rPr>
              <a:t>
unset CRUCIBLE_ENV</a:t>
            </a:r>
            <a:r>
              <a:rPr>
                <a:solidFill>
                  <a:srgbClr val="EF9529"/>
                </a:solidFill>
              </a:rPr>
              <a:t>
cd hw/protocols/stretch/usb_ls</a:t>
            </a:r>
            <a:r>
              <a:rPr>
                <a:solidFill>
                  <a:srgbClr val="EF9529"/>
                </a:solidFill>
              </a:rPr>
              <a:t>
igny workspace sync</a:t>
            </a:r>
            <a:r>
              <a:rPr>
                <a:solidFill>
                  <a:srgbClr val="EF9529"/>
                </a:solidFill>
              </a:rPr>
              <a:t>
igny tool install klayout-stream</a:t>
            </a:r>
            <a:r>
              <a:rPr>
                <a:solidFill>
                  <a:srgbClr val="EF9529"/>
                </a:solidFill>
              </a:rPr>
              <a:t>
make lint sim</a:t>
            </a:r>
            <a:r>
              <a:rPr>
                <a:solidFill>
                  <a:srgbClr val="EF9529"/>
                </a:solidFill>
              </a:rPr>
              <a:t>
make flow</a:t>
            </a:r>
            <a:r>
              <a:rPr>
                <a:solidFill>
                  <a:srgbClr val="EF9529"/>
                </a:solidFill>
              </a:rPr>
              <a:t>
node verify_build.mjs all</a:t>
            </a:r>
          </a:p>
        </p:txBody>
      </p:sp>
      <p:sp>
        <p:nvSpPr>
          <p:cNvPr id="61" name="code-source">
            <a:extLst xmlns:a="http://schemas.openxmlformats.org/drawingml/2006/main">
              <a:ext uri="{FF2B5EF4-FFF2-40B4-BE49-F238E27FC236}">
                <a16:creationId xmlns:a16="http://schemas.microsoft.com/office/drawing/2014/main" id="{B496CB55-7943-4134-B7E3-DE69CF24BC37}"/>
              </a:ext>
            </a:extLst>
          </p:cNvPr>
          <p:cNvSpPr>
            <a:spLocks xmlns:a="http://schemas.openxmlformats.org/drawingml/2006/main" noGrp="1"/>
          </p:cNvSpPr>
          <p:nvPr/>
        </p:nvSpPr>
        <p:spPr>
          <a:xfrm xmlns:a="http://schemas.openxmlformats.org/drawingml/2006/main">
            <a:off x="502920" y="7621016"/>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Run after entering the repository in WSL login Bash; PDK required.</a:t>
            </a:r>
          </a:p>
        </p:txBody>
      </p:sp>
    </p:spTree>
    <p:extLst>
      <p:ext uri="{BB962C8B-B14F-4D97-AF65-F5344CB8AC3E}">
        <p14:creationId xmlns:p14="http://schemas.microsoft.com/office/powerpoint/2010/main" val="185572410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9" name="Picture 2"/>
          <p:cNvPicPr>
            <a:picLocks xmlns:a="http://schemas.openxmlformats.org/drawingml/2006/main" noChangeAspect="1"/>
          </p:cNvPicPr>
          <p:nvPr/>
        </p:nvPicPr>
        <p:blipFill>
          <a:blip xmlns:r="http://schemas.openxmlformats.org/officeDocument/2006/relationships" xmlns:a="http://schemas.openxmlformats.org/drawingml/2006/main" r:embed="R5f5e50101b4a4a59"/>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4AC8F9C3-1103-43EA-BB6E-F5D680664831}"/>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20 · SOURCES AND REMAINING WORK</a:t>
            </a:r>
          </a:p>
        </p:txBody>
      </p:sp>
      <p:sp>
        <p:nvSpPr>
          <p:cNvPr id="51" name="page-title">
            <a:extLst xmlns:a="http://schemas.openxmlformats.org/drawingml/2006/main">
              <a:ext uri="{FF2B5EF4-FFF2-40B4-BE49-F238E27FC236}">
                <a16:creationId xmlns:a16="http://schemas.microsoft.com/office/drawing/2014/main" id="{3DCECCEA-B84D-48A1-9068-340BF9DF45AC}"/>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Sources, ownership and remaining work</a:t>
            </a:r>
          </a:p>
        </p:txBody>
      </p:sp>
      <p:sp>
        <p:nvSpPr>
          <p:cNvPr id="52" name="intro">
            <a:extLst xmlns:a="http://schemas.openxmlformats.org/drawingml/2006/main">
              <a:ext uri="{FF2B5EF4-FFF2-40B4-BE49-F238E27FC236}">
                <a16:creationId xmlns:a16="http://schemas.microsoft.com/office/drawing/2014/main" id="{D76B579A-8B81-4139-A9EF-4E1D7F7730CD}"/>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pinned revision identifies the baseline; local integration changes are described separately.</a:t>
            </a:r>
          </a:p>
        </p:txBody>
      </p:sp>
      <p:sp>
        <p:nvSpPr>
          <p:cNvPr id="53" name="component-label-225.93333333333334">
            <a:extLst xmlns:a="http://schemas.openxmlformats.org/drawingml/2006/main">
              <a:ext uri="{FF2B5EF4-FFF2-40B4-BE49-F238E27FC236}">
                <a16:creationId xmlns:a16="http://schemas.microsoft.com/office/drawing/2014/main" id="{423CE13C-1545-469F-89D0-91ED543109FA}"/>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S   A N D   R E M A I N I N G   W O R K</a:t>
            </a:r>
          </a:p>
        </p:txBody>
      </p:sp>
      <p:sp>
        <p:nvSpPr>
          <p:cNvPr id="54" name="body-0">
            <a:extLst xmlns:a="http://schemas.openxmlformats.org/drawingml/2006/main">
              <a:ext uri="{FF2B5EF4-FFF2-40B4-BE49-F238E27FC236}">
                <a16:creationId xmlns:a16="http://schemas.microsoft.com/office/drawing/2014/main" id="{C7001041-6A68-45C0-82C6-BDD81DA51E4D}"/>
              </a:ext>
            </a:extLst>
          </p:cNvPr>
          <p:cNvSpPr>
            <a:spLocks xmlns:a="http://schemas.openxmlformats.org/drawingml/2006/main" noGrp="1"/>
          </p:cNvSpPr>
          <p:nvPr/>
        </p:nvSpPr>
        <p:spPr>
          <a:xfrm xmlns:a="http://schemas.openxmlformats.org/drawingml/2006/main">
            <a:off x="502920" y="2417191"/>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Upstream: https://github.com/m1nl/usb_hid_host
Pinned commit: e49217661b275554807760d4e12097b0f189316a
Licence: Apache-2.0; original authors retained. Original </a:t>
            </a:r>
            <a:r>
              <a:rPr b="1"/>
              <a:t>source</a:t>
            </a:r>
            <a:r>
              <a:t> notices remain in the RTL. The
document is authored by Ignytion; this does not transfer ownership of upstream code or remove
its licence obligations.</a:t>
            </a:r>
          </a:p>
        </p:txBody>
      </p:sp>
      <p:sp>
        <p:nvSpPr>
          <p:cNvPr id="55" name="body-1">
            <a:extLst xmlns:a="http://schemas.openxmlformats.org/drawingml/2006/main">
              <a:ext uri="{FF2B5EF4-FFF2-40B4-BE49-F238E27FC236}">
                <a16:creationId xmlns:a16="http://schemas.microsoft.com/office/drawing/2014/main" id="{85CED4B1-4E45-437B-81C8-DEFF08B5F2E2}"/>
              </a:ext>
            </a:extLst>
          </p:cNvPr>
          <p:cNvSpPr>
            <a:spLocks xmlns:a="http://schemas.openxmlformats.org/drawingml/2006/main" noGrp="1"/>
          </p:cNvSpPr>
          <p:nvPr/>
        </p:nvSpPr>
        <p:spPr>
          <a:xfrm xmlns:a="http://schemas.openxmlformats.org/drawingml/2006/main">
            <a:off x="502920" y="3493262"/>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Local modifications, directed test stimulus and </a:t>
            </a:r>
            <a:r>
              <a:rPr b="1"/>
              <a:t>source</a:t>
            </a:r>
            <a:r>
              <a:t> boundaries are recorded in
hw/protocols/stretch/usb_ls/README.md and the repository append-only .context.md. The first
three protocol lessons have separate editable 16:9 student decks; this A4 technical note is a
reading and evidence document, not a replacement for their instructor notes.</a:t>
            </a:r>
          </a:p>
        </p:txBody>
      </p:sp>
      <p:sp>
        <p:nvSpPr>
          <p:cNvPr id="56" name="body-2">
            <a:extLst xmlns:a="http://schemas.openxmlformats.org/drawingml/2006/main">
              <a:ext uri="{FF2B5EF4-FFF2-40B4-BE49-F238E27FC236}">
                <a16:creationId xmlns:a16="http://schemas.microsoft.com/office/drawing/2014/main" id="{2C58406C-3E21-4E5A-B77B-8717349F48E9}"/>
              </a:ext>
            </a:extLst>
          </p:cNvPr>
          <p:cNvSpPr>
            <a:spLocks xmlns:a="http://schemas.openxmlformats.org/drawingml/2006/main" noGrp="1"/>
          </p:cNvSpPr>
          <p:nvPr/>
        </p:nvSpPr>
        <p:spPr>
          <a:xfrm xmlns:a="http://schemas.openxmlformats.org/drawingml/2006/main">
            <a:off x="502920" y="4391152"/>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Primary reading: USB 2.0 specification, chapters 7 and 8, in specs/USB_low_speed.pdf; usb.org is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canonical download.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Canonical specification download: https://www.usb.org/document-library/usb-20-specification</a:t>
            </a:r>
          </a:p>
        </p:txBody>
      </p:sp>
      <p:sp>
        <p:nvSpPr>
          <p:cNvPr id="57" name="body-3">
            <a:extLst xmlns:a="http://schemas.openxmlformats.org/drawingml/2006/main">
              <a:ext uri="{FF2B5EF4-FFF2-40B4-BE49-F238E27FC236}">
                <a16:creationId xmlns:a16="http://schemas.microsoft.com/office/drawing/2014/main" id="{B371CA52-763F-4981-ACBD-1EA883462C98}"/>
              </a:ext>
            </a:extLst>
          </p:cNvPr>
          <p:cNvSpPr>
            <a:spLocks xmlns:a="http://schemas.openxmlformats.org/drawingml/2006/main" noGrp="1"/>
          </p:cNvSpPr>
          <p:nvPr/>
        </p:nvSpPr>
        <p:spPr>
          <a:xfrm xmlns:a="http://schemas.openxmlformats.org/drawingml/2006/main">
            <a:off x="502920" y="5110861"/>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Open work remains explicit: Receive CRC is discarded and PID matching uses only the low nibble.
The simulated diagnostic ROM differs from the hardened production ROM. Full-chip integration,
manufacturing checks and board validation are not closed by the standalone </a:t>
            </a:r>
            <a:r>
              <a:rPr b="1"/>
              <a:t>reference</a:t>
            </a:r>
            <a:r>
              <a:t> flow. The
reader can reproduce the listed evidence without assuming those larger obligations have already
been completed.</a:t>
            </a:r>
          </a:p>
        </p:txBody>
      </p:sp>
    </p:spTree>
    <p:extLst>
      <p:ext uri="{BB962C8B-B14F-4D97-AF65-F5344CB8AC3E}">
        <p14:creationId xmlns:p14="http://schemas.microsoft.com/office/powerpoint/2010/main" val="185572410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55dc9cfbe6af44ff"/>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08D8E1B3-00AE-4B98-AC25-01ECDB91CF1A}"/>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21 · DESIGN VOCABULARY</a:t>
            </a:r>
          </a:p>
        </p:txBody>
      </p:sp>
      <p:sp>
        <p:nvSpPr>
          <p:cNvPr id="51" name="page-title">
            <a:extLst xmlns:a="http://schemas.openxmlformats.org/drawingml/2006/main">
              <a:ext uri="{FF2B5EF4-FFF2-40B4-BE49-F238E27FC236}">
                <a16:creationId xmlns:a16="http://schemas.microsoft.com/office/drawing/2014/main" id="{D86EC541-C35B-45A3-8C8D-0CDC7712D6AB}"/>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Glossary: design and protocol</a:t>
            </a:r>
          </a:p>
        </p:txBody>
      </p:sp>
      <p:sp>
        <p:nvSpPr>
          <p:cNvPr id="52" name="intro">
            <a:extLst xmlns:a="http://schemas.openxmlformats.org/drawingml/2006/main">
              <a:ext uri="{FF2B5EF4-FFF2-40B4-BE49-F238E27FC236}">
                <a16:creationId xmlns:a16="http://schemas.microsoft.com/office/drawing/2014/main" id="{16B04D68-694E-4B7F-A4B7-1D631E5710C3}"/>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Definitions for reading the protocol rules and the checked RTL. Physical implementation</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terms follow on the next page.</a:t>
            </a:r>
          </a:p>
        </p:txBody>
      </p:sp>
      <p:sp>
        <p:nvSpPr>
          <p:cNvPr id="53" name="component-label-246.26666666666665">
            <a:extLst xmlns:a="http://schemas.openxmlformats.org/drawingml/2006/main">
              <a:ext uri="{FF2B5EF4-FFF2-40B4-BE49-F238E27FC236}">
                <a16:creationId xmlns:a16="http://schemas.microsoft.com/office/drawing/2014/main" id="{F7584AD6-9824-4FF7-94A7-D847E92F9B39}"/>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D E S I G N   A N D   V E R I F I C A T I O N</a:t>
            </a:r>
          </a:p>
        </p:txBody>
      </p:sp>
      <p:graphicFrame>
        <p:nvGraphicFramePr>
          <p:cNvPr id="68" name=""/>
          <p:cNvGraphicFramePr/>
          <p:nvPr/>
        </p:nvGraphicFramePr>
        <p:xfrm>
          <a:off xmlns:a="http://schemas.openxmlformats.org/drawingml/2006/main" x="502920" y="2610866"/>
          <a:ext xmlns:a="http://schemas.openxmlformats.org/drawingml/2006/main" cx="6556248" cy="4851400"/>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TERM</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MEANS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Protocol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Rules for exchanging information between devices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RTL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Registers and the logic moving values between them</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Verilog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 language used to describe hardware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FSM</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 circuit progressing through defined states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Static source checks; no transaction execution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Testbench</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Code that supplies inputs and checks outputs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Coverage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Which defined situations were exercised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Negative control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An intentionally wrong case the checker must reject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VCD</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Digital signal-change trace from a simulation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Handshake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Signals agreeing when data is accepted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NRZI</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 zero changes line state; a one retains it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J / K</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Low-speed idle / opposite differential states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SE0</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Both signal wires low</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HID</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Human Interface Device class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PID</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Packet identifier with a complemented high nibble</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85572410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481387-636B-4F58-BB68-21EEEE2B43B9}"/>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07daeca4c9954ba4"/>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9A3C7A35-50D8-41FB-A0A8-DBD218C00674}"/>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3C36BD85-7F9A-423F-A406-D5E6AC982ADB}"/>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LOW-SPEED USB · RTL TO GDS · A BEGINNER'S WALKTHROUGH</a:t>
            </a:r>
          </a:p>
        </p:txBody>
      </p:sp>
      <p:sp>
        <p:nvSpPr>
          <p:cNvPr id="6" name="Rectangle 5">
            <a:extLst xmlns:a="http://schemas.openxmlformats.org/drawingml/2006/main">
              <a:ext uri="{FF2B5EF4-FFF2-40B4-BE49-F238E27FC236}">
                <a16:creationId xmlns:a16="http://schemas.microsoft.com/office/drawing/2014/main" id="{9FB598E4-C14B-4B19-96E9-672B04DC486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5670701-5FA1-4909-A40E-B1643411F9CC}"/>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32001F-B381-4517-83A2-A65893546C39}"/>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750EA2E3-1BE9-4E6B-B34D-D56DD4EFE44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D5185059-69E4-4621-ACEC-AAF94A592E50}"/>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861D81C7-D189-4A1A-9F4B-9A68E8DA64C4}"/>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22 · PHYSICAL VOCABULARY</a:t>
            </a:r>
          </a:p>
        </p:txBody>
      </p:sp>
      <p:sp>
        <p:nvSpPr>
          <p:cNvPr id="51" name="page-title">
            <a:extLst xmlns:a="http://schemas.openxmlformats.org/drawingml/2006/main">
              <a:ext uri="{FF2B5EF4-FFF2-40B4-BE49-F238E27FC236}">
                <a16:creationId xmlns:a16="http://schemas.microsoft.com/office/drawing/2014/main" id="{D4707B2E-B3EA-44EF-93A2-57D5D020ADCA}"/>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Glossary: implementation and signoff</a:t>
            </a:r>
          </a:p>
        </p:txBody>
      </p:sp>
      <p:sp>
        <p:nvSpPr>
          <p:cNvPr id="52" name="intro">
            <a:extLst xmlns:a="http://schemas.openxmlformats.org/drawingml/2006/main">
              <a:ext uri="{FF2B5EF4-FFF2-40B4-BE49-F238E27FC236}">
                <a16:creationId xmlns:a16="http://schemas.microsoft.com/office/drawing/2014/main" id="{F13AE14A-41CE-4259-99C6-3A116492FBEB}"/>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These definitions help distinguish a successfully exported reference layout from a</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manufacturing-ready design.</a:t>
            </a:r>
          </a:p>
        </p:txBody>
      </p:sp>
      <p:sp>
        <p:nvSpPr>
          <p:cNvPr id="53" name="component-label-246.26666666666665">
            <a:extLst xmlns:a="http://schemas.openxmlformats.org/drawingml/2006/main">
              <a:ext uri="{FF2B5EF4-FFF2-40B4-BE49-F238E27FC236}">
                <a16:creationId xmlns:a16="http://schemas.microsoft.com/office/drawing/2014/main" id="{701DE0FE-E56A-41E6-8F47-7989F044FA5C}"/>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P H Y S I C A L   I M P L E M E N T A T I O N</a:t>
            </a:r>
          </a:p>
        </p:txBody>
      </p:sp>
      <p:graphicFrame>
        <p:nvGraphicFramePr>
          <p:cNvPr id="68" name=""/>
          <p:cNvGraphicFramePr/>
          <p:nvPr/>
        </p:nvGraphicFramePr>
        <p:xfrm>
          <a:off xmlns:a="http://schemas.openxmlformats.org/drawingml/2006/main" x="502920" y="2610866"/>
          <a:ext xmlns:a="http://schemas.openxmlformats.org/drawingml/2006/main" cx="6556248" cy="545782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TERM</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MEANS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Translate RTL into a technology-cell circuit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Netlist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Cells and the connections between them</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Standard cell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Predesigned logic/storage cell in a process library</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PDK</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Process design kit: process-specific implementation files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SG13G2</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IHP process used by these reference builds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Floorplan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Die/core outline, rows, power and pin geometry</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Choose legal positions for cells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Filler</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Physical row-site cell, not functional logic</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CTS / skew</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Clock distribution / difference in arrival times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Routing / via</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Metal connections / links between metal layers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Parasitics / SPEF</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Wire resistance/capacitance / extracted data format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Corner</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 characterised process, voltage and temperature case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 / slack</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Static timing analysis / remaining timing margin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DEF / 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Placement/routing exchange / polygon hierarchy</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DRC</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Check geometry against applicable process rules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LVS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Compare the extracted layout circuit with its netlist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Signoff</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Accepted applicable release checks; unperformed here</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85572410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2026-10-03T11:43:25.5390000Z</dcterms:created>
  <dcterms:modified xsi:type="dcterms:W3CDTF">2026-10-03T11:43:25.5390000Z</dcterms:modified>
</coreProperties>
</file>