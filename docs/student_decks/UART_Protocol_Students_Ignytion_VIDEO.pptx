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4.xml" ContentType="application/vnd.openxmlformats-officedocument.drawingml.chart+xml"/>
  <Override PartName="/ppt/slides/charts/chart5.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slides/charts/chart6.xml" ContentType="application/vnd.openxmlformats-officedocument.drawingml.chart+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slides/charts/chart7.xml" ContentType="application/vnd.openxmlformats-officedocument.drawingml.chart+xml"/>
  <Override PartName="/ppt/slides/charts/chart8.xml" ContentType="application/vnd.openxmlformats-officedocument.drawingml.chart+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52fc1ad40ef49ba" /><Relationship Type="http://schemas.openxmlformats.org/officeDocument/2006/relationships/extended-properties" Target="/docProps/app.xml" Id="R36bd021416fd476a" /><Relationship Type="http://schemas.openxmlformats.org/officeDocument/2006/relationships/officeDocument" Target="/ppt/presentation.xml" Id="Ra4341ddd9e16446c" /></Relationships>
</file>

<file path=ppt/presentation.xml><?xml version="1.0" encoding="utf-8"?>
<p:presentation xmlns:p="http://schemas.openxmlformats.org/presentationml/2006/main">
  <p:sldMasterIdLst>
    <p:sldMasterId xmlns:r="http://schemas.openxmlformats.org/officeDocument/2006/relationships" id="2147483648" r:id="R994e6d0d15de4fe4"/>
  </p:sldMasterIdLst>
  <p:notesMasterIdLst>
    <p:notesMasterId xmlns:r="http://schemas.openxmlformats.org/officeDocument/2006/relationships" r:id="Rda2e5d781c044b57"/>
  </p:notesMasterIdLst>
  <p:sldIdLst>
    <p:sldId xmlns:r="http://schemas.openxmlformats.org/officeDocument/2006/relationships" id="256" r:id="R1a5cd62d4cc341b2"/>
    <p:sldId xmlns:r="http://schemas.openxmlformats.org/officeDocument/2006/relationships" id="257" r:id="Rfa225f8e942149c8"/>
    <p:sldId xmlns:r="http://schemas.openxmlformats.org/officeDocument/2006/relationships" id="258" r:id="R347f602665634afd"/>
    <p:sldId xmlns:r="http://schemas.openxmlformats.org/officeDocument/2006/relationships" id="259" r:id="Re1bebcdef50f4a31"/>
    <p:sldId xmlns:r="http://schemas.openxmlformats.org/officeDocument/2006/relationships" id="260" r:id="R15ad29e1eb67420e"/>
    <p:sldId xmlns:r="http://schemas.openxmlformats.org/officeDocument/2006/relationships" id="261" r:id="R290dff257c3f4cb0"/>
    <p:sldId xmlns:r="http://schemas.openxmlformats.org/officeDocument/2006/relationships" id="262" r:id="R30de5e21c31e4c7f"/>
    <p:sldId xmlns:r="http://schemas.openxmlformats.org/officeDocument/2006/relationships" id="263" r:id="R40b134c5c10f41b9"/>
    <p:sldId xmlns:r="http://schemas.openxmlformats.org/officeDocument/2006/relationships" id="264" r:id="Rebe00eacced846f2"/>
    <p:sldId xmlns:r="http://schemas.openxmlformats.org/officeDocument/2006/relationships" id="265" r:id="R7c819b0e29244710"/>
    <p:sldId xmlns:r="http://schemas.openxmlformats.org/officeDocument/2006/relationships" id="266" r:id="R369fc008338d42d7"/>
    <p:sldId xmlns:r="http://schemas.openxmlformats.org/officeDocument/2006/relationships" id="267" r:id="R3ec1639018b44d37"/>
    <p:sldId xmlns:r="http://schemas.openxmlformats.org/officeDocument/2006/relationships" id="268" r:id="Rb586caee9e304136"/>
    <p:sldId xmlns:r="http://schemas.openxmlformats.org/officeDocument/2006/relationships" id="269" r:id="R8769323e38d94d2f"/>
    <p:sldId xmlns:r="http://schemas.openxmlformats.org/officeDocument/2006/relationships" id="270" r:id="R7aa7a314563f4494"/>
    <p:sldId xmlns:r="http://schemas.openxmlformats.org/officeDocument/2006/relationships" id="271" r:id="R88154a3a3a5e48c9"/>
    <p:sldId xmlns:r="http://schemas.openxmlformats.org/officeDocument/2006/relationships" id="272" r:id="Rb547bf1bbc4c4019"/>
    <p:sldId xmlns:r="http://schemas.openxmlformats.org/officeDocument/2006/relationships" id="273" r:id="Red673bda78e04211"/>
    <p:sldId xmlns:r="http://schemas.openxmlformats.org/officeDocument/2006/relationships" id="274" r:id="R713680273f9d4d0c"/>
    <p:sldId xmlns:r="http://schemas.openxmlformats.org/officeDocument/2006/relationships" id="275" r:id="R8889accb3f7b4a57"/>
    <p:sldId xmlns:r="http://schemas.openxmlformats.org/officeDocument/2006/relationships" id="276" r:id="R1f4a295acc9c4784"/>
    <p:sldId xmlns:r="http://schemas.openxmlformats.org/officeDocument/2006/relationships" id="277" r:id="Rf491d1e7f3d14b47"/>
    <p:sldId xmlns:r="http://schemas.openxmlformats.org/officeDocument/2006/relationships" id="278" r:id="R6773302ab2974344"/>
    <p:sldId xmlns:r="http://schemas.openxmlformats.org/officeDocument/2006/relationships" id="279" r:id="R4b9468c15c0a4d40"/>
    <p:sldId xmlns:r="http://schemas.openxmlformats.org/officeDocument/2006/relationships" id="280" r:id="R90a16254bb4a47ba"/>
    <p:sldId xmlns:r="http://schemas.openxmlformats.org/officeDocument/2006/relationships" id="281" r:id="R60e3b4b91f234d03"/>
    <p:sldId xmlns:r="http://schemas.openxmlformats.org/officeDocument/2006/relationships" id="282" r:id="Rfdc461927a65443d"/>
    <p:sldId xmlns:r="http://schemas.openxmlformats.org/officeDocument/2006/relationships" id="283" r:id="R7fb1f2f3522a4907"/>
    <p:sldId xmlns:r="http://schemas.openxmlformats.org/officeDocument/2006/relationships" id="284" r:id="R363abf4010b443af"/>
    <p:sldId xmlns:r="http://schemas.openxmlformats.org/officeDocument/2006/relationships" id="285" r:id="R459a091050e5444e"/>
    <p:sldId xmlns:r="http://schemas.openxmlformats.org/officeDocument/2006/relationships" id="286" r:id="R9e3269619ab54d97"/>
    <p:sldId xmlns:r="http://schemas.openxmlformats.org/officeDocument/2006/relationships" id="287" r:id="R87eb9c9dca724f1e"/>
    <p:sldId xmlns:r="http://schemas.openxmlformats.org/officeDocument/2006/relationships" id="288" r:id="R40767d583a3745f3"/>
    <p:sldId xmlns:r="http://schemas.openxmlformats.org/officeDocument/2006/relationships" id="289" r:id="R143101bc26324dd3"/>
    <p:sldId xmlns:r="http://schemas.openxmlformats.org/officeDocument/2006/relationships" id="290" r:id="R1b66dab1f6114102"/>
    <p:sldId xmlns:r="http://schemas.openxmlformats.org/officeDocument/2006/relationships" id="291" r:id="R9e62263f4f4549cc"/>
    <p:sldId xmlns:r="http://schemas.openxmlformats.org/officeDocument/2006/relationships" id="292" r:id="R705865dbaac2474c"/>
    <p:sldId xmlns:r="http://schemas.openxmlformats.org/officeDocument/2006/relationships" id="293" r:id="R25019a80a2c34451"/>
    <p:sldId xmlns:r="http://schemas.openxmlformats.org/officeDocument/2006/relationships" id="294" r:id="Rbe8f10aa3ef64795"/>
    <p:sldId xmlns:r="http://schemas.openxmlformats.org/officeDocument/2006/relationships" id="295" r:id="Rfe297d28055b4370"/>
    <p:sldId xmlns:r="http://schemas.openxmlformats.org/officeDocument/2006/relationships" id="296" r:id="Re00431763c1d498f"/>
    <p:sldId xmlns:r="http://schemas.openxmlformats.org/officeDocument/2006/relationships" id="297" r:id="R8cb464179828468c"/>
    <p:sldId xmlns:r="http://schemas.openxmlformats.org/officeDocument/2006/relationships" id="298" r:id="Rbc031cd57c4f457c"/>
    <p:sldId xmlns:r="http://schemas.openxmlformats.org/officeDocument/2006/relationships" id="299" r:id="Rc8e588957ac0469b"/>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133abdf82cb44bdf" /><Relationship Type="http://schemas.openxmlformats.org/officeDocument/2006/relationships/slideMaster" Target="/ppt/slideMasters/slideMaster1.xml" Id="R994e6d0d15de4fe4" /><Relationship Type="http://schemas.openxmlformats.org/officeDocument/2006/relationships/notesMaster" Target="/ppt/notesMasters/notesMaster1.xml" Id="Rda2e5d781c044b57" /><Relationship Type="http://schemas.openxmlformats.org/officeDocument/2006/relationships/presProps" Target="/ppt/presProps.xml" Id="Rc6163e36eb22423b" /><Relationship Type="http://schemas.openxmlformats.org/officeDocument/2006/relationships/viewProps" Target="/ppt/viewProps.xml" Id="R19bfeaeb1a79495c" /><Relationship Type="http://schemas.openxmlformats.org/officeDocument/2006/relationships/tableStyles" Target="/ppt/tableStyles.xml" Id="R96a907c9d3434100" /><Relationship Type="http://schemas.openxmlformats.org/officeDocument/2006/relationships/slide" Target="/ppt/slides/slide1.xml" Id="R1a5cd62d4cc341b2" /><Relationship Type="http://schemas.openxmlformats.org/officeDocument/2006/relationships/slide" Target="/ppt/slides/slide2.xml" Id="Rfa225f8e942149c8" /><Relationship Type="http://schemas.openxmlformats.org/officeDocument/2006/relationships/slide" Target="/ppt/slides/slide3.xml" Id="R347f602665634afd" /><Relationship Type="http://schemas.openxmlformats.org/officeDocument/2006/relationships/slide" Target="/ppt/slides/slide4.xml" Id="Re1bebcdef50f4a31" /><Relationship Type="http://schemas.openxmlformats.org/officeDocument/2006/relationships/slide" Target="/ppt/slides/slide5.xml" Id="R15ad29e1eb67420e" /><Relationship Type="http://schemas.openxmlformats.org/officeDocument/2006/relationships/slide" Target="/ppt/slides/slide6.xml" Id="R290dff257c3f4cb0" /><Relationship Type="http://schemas.openxmlformats.org/officeDocument/2006/relationships/slide" Target="/ppt/slides/slide7.xml" Id="R30de5e21c31e4c7f" /><Relationship Type="http://schemas.openxmlformats.org/officeDocument/2006/relationships/slide" Target="/ppt/slides/slide8.xml" Id="R40b134c5c10f41b9" /><Relationship Type="http://schemas.openxmlformats.org/officeDocument/2006/relationships/slide" Target="/ppt/slides/slide9.xml" Id="Rebe00eacced846f2" /><Relationship Type="http://schemas.openxmlformats.org/officeDocument/2006/relationships/slide" Target="/ppt/slides/slide10.xml" Id="R7c819b0e29244710" /><Relationship Type="http://schemas.openxmlformats.org/officeDocument/2006/relationships/slide" Target="/ppt/slides/slide11.xml" Id="R369fc008338d42d7" /><Relationship Type="http://schemas.openxmlformats.org/officeDocument/2006/relationships/slide" Target="/ppt/slides/slide12.xml" Id="R3ec1639018b44d37" /><Relationship Type="http://schemas.openxmlformats.org/officeDocument/2006/relationships/slide" Target="/ppt/slides/slide13.xml" Id="Rb586caee9e304136" /><Relationship Type="http://schemas.openxmlformats.org/officeDocument/2006/relationships/slide" Target="/ppt/slides/slide14.xml" Id="R8769323e38d94d2f" /><Relationship Type="http://schemas.openxmlformats.org/officeDocument/2006/relationships/slide" Target="/ppt/slides/slide15.xml" Id="R7aa7a314563f4494" /><Relationship Type="http://schemas.openxmlformats.org/officeDocument/2006/relationships/slide" Target="/ppt/slides/slide16.xml" Id="R88154a3a3a5e48c9" /><Relationship Type="http://schemas.openxmlformats.org/officeDocument/2006/relationships/slide" Target="/ppt/slides/slide17.xml" Id="Rb547bf1bbc4c4019" /><Relationship Type="http://schemas.openxmlformats.org/officeDocument/2006/relationships/slide" Target="/ppt/slides/slide18.xml" Id="Red673bda78e04211" /><Relationship Type="http://schemas.openxmlformats.org/officeDocument/2006/relationships/slide" Target="/ppt/slides/slide19.xml" Id="R713680273f9d4d0c" /><Relationship Type="http://schemas.openxmlformats.org/officeDocument/2006/relationships/slide" Target="/ppt/slides/slide20.xml" Id="R8889accb3f7b4a57" /><Relationship Type="http://schemas.openxmlformats.org/officeDocument/2006/relationships/slide" Target="/ppt/slides/slide21.xml" Id="R1f4a295acc9c4784" /><Relationship Type="http://schemas.openxmlformats.org/officeDocument/2006/relationships/slide" Target="/ppt/slides/slide22.xml" Id="Rf491d1e7f3d14b47" /><Relationship Type="http://schemas.openxmlformats.org/officeDocument/2006/relationships/slide" Target="/ppt/slides/slide23.xml" Id="R6773302ab2974344" /><Relationship Type="http://schemas.openxmlformats.org/officeDocument/2006/relationships/slide" Target="/ppt/slides/slide24.xml" Id="R4b9468c15c0a4d40" /><Relationship Type="http://schemas.openxmlformats.org/officeDocument/2006/relationships/slide" Target="/ppt/slides/slide25.xml" Id="R90a16254bb4a47ba" /><Relationship Type="http://schemas.openxmlformats.org/officeDocument/2006/relationships/slide" Target="/ppt/slides/slide26.xml" Id="R60e3b4b91f234d03" /><Relationship Type="http://schemas.openxmlformats.org/officeDocument/2006/relationships/slide" Target="/ppt/slides/slide27.xml" Id="Rfdc461927a65443d" /><Relationship Type="http://schemas.openxmlformats.org/officeDocument/2006/relationships/slide" Target="/ppt/slides/slide28.xml" Id="R7fb1f2f3522a4907" /><Relationship Type="http://schemas.openxmlformats.org/officeDocument/2006/relationships/slide" Target="/ppt/slides/slide29.xml" Id="R363abf4010b443af" /><Relationship Type="http://schemas.openxmlformats.org/officeDocument/2006/relationships/slide" Target="/ppt/slides/slide30.xml" Id="R459a091050e5444e" /><Relationship Type="http://schemas.openxmlformats.org/officeDocument/2006/relationships/slide" Target="/ppt/slides/slide31.xml" Id="R9e3269619ab54d97" /><Relationship Type="http://schemas.openxmlformats.org/officeDocument/2006/relationships/slide" Target="/ppt/slides/slide32.xml" Id="R87eb9c9dca724f1e" /><Relationship Type="http://schemas.openxmlformats.org/officeDocument/2006/relationships/slide" Target="/ppt/slides/slide33.xml" Id="R40767d583a3745f3" /><Relationship Type="http://schemas.openxmlformats.org/officeDocument/2006/relationships/slide" Target="/ppt/slides/slide34.xml" Id="R143101bc26324dd3" /><Relationship Type="http://schemas.openxmlformats.org/officeDocument/2006/relationships/slide" Target="/ppt/slides/slide35.xml" Id="R1b66dab1f6114102" /><Relationship Type="http://schemas.openxmlformats.org/officeDocument/2006/relationships/slide" Target="/ppt/slides/slide36.xml" Id="R9e62263f4f4549cc" /><Relationship Type="http://schemas.openxmlformats.org/officeDocument/2006/relationships/slide" Target="/ppt/slides/slide37.xml" Id="R705865dbaac2474c" /><Relationship Type="http://schemas.openxmlformats.org/officeDocument/2006/relationships/slide" Target="/ppt/slides/slide38.xml" Id="R25019a80a2c34451" /><Relationship Type="http://schemas.openxmlformats.org/officeDocument/2006/relationships/slide" Target="/ppt/slides/slide39.xml" Id="Rbe8f10aa3ef64795" /><Relationship Type="http://schemas.openxmlformats.org/officeDocument/2006/relationships/slide" Target="/ppt/slides/slide40.xml" Id="Rfe297d28055b4370" /><Relationship Type="http://schemas.openxmlformats.org/officeDocument/2006/relationships/slide" Target="/ppt/slides/slide41.xml" Id="Re00431763c1d498f" /><Relationship Type="http://schemas.openxmlformats.org/officeDocument/2006/relationships/slide" Target="/ppt/slides/slide42.xml" Id="R8cb464179828468c" /><Relationship Type="http://schemas.openxmlformats.org/officeDocument/2006/relationships/slide" Target="/ppt/slides/slide43.xml" Id="Rbc031cd57c4f457c" /><Relationship Type="http://schemas.openxmlformats.org/officeDocument/2006/relationships/slide" Target="/ppt/slides/slide44.xml" Id="Rc8e588957ac0469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b28a1edb50c47b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65e7a98f7384737" /><Relationship Type="http://schemas.openxmlformats.org/officeDocument/2006/relationships/notesMaster" Target="/ppt/notesMasters/notesMaster1.xml" Id="R53ee760095144cdb" /></Relationships>
</file>

<file path=ppt/notesSlides/_rels/notesSlide2.xml.rels>&#65279;<?xml version="1.0" encoding="utf-8"?><Relationships xmlns="http://schemas.openxmlformats.org/package/2006/relationships"><Relationship Type="http://schemas.openxmlformats.org/officeDocument/2006/relationships/slide" Target="/ppt/slides/slide2.xml" Id="R1296d08ba52f41d2" /><Relationship Type="http://schemas.openxmlformats.org/officeDocument/2006/relationships/notesMaster" Target="/ppt/notesMasters/notesMaster1.xml" Id="Rb905c8e5f7a54b6d" /></Relationships>
</file>

<file path=ppt/notesSlides/_rels/notesSlide3.xml.rels>&#65279;<?xml version="1.0" encoding="utf-8"?><Relationships xmlns="http://schemas.openxmlformats.org/package/2006/relationships"><Relationship Type="http://schemas.openxmlformats.org/officeDocument/2006/relationships/slide" Target="/ppt/slides/slide3.xml" Id="R42812b19cd924e0b" /><Relationship Type="http://schemas.openxmlformats.org/officeDocument/2006/relationships/notesMaster" Target="/ppt/notesMasters/notesMaster1.xml" Id="R1a22eb10b31d4c92" /></Relationships>
</file>

<file path=ppt/notesSlides/_rels/notesSlide4.xml.rels>&#65279;<?xml version="1.0" encoding="utf-8"?><Relationships xmlns="http://schemas.openxmlformats.org/package/2006/relationships"><Relationship Type="http://schemas.openxmlformats.org/officeDocument/2006/relationships/slide" Target="/ppt/slides/slide4.xml" Id="R54ec4577cd984b8f" /><Relationship Type="http://schemas.openxmlformats.org/officeDocument/2006/relationships/notesMaster" Target="/ppt/notesMasters/notesMaster1.xml" Id="R39e0eead63a14d7f" /></Relationships>
</file>

<file path=ppt/notesSlides/_rels/notesSlide5.xml.rels>&#65279;<?xml version="1.0" encoding="utf-8"?><Relationships xmlns="http://schemas.openxmlformats.org/package/2006/relationships"><Relationship Type="http://schemas.openxmlformats.org/officeDocument/2006/relationships/slide" Target="/ppt/slides/slide5.xml" Id="Rc440ee6435d64df5" /><Relationship Type="http://schemas.openxmlformats.org/officeDocument/2006/relationships/notesMaster" Target="/ppt/notesMasters/notesMaster1.xml" Id="R3648be773a36494f" /></Relationships>
</file>

<file path=ppt/notesSlides/_rels/notesSlide6.xml.rels>&#65279;<?xml version="1.0" encoding="utf-8"?><Relationships xmlns="http://schemas.openxmlformats.org/package/2006/relationships"><Relationship Type="http://schemas.openxmlformats.org/officeDocument/2006/relationships/slide" Target="/ppt/slides/slide6.xml" Id="Rb7d910c4adf649bd" /><Relationship Type="http://schemas.openxmlformats.org/officeDocument/2006/relationships/notesMaster" Target="/ppt/notesMasters/notesMaster1.xml" Id="R28548c08a919439c" /></Relationships>
</file>

<file path=ppt/notesSlides/_rels/notesSlide7.xml.rels>&#65279;<?xml version="1.0" encoding="utf-8"?><Relationships xmlns="http://schemas.openxmlformats.org/package/2006/relationships"><Relationship Type="http://schemas.openxmlformats.org/officeDocument/2006/relationships/slide" Target="/ppt/slides/slide7.xml" Id="R2397931c3e2144cb" /><Relationship Type="http://schemas.openxmlformats.org/officeDocument/2006/relationships/notesMaster" Target="/ppt/notesMasters/notesMaster1.xml" Id="R90dc4291c7f94458" /></Relationships>
</file>

<file path=ppt/notesSlides/_rels/notesSlide8.xml.rels>&#65279;<?xml version="1.0" encoding="utf-8"?><Relationships xmlns="http://schemas.openxmlformats.org/package/2006/relationships"><Relationship Type="http://schemas.openxmlformats.org/officeDocument/2006/relationships/slide" Target="/ppt/slides/slide8.xml" Id="R9914c9e2438e40e9" /><Relationship Type="http://schemas.openxmlformats.org/officeDocument/2006/relationships/notesMaster" Target="/ppt/notesMasters/notesMaster1.xml" Id="R830cc5dde4f34002" /></Relationships>
</file>

<file path=ppt/notesSlides/_rels/notesSlide9.xml.rels>&#65279;<?xml version="1.0" encoding="utf-8"?><Relationships xmlns="http://schemas.openxmlformats.org/package/2006/relationships"><Relationship Type="http://schemas.openxmlformats.org/officeDocument/2006/relationships/slide" Target="/ppt/slides/slide9.xml" Id="R02da6626bf334da3" /><Relationship Type="http://schemas.openxmlformats.org/officeDocument/2006/relationships/notesMaster" Target="/ppt/notesMasters/notesMaster1.xml" Id="R338a32d6c9b04be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fa4a13902e849c9" /><Relationship Type="http://schemas.openxmlformats.org/officeDocument/2006/relationships/notesMaster" Target="/ppt/notesMasters/notesMaster1.xml" Id="R1fe27f5a6da1456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4614de493ba4e16" /><Relationship Type="http://schemas.openxmlformats.org/officeDocument/2006/relationships/notesMaster" Target="/ppt/notesMasters/notesMaster1.xml" Id="Raa531390ccbf419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1aa3bc763b4439d" /><Relationship Type="http://schemas.openxmlformats.org/officeDocument/2006/relationships/notesMaster" Target="/ppt/notesMasters/notesMaster1.xml" Id="Ra92d6526ad764ab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7ee3096067b46cd" /><Relationship Type="http://schemas.openxmlformats.org/officeDocument/2006/relationships/notesMaster" Target="/ppt/notesMasters/notesMaster1.xml" Id="Re8d18b1e2ae4489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b31bcc9c1164901" /><Relationship Type="http://schemas.openxmlformats.org/officeDocument/2006/relationships/notesMaster" Target="/ppt/notesMasters/notesMaster1.xml" Id="R025368a79e474d8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d30402e4adb4a3b" /><Relationship Type="http://schemas.openxmlformats.org/officeDocument/2006/relationships/notesMaster" Target="/ppt/notesMasters/notesMaster1.xml" Id="R368110fff33940d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85535939180413c" /><Relationship Type="http://schemas.openxmlformats.org/officeDocument/2006/relationships/notesMaster" Target="/ppt/notesMasters/notesMaster1.xml" Id="R19bffc4c81f8479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ac74c91e49243bf" /><Relationship Type="http://schemas.openxmlformats.org/officeDocument/2006/relationships/notesMaster" Target="/ppt/notesMasters/notesMaster1.xml" Id="R91d886d4b0ee437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4499201070b4281" /><Relationship Type="http://schemas.openxmlformats.org/officeDocument/2006/relationships/notesMaster" Target="/ppt/notesMasters/notesMaster1.xml" Id="R7ec4e8fe6948409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ff249aac60845d6" /><Relationship Type="http://schemas.openxmlformats.org/officeDocument/2006/relationships/notesMaster" Target="/ppt/notesMasters/notesMaster1.xml" Id="R53d5ab0bbda043f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974afe469514101" /><Relationship Type="http://schemas.openxmlformats.org/officeDocument/2006/relationships/notesMaster" Target="/ppt/notesMasters/notesMaster1.xml" Id="R4ae6501fd0844ea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65af3ab50664c9d" /><Relationship Type="http://schemas.openxmlformats.org/officeDocument/2006/relationships/notesMaster" Target="/ppt/notesMasters/notesMaster1.xml" Id="R7556417d9777469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7ba04994b64462b" /><Relationship Type="http://schemas.openxmlformats.org/officeDocument/2006/relationships/notesMaster" Target="/ppt/notesMasters/notesMaster1.xml" Id="Rdfbaeb9bec554dc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71fd9c565124306" /><Relationship Type="http://schemas.openxmlformats.org/officeDocument/2006/relationships/notesMaster" Target="/ppt/notesMasters/notesMaster1.xml" Id="R1ddca47237a9497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a7b65b2ccb8c4084" /><Relationship Type="http://schemas.openxmlformats.org/officeDocument/2006/relationships/notesMaster" Target="/ppt/notesMasters/notesMaster1.xml" Id="Rd21c94afb50841b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d5c7a5a74084ac3" /><Relationship Type="http://schemas.openxmlformats.org/officeDocument/2006/relationships/notesMaster" Target="/ppt/notesMasters/notesMaster1.xml" Id="R6f5335f1fbe34fa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416e81fdf8e45e8" /><Relationship Type="http://schemas.openxmlformats.org/officeDocument/2006/relationships/notesMaster" Target="/ppt/notesMasters/notesMaster1.xml" Id="Rd61b7b81264f43e5"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6eadf76d520a4a99" /><Relationship Type="http://schemas.openxmlformats.org/officeDocument/2006/relationships/notesMaster" Target="/ppt/notesMasters/notesMaster1.xml" Id="R520adae291194d25"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a1620eb6b79c4560" /><Relationship Type="http://schemas.openxmlformats.org/officeDocument/2006/relationships/notesMaster" Target="/ppt/notesMasters/notesMaster1.xml" Id="Re98e18783f2d4986"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0b89453fed9e4bf5" /><Relationship Type="http://schemas.openxmlformats.org/officeDocument/2006/relationships/notesMaster" Target="/ppt/notesMasters/notesMaster1.xml" Id="R0d924eadf4e74ee1"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62383aa03f9a4816" /><Relationship Type="http://schemas.openxmlformats.org/officeDocument/2006/relationships/notesMaster" Target="/ppt/notesMasters/notesMaster1.xml" Id="R26d407ae0f5d49c4"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2a3d10aabea94cb6" /><Relationship Type="http://schemas.openxmlformats.org/officeDocument/2006/relationships/notesMaster" Target="/ppt/notesMasters/notesMaster1.xml" Id="Rcf45dee945304677"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abf8d021522249fd" /><Relationship Type="http://schemas.openxmlformats.org/officeDocument/2006/relationships/notesMaster" Target="/ppt/notesMasters/notesMaster1.xml" Id="Rad7ec0e7539548aa"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5a9161f970704296" /><Relationship Type="http://schemas.openxmlformats.org/officeDocument/2006/relationships/notesMaster" Target="/ppt/notesMasters/notesMaster1.xml" Id="R9dc775449f454150"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9ad32e1d83a0486a" /><Relationship Type="http://schemas.openxmlformats.org/officeDocument/2006/relationships/notesMaster" Target="/ppt/notesMasters/notesMaster1.xml" Id="Rd2b359d38183455d"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01644d807f134081" /><Relationship Type="http://schemas.openxmlformats.org/officeDocument/2006/relationships/notesMaster" Target="/ppt/notesMasters/notesMaster1.xml" Id="R6d6ec70a34974bf0"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0282abe68b214991" /><Relationship Type="http://schemas.openxmlformats.org/officeDocument/2006/relationships/notesMaster" Target="/ppt/notesMasters/notesMaster1.xml" Id="R5645960dae234570"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1269520c415643d5" /><Relationship Type="http://schemas.openxmlformats.org/officeDocument/2006/relationships/notesMaster" Target="/ppt/notesMasters/notesMaster1.xml" Id="R9ecad370404c4b72"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f9bf820630f34054" /><Relationship Type="http://schemas.openxmlformats.org/officeDocument/2006/relationships/notesMaster" Target="/ppt/notesMasters/notesMaster1.xml" Id="R274c92de08ba4308"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a9e29cde26ea4865" /><Relationship Type="http://schemas.openxmlformats.org/officeDocument/2006/relationships/notesMaster" Target="/ppt/notesMasters/notesMaster1.xml" Id="Re479709a91a345dd"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bcc12daff688413b" /><Relationship Type="http://schemas.openxmlformats.org/officeDocument/2006/relationships/notesMaster" Target="/ppt/notesMasters/notesMaster1.xml" Id="R26c250a98b874d37"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024fcb8b59334797" /><Relationship Type="http://schemas.openxmlformats.org/officeDocument/2006/relationships/notesMaster" Target="/ppt/notesMasters/notesMaster1.xml" Id="R40c70de4597d4ffb"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7fbf70d472574194" /><Relationship Type="http://schemas.openxmlformats.org/officeDocument/2006/relationships/notesMaster" Target="/ppt/notesMasters/notesMaster1.xml" Id="Rabe2937af38b43d5"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ce853aaf72df456b" /><Relationship Type="http://schemas.openxmlformats.org/officeDocument/2006/relationships/notesMaster" Target="/ppt/notesMasters/notesMaster1.xml" Id="R69dc20d0fd2a4d4b"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de4209fb53614159" /><Relationship Type="http://schemas.openxmlformats.org/officeDocument/2006/relationships/notesMaster" Target="/ppt/notesMasters/notesMaster1.xml" Id="R38bc60791a72424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docs/student_decks/UART_Protocol_Students_Ignytion_VIDEO_v11.pptx</a:t>
            </a:r>
          </a:p>
          <a:p xmlns:a="http://schemas.openxmlformats.org/drawingml/2006/main">
            <a:r>
              <a:t>Created: 2026-10-03</a:t>
            </a:r>
          </a:p>
          <a:p xmlns:a="http://schemas.openxmlformats.org/drawingml/2006/main">
            <a:r>
              <a:t/>
            </a:r>
          </a:p>
          <a:p xmlns:a="http://schemas.openxmlformats.org/drawingml/2006/main">
            <a:r>
              <a:t>Lesson goal: decode an 8N1 frame without a shared clock wire and relate baud rate to local clock cycles. The local UART core is a full-duplex byte interface. Explain the distinction between a UART logic-level signal and RS-232 electrical signalling.</a:t>
            </a:r>
          </a:p>
          <a:p xmlns:a="http://schemas.openxmlformats.org/drawingml/2006/main">
            <a:r>
              <a:t/>
            </a:r>
          </a:p>
          <a:p xmlns:a="http://schemas.openxmlformats.org/drawingml/2006/main">
            <a:r>
              <a:t>Protocol reading: Microchip USART asynchronous tutorial: https://ww1.microchip.com/downloads/en/DeviceDoc/usart.pdf</a:t>
            </a:r>
          </a:p>
          <a:p xmlns:a="http://schemas.openxmlformats.org/drawingml/2006/main">
            <a:r>
              <a:t>Implementation evidence: hw/protocols/uart/01_rtl,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hw/protocols/uart/01_rtl/LICENSE.forencich</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Copyright (c) 2014-2017 Alex Forencich</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a:t>
            </a:r>
          </a:p>
          <a:p xmlns:a="http://schemas.openxmlformats.org/drawingml/2006/main">
            <a:r>
              <a:t>all 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a:t>
            </a:r>
          </a:p>
          <a:p xmlns:a="http://schemas.openxmlformats.org/drawingml/2006/main">
            <a:r>
              <a:t>THE 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docs/student_decks/UART_Protocol_Students_Ignytion_VIDEO_v11.pptx</a:t>
            </a:r>
          </a:p>
          <a:p xmlns:a="http://schemas.openxmlformats.org/drawingml/2006/main">
            <a:r>
              <a:t>Created: 2026-10-03</a:t>
            </a:r>
          </a:p>
          <a:p xmlns:a="http://schemas.openxmlformats.org/drawingml/2006/main">
            <a:r>
              <a:t/>
            </a:r>
          </a:p>
          <a:p xmlns:a="http://schemas.openxmlformats.org/drawingml/2006/main">
            <a:r>
              <a:t>Asynchronous means no clock is carried with each transmitted bit. It does not mean the hardware lacks a clock. Explain why sampling must occur near the centre of each bit and why mismatch accumulates as the frame progresses. The STOP interval returns the link to an idle state.</a:t>
            </a:r>
          </a:p>
          <a:p xmlns:a="http://schemas.openxmlformats.org/drawingml/2006/main">
            <a:r>
              <a:t/>
            </a:r>
          </a:p>
          <a:p xmlns:a="http://schemas.openxmlformats.org/drawingml/2006/main">
            <a:r>
              <a:t>Protocol reading: Microchip USART asynchronous tutorial: https://ww1.microchip.com/downloads/en/DeviceDoc/usart.pdf</a:t>
            </a:r>
          </a:p>
          <a:p xmlns:a="http://schemas.openxmlformats.org/drawingml/2006/main">
            <a:r>
              <a:t>Implementation evidence: hw/protocols/uart/01_rtl,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hw/protocols/uart/01_rtl/LICENSE.forencich</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Copyright (c) 2014-2017 Alex Forencich</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a:t>
            </a:r>
          </a:p>
          <a:p xmlns:a="http://schemas.openxmlformats.org/drawingml/2006/main">
            <a:r>
              <a:t>all 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a:t>
            </a:r>
          </a:p>
          <a:p xmlns:a="http://schemas.openxmlformats.org/drawingml/2006/main">
            <a:r>
              <a:t>THE 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docs/student_decks/UART_Protocol_Students_Ignytion_VIDEO_v11.pptx</a:t>
            </a:r>
          </a:p>
          <a:p xmlns:a="http://schemas.openxmlformats.org/drawingml/2006/main">
            <a:r>
              <a:t>Created: 2026-10-03</a:t>
            </a:r>
          </a:p>
          <a:p xmlns:a="http://schemas.openxmlformats.org/drawingml/2006/main">
            <a:r>
              <a:t/>
            </a:r>
          </a:p>
          <a:p xmlns:a="http://schemas.openxmlformats.org/drawingml/2006/main">
            <a:r>
              <a:t>The local rxd and txd pins carry logic-level signals. RS-232 uses different voltage levels and polarity and cannot safely connect directly to ordinary digital pins. Full duplex uses independent wires in each direction. Flow-control pins such as RTS/CTS are optional system features absent from this wrapper.</a:t>
            </a:r>
          </a:p>
          <a:p xmlns:a="http://schemas.openxmlformats.org/drawingml/2006/main">
            <a:r>
              <a:t/>
            </a:r>
          </a:p>
          <a:p xmlns:a="http://schemas.openxmlformats.org/drawingml/2006/main">
            <a:r>
              <a:t>Protocol reading: Microchip USART asynchronous tutorial: https://ww1.microchip.com/downloads/en/DeviceDoc/usart.pdf</a:t>
            </a:r>
          </a:p>
          <a:p xmlns:a="http://schemas.openxmlformats.org/drawingml/2006/main">
            <a:r>
              <a:t>Implementation evidence: hw/protocols/uart/01_rtl,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hw/protocols/uart/01_rtl/LICENSE.forencich</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Copyright (c) 2014-2017 Alex Forencich</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a:t>
            </a:r>
          </a:p>
          <a:p xmlns:a="http://schemas.openxmlformats.org/drawingml/2006/main">
            <a:r>
              <a:t>all 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a:t>
            </a:r>
          </a:p>
          <a:p xmlns:a="http://schemas.openxmlformats.org/drawingml/2006/main">
            <a:r>
              <a:t>THE 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docs/student_decks/UART_Protocol_Students_Ignytion_VIDEO_v11.pptx</a:t>
            </a:r>
          </a:p>
          <a:p xmlns:a="http://schemas.openxmlformats.org/drawingml/2006/main">
            <a:r>
              <a:t>Created: 2026-10-03</a:t>
            </a:r>
          </a:p>
          <a:p xmlns:a="http://schemas.openxmlformats.org/drawingml/2006/main">
            <a:r>
              <a:t/>
            </a:r>
          </a:p>
          <a:p xmlns:a="http://schemas.openxmlformats.org/drawingml/2006/main">
            <a:r>
              <a:t>A UART is a framing and timing function, not a promise about connector voltages. Never connect an RS-232 voltage directly to a low-voltage ASIC input. An external transceiver can convert levels and polarity. RS-485 uses differential signalling and may require driver-enable timing for a shared half-duplex link. Those electrical functions are not in uart_core.</a:t>
            </a:r>
          </a:p>
          <a:p xmlns:a="http://schemas.openxmlformats.org/drawingml/2006/main">
            <a:r>
              <a:t/>
            </a:r>
          </a:p>
          <a:p xmlns:a="http://schemas.openxmlformats.org/drawingml/2006/main">
            <a:r>
              <a:t>Protocol reading: Microchip USART asynchronous tutorial: https://ww1.microchip.com/downloads/en/DeviceDoc/usart.pdf</a:t>
            </a:r>
          </a:p>
          <a:p xmlns:a="http://schemas.openxmlformats.org/drawingml/2006/main">
            <a:r>
              <a:t>Implementation evidence: hw/protocols/uart/01_rtl,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hw/protocols/uart/01_rtl/LICENSE.forencich</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Copyright (c) 2014-2017 Alex Forencich</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a:t>
            </a:r>
          </a:p>
          <a:p xmlns:a="http://schemas.openxmlformats.org/drawingml/2006/main">
            <a:r>
              <a:t>all 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a:t>
            </a:r>
          </a:p>
          <a:p xmlns:a="http://schemas.openxmlformats.org/drawingml/2006/main">
            <a:r>
              <a:t>THE 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docs/student_decks/UART_Protocol_Students_Ignytion_VIDEO_v11.pptx</a:t>
            </a:r>
          </a:p>
          <a:p xmlns:a="http://schemas.openxmlformats.org/drawingml/2006/main">
            <a:r>
              <a:t>Created: 2026-10-03</a:t>
            </a:r>
          </a:p>
          <a:p xmlns:a="http://schemas.openxmlformats.org/drawingml/2006/main">
            <a:r>
              <a:t/>
            </a:r>
          </a:p>
          <a:p xmlns:a="http://schemas.openxmlformats.org/drawingml/2006/main">
            <a:r>
              <a:t>8N1 means eight data bits, no parity and one stop bit. It consumes ten bit periods per byte. Explain that UART implementations may support other formats, but this selected core and wrapper are configured for eight-bit data with no parity. There is no runtime parity setting.</a:t>
            </a:r>
          </a:p>
          <a:p xmlns:a="http://schemas.openxmlformats.org/drawingml/2006/main">
            <a:r>
              <a:t/>
            </a:r>
          </a:p>
          <a:p xmlns:a="http://schemas.openxmlformats.org/drawingml/2006/main">
            <a:r>
              <a:t>Protocol reading: Microchip USART asynchronous tutorial: https://ww1.microchip.com/downloads/en/DeviceDoc/usart.pdf</a:t>
            </a:r>
          </a:p>
          <a:p xmlns:a="http://schemas.openxmlformats.org/drawingml/2006/main">
            <a:r>
              <a:t>Implementation evidence: hw/protocols/uart/01_rtl,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hw/protocols/uart/01_rtl/LICENSE.forencich</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Copyright (c) 2014-2017 Alex Forencich</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a:t>
            </a:r>
          </a:p>
          <a:p xmlns:a="http://schemas.openxmlformats.org/drawingml/2006/main">
            <a:r>
              <a:t>all 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a:t>
            </a:r>
          </a:p>
          <a:p xmlns:a="http://schemas.openxmlformats.org/drawingml/2006/main">
            <a:r>
              <a:t>THE 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docs/student_decks/UART_Protocol_Students_Ignytion_VIDEO_v11.pptx</a:t>
            </a:r>
          </a:p>
          <a:p xmlns:a="http://schemas.openxmlformats.org/drawingml/2006/main">
            <a:r>
              <a:t>Created: 2026-10-03</a:t>
            </a:r>
          </a:p>
          <a:p xmlns:a="http://schemas.openxmlformats.org/drawingml/2006/main">
            <a:r>
              <a:t/>
            </a:r>
          </a:p>
          <a:p xmlns:a="http://schemas.openxmlformats.org/drawingml/2006/main">
            <a:r>
              <a:t>Spell out the value 0x53=83 decimal. Writing a number on paper usually puts the most significant bit on the left, while UART sends D0 first. The editable table shows temporal order. Ask students to reconstruct the hexadecimal byte from the observed stream.</a:t>
            </a:r>
          </a:p>
          <a:p xmlns:a="http://schemas.openxmlformats.org/drawingml/2006/main">
            <a:r>
              <a:t/>
            </a:r>
          </a:p>
          <a:p xmlns:a="http://schemas.openxmlformats.org/drawingml/2006/main">
            <a:r>
              <a:t>Protocol reading: Microchip USART asynchronous tutorial: https://ww1.microchip.com/downloads/en/DeviceDoc/usart.pdf</a:t>
            </a:r>
          </a:p>
          <a:p xmlns:a="http://schemas.openxmlformats.org/drawingml/2006/main">
            <a:r>
              <a:t>Implementation evidence: hw/protocols/uart/01_rtl,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hw/protocols/uart/01_rtl/LICENSE.forencich</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Copyright (c) 2014-2017 Alex Forencich</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a:t>
            </a:r>
          </a:p>
          <a:p xmlns:a="http://schemas.openxmlformats.org/drawingml/2006/main">
            <a:r>
              <a:t>all 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a:t>
            </a:r>
          </a:p>
          <a:p xmlns:a="http://schemas.openxmlformats.org/drawingml/2006/main">
            <a:r>
              <a:t>THE 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docs/student_decks/UART_Protocol_Students_Ignytion_VIDEO_v11.pptx</a:t>
            </a:r>
          </a:p>
          <a:p xmlns:a="http://schemas.openxmlformats.org/drawingml/2006/main">
            <a:r>
              <a:t>Created: 2026-10-03</a:t>
            </a:r>
          </a:p>
          <a:p xmlns:a="http://schemas.openxmlformats.org/drawingml/2006/main">
            <a:r>
              <a:t/>
            </a:r>
          </a:p>
          <a:p xmlns:a="http://schemas.openxmlformats.org/drawingml/2006/main">
            <a:r>
              <a:t>Translate hexadecimal 53 into binary 01010011, then reverse the reading order for transmission: bit zero goes first. START is low for a bit interval and STOP is high. The initial and final high intervals are idle. This ideal waveform uses whole bit slots, not a measured baud rate. A signal that remains high between consecutive one bits still contains two separately timed bits.</a:t>
            </a:r>
          </a:p>
          <a:p xmlns:a="http://schemas.openxmlformats.org/drawingml/2006/main">
            <a:r>
              <a:t/>
            </a:r>
          </a:p>
          <a:p xmlns:a="http://schemas.openxmlformats.org/drawingml/2006/main">
            <a:r>
              <a:t>Protocol reading: Microchip USART asynchronous tutorial: https://ww1.microchip.com/downloads/en/DeviceDoc/usart.pdf</a:t>
            </a:r>
          </a:p>
          <a:p xmlns:a="http://schemas.openxmlformats.org/drawingml/2006/main">
            <a:r>
              <a:t>Implementation evidence: hw/protocols/uart/01_rtl,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hw/protocols/uart/01_rtl/LICENSE.forencich</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Copyright (c) 2014-2017 Alex Forencich</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a:t>
            </a:r>
          </a:p>
          <a:p xmlns:a="http://schemas.openxmlformats.org/drawingml/2006/main">
            <a:r>
              <a:t>all 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a:t>
            </a:r>
          </a:p>
          <a:p xmlns:a="http://schemas.openxmlformats.org/drawingml/2006/main">
            <a:r>
              <a:t>THE 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docs/student_decks/UART_Protocol_Students_Ignytion_VIDEO_v11.pptx</a:t>
            </a:r>
          </a:p>
          <a:p xmlns:a="http://schemas.openxmlformats.org/drawingml/2006/main">
            <a:r>
              <a:t>Created: 2026-10-03</a:t>
            </a:r>
          </a:p>
          <a:p xmlns:a="http://schemas.openxmlformats.org/drawingml/2006/main">
            <a:r>
              <a:t/>
            </a:r>
          </a:p>
          <a:p xmlns:a="http://schemas.openxmlformats.org/drawingml/2006/main">
            <a:r>
              <a:t>Baud and bits per second coincide for this binary UART link. Calculate a bit period of about 8.681 microseconds and a frame period of about 86.806 microseconds at 115200 baud. Gaps or software delays reduce useful throughput. These are arithmetic examples, not measured throughput of this implementation.</a:t>
            </a:r>
          </a:p>
          <a:p xmlns:a="http://schemas.openxmlformats.org/drawingml/2006/main">
            <a:r>
              <a:t/>
            </a:r>
          </a:p>
          <a:p xmlns:a="http://schemas.openxmlformats.org/drawingml/2006/main">
            <a:r>
              <a:t>Protocol reading: Microchip USART asynchronous tutorial: https://ww1.microchip.com/downloads/en/DeviceDoc/usart.pdf</a:t>
            </a:r>
          </a:p>
          <a:p xmlns:a="http://schemas.openxmlformats.org/drawingml/2006/main">
            <a:r>
              <a:t>Implementation evidence: hw/protocols/uart/01_rtl,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hw/protocols/uart/01_rtl/LICENSE.forencich</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Copyright (c) 2014-2017 Alex Forencich</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a:t>
            </a:r>
          </a:p>
          <a:p xmlns:a="http://schemas.openxmlformats.org/drawingml/2006/main">
            <a:r>
              <a:t>all 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a:t>
            </a:r>
          </a:p>
          <a:p xmlns:a="http://schemas.openxmlformats.org/drawingml/2006/main">
            <a:r>
              <a:t>THE 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docs/student_decks/UART_Protocol_Students_Ignytion_VIDEO_v11.pptx</a:t>
            </a:r>
          </a:p>
          <a:p xmlns:a="http://schemas.openxmlformats.org/drawingml/2006/main">
            <a:r>
              <a:t>Created: 2026-10-03</a:t>
            </a:r>
          </a:p>
          <a:p xmlns:a="http://schemas.openxmlformats.org/drawingml/2006/main">
            <a:r>
              <a:t/>
            </a:r>
          </a:p>
          <a:p xmlns:a="http://schemas.openxmlformats.org/drawingml/2006/main">
            <a:r>
              <a:t>For binary UART signalling, baud equals serial bit rate here. It does not equal useful payload bits per second because framing consumes two intervals per byte. The 32-byte calculation excludes idle gaps, scheduling delays and packet headers. If an application sends each value as ASCII digits, its useful measurement rate can be lower still. These are arithmetic examples for 8N1, not a measured link benchmark.</a:t>
            </a:r>
          </a:p>
          <a:p xmlns:a="http://schemas.openxmlformats.org/drawingml/2006/main">
            <a:r>
              <a:t/>
            </a:r>
          </a:p>
          <a:p xmlns:a="http://schemas.openxmlformats.org/drawingml/2006/main">
            <a:r>
              <a:t>Protocol reading: Microchip USART asynchronous tutorial: https://ww1.microchip.com/downloads/en/DeviceDoc/usart.pdf</a:t>
            </a:r>
          </a:p>
          <a:p xmlns:a="http://schemas.openxmlformats.org/drawingml/2006/main">
            <a:r>
              <a:t>Implementation evidence: hw/protocols/uart/01_rtl,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hw/protocols/uart/01_rtl/LICENSE.forencich</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Copyright (c) 2014-2017 Alex Forencich</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a:t>
            </a:r>
          </a:p>
          <a:p xmlns:a="http://schemas.openxmlformats.org/drawingml/2006/main">
            <a:r>
              <a:t>all 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a:t>
            </a:r>
          </a:p>
          <a:p xmlns:a="http://schemas.openxmlformats.org/drawingml/2006/main">
            <a:r>
              <a:t>THE 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docs/student_decks/UART_Protocol_Students_Ignytion_VIDEO_v11.pptx</a:t>
            </a:r>
          </a:p>
          <a:p xmlns:a="http://schemas.openxmlformats.org/drawingml/2006/main">
            <a:r>
              <a:t>Created: 2026-10-03</a:t>
            </a:r>
          </a:p>
          <a:p xmlns:a="http://schemas.openxmlformats.org/drawingml/2006/main">
            <a:r>
              <a:t/>
            </a:r>
          </a:p>
          <a:p xmlns:a="http://schemas.openxmlformats.org/drawingml/2006/main">
            <a:r>
              <a:t>At the 50 MHz reference core clock, prescale 54 yields about 115740.74 baud, roughly 0.469 percent above 115200. This is an illustrative operating point, not part of the current regression. The tests validate divisors 2 through 7. Integer rounding and each endpoint’s clock error contribute to mismatch.</a:t>
            </a:r>
          </a:p>
          <a:p xmlns:a="http://schemas.openxmlformats.org/drawingml/2006/main">
            <a:r>
              <a:t/>
            </a:r>
          </a:p>
          <a:p xmlns:a="http://schemas.openxmlformats.org/drawingml/2006/main">
            <a:r>
              <a:t>Protocol reading: Microchip USART asynchronous tutorial: https://ww1.microchip.com/downloads/en/DeviceDoc/usart.pdf</a:t>
            </a:r>
          </a:p>
          <a:p xmlns:a="http://schemas.openxmlformats.org/drawingml/2006/main">
            <a:r>
              <a:t>Implementation evidence: hw/protocols/uart/01_rtl,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hw/protocols/uart/01_rtl/LICENSE.forencich</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Copyright (c) 2014-2017 Alex Forencich</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a:t>
            </a:r>
          </a:p>
          <a:p xmlns:a="http://schemas.openxmlformats.org/drawingml/2006/main">
            <a:r>
              <a:t>all 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a:t>
            </a:r>
          </a:p>
          <a:p xmlns:a="http://schemas.openxmlformats.org/drawingml/2006/main">
            <a:r>
              <a:t>THE 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docs/student_decks/UART_Protocol_Students_Ignytion_VIDEO_v11.pptx</a:t>
            </a:r>
          </a:p>
          <a:p xmlns:a="http://schemas.openxmlformats.org/drawingml/2006/main">
            <a:r>
              <a:t>Created: 2026-10-03</a:t>
            </a:r>
          </a:p>
          <a:p xmlns:a="http://schemas.openxmlformats.org/drawingml/2006/main">
            <a:r>
              <a:t/>
            </a:r>
          </a:p>
          <a:p xmlns:a="http://schemas.openxmlformats.org/drawingml/2006/main">
            <a:r>
              <a:t>The core uses an integer prescale and eight times that many core clocks per bit. Rounding the ideal prescaler to 54 gives the closer result in this example. A small arithmetic error is not a complete compatibility proof: clock tolerances, start-edge uncertainty and sample placement still matter. The actual directed regression sweeps P two through seven; P54 is a calculated classroom configuration, not one of the measured sweep points.</a:t>
            </a:r>
          </a:p>
          <a:p xmlns:a="http://schemas.openxmlformats.org/drawingml/2006/main">
            <a:r>
              <a:t/>
            </a:r>
          </a:p>
          <a:p xmlns:a="http://schemas.openxmlformats.org/drawingml/2006/main">
            <a:r>
              <a:t>Protocol reading: Microchip USART asynchronous tutorial: https://ww1.microchip.com/downloads/en/DeviceDoc/usart.pdf</a:t>
            </a:r>
          </a:p>
          <a:p xmlns:a="http://schemas.openxmlformats.org/drawingml/2006/main">
            <a:r>
              <a:t>Implementation evidence: hw/protocols/uart/01_rtl,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hw/protocols/uart/01_rtl/LICENSE.forencich</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Copyright (c) 2014-2017 Alex Forencich</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a:t>
            </a:r>
          </a:p>
          <a:p xmlns:a="http://schemas.openxmlformats.org/drawingml/2006/main">
            <a:r>
              <a:t>all 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a:t>
            </a:r>
          </a:p>
          <a:p xmlns:a="http://schemas.openxmlformats.org/drawingml/2006/main">
            <a:r>
              <a:t>THE 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docs/student_decks/UART_Protocol_Students_Ignytion_VIDEO_v11.pptx</a:t>
            </a:r>
          </a:p>
          <a:p xmlns:a="http://schemas.openxmlformats.org/drawingml/2006/main">
            <a:r>
              <a:t>Created: 2026-10-03</a:t>
            </a:r>
          </a:p>
          <a:p xmlns:a="http://schemas.openxmlformats.org/drawingml/2006/main">
            <a:r>
              <a:t/>
            </a:r>
          </a:p>
          <a:p xmlns:a="http://schemas.openxmlformats.org/drawingml/2006/main">
            <a:r>
              <a:t>Trace uart_core rx_sync into uart_rx. The asynchronous input can arrive near a clock edge. A synchronizer reduces propagation of metastability, but does not eliminate all risk or replace CDC analysis. Oversampling-related timing logic lives in the upstream receiver. Independent bench stimulus drives real serial bits rather than depositing parallel receive data.</a:t>
            </a:r>
          </a:p>
          <a:p xmlns:a="http://schemas.openxmlformats.org/drawingml/2006/main">
            <a:r>
              <a:t/>
            </a:r>
          </a:p>
          <a:p xmlns:a="http://schemas.openxmlformats.org/drawingml/2006/main">
            <a:r>
              <a:t>Protocol reading: Microchip USART asynchronous tutorial: https://ww1.microchip.com/downloads/en/DeviceDoc/usart.pdf</a:t>
            </a:r>
          </a:p>
          <a:p xmlns:a="http://schemas.openxmlformats.org/drawingml/2006/main">
            <a:r>
              <a:t>Implementation evidence: hw/protocols/uart/01_rtl,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hw/protocols/uart/01_rtl/LICENSE.forencich</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Copyright (c) 2014-2017 Alex Forencich</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a:t>
            </a:r>
          </a:p>
          <a:p xmlns:a="http://schemas.openxmlformats.org/drawingml/2006/main">
            <a:r>
              <a:t>all 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a:t>
            </a:r>
          </a:p>
          <a:p xmlns:a="http://schemas.openxmlformats.org/drawingml/2006/main">
            <a:r>
              <a:t>THE 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docs/student_decks/UART_Protocol_Students_Ignytion_VIDEO_v11.pptx</a:t>
            </a:r>
          </a:p>
          <a:p xmlns:a="http://schemas.openxmlformats.org/drawingml/2006/main">
            <a:r>
              <a:t>Created: 2026-10-03</a:t>
            </a:r>
          </a:p>
          <a:p xmlns:a="http://schemas.openxmlformats.org/drawingml/2006/main">
            <a:r>
              <a:t/>
            </a:r>
          </a:p>
          <a:p xmlns:a="http://schemas.openxmlformats.org/drawingml/2006/main">
            <a:r>
              <a:t>The plotted sample ticks are an ideal teaching schedule, not a statement that this RTL uses a majority vote. START begins at chart time one, so its centre is at one point five. The ticks align to the START, eight data and STOP centres. The local RX implementation uses a counter to wait half a bit to confirm START, then full-bit waits for later samples. Input synchronization adds detection delay. Follow the source excerpt next rather than assuming every UART has the same oversampling implementation.</a:t>
            </a:r>
          </a:p>
          <a:p xmlns:a="http://schemas.openxmlformats.org/drawingml/2006/main">
            <a:r>
              <a:t/>
            </a:r>
          </a:p>
          <a:p xmlns:a="http://schemas.openxmlformats.org/drawingml/2006/main">
            <a:r>
              <a:t>Protocol reading: Microchip USART asynchronous tutorial: https://ww1.microchip.com/downloads/en/DeviceDoc/usart.pdf</a:t>
            </a:r>
          </a:p>
          <a:p xmlns:a="http://schemas.openxmlformats.org/drawingml/2006/main">
            <a:r>
              <a:t>Implementation evidence: hw/protocols/uart/01_rtl,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hw/protocols/uart/01_rtl/LICENSE.forencich</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Copyright (c) 2014-2017 Alex Forencich</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a:t>
            </a:r>
          </a:p>
          <a:p xmlns:a="http://schemas.openxmlformats.org/drawingml/2006/main">
            <a:r>
              <a:t>all 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a:t>
            </a:r>
          </a:p>
          <a:p xmlns:a="http://schemas.openxmlformats.org/drawingml/2006/main">
            <a:r>
              <a:t>THE 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docs/student_decks/UART_Protocol_Students_Ignytion_VIDEO_v11.pptx</a:t>
            </a:r>
          </a:p>
          <a:p xmlns:a="http://schemas.openxmlformats.org/drawingml/2006/main">
            <a:r>
              <a:t>Created: 2026-10-03</a:t>
            </a:r>
          </a:p>
          <a:p xmlns:a="http://schemas.openxmlformats.org/drawingml/2006/main">
            <a:r>
              <a:t/>
            </a:r>
          </a:p>
          <a:p xmlns:a="http://schemas.openxmlformats.org/drawingml/2006/main">
            <a:r>
              <a:t>Read the actual branch rather than describe generic UART majority voting. When the initial candidate START does not remain low until the confirmation point, the receiver clears its bit counter and timer. If the line is still low, it advances to the data phase and loads a full-bit wait. This is a specific digital false-start check, not proof of immunity to every glitch width or analogue noise pattern.</a:t>
            </a:r>
          </a:p>
          <a:p xmlns:a="http://schemas.openxmlformats.org/drawingml/2006/main">
            <a:r>
              <a:t/>
            </a:r>
          </a:p>
          <a:p xmlns:a="http://schemas.openxmlformats.org/drawingml/2006/main">
            <a:r>
              <a:t>Actual source excerpt: hw/protocols/uart/01_rtl/uart_rx.v:117</a:t>
            </a:r>
          </a:p>
          <a:p xmlns:a="http://schemas.openxmlformats.org/drawingml/2006/main">
            <a:r>
              <a:t>Protocol reading: Microchip USART asynchronous tutorial: https://ww1.microchip.com/downloads/en/DeviceDoc/usart.pdf</a:t>
            </a:r>
          </a:p>
          <a:p xmlns:a="http://schemas.openxmlformats.org/drawingml/2006/main">
            <a:r>
              <a:t>Implementation evidence: hw/protocols/uart/01_rtl,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hw/protocols/uart/01_rtl/LICENSE.forencich</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Copyright (c) 2014-2017 Alex Forencich</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a:t>
            </a:r>
          </a:p>
          <a:p xmlns:a="http://schemas.openxmlformats.org/drawingml/2006/main">
            <a:r>
              <a:t>all 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a:t>
            </a:r>
          </a:p>
          <a:p xmlns:a="http://schemas.openxmlformats.org/drawingml/2006/main">
            <a:r>
              <a:t>THE 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docs/student_decks/UART_Protocol_Students_Ignytion_VIDEO_v11.pptx</a:t>
            </a:r>
          </a:p>
          <a:p xmlns:a="http://schemas.openxmlformats.org/drawingml/2006/main">
            <a:r>
              <a:t>Created: 2026-10-03</a:t>
            </a:r>
          </a:p>
          <a:p xmlns:a="http://schemas.openxmlformats.org/drawingml/2006/main">
            <a:r>
              <a:t/>
            </a:r>
          </a:p>
          <a:p xmlns:a="http://schemas.openxmlformats.org/drawingml/2006/main">
            <a:r>
              <a:t>Explain that a receiver does not continuously share phase with the transmitter. A fresh START helps re-establish timing for each frame. Do not promise a universal percentage tolerance because it depends on frame format and receiver implementation. Suggest a future bench sweep over positive and negative mismatch and short noise pulses.</a:t>
            </a:r>
          </a:p>
          <a:p xmlns:a="http://schemas.openxmlformats.org/drawingml/2006/main">
            <a:r>
              <a:t/>
            </a:r>
          </a:p>
          <a:p xmlns:a="http://schemas.openxmlformats.org/drawingml/2006/main">
            <a:r>
              <a:t>Protocol reading: Microchip USART asynchronous tutorial: https://ww1.microchip.com/downloads/en/DeviceDoc/usart.pdf</a:t>
            </a:r>
          </a:p>
          <a:p xmlns:a="http://schemas.openxmlformats.org/drawingml/2006/main">
            <a:r>
              <a:t>Implementation evidence: hw/protocols/uart/01_rtl,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hw/protocols/uart/01_rtl/LICENSE.forencich</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Copyright (c) 2014-2017 Alex Forencich</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a:t>
            </a:r>
          </a:p>
          <a:p xmlns:a="http://schemas.openxmlformats.org/drawingml/2006/main">
            <a:r>
              <a:t>all 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a:t>
            </a:r>
          </a:p>
          <a:p xmlns:a="http://schemas.openxmlformats.org/drawingml/2006/main">
            <a:r>
              <a:t>THE 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docs/student_decks/UART_Protocol_Students_Ignytion_VIDEO_v11.pptx</a:t>
            </a:r>
          </a:p>
          <a:p xmlns:a="http://schemas.openxmlformats.org/drawingml/2006/main">
            <a:r>
              <a:t>Created: 2026-10-03</a:t>
            </a:r>
          </a:p>
          <a:p xmlns:a="http://schemas.openxmlformats.org/drawingml/2006/main">
            <a:r>
              <a:t/>
            </a:r>
          </a:p>
          <a:p xmlns:a="http://schemas.openxmlformats.org/drawingml/2006/main">
            <a:r>
              <a:t>This simplified drift example is a timing model, not a universal two-percent acceptance rule. The receiver re-synchronizes on a new START, but not on every data bit. Long runs without data transitions still need correct local timing. The ideal half-bit margin is reduced by start detection, synchronization, clock error and line distortion. Check a specific receiver data sheet or implementation before declaring an allowed total clock mismatch.</a:t>
            </a:r>
          </a:p>
          <a:p xmlns:a="http://schemas.openxmlformats.org/drawingml/2006/main">
            <a:r>
              <a:t/>
            </a:r>
          </a:p>
          <a:p xmlns:a="http://schemas.openxmlformats.org/drawingml/2006/main">
            <a:r>
              <a:t>Protocol reading: Microchip USART asynchronous tutorial: https://ww1.microchip.com/downloads/en/DeviceDoc/usart.pdf</a:t>
            </a:r>
          </a:p>
          <a:p xmlns:a="http://schemas.openxmlformats.org/drawingml/2006/main">
            <a:r>
              <a:t>Implementation evidence: hw/protocols/uart/01_rtl,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hw/protocols/uart/01_rtl/LICENSE.forencich</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Copyright (c) 2014-2017 Alex Forencich</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a:t>
            </a:r>
          </a:p>
          <a:p xmlns:a="http://schemas.openxmlformats.org/drawingml/2006/main">
            <a:r>
              <a:t>all 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a:t>
            </a:r>
          </a:p>
          <a:p xmlns:a="http://schemas.openxmlformats.org/drawingml/2006/main">
            <a:r>
              <a:t>THE 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docs/student_decks/UART_Protocol_Students_Ignytion_VIDEO_v11.pptx</a:t>
            </a:r>
          </a:p>
          <a:p xmlns:a="http://schemas.openxmlformats.org/drawingml/2006/main">
            <a:r>
              <a:t>Created: 2026-10-03</a:t>
            </a:r>
          </a:p>
          <a:p xmlns:a="http://schemas.openxmlformats.org/drawingml/2006/main">
            <a:r>
              <a:t/>
            </a:r>
          </a:p>
          <a:p xmlns:a="http://schemas.openxmlformats.org/drawingml/2006/main">
            <a:r>
              <a:t>Compare this with the SPI launch-pulse interface. Ready-valid allows a producer to hold a request until accepted. Explain why a one-cycle pulse can lose a byte if ready is low. The selected transmitter does not provide an unbounded queue. Inspect upstream RTL to understand when it can accept another byte.</a:t>
            </a:r>
          </a:p>
          <a:p xmlns:a="http://schemas.openxmlformats.org/drawingml/2006/main">
            <a:r>
              <a:t/>
            </a:r>
          </a:p>
          <a:p xmlns:a="http://schemas.openxmlformats.org/drawingml/2006/main">
            <a:r>
              <a:t>Protocol reading: Microchip USART asynchronous tutorial: https://ww1.microchip.com/downloads/en/DeviceDoc/usart.pdf</a:t>
            </a:r>
          </a:p>
          <a:p xmlns:a="http://schemas.openxmlformats.org/drawingml/2006/main">
            <a:r>
              <a:t>Implementation evidence: hw/protocols/uart/01_rtl,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hw/protocols/uart/01_rtl/LICENSE.forencich</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Copyright (c) 2014-2017 Alex Forencich</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a:t>
            </a:r>
          </a:p>
          <a:p xmlns:a="http://schemas.openxmlformats.org/drawingml/2006/main">
            <a:r>
              <a:t>all 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a:t>
            </a:r>
          </a:p>
          <a:p xmlns:a="http://schemas.openxmlformats.org/drawingml/2006/main">
            <a:r>
              <a:t>THE 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docs/student_decks/UART_Protocol_Students_Ignytion_VIDEO_v11.pptx</a:t>
            </a:r>
          </a:p>
          <a:p xmlns:a="http://schemas.openxmlformats.org/drawingml/2006/main">
            <a:r>
              <a:t>Created: 2026-10-03</a:t>
            </a:r>
          </a:p>
          <a:p xmlns:a="http://schemas.openxmlformats.org/drawingml/2006/main">
            <a:r>
              <a:t/>
            </a:r>
          </a:p>
          <a:p xmlns:a="http://schemas.openxmlformats.org/drawingml/2006/main">
            <a:r>
              <a:t>This ideal transaction concerns the byte-stream interface, not the serial baud clock. The submitted data remains constant through the stall; only valid and ready are shown. At cycle four both are high, so the byte transfers at that sampling edge. UART supports this held-valid contract, unlike the SPI pulse interface in this repository. The next byte may be presented after acceptance, subject to the core ready signal.</a:t>
            </a:r>
          </a:p>
          <a:p xmlns:a="http://schemas.openxmlformats.org/drawingml/2006/main">
            <a:r>
              <a:t/>
            </a:r>
          </a:p>
          <a:p xmlns:a="http://schemas.openxmlformats.org/drawingml/2006/main">
            <a:r>
              <a:t>Protocol reading: Microchip USART asynchronous tutorial: https://ww1.microchip.com/downloads/en/DeviceDoc/usart.pdf</a:t>
            </a:r>
          </a:p>
          <a:p xmlns:a="http://schemas.openxmlformats.org/drawingml/2006/main">
            <a:r>
              <a:t>Implementation evidence: hw/protocols/uart/01_rtl,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hw/protocols/uart/01_rtl/LICENSE.forencich</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Copyright (c) 2014-2017 Alex Forencich</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a:t>
            </a:r>
          </a:p>
          <a:p xmlns:a="http://schemas.openxmlformats.org/drawingml/2006/main">
            <a:r>
              <a:t>all 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a:t>
            </a:r>
          </a:p>
          <a:p xmlns:a="http://schemas.openxmlformats.org/drawingml/2006/main">
            <a:r>
              <a:t>THE 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docs/student_decks/UART_Protocol_Students_Ignytion_VIDEO_v11.pptx</a:t>
            </a:r>
          </a:p>
          <a:p xmlns:a="http://schemas.openxmlformats.org/drawingml/2006/main">
            <a:r>
              <a:t>Created: 2026-10-03</a:t>
            </a:r>
          </a:p>
          <a:p xmlns:a="http://schemas.openxmlformats.org/drawingml/2006/main">
            <a:r>
              <a:t/>
            </a:r>
          </a:p>
          <a:p xmlns:a="http://schemas.openxmlformats.org/drawingml/2006/main">
            <a:r>
              <a:t>The bench holds the receive byte for four cycles while applying backpressure. It asserts valid and data stability. A one-byte holding register is not a FIFO of arbitrary depth. The overrun test isolates a new frame arriving while a previous result is still unconsumed. Explain why software speed and buffering are system concerns.</a:t>
            </a:r>
          </a:p>
          <a:p xmlns:a="http://schemas.openxmlformats.org/drawingml/2006/main">
            <a:r>
              <a:t/>
            </a:r>
          </a:p>
          <a:p xmlns:a="http://schemas.openxmlformats.org/drawingml/2006/main">
            <a:r>
              <a:t>Protocol reading: Microchip USART asynchronous tutorial: https://ww1.microchip.com/downloads/en/DeviceDoc/usart.pdf</a:t>
            </a:r>
          </a:p>
          <a:p xmlns:a="http://schemas.openxmlformats.org/drawingml/2006/main">
            <a:r>
              <a:t>Implementation evidence: hw/protocols/uart/01_rtl,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hw/protocols/uart/01_rtl/LICENSE.forencich</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Copyright (c) 2014-2017 Alex Forencich</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a:t>
            </a:r>
          </a:p>
          <a:p xmlns:a="http://schemas.openxmlformats.org/drawingml/2006/main">
            <a:r>
              <a:t>all 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a:t>
            </a:r>
          </a:p>
          <a:p xmlns:a="http://schemas.openxmlformats.org/drawingml/2006/main">
            <a:r>
              <a:t>THE 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docs/student_decks/UART_Protocol_Students_Ignytion_VIDEO_v11.pptx</a:t>
            </a:r>
          </a:p>
          <a:p xmlns:a="http://schemas.openxmlformats.org/drawingml/2006/main">
            <a:r>
              <a:t>Created: 2026-10-03</a:t>
            </a:r>
          </a:p>
          <a:p xmlns:a="http://schemas.openxmlformats.org/drawingml/2006/main">
            <a:r>
              <a:t/>
            </a:r>
          </a:p>
          <a:p xmlns:a="http://schemas.openxmlformats.org/drawingml/2006/main">
            <a:r>
              <a:t>The source has a one-byte output register rather than an arbitrarily deep FIFO. Backpressure protects a byte only until another frame completes. Read the overwrite/overrun branch in the implementation to see that it can replace the pending value and flag the event. A larger FIFO or external flow control would be another design. The current test exercises a limited ready stall and an isolated overrun; it does not promise lossless indefinite stalls.</a:t>
            </a:r>
          </a:p>
          <a:p xmlns:a="http://schemas.openxmlformats.org/drawingml/2006/main">
            <a:r>
              <a:t/>
            </a:r>
          </a:p>
          <a:p xmlns:a="http://schemas.openxmlformats.org/drawingml/2006/main">
            <a:r>
              <a:t>Protocol reading: Microchip USART asynchronous tutorial: https://ww1.microchip.com/downloads/en/DeviceDoc/usart.pdf</a:t>
            </a:r>
          </a:p>
          <a:p xmlns:a="http://schemas.openxmlformats.org/drawingml/2006/main">
            <a:r>
              <a:t>Implementation evidence: hw/protocols/uart/01_rtl,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hw/protocols/uart/01_rtl/LICENSE.forencich</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Copyright (c) 2014-2017 Alex Forencich</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a:t>
            </a:r>
          </a:p>
          <a:p xmlns:a="http://schemas.openxmlformats.org/drawingml/2006/main">
            <a:r>
              <a:t>all 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a:t>
            </a:r>
          </a:p>
          <a:p xmlns:a="http://schemas.openxmlformats.org/drawingml/2006/main">
            <a:r>
              <a:t>THE 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docs/student_decks/UART_Protocol_Students_Ignytion_VIDEO_v11.pptx</a:t>
            </a:r>
          </a:p>
          <a:p xmlns:a="http://schemas.openxmlformats.org/drawingml/2006/main">
            <a:r>
              <a:t>Created: 2026-10-03</a:t>
            </a:r>
          </a:p>
          <a:p xmlns:a="http://schemas.openxmlformats.org/drawingml/2006/main">
            <a:r>
              <a:t/>
            </a:r>
          </a:p>
          <a:p xmlns:a="http://schemas.openxmlformats.org/drawingml/2006/main">
            <a:r>
              <a:t>The bench counts error pulses to compare expected events. A malformed STOP held low can look like another START and later generate a recovery word. The test explicitly drains recovery output before measuring an isolated overrun. This known behaviour is visible, not a claim of clean break detection or guaranteed recovery under any malformed input.</a:t>
            </a:r>
          </a:p>
          <a:p xmlns:a="http://schemas.openxmlformats.org/drawingml/2006/main">
            <a:r>
              <a:t/>
            </a:r>
          </a:p>
          <a:p xmlns:a="http://schemas.openxmlformats.org/drawingml/2006/main">
            <a:r>
              <a:t>Protocol reading: Microchip USART asynchronous tutorial: https://ww1.microchip.com/downloads/en/DeviceDoc/usart.pdf</a:t>
            </a:r>
          </a:p>
          <a:p xmlns:a="http://schemas.openxmlformats.org/drawingml/2006/main">
            <a:r>
              <a:t>Implementation evidence: hw/protocols/uart/01_rtl,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hw/protocols/uart/01_rtl/LICENSE.forencich</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Copyright (c) 2014-2017 Alex Forencich</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a:t>
            </a:r>
          </a:p>
          <a:p xmlns:a="http://schemas.openxmlformats.org/drawingml/2006/main">
            <a:r>
              <a:t>all 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a:t>
            </a:r>
          </a:p>
          <a:p xmlns:a="http://schemas.openxmlformats.org/drawingml/2006/main">
            <a:r>
              <a:t>THE 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docs/student_decks/UART_Protocol_Students_Ignytion_VIDEO_v11.pptx</a:t>
            </a:r>
          </a:p>
          <a:p xmlns:a="http://schemas.openxmlformats.org/drawingml/2006/main">
            <a:r>
              <a:t>Created: 2026-10-03</a:t>
            </a:r>
          </a:p>
          <a:p xmlns:a="http://schemas.openxmlformats.org/drawingml/2006/main">
            <a:r>
              <a:t/>
            </a:r>
          </a:p>
          <a:p xmlns:a="http://schemas.openxmlformats.org/drawingml/2006/main">
            <a:r>
              <a:t>Compare with the earlier good frame. A framing error checks the expected STOP level; it is not a checksum across the data. A wrong data bit with a valid STOP may go undetected by an 8N1 receiver. Sustained low after malformed STOP can resemble another START in this core, producing later recovery activity. The test drains that recovery before isolating the overrun check.</a:t>
            </a:r>
          </a:p>
          <a:p xmlns:a="http://schemas.openxmlformats.org/drawingml/2006/main">
            <a:r>
              <a:t/>
            </a:r>
          </a:p>
          <a:p xmlns:a="http://schemas.openxmlformats.org/drawingml/2006/main">
            <a:r>
              <a:t>Protocol reading: Microchip USART asynchronous tutorial: https://ww1.microchip.com/downloads/en/DeviceDoc/usart.pdf</a:t>
            </a:r>
          </a:p>
          <a:p xmlns:a="http://schemas.openxmlformats.org/drawingml/2006/main">
            <a:r>
              <a:t>Implementation evidence: hw/protocols/uart/01_rtl,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hw/protocols/uart/01_rtl/LICENSE.forencich</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Copyright (c) 2014-2017 Alex Forencich</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a:t>
            </a:r>
          </a:p>
          <a:p xmlns:a="http://schemas.openxmlformats.org/drawingml/2006/main">
            <a:r>
              <a:t>all 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a:t>
            </a:r>
          </a:p>
          <a:p xmlns:a="http://schemas.openxmlformats.org/drawingml/2006/main">
            <a:r>
              <a:t>THE 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docs/student_decks/UART_Protocol_Students_Ignytion_VIDEO_v11.pptx</a:t>
            </a:r>
          </a:p>
          <a:p xmlns:a="http://schemas.openxmlformats.org/drawingml/2006/main">
            <a:r>
              <a:t>Created: 2026-10-03</a:t>
            </a:r>
          </a:p>
          <a:p xmlns:a="http://schemas.openxmlformats.org/drawingml/2006/main">
            <a:r>
              <a:t/>
            </a:r>
          </a:p>
          <a:p xmlns:a="http://schemas.openxmlformats.org/drawingml/2006/main">
            <a:r>
              <a:t>This source branch belongs to the STOP-sampling stage. A valid STOP writes the newly assembled data register and marks it available. The prior valid state becomes the overrun flag. This means the error reports loss/overwrite risk; it does not automatically queue another byte. Explain nonblocking assignment semantics: the expression sees the prior register values at the clock edge, even though new values are scheduled below.</a:t>
            </a:r>
          </a:p>
          <a:p xmlns:a="http://schemas.openxmlformats.org/drawingml/2006/main">
            <a:r>
              <a:t/>
            </a:r>
          </a:p>
          <a:p xmlns:a="http://schemas.openxmlformats.org/drawingml/2006/main">
            <a:r>
              <a:t>Actual source excerpt: hw/protocols/uart/01_rtl/uart_rx.v:131</a:t>
            </a:r>
          </a:p>
          <a:p xmlns:a="http://schemas.openxmlformats.org/drawingml/2006/main">
            <a:r>
              <a:t>Protocol reading: Microchip USART asynchronous tutorial: https://ww1.microchip.com/downloads/en/DeviceDoc/usart.pdf</a:t>
            </a:r>
          </a:p>
          <a:p xmlns:a="http://schemas.openxmlformats.org/drawingml/2006/main">
            <a:r>
              <a:t>Implementation evidence: hw/protocols/uart/01_rtl,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hw/protocols/uart/01_rtl/LICENSE.forencich</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Copyright (c) 2014-2017 Alex Forencich</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a:t>
            </a:r>
          </a:p>
          <a:p xmlns:a="http://schemas.openxmlformats.org/drawingml/2006/main">
            <a:r>
              <a:t>all 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a:t>
            </a:r>
          </a:p>
          <a:p xmlns:a="http://schemas.openxmlformats.org/drawingml/2006/main">
            <a:r>
              <a:t>THE 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docs/student_decks/UART_Protocol_Students_Ignytion_VIDEO_v11.pptx</a:t>
            </a:r>
          </a:p>
          <a:p xmlns:a="http://schemas.openxmlformats.org/drawingml/2006/main">
            <a:r>
              <a:t>Created: 2026-10-03</a:t>
            </a:r>
          </a:p>
          <a:p xmlns:a="http://schemas.openxmlformats.org/drawingml/2006/main">
            <a:r>
              <a:t/>
            </a:r>
          </a:p>
          <a:p xmlns:a="http://schemas.openxmlformats.org/drawingml/2006/main">
            <a:r>
              <a:t>Synchronous reset requires a running clock to take effect. Reset polarity differs from the default I2C and SPI wrappers. Students should check the module contract rather than assume a universal reset convention. Declaration initializers in upstream code are visible lint warnings. The actual reset path and mapped flops still require inspection.</a:t>
            </a:r>
          </a:p>
          <a:p xmlns:a="http://schemas.openxmlformats.org/drawingml/2006/main">
            <a:r>
              <a:t/>
            </a:r>
          </a:p>
          <a:p xmlns:a="http://schemas.openxmlformats.org/drawingml/2006/main">
            <a:r>
              <a:t>Protocol reading: Microchip USART asynchronous tutorial: https://ww1.microchip.com/downloads/en/DeviceDoc/usart.pdf</a:t>
            </a:r>
          </a:p>
          <a:p xmlns:a="http://schemas.openxmlformats.org/drawingml/2006/main">
            <a:r>
              <a:t>Implementation evidence: hw/protocols/uart/01_rtl,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hw/protocols/uart/01_rtl/LICENSE.forencich</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Copyright (c) 2014-2017 Alex Forencich</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a:t>
            </a:r>
          </a:p>
          <a:p xmlns:a="http://schemas.openxmlformats.org/drawingml/2006/main">
            <a:r>
              <a:t>all 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a:t>
            </a:r>
          </a:p>
          <a:p xmlns:a="http://schemas.openxmlformats.org/drawingml/2006/main">
            <a:r>
              <a:t>THE 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docs/student_decks/UART_Protocol_Students_Ignytion_VIDEO_v11.pptx</a:t>
            </a:r>
          </a:p>
          <a:p xmlns:a="http://schemas.openxmlformats.org/drawingml/2006/main">
            <a:r>
              <a:t>Created: 2026-10-03</a:t>
            </a:r>
          </a:p>
          <a:p xmlns:a="http://schemas.openxmlformats.org/drawingml/2006/main">
            <a:r>
              <a:t/>
            </a:r>
          </a:p>
          <a:p xmlns:a="http://schemas.openxmlformats.org/drawingml/2006/main">
            <a:r>
              <a:t>The two-stage chain reduces propagation of metastability into the logic, but it cannot mathematically guarantee no failures. Its delay affects the start detection and must be considered with the baud interval. The marker guides implementation tools; it does not itself prove CDC correctness. The physical flow still needs proper placement and system integration checks before a reliability claim. A separate counter stage in upstream uart_rx samples this synchronized signal.</a:t>
            </a:r>
          </a:p>
          <a:p xmlns:a="http://schemas.openxmlformats.org/drawingml/2006/main">
            <a:r>
              <a:t/>
            </a:r>
          </a:p>
          <a:p xmlns:a="http://schemas.openxmlformats.org/drawingml/2006/main">
            <a:r>
              <a:t>Actual source excerpt: hw/protocols/uart/01_rtl/uart_core.v:24</a:t>
            </a:r>
          </a:p>
          <a:p xmlns:a="http://schemas.openxmlformats.org/drawingml/2006/main">
            <a:r>
              <a:t>Protocol reading: Microchip USART asynchronous tutorial: https://ww1.microchip.com/downloads/en/DeviceDoc/usart.pdf</a:t>
            </a:r>
          </a:p>
          <a:p xmlns:a="http://schemas.openxmlformats.org/drawingml/2006/main">
            <a:r>
              <a:t>Implementation evidence: hw/protocols/uart/01_rtl,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hw/protocols/uart/01_rtl/LICENSE.forencich</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Copyright (c) 2014-2017 Alex Forencich</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a:t>
            </a:r>
          </a:p>
          <a:p xmlns:a="http://schemas.openxmlformats.org/drawingml/2006/main">
            <a:r>
              <a:t>all 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a:t>
            </a:r>
          </a:p>
          <a:p xmlns:a="http://schemas.openxmlformats.org/drawingml/2006/main">
            <a:r>
              <a:t>THE 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docs/student_decks/UART_Protocol_Students_Ignytion_VIDEO_v11.pptx</a:t>
            </a:r>
          </a:p>
          <a:p xmlns:a="http://schemas.openxmlformats.org/drawingml/2006/main">
            <a:r>
              <a:t>Created: 2026-10-03</a:t>
            </a:r>
          </a:p>
          <a:p xmlns:a="http://schemas.openxmlformats.org/drawingml/2006/main">
            <a:r>
              <a:t/>
            </a:r>
          </a:p>
          <a:p xmlns:a="http://schemas.openxmlformats.org/drawingml/2006/main">
            <a:r>
              <a:t>The data register includes a high bit for the STOP phase alongside the payload. txd becomes low for START while busy becomes high. Later timer expirations shift data bits into the output. Read the enclosing state/ready logic before treating this branch as a standalone handshake formula; upstream ready alternates appropriately around acceptance. No parity generation or alternative word length is enabled by this wrapper.</a:t>
            </a:r>
          </a:p>
          <a:p xmlns:a="http://schemas.openxmlformats.org/drawingml/2006/main">
            <a:r>
              <a:t/>
            </a:r>
          </a:p>
          <a:p xmlns:a="http://schemas.openxmlformats.org/drawingml/2006/main">
            <a:r>
              <a:t>Actual source excerpt: hw/protocols/uart/01_rtl/uart_tx.v:102</a:t>
            </a:r>
          </a:p>
          <a:p xmlns:a="http://schemas.openxmlformats.org/drawingml/2006/main">
            <a:r>
              <a:t>Protocol reading: Microchip USART asynchronous tutorial: https://ww1.microchip.com/downloads/en/DeviceDoc/usart.pdf</a:t>
            </a:r>
          </a:p>
          <a:p xmlns:a="http://schemas.openxmlformats.org/drawingml/2006/main">
            <a:r>
              <a:t>Implementation evidence: hw/protocols/uart/01_rtl,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hw/protocols/uart/01_rtl/LICENSE.forencich</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Copyright (c) 2014-2017 Alex Forencich</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a:t>
            </a:r>
          </a:p>
          <a:p xmlns:a="http://schemas.openxmlformats.org/drawingml/2006/main">
            <a:r>
              <a:t>all 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a:t>
            </a:r>
          </a:p>
          <a:p xmlns:a="http://schemas.openxmlformats.org/drawingml/2006/main">
            <a:r>
              <a:t>THE 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docs/student_decks/UART_Protocol_Students_Ignytion_VIDEO_v11.pptx</a:t>
            </a:r>
          </a:p>
          <a:p xmlns:a="http://schemas.openxmlformats.org/drawingml/2006/main">
            <a:r>
              <a:t>Created: 2026-10-03</a:t>
            </a:r>
          </a:p>
          <a:p xmlns:a="http://schemas.openxmlformats.org/drawingml/2006/main">
            <a:r>
              <a:t/>
            </a:r>
          </a:p>
          <a:p xmlns:a="http://schemas.openxmlformats.org/drawingml/2006/main">
            <a:r>
              <a:t>Avoid simply connecting TX to RX, because loopback can share an error between transmitter and receiver. The local bench independently checks the outgoing frame and provides a separate expected receive pattern. This verifies both directions and exposes bit-order and serial framing errors.</a:t>
            </a:r>
          </a:p>
          <a:p xmlns:a="http://schemas.openxmlformats.org/drawingml/2006/main">
            <a:r>
              <a:t/>
            </a:r>
          </a:p>
          <a:p xmlns:a="http://schemas.openxmlformats.org/drawingml/2006/main">
            <a:r>
              <a:t>Protocol reading: Microchip USART asynchronous tutorial: https://ww1.microchip.com/downloads/en/DeviceDoc/usart.pdf</a:t>
            </a:r>
          </a:p>
          <a:p xmlns:a="http://schemas.openxmlformats.org/drawingml/2006/main">
            <a:r>
              <a:t>Implementation evidence: hw/protocols/uart/01_rtl,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hw/protocols/uart/01_rtl/LICENSE.forencich</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Copyright (c) 2014-2017 Alex Forencich</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a:t>
            </a:r>
          </a:p>
          <a:p xmlns:a="http://schemas.openxmlformats.org/drawingml/2006/main">
            <a:r>
              <a:t>all 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a:t>
            </a:r>
          </a:p>
          <a:p xmlns:a="http://schemas.openxmlformats.org/drawingml/2006/main">
            <a:r>
              <a:t>THE 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docs/student_decks/UART_Protocol_Students_Ignytion_VIDEO_v11.pptx</a:t>
            </a:r>
          </a:p>
          <a:p xmlns:a="http://schemas.openxmlformats.org/drawingml/2006/main">
            <a:r>
              <a:t>Created: 2026-10-03</a:t>
            </a:r>
          </a:p>
          <a:p xmlns:a="http://schemas.openxmlformats.org/drawingml/2006/main">
            <a:r>
              <a:t/>
            </a:r>
          </a:p>
          <a:p xmlns:a="http://schemas.openxmlformats.org/drawingml/2006/main">
            <a:r>
              <a:t>The VCD decoder selected a transmitted 0x53 frame, sampled each data centre, reconstructed 0x53 LSB first, and checked a high STOP. RX has a different concurrent stimulus rather than TX loopback. This proves the plotted digital frame and independent direction of the test. It is not a measured 115200 baud board capture: the fast test configuration is 1.5625 Mbaud. The independently driven RX frame decodes to 0xAC, the complement of TX 0x53; both STOP samples are high.</a:t>
            </a:r>
          </a:p>
          <a:p xmlns:a="http://schemas.openxmlformats.org/drawingml/2006/main">
            <a:r>
              <a:t/>
            </a:r>
          </a:p>
          <a:p xmlns:a="http://schemas.openxmlformats.org/drawingml/2006/main">
            <a:r>
              <a:t>Measured waveform: hw/protocols/uart/02_sim/uart_core.vcd</a:t>
            </a:r>
          </a:p>
          <a:p xmlns:a="http://schemas.openxmlformats.org/drawingml/2006/main">
            <a:r>
              <a:t>VCD SHA256 (run-specific): adbfeb21e2f40fc1017325b344bd8b465fc06fbea7b51137b15223519d00fcec</a:t>
            </a:r>
          </a:p>
          <a:p xmlns:a="http://schemas.openxmlformats.org/drawingml/2006/main">
            <a:r>
              <a:t>TX data 0x53 and independent RX data 0xAC, LSB first, STOP high. Prescale 4, bit time 0.64 us.</a:t>
            </a:r>
          </a:p>
          <a:p xmlns:a="http://schemas.openxmlformats.org/drawingml/2006/main">
            <a:r>
              <a:t>Protocol reading: Microchip USART asynchronous tutorial: https://ww1.microchip.com/downloads/en/DeviceDoc/usart.pdf</a:t>
            </a:r>
          </a:p>
          <a:p xmlns:a="http://schemas.openxmlformats.org/drawingml/2006/main">
            <a:r>
              <a:t>Implementation evidence: hw/protocols/uart/01_rtl,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hw/protocols/uart/01_rtl/LICENSE.forencich</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Copyright (c) 2014-2017 Alex Forencich</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a:t>
            </a:r>
          </a:p>
          <a:p xmlns:a="http://schemas.openxmlformats.org/drawingml/2006/main">
            <a:r>
              <a:t>all 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a:t>
            </a:r>
          </a:p>
          <a:p xmlns:a="http://schemas.openxmlformats.org/drawingml/2006/main">
            <a:r>
              <a:t>THE 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docs/student_decks/UART_Protocol_Students_Ignytion_VIDEO_v11.pptx</a:t>
            </a:r>
          </a:p>
          <a:p xmlns:a="http://schemas.openxmlformats.org/drawingml/2006/main">
            <a:r>
              <a:t>Created: 2026-10-03</a:t>
            </a:r>
          </a:p>
          <a:p xmlns:a="http://schemas.openxmlformats.org/drawingml/2006/main">
            <a:r>
              <a:t/>
            </a:r>
          </a:p>
          <a:p xmlns:a="http://schemas.openxmlformats.org/drawingml/2006/main">
            <a:r>
              <a:t>Evidence lives in hw/protocols/uart/02_sim/test.v and simulation/negative-control logs. Exhaustive byte tests use prescale four; the later divisor sweep uses fixed 96/69 patterns, not every byte at every divisor. The baseline test drains malformed-frame recovery output before measuring overrun. It does not validate every prescaler, break detection, parity, alternate frame formats, noise immunity or external electrical transceivers.</a:t>
            </a:r>
          </a:p>
          <a:p xmlns:a="http://schemas.openxmlformats.org/drawingml/2006/main">
            <a:r>
              <a:t/>
            </a:r>
          </a:p>
          <a:p xmlns:a="http://schemas.openxmlformats.org/drawingml/2006/main">
            <a:r>
              <a:t>Protocol reading: Microchip USART asynchronous tutorial: https://ww1.microchip.com/downloads/en/DeviceDoc/usart.pdf</a:t>
            </a:r>
          </a:p>
          <a:p xmlns:a="http://schemas.openxmlformats.org/drawingml/2006/main">
            <a:r>
              <a:t>Implementation evidence: hw/protocols/uart/01_rtl,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hw/protocols/uart/01_rtl/LICENSE.forencich</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Copyright (c) 2014-2017 Alex Forencich</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a:t>
            </a:r>
          </a:p>
          <a:p xmlns:a="http://schemas.openxmlformats.org/drawingml/2006/main">
            <a:r>
              <a:t>all 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a:t>
            </a:r>
          </a:p>
          <a:p xmlns:a="http://schemas.openxmlformats.org/drawingml/2006/main">
            <a:r>
              <a:t>THE 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docs/student_decks/UART_Protocol_Students_Ignytion_VIDEO_v11.pptx</a:t>
            </a:r>
          </a:p>
          <a:p xmlns:a="http://schemas.openxmlformats.org/drawingml/2006/main">
            <a:r>
              <a:t>Created: 2026-10-03</a:t>
            </a:r>
          </a:p>
          <a:p xmlns:a="http://schemas.openxmlformats.org/drawingml/2006/main">
            <a:r>
              <a:t/>
            </a:r>
          </a:p>
          <a:p xmlns:a="http://schemas.openxmlformats.org/drawingml/2006/main">
            <a:r>
              <a:t>Students answer independently before running the baseline. A waveform decode should name START, each data-bit index and STOP, not just report the final hexadecimal number. Find the prescale expression in source and use actual integer arithmetic. The next slide gives model answers and separates a mathematical P54 example from the tested P2-to-P7 range. Locate normal and injected-failure logs in the existing UART unit.</a:t>
            </a:r>
          </a:p>
          <a:p xmlns:a="http://schemas.openxmlformats.org/drawingml/2006/main">
            <a:r>
              <a:t/>
            </a:r>
          </a:p>
          <a:p xmlns:a="http://schemas.openxmlformats.org/drawingml/2006/main">
            <a:r>
              <a:t>Protocol reading: Microchip USART asynchronous tutorial: https://ww1.microchip.com/downloads/en/DeviceDoc/usart.pdf</a:t>
            </a:r>
          </a:p>
          <a:p xmlns:a="http://schemas.openxmlformats.org/drawingml/2006/main">
            <a:r>
              <a:t>Implementation evidence: hw/protocols/uart/01_rtl,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hw/protocols/uart/01_rtl/LICENSE.forencich</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Copyright (c) 2014-2017 Alex Forencich</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a:t>
            </a:r>
          </a:p>
          <a:p xmlns:a="http://schemas.openxmlformats.org/drawingml/2006/main">
            <a:r>
              <a:t>all 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a:t>
            </a:r>
          </a:p>
          <a:p xmlns:a="http://schemas.openxmlformats.org/drawingml/2006/main">
            <a:r>
              <a:t>THE 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docs/student_decks/UART_Protocol_Students_Ignytion_VIDEO_v11.pptx</a:t>
            </a:r>
          </a:p>
          <a:p xmlns:a="http://schemas.openxmlformats.org/drawingml/2006/main">
            <a:r>
              <a:t>Created: 2026-10-03</a:t>
            </a:r>
          </a:p>
          <a:p xmlns:a="http://schemas.openxmlformats.org/drawingml/2006/main">
            <a:r>
              <a:t/>
            </a:r>
          </a:p>
          <a:p xmlns:a="http://schemas.openxmlformats.org/drawingml/2006/main">
            <a:r>
              <a:t>The prescaler calculation gives 432 core cycles per bit, each 20 nanoseconds, so a bit is 8.64 microseconds and ten bits are 86.4 microseconds. The receive error flags describe different events: malformed framing versus a storage/consumer problem. A valid STOP with corrupted data may raise neither. Neither error flag replaces an application-level checksum or sequence counter.</a:t>
            </a:r>
          </a:p>
          <a:p xmlns:a="http://schemas.openxmlformats.org/drawingml/2006/main">
            <a:r>
              <a:t/>
            </a:r>
          </a:p>
          <a:p xmlns:a="http://schemas.openxmlformats.org/drawingml/2006/main">
            <a:r>
              <a:t>Protocol reading: Microchip USART asynchronous tutorial: https://ww1.microchip.com/downloads/en/DeviceDoc/usart.pdf</a:t>
            </a:r>
          </a:p>
          <a:p xmlns:a="http://schemas.openxmlformats.org/drawingml/2006/main">
            <a:r>
              <a:t>Implementation evidence: hw/protocols/uart/01_rtl,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hw/protocols/uart/01_rtl/LICENSE.forencich</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Copyright (c) 2014-2017 Alex Forencich</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a:t>
            </a:r>
          </a:p>
          <a:p xmlns:a="http://schemas.openxmlformats.org/drawingml/2006/main">
            <a:r>
              <a:t>all 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a:t>
            </a:r>
          </a:p>
          <a:p xmlns:a="http://schemas.openxmlformats.org/drawingml/2006/main">
            <a:r>
              <a:t>THE 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docs/student_decks/UART_Protocol_Students_Ignytion_VIDEO_v11.pptx</a:t>
            </a:r>
          </a:p>
          <a:p xmlns:a="http://schemas.openxmlformats.org/drawingml/2006/main">
            <a:r>
              <a:t>Created: 2026-10-03</a:t>
            </a:r>
          </a:p>
          <a:p xmlns:a="http://schemas.openxmlformats.org/drawingml/2006/main">
            <a:r>
              <a:t/>
            </a:r>
          </a:p>
          <a:p xmlns:a="http://schemas.openxmlformats.org/drawingml/2006/main">
            <a:r>
              <a:t>Contrast UART framing with a complete telemetry packet. UART tells us where a byte begins and ends. An application still needs to define how many bytes make a message and what the message means. Discuss when UART’s simple wiring is useful and when synchronous buses or larger buffers fit better.</a:t>
            </a:r>
          </a:p>
          <a:p xmlns:a="http://schemas.openxmlformats.org/drawingml/2006/main">
            <a:r>
              <a:t/>
            </a:r>
          </a:p>
          <a:p xmlns:a="http://schemas.openxmlformats.org/drawingml/2006/main">
            <a:r>
              <a:t>Protocol reading: Microchip USART asynchronous tutorial: https://ww1.microchip.com/downloads/en/DeviceDoc/usart.pdf</a:t>
            </a:r>
          </a:p>
          <a:p xmlns:a="http://schemas.openxmlformats.org/drawingml/2006/main">
            <a:r>
              <a:t>Implementation evidence: hw/protocols/uart/01_rtl,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hw/protocols/uart/01_rtl/LICENSE.forencich</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Copyright (c) 2014-2017 Alex Forencich</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a:t>
            </a:r>
          </a:p>
          <a:p xmlns:a="http://schemas.openxmlformats.org/drawingml/2006/main">
            <a:r>
              <a:t>all 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a:t>
            </a:r>
          </a:p>
          <a:p xmlns:a="http://schemas.openxmlformats.org/drawingml/2006/main">
            <a:r>
              <a:t>THE 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docs/student_decks/UART_Protocol_Students_Ignytion_VIDEO_v11.pptx</a:t>
            </a:r>
          </a:p>
          <a:p xmlns:a="http://schemas.openxmlformats.org/drawingml/2006/main">
            <a:r>
              <a:t>Created: 2026-10-03</a:t>
            </a:r>
          </a:p>
          <a:p xmlns:a="http://schemas.openxmlformats.org/drawingml/2006/main">
            <a:r>
              <a:t/>
            </a:r>
          </a:p>
          <a:p xmlns:a="http://schemas.openxmlformats.org/drawingml/2006/main">
            <a:r>
              <a:t>Map this table to uart_rx.v rather than assume an unrelated named-state FSM. A pending timer prevents a new sample until the proper interval expires. At count ten the receiver confirms START; at nine through two it shifts in the eight data bits; at one it evaluates STOP. It returns to zero after the frame. START detection initializes a half-bit delay and later data stages initialize full-bit delays. Output buffering and error flags are separate from this serial phase counter.</a:t>
            </a:r>
          </a:p>
          <a:p xmlns:a="http://schemas.openxmlformats.org/drawingml/2006/main">
            <a:r>
              <a:t/>
            </a:r>
          </a:p>
          <a:p xmlns:a="http://schemas.openxmlformats.org/drawingml/2006/main">
            <a:r>
              <a:t>Protocol reading: Microchip USART asynchronous tutorial: https://ww1.microchip.com/downloads/en/DeviceDoc/usart.pdf</a:t>
            </a:r>
          </a:p>
          <a:p xmlns:a="http://schemas.openxmlformats.org/drawingml/2006/main">
            <a:r>
              <a:t>Implementation evidence: hw/protocols/uart/01_rtl,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hw/protocols/uart/01_rtl/LICENSE.forencich</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Copyright (c) 2014-2017 Alex Forencich</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a:t>
            </a:r>
          </a:p>
          <a:p xmlns:a="http://schemas.openxmlformats.org/drawingml/2006/main">
            <a:r>
              <a:t>all 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a:t>
            </a:r>
          </a:p>
          <a:p xmlns:a="http://schemas.openxmlformats.org/drawingml/2006/main">
            <a:r>
              <a:t>THE 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docs/student_decks/UART_Protocol_Students_Ignytion_VIDEO_v11.pptx</a:t>
            </a:r>
          </a:p>
          <a:p xmlns:a="http://schemas.openxmlformats.org/drawingml/2006/main">
            <a:r>
              <a:t>Created: 2026-10-03</a:t>
            </a:r>
          </a:p>
          <a:p xmlns:a="http://schemas.openxmlformats.org/drawingml/2006/main">
            <a:r>
              <a:t/>
            </a:r>
          </a:p>
          <a:p xmlns:a="http://schemas.openxmlformats.org/drawingml/2006/main">
            <a:r>
              <a:t>Start by checking ground and electrical compatibility before changing software baud settings. A consistent wrong byte can indicate the wrong bit order or framing format. Errors that increase with long bursts suggest consumer latency or missing buffering. These are troubleshooting hypotheses, not newly tested board findings. The current proof covers the specified digital regressions and two timing corners, with no external transceiver verification.</a:t>
            </a:r>
          </a:p>
          <a:p xmlns:a="http://schemas.openxmlformats.org/drawingml/2006/main">
            <a:r>
              <a:t/>
            </a:r>
          </a:p>
          <a:p xmlns:a="http://schemas.openxmlformats.org/drawingml/2006/main">
            <a:r>
              <a:t>Protocol reading: Microchip USART asynchronous tutorial: https://ww1.microchip.com/downloads/en/DeviceDoc/usart.pdf</a:t>
            </a:r>
          </a:p>
          <a:p xmlns:a="http://schemas.openxmlformats.org/drawingml/2006/main">
            <a:r>
              <a:t>Implementation evidence: hw/protocols/uart/01_rtl,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hw/protocols/uart/01_rtl/LICENSE.forencich</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Copyright (c) 2014-2017 Alex Forencich</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a:t>
            </a:r>
          </a:p>
          <a:p xmlns:a="http://schemas.openxmlformats.org/drawingml/2006/main">
            <a:r>
              <a:t>all 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a:t>
            </a:r>
          </a:p>
          <a:p xmlns:a="http://schemas.openxmlformats.org/drawingml/2006/main">
            <a:r>
              <a:t>THE 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docs/student_decks/UART_Protocol_Students_Ignytion_VIDEO_v11.pptx</a:t>
            </a:r>
          </a:p>
          <a:p xmlns:a="http://schemas.openxmlformats.org/drawingml/2006/main">
            <a:r>
              <a:t>Created: 2026-10-03</a:t>
            </a:r>
          </a:p>
          <a:p xmlns:a="http://schemas.openxmlformats.org/drawingml/2006/main">
            <a:r>
              <a:t/>
            </a:r>
          </a:p>
          <a:p xmlns:a="http://schemas.openxmlformats.org/drawingml/2006/main">
            <a:r>
              <a:t>Explain why a repository URL alone is insufficient for reproducibility: the branch can change. A commit identifies the chosen source revision. Local wrappers and benches are separate integration work. Igny records tool bindings, while the PDK revision is pinned separately. Source identity does not mean every upstream feature has been validated.</a:t>
            </a:r>
          </a:p>
          <a:p xmlns:a="http://schemas.openxmlformats.org/drawingml/2006/main">
            <a:r>
              <a:t/>
            </a:r>
          </a:p>
          <a:p xmlns:a="http://schemas.openxmlformats.org/drawingml/2006/main">
            <a:r>
              <a:t>Protocol reading: Microchip USART asynchronous tutorial: https://ww1.microchip.com/downloads/en/DeviceDoc/usart.pdf</a:t>
            </a:r>
          </a:p>
          <a:p xmlns:a="http://schemas.openxmlformats.org/drawingml/2006/main">
            <a:r>
              <a:t>Implementation evidence: hw/protocols/uart/01_rtl,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hw/protocols/uart/01_rtl/LICENSE.forencich</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Copyright (c) 2014-2017 Alex Forencich</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a:t>
            </a:r>
          </a:p>
          <a:p xmlns:a="http://schemas.openxmlformats.org/drawingml/2006/main">
            <a:r>
              <a:t>all 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a:t>
            </a:r>
          </a:p>
          <a:p xmlns:a="http://schemas.openxmlformats.org/drawingml/2006/main">
            <a:r>
              <a:t>THE 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docs/student_decks/UART_Protocol_Students_Ignytion_VIDEO_v11.pptx</a:t>
            </a:r>
          </a:p>
          <a:p xmlns:a="http://schemas.openxmlformats.org/drawingml/2006/main">
            <a:r>
              <a:t>Created: 2026-10-03</a:t>
            </a:r>
          </a:p>
          <a:p xmlns:a="http://schemas.openxmlformats.org/drawingml/2006/main">
            <a:r>
              <a:t/>
            </a:r>
          </a:p>
          <a:p xmlns:a="http://schemas.openxmlformats.org/drawingml/2006/main">
            <a:r>
              <a:t>Use the existing unit directory, not a new project folder. After initialization, unset a stale environment override so the workspace selection applies. The unit run script then selects janestreet-uart. If tools are missing, bind or install Icarus, Verilator, Yosys, OpenROAD and klayout-stream. Lock the workspace after changing bindings. Keep the actual SG13G2 PDK available.</a:t>
            </a:r>
          </a:p>
          <a:p xmlns:a="http://schemas.openxmlformats.org/drawingml/2006/main">
            <a:r>
              <a:t/>
            </a:r>
          </a:p>
          <a:p xmlns:a="http://schemas.openxmlformats.org/drawingml/2006/main">
            <a:r>
              <a:t>Protocol reading: Microchip USART asynchronous tutorial: https://ww1.microchip.com/downloads/en/DeviceDoc/usart.pdf</a:t>
            </a:r>
          </a:p>
          <a:p xmlns:a="http://schemas.openxmlformats.org/drawingml/2006/main">
            <a:r>
              <a:t>Implementation evidence: hw/protocols/uart/01_rtl,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hw/protocols/uart/01_rtl/LICENSE.forencich</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Copyright (c) 2014-2017 Alex Forencich</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a:t>
            </a:r>
          </a:p>
          <a:p xmlns:a="http://schemas.openxmlformats.org/drawingml/2006/main">
            <a:r>
              <a:t>all 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a:t>
            </a:r>
          </a:p>
          <a:p xmlns:a="http://schemas.openxmlformats.org/drawingml/2006/main">
            <a:r>
              <a:t>THE 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docs/student_decks/UART_Protocol_Students_Ignytion_VIDEO_v11.pptx</a:t>
            </a:r>
          </a:p>
          <a:p xmlns:a="http://schemas.openxmlformats.org/drawingml/2006/main">
            <a:r>
              <a:t>Created: 2026-10-03</a:t>
            </a:r>
          </a:p>
          <a:p xmlns:a="http://schemas.openxmlformats.org/drawingml/2006/main">
            <a:r>
              <a:t/>
            </a:r>
          </a:p>
          <a:p xmlns:a="http://schemas.openxmlformats.org/drawingml/2006/main">
            <a:r>
              <a:t>Verilator lint can identify widths, unused logic and reset-related warnings. The reference retains upstream warnings instead of claiming warning-free RTL. A simulator exit code or $finish alone is not a PASS. Read the assertion banner, negative-control fatal message and waveform. A deliberately wrong expected byte must fail to demonstrate that comparisons are active.</a:t>
            </a:r>
          </a:p>
          <a:p xmlns:a="http://schemas.openxmlformats.org/drawingml/2006/main">
            <a:r>
              <a:t/>
            </a:r>
          </a:p>
          <a:p xmlns:a="http://schemas.openxmlformats.org/drawingml/2006/main">
            <a:r>
              <a:t>Protocol reading: Microchip USART asynchronous tutorial: https://ww1.microchip.com/downloads/en/DeviceDoc/usart.pdf</a:t>
            </a:r>
          </a:p>
          <a:p xmlns:a="http://schemas.openxmlformats.org/drawingml/2006/main">
            <a:r>
              <a:t>Implementation evidence: hw/protocols/uart/01_rtl,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hw/protocols/uart/01_rtl/LICENSE.forencich</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Copyright (c) 2014-2017 Alex Forencich</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a:t>
            </a:r>
          </a:p>
          <a:p xmlns:a="http://schemas.openxmlformats.org/drawingml/2006/main">
            <a:r>
              <a:t>all 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a:t>
            </a:r>
          </a:p>
          <a:p xmlns:a="http://schemas.openxmlformats.org/drawingml/2006/main">
            <a:r>
              <a:t>THE 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docs/student_decks/UART_Protocol_Students_Ignytion_VIDEO_v11.pptx</a:t>
            </a:r>
          </a:p>
          <a:p xmlns:a="http://schemas.openxmlformats.org/drawingml/2006/main">
            <a:r>
              <a:t>Created: 2026-10-03</a:t>
            </a:r>
          </a:p>
          <a:p xmlns:a="http://schemas.openxmlformats.org/drawingml/2006/main">
            <a:r>
              <a:t/>
            </a:r>
          </a:p>
          <a:p xmlns:a="http://schemas.openxmlformats.org/drawingml/2006/main">
            <a:r>
              <a:t>Yosys elaborates, optimizes and maps combinational/sequential logic using Liberty timing data. Cell counts exclude scope metadata and differ from physical counts that include fillers and buffers. The flow uses hilomap for SG13G2 tie-high and tie-low cells. A zero unresolved-cell report and no latch cells are separate checks from functional correctness.</a:t>
            </a:r>
          </a:p>
          <a:p xmlns:a="http://schemas.openxmlformats.org/drawingml/2006/main">
            <a:r>
              <a:t/>
            </a:r>
          </a:p>
          <a:p xmlns:a="http://schemas.openxmlformats.org/drawingml/2006/main">
            <a:r>
              <a:t>Protocol reading: Microchip USART asynchronous tutorial: https://ww1.microchip.com/downloads/en/DeviceDoc/usart.pdf</a:t>
            </a:r>
          </a:p>
          <a:p xmlns:a="http://schemas.openxmlformats.org/drawingml/2006/main">
            <a:r>
              <a:t>Implementation evidence: hw/protocols/uart/01_rtl,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hw/protocols/uart/01_rtl/LICENSE.forencich</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Copyright (c) 2014-2017 Alex Forencich</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a:t>
            </a:r>
          </a:p>
          <a:p xmlns:a="http://schemas.openxmlformats.org/drawingml/2006/main">
            <a:r>
              <a:t>all 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a:t>
            </a:r>
          </a:p>
          <a:p xmlns:a="http://schemas.openxmlformats.org/drawingml/2006/main">
            <a:r>
              <a:t>THE 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docs/student_decks/UART_Protocol_Students_Ignytion_VIDEO_v11.pptx</a:t>
            </a:r>
          </a:p>
          <a:p xmlns:a="http://schemas.openxmlformats.org/drawingml/2006/main">
            <a:r>
              <a:t>Created: 2026-10-03</a:t>
            </a:r>
          </a:p>
          <a:p xmlns:a="http://schemas.openxmlformats.org/drawingml/2006/main">
            <a:r>
              <a:t/>
            </a:r>
          </a:p>
          <a:p xmlns:a="http://schemas.openxmlformats.org/drawingml/2006/main">
            <a:r>
              <a:t>The die area is 90000 square micrometres, derived from DEF units and DIEAREA. This rectangle is a reference block, not a Tiny Tapeout tile allocation. CTS manages clock latency, skew and electrical loading. Hold repair may add delay cells. The UART experiment exposed a real root fanout violation, showing why successful execution alone does not establish closure.</a:t>
            </a:r>
          </a:p>
          <a:p xmlns:a="http://schemas.openxmlformats.org/drawingml/2006/main">
            <a:r>
              <a:t/>
            </a:r>
          </a:p>
          <a:p xmlns:a="http://schemas.openxmlformats.org/drawingml/2006/main">
            <a:r>
              <a:t>Protocol reading: Microchip USART asynchronous tutorial: https://ww1.microchip.com/downloads/en/DeviceDoc/usart.pdf</a:t>
            </a:r>
          </a:p>
          <a:p xmlns:a="http://schemas.openxmlformats.org/drawingml/2006/main">
            <a:r>
              <a:t>Implementation evidence: hw/protocols/uart/01_rtl,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hw/protocols/uart/01_rtl/LICENSE.forencich</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Copyright (c) 2014-2017 Alex Forencich</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a:t>
            </a:r>
          </a:p>
          <a:p xmlns:a="http://schemas.openxmlformats.org/drawingml/2006/main">
            <a:r>
              <a:t>all 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a:t>
            </a:r>
          </a:p>
          <a:p xmlns:a="http://schemas.openxmlformats.org/drawingml/2006/main">
            <a:r>
              <a:t>THE 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docs/student_decks/UART_Protocol_Students_Ignytion_VIDEO_v11.pptx</a:t>
            </a:r>
          </a:p>
          <a:p xmlns:a="http://schemas.openxmlformats.org/drawingml/2006/main">
            <a:r>
              <a:t>Created: 2026-10-03</a:t>
            </a:r>
          </a:p>
          <a:p xmlns:a="http://schemas.openxmlformats.org/drawingml/2006/main">
            <a:r>
              <a:t/>
            </a:r>
          </a:p>
          <a:p xmlns:a="http://schemas.openxmlformats.org/drawingml/2006/main">
            <a:r>
              <a:t>Explain setup as meeting a capture deadline and hold as avoiding an excessively early change. Positive slack means the analyzed constraint has margin. I/O delays and clock uncertainty are assumed reference budgets. Two passing corners do not establish all process, voltage, temperature and RC combinations. Router DRC checks a subset of geometry rules, not foundry signoff.</a:t>
            </a:r>
          </a:p>
          <a:p xmlns:a="http://schemas.openxmlformats.org/drawingml/2006/main">
            <a:r>
              <a:t/>
            </a:r>
          </a:p>
          <a:p xmlns:a="http://schemas.openxmlformats.org/drawingml/2006/main">
            <a:r>
              <a:t>Protocol reading: Microchip USART asynchronous tutorial: https://ww1.microchip.com/downloads/en/DeviceDoc/usart.pdf</a:t>
            </a:r>
          </a:p>
          <a:p xmlns:a="http://schemas.openxmlformats.org/drawingml/2006/main">
            <a:r>
              <a:t>Implementation evidence: hw/protocols/uart/01_rtl,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hw/protocols/uart/01_rtl/LICENSE.forencich</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Copyright (c) 2014-2017 Alex Forencich</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a:t>
            </a:r>
          </a:p>
          <a:p xmlns:a="http://schemas.openxmlformats.org/drawingml/2006/main">
            <a:r>
              <a:t>all 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a:t>
            </a:r>
          </a:p>
          <a:p xmlns:a="http://schemas.openxmlformats.org/drawingml/2006/main">
            <a:r>
              <a:t>THE 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docs/student_decks/UART_Protocol_Students_Ignytion_VIDEO_v11.pptx</a:t>
            </a:r>
          </a:p>
          <a:p xmlns:a="http://schemas.openxmlformats.org/drawingml/2006/main">
            <a:r>
              <a:t>Created: 2026-10-03</a:t>
            </a:r>
          </a:p>
          <a:p xmlns:a="http://schemas.openxmlformats.org/drawingml/2006/main">
            <a:r>
              <a:t/>
            </a:r>
          </a:p>
          <a:p xmlns:a="http://schemas.openxmlformats.org/drawingml/2006/main">
            <a:r>
              <a:t>klayout-stream strm2gds combines routed DEF, technology/cell LEF and actual standard-cell GDS using the PDK layer map. The independent binary reader checks valid records, resolved references and exact standard-cell placement/orientation counts. Many instances are filler cells, so this number is not the synthesized logic-cell count. Raw hashes are run-specific because GDS contains timestamps.</a:t>
            </a:r>
          </a:p>
          <a:p xmlns:a="http://schemas.openxmlformats.org/drawingml/2006/main">
            <a:r>
              <a:t/>
            </a:r>
          </a:p>
          <a:p xmlns:a="http://schemas.openxmlformats.org/drawingml/2006/main">
            <a:r>
              <a:t>Protocol reading: Microchip USART asynchronous tutorial: https://ww1.microchip.com/downloads/en/DeviceDoc/usart.pdf</a:t>
            </a:r>
          </a:p>
          <a:p xmlns:a="http://schemas.openxmlformats.org/drawingml/2006/main">
            <a:r>
              <a:t>Implementation evidence: hw/protocols/uart/01_rtl,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hw/protocols/uart/01_rtl/LICENSE.forencich</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Copyright (c) 2014-2017 Alex Forencich</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a:t>
            </a:r>
          </a:p>
          <a:p xmlns:a="http://schemas.openxmlformats.org/drawingml/2006/main">
            <a:r>
              <a:t>all 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a:t>
            </a:r>
          </a:p>
          <a:p xmlns:a="http://schemas.openxmlformats.org/drawingml/2006/main">
            <a:r>
              <a:t>THE 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docs/student_decks/UART_Protocol_Students_Ignytion_VIDEO_v11.pptx</a:t>
            </a:r>
          </a:p>
          <a:p xmlns:a="http://schemas.openxmlformats.org/drawingml/2006/main">
            <a:r>
              <a:t>Created: 2026-10-03</a:t>
            </a:r>
          </a:p>
          <a:p xmlns:a="http://schemas.openxmlformats.org/drawingml/2006/main">
            <a:r>
              <a:t/>
            </a:r>
          </a:p>
          <a:p xmlns:a="http://schemas.openxmlformats.org/drawingml/2006/main">
            <a:r>
              <a:t>Distinguish the achieved student reference from a manufacturable submission. Structural GDS comparison is not electrical equivalence. Router-rule DRC is not a foundry deck. The current fixed-function SG13G2 blocks do not satisfy the competition’s reprogrammable general-purpose emulator requirement or process/template requirement. No tapeout-ready claim is justified.</a:t>
            </a:r>
          </a:p>
          <a:p xmlns:a="http://schemas.openxmlformats.org/drawingml/2006/main">
            <a:r>
              <a:t/>
            </a:r>
          </a:p>
          <a:p xmlns:a="http://schemas.openxmlformats.org/drawingml/2006/main">
            <a:r>
              <a:t>Protocol reading: Microchip USART asynchronous tutorial: https://ww1.microchip.com/downloads/en/DeviceDoc/usart.pdf</a:t>
            </a:r>
          </a:p>
          <a:p xmlns:a="http://schemas.openxmlformats.org/drawingml/2006/main">
            <a:r>
              <a:t>Implementation evidence: hw/protocols/uart/01_rtl,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hw/protocols/uart/01_rtl/LICENSE.forencich</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Copyright (c) 2014-2017 Alex Forencich</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a:t>
            </a:r>
          </a:p>
          <a:p xmlns:a="http://schemas.openxmlformats.org/drawingml/2006/main">
            <a:r>
              <a:t>all 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a:t>
            </a:r>
          </a:p>
          <a:p xmlns:a="http://schemas.openxmlformats.org/drawingml/2006/main">
            <a:r>
              <a:t>THE 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docs/student_decks/UART_Protocol_Students_Ignytion_VIDEO_v11.pptx</a:t>
            </a:r>
          </a:p>
          <a:p xmlns:a="http://schemas.openxmlformats.org/drawingml/2006/main">
            <a:r>
              <a:t>Created: 2026-10-03</a:t>
            </a:r>
          </a:p>
          <a:p xmlns:a="http://schemas.openxmlformats.org/drawingml/2006/main">
            <a:r>
              <a:t/>
            </a:r>
          </a:p>
          <a:p xmlns:a="http://schemas.openxmlformats.org/drawingml/2006/main">
            <a:r>
              <a:t>Ask students to write a prediction before simulation. Keep changed expectations in a separate temporary exercise branch so the baseline remains reproducible. Have them explain why the negative control is evidence about the bench rather than a defect in the DUT. Then read exact startpoint, endpoint, clock path and data arrival time from the reports. Students should state the limitations of each artifact.</a:t>
            </a:r>
          </a:p>
          <a:p xmlns:a="http://schemas.openxmlformats.org/drawingml/2006/main">
            <a:r>
              <a:t/>
            </a:r>
          </a:p>
          <a:p xmlns:a="http://schemas.openxmlformats.org/drawingml/2006/main">
            <a:r>
              <a:t>Protocol reading: Microchip USART asynchronous tutorial: https://ww1.microchip.com/downloads/en/DeviceDoc/usart.pdf</a:t>
            </a:r>
          </a:p>
          <a:p xmlns:a="http://schemas.openxmlformats.org/drawingml/2006/main">
            <a:r>
              <a:t>Implementation evidence: hw/protocols/uart/01_rtl,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hw/protocols/uart/01_rtl/LICENSE.forencich</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Copyright (c) 2014-2017 Alex Forencich</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a:t>
            </a:r>
          </a:p>
          <a:p xmlns:a="http://schemas.openxmlformats.org/drawingml/2006/main">
            <a:r>
              <a:t>all 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a:t>
            </a:r>
          </a:p>
          <a:p xmlns:a="http://schemas.openxmlformats.org/drawingml/2006/main">
            <a:r>
              <a:t>THE 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docs/student_decks/UART_Protocol_Students_Ignytion_VIDEO_v11.pptx</a:t>
            </a:r>
          </a:p>
          <a:p xmlns:a="http://schemas.openxmlformats.org/drawingml/2006/main">
            <a:r>
              <a:t>Created: 2026-10-03</a:t>
            </a:r>
          </a:p>
          <a:p xmlns:a="http://schemas.openxmlformats.org/drawingml/2006/main">
            <a:r>
              <a:t/>
            </a:r>
          </a:p>
          <a:p xmlns:a="http://schemas.openxmlformats.org/drawingml/2006/main">
            <a:r>
              <a:t>Answers depend on the protocol: I2C uses START and addressed phases, SPI uses select plus the agreed clock edges, and UART uses START plus local baud timing. Revisit each byte-order rule. Reading: Microchip USART asynchronous tutorial: https://ww1.microchip.com/downloads/en/DeviceDoc/usart.pdf</a:t>
            </a:r>
          </a:p>
          <a:p xmlns:a="http://schemas.openxmlformats.org/drawingml/2006/main">
            <a:r>
              <a:t>Upstream: alexforencich/verilog-uart at 1b867e53af738e4a8bc7c839ca2f1c07f40382dc</a:t>
            </a:r>
          </a:p>
          <a:p xmlns:a="http://schemas.openxmlformats.org/drawingml/2006/main">
            <a:r>
              <a:t>Flow: OpenROAD documentation: https://openroad.readthedocs.io/en/latest/ ; local flow_config.tcl, run_flow.sh and numbered stage scripts.</a:t>
            </a:r>
          </a:p>
          <a:p xmlns:a="http://schemas.openxmlformats.org/drawingml/2006/main">
            <a:r>
              <a:t>Competition: Jane Street official requirements: https://blog.janestreet.com/protocol-emulator-asic-competition/</a:t>
            </a:r>
          </a:p>
          <a:p xmlns:a="http://schemas.openxmlformats.org/drawingml/2006/main">
            <a:r>
              <a:t/>
            </a:r>
          </a:p>
          <a:p xmlns:a="http://schemas.openxmlformats.org/drawingml/2006/main">
            <a:r>
              <a:t>Protocol reading: Microchip USART asynchronous tutorial: https://ww1.microchip.com/downloads/en/DeviceDoc/usart.pdf</a:t>
            </a:r>
          </a:p>
          <a:p xmlns:a="http://schemas.openxmlformats.org/drawingml/2006/main">
            <a:r>
              <a:t>Implementation evidence: hw/protocols/uart/01_rtl,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hw/protocols/uart/01_rtl/LICENSE.forencich</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Copyright (c) 2014-2017 Alex Forencich</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a:t>
            </a:r>
          </a:p>
          <a:p xmlns:a="http://schemas.openxmlformats.org/drawingml/2006/main">
            <a:r>
              <a:t>all 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a:t>
            </a:r>
          </a:p>
          <a:p xmlns:a="http://schemas.openxmlformats.org/drawingml/2006/main">
            <a:r>
              <a:t>THE 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c1c81ca5dde446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dd5e7c7fbd44ff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db68130fd7c4c2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8d7221d8a414f9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7926c5118b6437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2a9c7ed92eb49db"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f7dec60b25514328"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6f3379f1ad594b34"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fe432b6403ac4d87"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90e5c5215a964266"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8f80dbb4dbe14493"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82B6AFF-7B1B-4600-8028-3A9013DD32DD}"/>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49B746B9-01A0-4DFA-9229-1C61C1BD0F5B}"/>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5B0600DC-FC99-49A0-AC0A-C24C2E33203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2752520E-EBE7-400C-8EA7-26EFAD5BA65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2617D9AB-B935-46F9-BBFF-417B69CDE91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3F008E1-16FA-4879-8D9F-0A3772B9517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540FEB09-9AA7-4D42-9602-7B30E9BB8298}"/>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C376CF98-6D91-46DF-A2F1-DE4AFFE8567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3358164D-9D13-4EB7-AB25-8A57F717C39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F90D10F-501F-41F2-A443-A63F3CACDA6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1F4343D-A457-46AD-991E-5EBD4AC280B6}"/>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20B9E893-ED69-4E03-851B-059734A1B066}"/>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98A87FF3-5D85-4B0A-8A14-1DAEF957138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9324A9CC-5D2E-44D7-9F9E-CD436374254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CC57328-D85F-4AE0-961D-FA1CDE3D96A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3EC2C7D-36A9-45BC-858E-2EA8B116AA9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A8893900-22E1-4632-AA67-D5F239E2592B}"/>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F93C54DE-E230-4DAE-9322-55010F729363}"/>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EC138DE8-C773-42D6-A6A3-EC112655725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BAF01462-0029-4A92-8D53-AD66B0FA32F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19D4C1D6-32B4-4BE2-B3CF-193A2C3FD07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57A5DCE-CF79-42BA-B15A-7E266937C1F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D872C885-B74D-4A5B-81DC-E5097E994E86}"/>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A4E5F37E-44AF-4242-B08B-A9753190A122}"/>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58CDACBF-778E-4AC4-8CB0-E2C78777747A}"/>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DB349848-7B61-456D-9B30-E4DE5C874AB4}"/>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81BFDC4D-25E6-4448-8E85-669E0316A81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8" name="Footer Placeholder 7">
            <a:extLst xmlns:a="http://schemas.openxmlformats.org/drawingml/2006/main">
              <a:ext uri="{FF2B5EF4-FFF2-40B4-BE49-F238E27FC236}">
                <a16:creationId xmlns:a16="http://schemas.microsoft.com/office/drawing/2014/main" id="{8CACE669-AC03-4507-BABD-92294E99AB6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3CD34057-7996-478C-AA8D-B06A16DA5F2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78EE011-ACCC-4BBF-92D9-F1D7057883F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D1C985F5-48FF-4B72-943D-2B0F6FD19C3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4" name="Footer Placeholder 3">
            <a:extLst xmlns:a="http://schemas.openxmlformats.org/drawingml/2006/main">
              <a:ext uri="{FF2B5EF4-FFF2-40B4-BE49-F238E27FC236}">
                <a16:creationId xmlns:a16="http://schemas.microsoft.com/office/drawing/2014/main" id="{650C198E-5BE1-4982-8E8F-D36F164C005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0AEEF2DD-3277-4F05-BD1A-AE73FF56009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C64051E0-65F8-449F-9B74-718C771D71B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3" name="Footer Placeholder 2">
            <a:extLst xmlns:a="http://schemas.openxmlformats.org/drawingml/2006/main">
              <a:ext uri="{FF2B5EF4-FFF2-40B4-BE49-F238E27FC236}">
                <a16:creationId xmlns:a16="http://schemas.microsoft.com/office/drawing/2014/main" id="{52E8C90D-7A43-4566-B79B-98B5EF85244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AEAC2A9A-2AB4-4FDD-AB1C-6F18FFD6C44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3A5A1AE-F292-4CD7-A416-89E12B9E7E90}"/>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F8324495-CAAF-4865-8A19-992BDBD03775}"/>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F13EEEBB-3E31-40EC-B40E-6685405D46EB}"/>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11E5A259-8875-4E26-B16D-1C593724C81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68AB8E38-0489-4E1C-8320-A29E2D57554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DEB717C6-1FD8-4508-B94F-50CF651A302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EE26F30-E8A1-4137-A60C-040ABC7D9D09}"/>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132F5D11-FF1E-4298-A9A5-A46EC3FB775E}"/>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D1C395AD-BAFE-426E-BA1D-336B2B871F4B}"/>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541F9150-933E-4741-8A56-5C49C6953C9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CA7BBBDA-2F0A-46FA-A941-9522E49CCDC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375EAE34-9E28-48D5-BD50-FD0BDE622DE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1A6FEDE-3788-473F-987C-25F77109165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C5B95C7A-2D72-4C25-BB99-69DE150ACF3C}"/>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FDFEB1CE-9B67-4716-B7F1-C43AED37DDA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92FDEA75-4EB2-40B2-8046-02ED28972EC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DA3962DC-FCD4-4975-B812-984F9859E90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267F3826-C3CD-4497-8700-9BB2BC5B9761}"/>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57886779-9C98-4D0F-BA1B-4F0D292B8A5E}"/>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5BB37034-6C66-4594-B1AF-E775864076F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596843E6-7EC6-44B8-A8EE-FD31ED5BE0E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35026167-2F29-424B-99A7-8C5BCBE3558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5cb149152bd4bc2" /><Relationship Type="http://schemas.openxmlformats.org/officeDocument/2006/relationships/slideLayout" Target="/ppt/slideLayouts/slideLayout1.xml" Id="R056f70e50a1449ea" /><Relationship Type="http://schemas.openxmlformats.org/officeDocument/2006/relationships/slideLayout" Target="/ppt/slideLayouts/slideLayout2.xml" Id="R74ee29e33d8641a1" /><Relationship Type="http://schemas.openxmlformats.org/officeDocument/2006/relationships/slideLayout" Target="/ppt/slideLayouts/slideLayout3.xml" Id="R412dd9eb28c04db8" /><Relationship Type="http://schemas.openxmlformats.org/officeDocument/2006/relationships/slideLayout" Target="/ppt/slideLayouts/slideLayout4.xml" Id="R05c80442ec2e40ea" /><Relationship Type="http://schemas.openxmlformats.org/officeDocument/2006/relationships/slideLayout" Target="/ppt/slideLayouts/slideLayout5.xml" Id="Ra654cfa302c04ad9" /><Relationship Type="http://schemas.openxmlformats.org/officeDocument/2006/relationships/slideLayout" Target="/ppt/slideLayouts/slideLayout6.xml" Id="R421d61b170d74242" /><Relationship Type="http://schemas.openxmlformats.org/officeDocument/2006/relationships/slideLayout" Target="/ppt/slideLayouts/slideLayout7.xml" Id="Rb64e4b68516d4f8f" /><Relationship Type="http://schemas.openxmlformats.org/officeDocument/2006/relationships/slideLayout" Target="/ppt/slideLayouts/slideLayout8.xml" Id="R3686c135646440ea" /><Relationship Type="http://schemas.openxmlformats.org/officeDocument/2006/relationships/slideLayout" Target="/ppt/slideLayouts/slideLayout9.xml" Id="R09010200d4df4b0b" /><Relationship Type="http://schemas.openxmlformats.org/officeDocument/2006/relationships/slideLayout" Target="/ppt/slideLayouts/slideLayout10.xml" Id="R3c08c76e389a4d50" /><Relationship Type="http://schemas.openxmlformats.org/officeDocument/2006/relationships/slideLayout" Target="/ppt/slideLayouts/slideLayout11.xml" Id="R2edae8f78b46459f"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CBB488BA-EA7C-4C71-9E2C-7999DE4F955F}"/>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5E89B76B-CE17-4ABC-A743-B5F1DAA428FB}"/>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8F0654AA-9C57-4651-A7C4-22DBFFBB3842}"/>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C2A9C01B-4A17-442B-90F2-2F58321E0B09}"/>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3CFCA396-967C-4534-BEF0-2E62846182A7}"/>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56f70e50a1449ea"/>
    <p:sldLayoutId xmlns:r="http://schemas.openxmlformats.org/officeDocument/2006/relationships" id="2147483650" r:id="R74ee29e33d8641a1"/>
    <p:sldLayoutId xmlns:r="http://schemas.openxmlformats.org/officeDocument/2006/relationships" id="2147483651" r:id="R412dd9eb28c04db8"/>
    <p:sldLayoutId xmlns:r="http://schemas.openxmlformats.org/officeDocument/2006/relationships" id="2147483652" r:id="R05c80442ec2e40ea"/>
    <p:sldLayoutId xmlns:r="http://schemas.openxmlformats.org/officeDocument/2006/relationships" id="2147483653" r:id="Ra654cfa302c04ad9"/>
    <p:sldLayoutId xmlns:r="http://schemas.openxmlformats.org/officeDocument/2006/relationships" id="2147483654" r:id="R421d61b170d74242"/>
    <p:sldLayoutId xmlns:r="http://schemas.openxmlformats.org/officeDocument/2006/relationships" id="2147483655" r:id="Rb64e4b68516d4f8f"/>
    <p:sldLayoutId xmlns:r="http://schemas.openxmlformats.org/officeDocument/2006/relationships" id="2147483656" r:id="R3686c135646440ea"/>
    <p:sldLayoutId xmlns:r="http://schemas.openxmlformats.org/officeDocument/2006/relationships" id="2147483657" r:id="R09010200d4df4b0b"/>
    <p:sldLayoutId xmlns:r="http://schemas.openxmlformats.org/officeDocument/2006/relationships" id="2147483658" r:id="R3c08c76e389a4d50"/>
    <p:sldLayoutId xmlns:r="http://schemas.openxmlformats.org/officeDocument/2006/relationships" id="2147483659" r:id="R2edae8f78b46459f"/>
  </p:sldLayoutIdLst>
  <p:txStyles>
    <p:titleStyle>
      <a:lvl1pPr xmlns:a="http://schemas.openxmlformats.org/drawingml/2006/main" algn="ctr" defTabSz="4572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4572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4572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4572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4572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4572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277e8373f4e4fe6" /><Relationship Type="http://schemas.openxmlformats.org/officeDocument/2006/relationships/notesSlide" Target="/ppt/notesSlides/notesSlide1.xml" Id="R013287b4cc12499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26e44c8ffda4ba2" /><Relationship Type="http://schemas.openxmlformats.org/officeDocument/2006/relationships/notesSlide" Target="/ppt/notesSlides/notesSlide2.xml" Id="Radbe10e26002446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e4a2787b8ee45d1" /><Relationship Type="http://schemas.openxmlformats.org/officeDocument/2006/relationships/notesSlide" Target="/ppt/notesSlides/notesSlide3.xml" Id="R61058119dd354d5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7e0954bb0d04ec6" /><Relationship Type="http://schemas.openxmlformats.org/officeDocument/2006/relationships/notesSlide" Target="/ppt/notesSlides/notesSlide4.xml" Id="R0b47c2c2b28c408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d64a0fe969548c5" /><Relationship Type="http://schemas.openxmlformats.org/officeDocument/2006/relationships/notesSlide" Target="/ppt/notesSlides/notesSlide5.xml" Id="R5ae3223ef5a948f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3ff3001806e49bd" /><Relationship Type="http://schemas.openxmlformats.org/officeDocument/2006/relationships/notesSlide" Target="/ppt/notesSlides/notesSlide6.xml" Id="R23079406f4a44c1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c3db777916442df" /><Relationship Type="http://schemas.openxmlformats.org/officeDocument/2006/relationships/chart" Target="/ppt/slides/charts/chart1.xml" Id="R6dc7bdbd4abf4760" /><Relationship Type="http://schemas.openxmlformats.org/officeDocument/2006/relationships/notesSlide" Target="/ppt/notesSlides/notesSlide7.xml" Id="R3e64bce29401459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612c69f7b064e9f" /><Relationship Type="http://schemas.openxmlformats.org/officeDocument/2006/relationships/notesSlide" Target="/ppt/notesSlides/notesSlide8.xml" Id="Rb8065323b1ed45a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65930f616e04012" /><Relationship Type="http://schemas.openxmlformats.org/officeDocument/2006/relationships/notesSlide" Target="/ppt/notesSlides/notesSlide9.xml" Id="R8478e77362fe423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fd19288f2b44f11" /><Relationship Type="http://schemas.openxmlformats.org/officeDocument/2006/relationships/notesSlide" Target="/ppt/notesSlides/notesSlide10.xml" Id="R28a14eb71be7414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0f2f09d1c8c4fa9" /><Relationship Type="http://schemas.openxmlformats.org/officeDocument/2006/relationships/notesSlide" Target="/ppt/notesSlides/notesSlide11.xml" Id="R0b02ac3c5e874ed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09285741088405c" /><Relationship Type="http://schemas.openxmlformats.org/officeDocument/2006/relationships/notesSlide" Target="/ppt/notesSlides/notesSlide12.xml" Id="R29ae759e2ac046d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feec757c7594e20" /><Relationship Type="http://schemas.openxmlformats.org/officeDocument/2006/relationships/chart" Target="/ppt/slides/charts/chart2.xml" Id="Rcd78be925a614141" /><Relationship Type="http://schemas.openxmlformats.org/officeDocument/2006/relationships/chart" Target="/ppt/slides/charts/chart3.xml" Id="R357ba4d2138d42c2" /><Relationship Type="http://schemas.openxmlformats.org/officeDocument/2006/relationships/notesSlide" Target="/ppt/notesSlides/notesSlide13.xml" Id="R32dad9765a33474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858bba768fa4a0a" /><Relationship Type="http://schemas.openxmlformats.org/officeDocument/2006/relationships/notesSlide" Target="/ppt/notesSlides/notesSlide14.xml" Id="Ra19da3ac00004d3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2fae0723e8a4cfd" /><Relationship Type="http://schemas.openxmlformats.org/officeDocument/2006/relationships/notesSlide" Target="/ppt/notesSlides/notesSlide15.xml" Id="R4d410ab4214d404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89cd5e312024f20" /><Relationship Type="http://schemas.openxmlformats.org/officeDocument/2006/relationships/notesSlide" Target="/ppt/notesSlides/notesSlide16.xml" Id="R29f4dbda0401490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7cd4f332eb6468b" /><Relationship Type="http://schemas.openxmlformats.org/officeDocument/2006/relationships/notesSlide" Target="/ppt/notesSlides/notesSlide17.xml" Id="R7ff9f0883e5e4ef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0dd89fd65ac54121" /><Relationship Type="http://schemas.openxmlformats.org/officeDocument/2006/relationships/chart" Target="/ppt/slides/charts/chart4.xml" Id="R739fb67ef37b4213" /><Relationship Type="http://schemas.openxmlformats.org/officeDocument/2006/relationships/chart" Target="/ppt/slides/charts/chart5.xml" Id="Rc099e1c05d364bad" /><Relationship Type="http://schemas.openxmlformats.org/officeDocument/2006/relationships/notesSlide" Target="/ppt/notesSlides/notesSlide18.xml" Id="R35fbb2d1be2a453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52c1e00415004040" /><Relationship Type="http://schemas.openxmlformats.org/officeDocument/2006/relationships/notesSlide" Target="/ppt/notesSlides/notesSlide19.xml" Id="Ra738a6c570fc423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488189cfbf814481" /><Relationship Type="http://schemas.openxmlformats.org/officeDocument/2006/relationships/notesSlide" Target="/ppt/notesSlides/notesSlide20.xml" Id="R60209b4406f24df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e1d6c0d945bf406c" /><Relationship Type="http://schemas.openxmlformats.org/officeDocument/2006/relationships/notesSlide" Target="/ppt/notesSlides/notesSlide21.xml" Id="R50095b5e3ec64fe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a9a269383e654d08" /><Relationship Type="http://schemas.openxmlformats.org/officeDocument/2006/relationships/chart" Target="/ppt/slides/charts/chart6.xml" Id="Rf7db0a9771ee4758" /><Relationship Type="http://schemas.openxmlformats.org/officeDocument/2006/relationships/notesSlide" Target="/ppt/notesSlides/notesSlide22.xml" Id="R200c58348330476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8dc823add2b04fed" /><Relationship Type="http://schemas.openxmlformats.org/officeDocument/2006/relationships/notesSlide" Target="/ppt/notesSlides/notesSlide23.xml" Id="R6829921f8f774f84"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9cb50de82bfd4fcd" /><Relationship Type="http://schemas.openxmlformats.org/officeDocument/2006/relationships/notesSlide" Target="/ppt/notesSlides/notesSlide24.xml" Id="Rbf359ce64e804ba5"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5db41fc8fdf84714" /><Relationship Type="http://schemas.openxmlformats.org/officeDocument/2006/relationships/notesSlide" Target="/ppt/notesSlides/notesSlide25.xml" Id="R46a6ce6bcee64454"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a2c8f161ed3d4d09" /><Relationship Type="http://schemas.openxmlformats.org/officeDocument/2006/relationships/notesSlide" Target="/ppt/notesSlides/notesSlide26.xml" Id="R633a8d0e0990472e"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7ce1be0aea604264" /><Relationship Type="http://schemas.openxmlformats.org/officeDocument/2006/relationships/notesSlide" Target="/ppt/notesSlides/notesSlide27.xml" Id="Rc18515f39a104715"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46a04bc5e6214135" /><Relationship Type="http://schemas.openxmlformats.org/officeDocument/2006/relationships/chart" Target="/ppt/slides/charts/chart7.xml" Id="R603bb06c3e644b09" /><Relationship Type="http://schemas.openxmlformats.org/officeDocument/2006/relationships/chart" Target="/ppt/slides/charts/chart8.xml" Id="R8de05ca18d054b44" /><Relationship Type="http://schemas.openxmlformats.org/officeDocument/2006/relationships/notesSlide" Target="/ppt/notesSlides/notesSlide28.xml" Id="Rf2b986f93b2c4d65"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fc2ac861fa1e4b99" /><Relationship Type="http://schemas.openxmlformats.org/officeDocument/2006/relationships/notesSlide" Target="/ppt/notesSlides/notesSlide29.xml" Id="R2c3e3366e34f4ceb"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5ee212fc77514b65" /><Relationship Type="http://schemas.openxmlformats.org/officeDocument/2006/relationships/notesSlide" Target="/ppt/notesSlides/notesSlide30.xml" Id="R672ed0b6bd2e4781"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d8e85fa34ac643b3" /><Relationship Type="http://schemas.openxmlformats.org/officeDocument/2006/relationships/notesSlide" Target="/ppt/notesSlides/notesSlide31.xml" Id="R7788bd38a523430d"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2ec1c29376484a0f" /><Relationship Type="http://schemas.openxmlformats.org/officeDocument/2006/relationships/notesSlide" Target="/ppt/notesSlides/notesSlide32.xml" Id="R431342579b304ad0"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1db2c50545074ad9" /><Relationship Type="http://schemas.openxmlformats.org/officeDocument/2006/relationships/notesSlide" Target="/ppt/notesSlides/notesSlide33.xml" Id="R27ae0a81a6c8489d"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2f0056d58a08455c" /><Relationship Type="http://schemas.openxmlformats.org/officeDocument/2006/relationships/notesSlide" Target="/ppt/notesSlides/notesSlide34.xml" Id="R2491b1f086474ac5"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6b25fdd1c1e14273" /><Relationship Type="http://schemas.openxmlformats.org/officeDocument/2006/relationships/notesSlide" Target="/ppt/notesSlides/notesSlide35.xml" Id="R152dbe095a7b47d5"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667db8ced0fc483b" /><Relationship Type="http://schemas.openxmlformats.org/officeDocument/2006/relationships/notesSlide" Target="/ppt/notesSlides/notesSlide36.xml" Id="R5506c4da204a4d6b"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7772f6fddc7141b4" /><Relationship Type="http://schemas.openxmlformats.org/officeDocument/2006/relationships/notesSlide" Target="/ppt/notesSlides/notesSlide37.xml" Id="Rcc4e5586190b41ef"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256fab6aef0b4045" /><Relationship Type="http://schemas.openxmlformats.org/officeDocument/2006/relationships/notesSlide" Target="/ppt/notesSlides/notesSlide38.xml" Id="Re088cc57028d4995"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34d71425eb1c4925" /><Relationship Type="http://schemas.openxmlformats.org/officeDocument/2006/relationships/notesSlide" Target="/ppt/notesSlides/notesSlide39.xml" Id="Rd6a08b42a89e4142"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074b04c29e5d4891" /><Relationship Type="http://schemas.openxmlformats.org/officeDocument/2006/relationships/notesSlide" Target="/ppt/notesSlides/notesSlide40.xml" Id="R6e9212fdcb314021"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f5c660b4ce0e49f1" /><Relationship Type="http://schemas.openxmlformats.org/officeDocument/2006/relationships/notesSlide" Target="/ppt/notesSlides/notesSlide41.xml" Id="R239851f89220485b"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3b57072b137e49d4" /><Relationship Type="http://schemas.openxmlformats.org/officeDocument/2006/relationships/notesSlide" Target="/ppt/notesSlides/notesSlide42.xml" Id="Re0c5049978b24ae4"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f208263562534da7" /><Relationship Type="http://schemas.openxmlformats.org/officeDocument/2006/relationships/notesSlide" Target="/ppt/notesSlides/notesSlide43.xml" Id="Rc6ef31e16f2a4d98"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45ce0d7ce5544ad5" /><Relationship Type="http://schemas.openxmlformats.org/officeDocument/2006/relationships/notesSlide" Target="/ppt/notesSlides/notesSlide44.xml" Id="R801650c569df4de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500">
                <a:solidFill>
                  <a:srgbClr val="EDEDED"/>
                </a:solidFill>
                <a:latin typeface="Consolas"/>
                <a:ea typeface="Consolas"/>
                <a:cs typeface="Consolas"/>
              </a:rPr>
              <a:t>TX</a:t>
            </a:r>
          </a:p>
        </c:rich>
      </c:tx>
      <c:overlay val="0"/>
      <c:txPr>
        <a:bodyPr xmlns:a="http://schemas.openxmlformats.org/drawingml/2006/main" anchorCtr="1"/>
        <a:lstStyle xmlns:a="http://schemas.openxmlformats.org/drawingml/2006/main"/>
        <a:p xmlns:a="http://schemas.openxmlformats.org/drawingml/2006/main">
          <a:pPr>
            <a:defRPr sz="1500">
              <a:solidFill>
                <a:srgbClr val="EDEDED"/>
              </a:solidFill>
              <a:latin typeface="Consolas"/>
              <a:ea typeface="Consolas"/>
              <a:cs typeface="Consolas"/>
            </a:defRPr>
          </a:pPr>
        </a:p>
      </c:txPr>
    </c:title>
    <c:plotArea>
      <c:scatterChart>
        <c:scatterStyle val="line"/>
        <c:ser>
          <c:idx val="0"/>
          <c:order val="0"/>
          <c:tx>
            <c:v>TX</c:v>
          </c:tx>
          <c:spPr>
            <a:ln xmlns:a="http://schemas.openxmlformats.org/drawingml/2006/main" w="28575">
              <a:solidFill>
                <a:srgbClr val="EF9529"/>
              </a:solidFill>
              <a:prstDash val="solid"/>
            </a:ln>
          </c:spPr>
          <c:marker>
            <c:symbol val="none"/>
          </c:marker>
          <c:xVal>
            <c:numRef>
              <c:f>'Chart Data'!$A$2:$A$25</c:f>
              <c:numCache>
                <c:formatCode>General</c:formatCode>
                <c:ptCount val="24"/>
                <c:pt idx="0">
                  <c:v>0</c:v>
                </c:pt>
                <c:pt idx="1">
                  <c:v>1</c:v>
                </c:pt>
                <c:pt idx="2">
                  <c:v>1</c:v>
                </c:pt>
                <c:pt idx="3">
                  <c:v>2</c:v>
                </c:pt>
                <c:pt idx="4">
                  <c:v>2</c:v>
                </c:pt>
                <c:pt idx="5">
                  <c:v>3</c:v>
                </c:pt>
                <c:pt idx="6">
                  <c:v>3</c:v>
                </c:pt>
                <c:pt idx="7">
                  <c:v>4</c:v>
                </c:pt>
                <c:pt idx="8">
                  <c:v>4</c:v>
                </c:pt>
                <c:pt idx="9">
                  <c:v>5</c:v>
                </c:pt>
                <c:pt idx="10">
                  <c:v>5</c:v>
                </c:pt>
                <c:pt idx="11">
                  <c:v>6</c:v>
                </c:pt>
                <c:pt idx="12">
                  <c:v>6</c:v>
                </c:pt>
                <c:pt idx="13">
                  <c:v>7</c:v>
                </c:pt>
                <c:pt idx="14">
                  <c:v>7</c:v>
                </c:pt>
                <c:pt idx="15">
                  <c:v>8</c:v>
                </c:pt>
                <c:pt idx="16">
                  <c:v>8</c:v>
                </c:pt>
                <c:pt idx="17">
                  <c:v>9</c:v>
                </c:pt>
                <c:pt idx="18">
                  <c:v>9</c:v>
                </c:pt>
                <c:pt idx="19">
                  <c:v>10</c:v>
                </c:pt>
                <c:pt idx="20">
                  <c:v>10</c:v>
                </c:pt>
                <c:pt idx="21">
                  <c:v>11</c:v>
                </c:pt>
                <c:pt idx="22">
                  <c:v>11</c:v>
                </c:pt>
                <c:pt idx="23">
                  <c:v>12</c:v>
                </c:pt>
              </c:numCache>
            </c:numRef>
          </c:xVal>
          <c:yVal>
            <c:numRef>
              <c:f>'Chart Data'!$B$2:$B$25</c:f>
              <c:numCache>
                <c:formatCode>General</c:formatCode>
                <c:ptCount val="24"/>
                <c:pt idx="0">
                  <c:v>1</c:v>
                </c:pt>
                <c:pt idx="1">
                  <c:v>1</c:v>
                </c:pt>
                <c:pt idx="2">
                  <c:v>0</c:v>
                </c:pt>
                <c:pt idx="3">
                  <c:v>0</c:v>
                </c:pt>
                <c:pt idx="4">
                  <c:v>1</c:v>
                </c:pt>
                <c:pt idx="5">
                  <c:v>1</c:v>
                </c:pt>
                <c:pt idx="6">
                  <c:v>1</c:v>
                </c:pt>
                <c:pt idx="7">
                  <c:v>1</c:v>
                </c:pt>
                <c:pt idx="8">
                  <c:v>0</c:v>
                </c:pt>
                <c:pt idx="9">
                  <c:v>0</c:v>
                </c:pt>
                <c:pt idx="10">
                  <c:v>0</c:v>
                </c:pt>
                <c:pt idx="11">
                  <c:v>0</c:v>
                </c:pt>
                <c:pt idx="12">
                  <c:v>1</c:v>
                </c:pt>
                <c:pt idx="13">
                  <c:v>1</c:v>
                </c:pt>
                <c:pt idx="14">
                  <c:v>0</c:v>
                </c:pt>
                <c:pt idx="15">
                  <c:v>0</c:v>
                </c:pt>
                <c:pt idx="16">
                  <c:v>1</c:v>
                </c:pt>
                <c:pt idx="17">
                  <c:v>1</c:v>
                </c:pt>
                <c:pt idx="18">
                  <c:v>0</c:v>
                </c:pt>
                <c:pt idx="19">
                  <c:v>0</c:v>
                </c:pt>
                <c:pt idx="20">
                  <c:v>1</c:v>
                </c:pt>
                <c:pt idx="21">
                  <c:v>1</c:v>
                </c:pt>
                <c:pt idx="22">
                  <c:v>1</c:v>
                </c:pt>
                <c:pt idx="23">
                  <c:v>1</c:v>
                </c:pt>
              </c:numCache>
            </c:numRef>
          </c:yVal>
          <c:smooth val="0"/>
        </c:ser>
        <c:axId val="48650112"/>
        <c:axId val="48672768"/>
      </c:scatterChart>
      <c:valAx>
        <c:axId val="48672768"/>
        <c:scaling>
          <c:orientation val="minMax"/>
          <c:max val="1"/>
          <c:min val="0"/>
        </c:scaling>
        <c:delete val="0"/>
        <c:axPos val="l"/>
        <c:numFmt formatCode="General"/>
        <c:majorTickMark val="none"/>
        <c:minorTickMark val="none"/>
        <c:tickLblPos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9A9AA2"/>
                </a:solidFill>
                <a:latin typeface="Segoe UI"/>
                <a:ea typeface="Segoe UI"/>
                <a:cs typeface="Segoe UI"/>
              </a:defRPr>
            </a:pPr>
          </a:p>
        </c:txPr>
        <c:crossAx val="48650112"/>
        <c:majorUnit val="1"/>
      </c:valAx>
      <c:valAx>
        <c:axId val="48650112"/>
        <c:scaling>
          <c:orientation val="minMax"/>
          <c:max val="12"/>
          <c:min val="0"/>
        </c:scaling>
        <c:delete val="0"/>
        <c:axPos val="b"/>
        <c:majorGridlines>
          <c:spPr>
            <a:ln xmlns:a="http://schemas.openxmlformats.org/drawingml/2006/main" w="4763">
              <a:solidFill>
                <a:srgbClr val="35353C"/>
              </a:solidFill>
            </a:ln>
          </c:spPr>
        </c:majorGridlines>
        <c:title>
          <c:tx>
            <c:rich>
              <a:bodyPr xmlns:a="http://schemas.openxmlformats.org/drawingml/2006/main"/>
              <a:lstStyle xmlns:a="http://schemas.openxmlformats.org/drawingml/2006/main"/>
              <a:p xmlns:a="http://schemas.openxmlformats.org/drawingml/2006/main">
                <a:r>
                  <a:rPr sz="1350">
                    <a:solidFill>
                      <a:srgbClr val="9A9AA2"/>
                    </a:solidFill>
                    <a:latin typeface="Segoe UI"/>
                    <a:ea typeface="Segoe UI"/>
                    <a:cs typeface="Segoe UI"/>
                  </a:rPr>
                  <a:t>Bit intervals</a:t>
                </a:r>
              </a:p>
            </c:rich>
          </c:tx>
          <c:overlay val="0"/>
          <c:txPr>
            <a:bodyPr xmlns:a="http://schemas.openxmlformats.org/drawingml/2006/main" anchorCtr="1"/>
            <a:lstStyle xmlns:a="http://schemas.openxmlformats.org/drawingml/2006/main"/>
            <a:p xmlns:a="http://schemas.openxmlformats.org/drawingml/2006/main">
              <a:pPr>
                <a:defRPr sz="1350">
                  <a:solidFill>
                    <a:srgbClr val="9A9AA2"/>
                  </a:solidFill>
                  <a:latin typeface="Segoe UI"/>
                  <a:ea typeface="Segoe UI"/>
                  <a:cs typeface="Segoe UI"/>
                </a:defRPr>
              </a:pPr>
            </a:p>
          </c:txPr>
        </c:title>
        <c:numFmt formatCode="General"/>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9A9AA2"/>
                </a:solidFill>
                <a:latin typeface="Segoe UI"/>
                <a:ea typeface="Segoe UI"/>
                <a:cs typeface="Segoe UI"/>
              </a:defRPr>
            </a:pPr>
          </a:p>
        </c:txPr>
        <c:crossAx val="48672768"/>
      </c:valAx>
      <c:spPr>
        <a:solidFill xmlns:a="http://schemas.openxmlformats.org/drawingml/2006/main">
          <a:srgbClr val="0B0B0C"/>
        </a:solidFill>
        <a:ln xmlns:a="http://schemas.openxmlformats.org/drawingml/2006/main" w="0">
          <a:noFill/>
        </a:ln>
      </c:spPr>
    </c:plotArea>
    <c:plotVisOnly val="1"/>
  </c:chart>
  <c:spPr>
    <a:solidFill xmlns:a="http://schemas.openxmlformats.org/drawingml/2006/main">
      <a:srgbClr val="0B0B0C"/>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500">
                <a:solidFill>
                  <a:srgbClr val="EDEDED"/>
                </a:solidFill>
                <a:latin typeface="Consolas"/>
                <a:ea typeface="Consolas"/>
                <a:cs typeface="Consolas"/>
              </a:rPr>
              <a:t>TX</a:t>
            </a:r>
          </a:p>
        </c:rich>
      </c:tx>
      <c:overlay val="0"/>
      <c:txPr>
        <a:bodyPr xmlns:a="http://schemas.openxmlformats.org/drawingml/2006/main" anchorCtr="1"/>
        <a:lstStyle xmlns:a="http://schemas.openxmlformats.org/drawingml/2006/main"/>
        <a:p xmlns:a="http://schemas.openxmlformats.org/drawingml/2006/main">
          <a:pPr>
            <a:defRPr sz="1500">
              <a:solidFill>
                <a:srgbClr val="EDEDED"/>
              </a:solidFill>
              <a:latin typeface="Consolas"/>
              <a:ea typeface="Consolas"/>
              <a:cs typeface="Consolas"/>
            </a:defRPr>
          </a:pPr>
        </a:p>
      </c:txPr>
    </c:title>
    <c:plotArea>
      <c:scatterChart>
        <c:scatterStyle val="line"/>
        <c:ser>
          <c:idx val="0"/>
          <c:order val="0"/>
          <c:tx>
            <c:v>TX</c:v>
          </c:tx>
          <c:spPr>
            <a:ln xmlns:a="http://schemas.openxmlformats.org/drawingml/2006/main" w="28575">
              <a:solidFill>
                <a:srgbClr val="EF9529"/>
              </a:solidFill>
              <a:prstDash val="solid"/>
            </a:ln>
          </c:spPr>
          <c:marker>
            <c:symbol val="none"/>
          </c:marker>
          <c:xVal>
            <c:numRef>
              <c:f>'Chart Data'!$A$2:$A$25</c:f>
              <c:numCache>
                <c:formatCode>General</c:formatCode>
                <c:ptCount val="24"/>
                <c:pt idx="0">
                  <c:v>0</c:v>
                </c:pt>
                <c:pt idx="1">
                  <c:v>1</c:v>
                </c:pt>
                <c:pt idx="2">
                  <c:v>1</c:v>
                </c:pt>
                <c:pt idx="3">
                  <c:v>2</c:v>
                </c:pt>
                <c:pt idx="4">
                  <c:v>2</c:v>
                </c:pt>
                <c:pt idx="5">
                  <c:v>3</c:v>
                </c:pt>
                <c:pt idx="6">
                  <c:v>3</c:v>
                </c:pt>
                <c:pt idx="7">
                  <c:v>4</c:v>
                </c:pt>
                <c:pt idx="8">
                  <c:v>4</c:v>
                </c:pt>
                <c:pt idx="9">
                  <c:v>5</c:v>
                </c:pt>
                <c:pt idx="10">
                  <c:v>5</c:v>
                </c:pt>
                <c:pt idx="11">
                  <c:v>6</c:v>
                </c:pt>
                <c:pt idx="12">
                  <c:v>6</c:v>
                </c:pt>
                <c:pt idx="13">
                  <c:v>7</c:v>
                </c:pt>
                <c:pt idx="14">
                  <c:v>7</c:v>
                </c:pt>
                <c:pt idx="15">
                  <c:v>8</c:v>
                </c:pt>
                <c:pt idx="16">
                  <c:v>8</c:v>
                </c:pt>
                <c:pt idx="17">
                  <c:v>9</c:v>
                </c:pt>
                <c:pt idx="18">
                  <c:v>9</c:v>
                </c:pt>
                <c:pt idx="19">
                  <c:v>10</c:v>
                </c:pt>
                <c:pt idx="20">
                  <c:v>10</c:v>
                </c:pt>
                <c:pt idx="21">
                  <c:v>11</c:v>
                </c:pt>
                <c:pt idx="22">
                  <c:v>11</c:v>
                </c:pt>
                <c:pt idx="23">
                  <c:v>12</c:v>
                </c:pt>
              </c:numCache>
            </c:numRef>
          </c:xVal>
          <c:yVal>
            <c:numRef>
              <c:f>'Chart Data'!$B$2:$B$25</c:f>
              <c:numCache>
                <c:formatCode>General</c:formatCode>
                <c:ptCount val="24"/>
                <c:pt idx="0">
                  <c:v>1</c:v>
                </c:pt>
                <c:pt idx="1">
                  <c:v>1</c:v>
                </c:pt>
                <c:pt idx="2">
                  <c:v>0</c:v>
                </c:pt>
                <c:pt idx="3">
                  <c:v>0</c:v>
                </c:pt>
                <c:pt idx="4">
                  <c:v>1</c:v>
                </c:pt>
                <c:pt idx="5">
                  <c:v>1</c:v>
                </c:pt>
                <c:pt idx="6">
                  <c:v>1</c:v>
                </c:pt>
                <c:pt idx="7">
                  <c:v>1</c:v>
                </c:pt>
                <c:pt idx="8">
                  <c:v>0</c:v>
                </c:pt>
                <c:pt idx="9">
                  <c:v>0</c:v>
                </c:pt>
                <c:pt idx="10">
                  <c:v>0</c:v>
                </c:pt>
                <c:pt idx="11">
                  <c:v>0</c:v>
                </c:pt>
                <c:pt idx="12">
                  <c:v>1</c:v>
                </c:pt>
                <c:pt idx="13">
                  <c:v>1</c:v>
                </c:pt>
                <c:pt idx="14">
                  <c:v>0</c:v>
                </c:pt>
                <c:pt idx="15">
                  <c:v>0</c:v>
                </c:pt>
                <c:pt idx="16">
                  <c:v>1</c:v>
                </c:pt>
                <c:pt idx="17">
                  <c:v>1</c:v>
                </c:pt>
                <c:pt idx="18">
                  <c:v>0</c:v>
                </c:pt>
                <c:pt idx="19">
                  <c:v>0</c:v>
                </c:pt>
                <c:pt idx="20">
                  <c:v>1</c:v>
                </c:pt>
                <c:pt idx="21">
                  <c:v>1</c:v>
                </c:pt>
                <c:pt idx="22">
                  <c:v>1</c:v>
                </c:pt>
                <c:pt idx="23">
                  <c:v>1</c:v>
                </c:pt>
              </c:numCache>
            </c:numRef>
          </c:yVal>
          <c:smooth val="0"/>
        </c:ser>
        <c:axId val="48650112"/>
        <c:axId val="48672768"/>
      </c:scatterChart>
      <c:valAx>
        <c:axId val="48672768"/>
        <c:scaling>
          <c:orientation val="minMax"/>
          <c:max val="1"/>
          <c:min val="0"/>
        </c:scaling>
        <c:delete val="0"/>
        <c:axPos val="l"/>
        <c:numFmt formatCode="General"/>
        <c:majorTickMark val="none"/>
        <c:minorTickMark val="none"/>
        <c:tickLblPos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9A9AA2"/>
                </a:solidFill>
                <a:latin typeface="Segoe UI"/>
                <a:ea typeface="Segoe UI"/>
                <a:cs typeface="Segoe UI"/>
              </a:defRPr>
            </a:pPr>
          </a:p>
        </c:txPr>
        <c:crossAx val="48650112"/>
        <c:majorUnit val="1"/>
      </c:valAx>
      <c:valAx>
        <c:axId val="48650112"/>
        <c:scaling>
          <c:orientation val="minMax"/>
          <c:max val="12"/>
          <c:min val="0"/>
        </c:scaling>
        <c:delete val="0"/>
        <c:axPos val="b"/>
        <c:majorGridlines>
          <c:spPr>
            <a:ln xmlns:a="http://schemas.openxmlformats.org/drawingml/2006/main" w="4763">
              <a:solidFill>
                <a:srgbClr val="35353C"/>
              </a:solidFill>
            </a:ln>
          </c:spPr>
        </c:majorGridlines>
        <c:numFmt formatCode="General"/>
        <c:majorTickMark val="none"/>
        <c:minorTickMark val="none"/>
        <c:tickLblPos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9A9AA2"/>
                </a:solidFill>
                <a:latin typeface="Segoe UI"/>
                <a:ea typeface="Segoe UI"/>
                <a:cs typeface="Segoe UI"/>
              </a:defRPr>
            </a:pPr>
          </a:p>
        </c:txPr>
        <c:crossAx val="48672768"/>
      </c:valAx>
      <c:spPr>
        <a:solidFill xmlns:a="http://schemas.openxmlformats.org/drawingml/2006/main">
          <a:srgbClr val="0B0B0C"/>
        </a:solidFill>
        <a:ln xmlns:a="http://schemas.openxmlformats.org/drawingml/2006/main" w="0">
          <a:noFill/>
        </a:ln>
      </c:spPr>
    </c:plotArea>
    <c:plotVisOnly val="1"/>
  </c:chart>
  <c:spPr>
    <a:solidFill xmlns:a="http://schemas.openxmlformats.org/drawingml/2006/main">
      <a:srgbClr val="0B0B0C"/>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500">
                <a:solidFill>
                  <a:srgbClr val="EDEDED"/>
                </a:solidFill>
                <a:latin typeface="Consolas"/>
                <a:ea typeface="Consolas"/>
                <a:cs typeface="Consolas"/>
              </a:rPr>
              <a:t>Ideal centre ticks</a:t>
            </a:r>
          </a:p>
        </c:rich>
      </c:tx>
      <c:overlay val="0"/>
      <c:txPr>
        <a:bodyPr xmlns:a="http://schemas.openxmlformats.org/drawingml/2006/main" anchorCtr="1"/>
        <a:lstStyle xmlns:a="http://schemas.openxmlformats.org/drawingml/2006/main"/>
        <a:p xmlns:a="http://schemas.openxmlformats.org/drawingml/2006/main">
          <a:pPr>
            <a:defRPr sz="1500">
              <a:solidFill>
                <a:srgbClr val="EDEDED"/>
              </a:solidFill>
              <a:latin typeface="Consolas"/>
              <a:ea typeface="Consolas"/>
              <a:cs typeface="Consolas"/>
            </a:defRPr>
          </a:pPr>
        </a:p>
      </c:txPr>
    </c:title>
    <c:plotArea>
      <c:scatterChart>
        <c:scatterStyle val="line"/>
        <c:ser>
          <c:idx val="0"/>
          <c:order val="0"/>
          <c:tx>
            <c:v>Ideal centre ticks</c:v>
          </c:tx>
          <c:spPr>
            <a:ln xmlns:a="http://schemas.openxmlformats.org/drawingml/2006/main" w="28575">
              <a:solidFill>
                <a:srgbClr val="EDEDED"/>
              </a:solidFill>
              <a:prstDash val="solid"/>
            </a:ln>
          </c:spPr>
          <c:marker>
            <c:symbol val="none"/>
          </c:marker>
          <c:xVal>
            <c:numRef>
              <c:f>'Chart Data'!$A$2:$A$43</c:f>
              <c:numCache>
                <c:formatCode>General</c:formatCode>
                <c:ptCount val="42"/>
                <c:pt idx="0">
                  <c:v>0</c:v>
                </c:pt>
                <c:pt idx="1">
                  <c:v>1.5</c:v>
                </c:pt>
                <c:pt idx="2">
                  <c:v>1.5</c:v>
                </c:pt>
                <c:pt idx="3">
                  <c:v>1.56</c:v>
                </c:pt>
                <c:pt idx="4">
                  <c:v>1.56</c:v>
                </c:pt>
                <c:pt idx="5">
                  <c:v>2.5</c:v>
                </c:pt>
                <c:pt idx="6">
                  <c:v>2.5</c:v>
                </c:pt>
                <c:pt idx="7">
                  <c:v>2.56</c:v>
                </c:pt>
                <c:pt idx="8">
                  <c:v>2.56</c:v>
                </c:pt>
                <c:pt idx="9">
                  <c:v>3.5</c:v>
                </c:pt>
                <c:pt idx="10">
                  <c:v>3.5</c:v>
                </c:pt>
                <c:pt idx="11">
                  <c:v>3.56</c:v>
                </c:pt>
                <c:pt idx="12">
                  <c:v>3.56</c:v>
                </c:pt>
                <c:pt idx="13">
                  <c:v>4.5</c:v>
                </c:pt>
                <c:pt idx="14">
                  <c:v>4.5</c:v>
                </c:pt>
                <c:pt idx="15">
                  <c:v>4.56</c:v>
                </c:pt>
                <c:pt idx="16">
                  <c:v>4.56</c:v>
                </c:pt>
                <c:pt idx="17">
                  <c:v>5.5</c:v>
                </c:pt>
                <c:pt idx="18">
                  <c:v>5.5</c:v>
                </c:pt>
                <c:pt idx="19">
                  <c:v>5.56</c:v>
                </c:pt>
                <c:pt idx="20">
                  <c:v>5.56</c:v>
                </c:pt>
                <c:pt idx="21">
                  <c:v>6.5</c:v>
                </c:pt>
                <c:pt idx="22">
                  <c:v>6.5</c:v>
                </c:pt>
                <c:pt idx="23">
                  <c:v>6.56</c:v>
                </c:pt>
                <c:pt idx="24">
                  <c:v>6.56</c:v>
                </c:pt>
                <c:pt idx="25">
                  <c:v>7.5</c:v>
                </c:pt>
                <c:pt idx="26">
                  <c:v>7.5</c:v>
                </c:pt>
                <c:pt idx="27">
                  <c:v>7.56</c:v>
                </c:pt>
                <c:pt idx="28">
                  <c:v>7.56</c:v>
                </c:pt>
                <c:pt idx="29">
                  <c:v>8.5</c:v>
                </c:pt>
                <c:pt idx="30">
                  <c:v>8.5</c:v>
                </c:pt>
                <c:pt idx="31">
                  <c:v>8.56</c:v>
                </c:pt>
                <c:pt idx="32">
                  <c:v>8.56</c:v>
                </c:pt>
                <c:pt idx="33">
                  <c:v>9.5</c:v>
                </c:pt>
                <c:pt idx="34">
                  <c:v>9.5</c:v>
                </c:pt>
                <c:pt idx="35">
                  <c:v>9.56</c:v>
                </c:pt>
                <c:pt idx="36">
                  <c:v>9.56</c:v>
                </c:pt>
                <c:pt idx="37">
                  <c:v>10.5</c:v>
                </c:pt>
                <c:pt idx="38">
                  <c:v>10.5</c:v>
                </c:pt>
                <c:pt idx="39">
                  <c:v>10.56</c:v>
                </c:pt>
                <c:pt idx="40">
                  <c:v>10.56</c:v>
                </c:pt>
                <c:pt idx="41">
                  <c:v>12</c:v>
                </c:pt>
              </c:numCache>
            </c:numRef>
          </c:xVal>
          <c:yVal>
            <c:numRef>
              <c:f>'Chart Data'!$B$2:$B$43</c:f>
              <c:numCache>
                <c:formatCode>General</c:formatCode>
                <c:ptCount val="42"/>
                <c:pt idx="0">
                  <c:v>0</c:v>
                </c:pt>
                <c:pt idx="1">
                  <c:v>0</c:v>
                </c:pt>
                <c:pt idx="2">
                  <c:v>1</c:v>
                </c:pt>
                <c:pt idx="3">
                  <c:v>1</c:v>
                </c:pt>
                <c:pt idx="4">
                  <c:v>0</c:v>
                </c:pt>
                <c:pt idx="5">
                  <c:v>0</c:v>
                </c:pt>
                <c:pt idx="6">
                  <c:v>1</c:v>
                </c:pt>
                <c:pt idx="7">
                  <c:v>1</c:v>
                </c:pt>
                <c:pt idx="8">
                  <c:v>0</c:v>
                </c:pt>
                <c:pt idx="9">
                  <c:v>0</c:v>
                </c:pt>
                <c:pt idx="10">
                  <c:v>1</c:v>
                </c:pt>
                <c:pt idx="11">
                  <c:v>1</c:v>
                </c:pt>
                <c:pt idx="12">
                  <c:v>0</c:v>
                </c:pt>
                <c:pt idx="13">
                  <c:v>0</c:v>
                </c:pt>
                <c:pt idx="14">
                  <c:v>1</c:v>
                </c:pt>
                <c:pt idx="15">
                  <c:v>1</c:v>
                </c:pt>
                <c:pt idx="16">
                  <c:v>0</c:v>
                </c:pt>
                <c:pt idx="17">
                  <c:v>0</c:v>
                </c:pt>
                <c:pt idx="18">
                  <c:v>1</c:v>
                </c:pt>
                <c:pt idx="19">
                  <c:v>1</c:v>
                </c:pt>
                <c:pt idx="20">
                  <c:v>0</c:v>
                </c:pt>
                <c:pt idx="21">
                  <c:v>0</c:v>
                </c:pt>
                <c:pt idx="22">
                  <c:v>1</c:v>
                </c:pt>
                <c:pt idx="23">
                  <c:v>1</c:v>
                </c:pt>
                <c:pt idx="24">
                  <c:v>0</c:v>
                </c:pt>
                <c:pt idx="25">
                  <c:v>0</c:v>
                </c:pt>
                <c:pt idx="26">
                  <c:v>1</c:v>
                </c:pt>
                <c:pt idx="27">
                  <c:v>1</c:v>
                </c:pt>
                <c:pt idx="28">
                  <c:v>0</c:v>
                </c:pt>
                <c:pt idx="29">
                  <c:v>0</c:v>
                </c:pt>
                <c:pt idx="30">
                  <c:v>1</c:v>
                </c:pt>
                <c:pt idx="31">
                  <c:v>1</c:v>
                </c:pt>
                <c:pt idx="32">
                  <c:v>0</c:v>
                </c:pt>
                <c:pt idx="33">
                  <c:v>0</c:v>
                </c:pt>
                <c:pt idx="34">
                  <c:v>1</c:v>
                </c:pt>
                <c:pt idx="35">
                  <c:v>1</c:v>
                </c:pt>
                <c:pt idx="36">
                  <c:v>0</c:v>
                </c:pt>
                <c:pt idx="37">
                  <c:v>0</c:v>
                </c:pt>
                <c:pt idx="38">
                  <c:v>1</c:v>
                </c:pt>
                <c:pt idx="39">
                  <c:v>1</c:v>
                </c:pt>
                <c:pt idx="40">
                  <c:v>0</c:v>
                </c:pt>
                <c:pt idx="41">
                  <c:v>0</c:v>
                </c:pt>
              </c:numCache>
            </c:numRef>
          </c:yVal>
          <c:smooth val="0"/>
        </c:ser>
        <c:axId val="48650112"/>
        <c:axId val="48672768"/>
      </c:scatterChart>
      <c:valAx>
        <c:axId val="48672768"/>
        <c:scaling>
          <c:orientation val="minMax"/>
          <c:max val="1"/>
          <c:min val="0"/>
        </c:scaling>
        <c:delete val="0"/>
        <c:axPos val="l"/>
        <c:numFmt formatCode="General"/>
        <c:majorTickMark val="none"/>
        <c:minorTickMark val="none"/>
        <c:tickLblPos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9A9AA2"/>
                </a:solidFill>
                <a:latin typeface="Segoe UI"/>
                <a:ea typeface="Segoe UI"/>
                <a:cs typeface="Segoe UI"/>
              </a:defRPr>
            </a:pPr>
          </a:p>
        </c:txPr>
        <c:crossAx val="48650112"/>
        <c:majorUnit val="1"/>
      </c:valAx>
      <c:valAx>
        <c:axId val="48650112"/>
        <c:scaling>
          <c:orientation val="minMax"/>
          <c:max val="12"/>
          <c:min val="0"/>
        </c:scaling>
        <c:delete val="0"/>
        <c:axPos val="b"/>
        <c:majorGridlines>
          <c:spPr>
            <a:ln xmlns:a="http://schemas.openxmlformats.org/drawingml/2006/main" w="4763">
              <a:solidFill>
                <a:srgbClr val="35353C"/>
              </a:solidFill>
            </a:ln>
          </c:spPr>
        </c:majorGridlines>
        <c:title>
          <c:tx>
            <c:rich>
              <a:bodyPr xmlns:a="http://schemas.openxmlformats.org/drawingml/2006/main"/>
              <a:lstStyle xmlns:a="http://schemas.openxmlformats.org/drawingml/2006/main"/>
              <a:p xmlns:a="http://schemas.openxmlformats.org/drawingml/2006/main">
                <a:r>
                  <a:rPr sz="1350">
                    <a:solidFill>
                      <a:srgbClr val="9A9AA2"/>
                    </a:solidFill>
                    <a:latin typeface="Segoe UI"/>
                    <a:ea typeface="Segoe UI"/>
                    <a:cs typeface="Segoe UI"/>
                  </a:rPr>
                  <a:t>Bit intervals</a:t>
                </a:r>
              </a:p>
            </c:rich>
          </c:tx>
          <c:overlay val="0"/>
          <c:txPr>
            <a:bodyPr xmlns:a="http://schemas.openxmlformats.org/drawingml/2006/main" anchorCtr="1"/>
            <a:lstStyle xmlns:a="http://schemas.openxmlformats.org/drawingml/2006/main"/>
            <a:p xmlns:a="http://schemas.openxmlformats.org/drawingml/2006/main">
              <a:pPr>
                <a:defRPr sz="1350">
                  <a:solidFill>
                    <a:srgbClr val="9A9AA2"/>
                  </a:solidFill>
                  <a:latin typeface="Segoe UI"/>
                  <a:ea typeface="Segoe UI"/>
                  <a:cs typeface="Segoe UI"/>
                </a:defRPr>
              </a:pPr>
            </a:p>
          </c:txPr>
        </c:title>
        <c:numFmt formatCode="General"/>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9A9AA2"/>
                </a:solidFill>
                <a:latin typeface="Segoe UI"/>
                <a:ea typeface="Segoe UI"/>
                <a:cs typeface="Segoe UI"/>
              </a:defRPr>
            </a:pPr>
          </a:p>
        </c:txPr>
        <c:crossAx val="48672768"/>
      </c:valAx>
      <c:spPr>
        <a:solidFill xmlns:a="http://schemas.openxmlformats.org/drawingml/2006/main">
          <a:srgbClr val="0B0B0C"/>
        </a:solidFill>
        <a:ln xmlns:a="http://schemas.openxmlformats.org/drawingml/2006/main" w="0">
          <a:noFill/>
        </a:ln>
      </c:spPr>
    </c:plotArea>
    <c:plotVisOnly val="1"/>
  </c:chart>
  <c:spPr>
    <a:solidFill xmlns:a="http://schemas.openxmlformats.org/drawingml/2006/main">
      <a:srgbClr val="0B0B0C"/>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500">
                <a:solidFill>
                  <a:srgbClr val="EDEDED"/>
                </a:solidFill>
                <a:latin typeface="Consolas"/>
                <a:ea typeface="Consolas"/>
                <a:cs typeface="Consolas"/>
              </a:rPr>
              <a:t>valid</a:t>
            </a:r>
          </a:p>
        </c:rich>
      </c:tx>
      <c:overlay val="0"/>
      <c:txPr>
        <a:bodyPr xmlns:a="http://schemas.openxmlformats.org/drawingml/2006/main" anchorCtr="1"/>
        <a:lstStyle xmlns:a="http://schemas.openxmlformats.org/drawingml/2006/main"/>
        <a:p xmlns:a="http://schemas.openxmlformats.org/drawingml/2006/main">
          <a:pPr>
            <a:defRPr sz="1500">
              <a:solidFill>
                <a:srgbClr val="EDEDED"/>
              </a:solidFill>
              <a:latin typeface="Consolas"/>
              <a:ea typeface="Consolas"/>
              <a:cs typeface="Consolas"/>
            </a:defRPr>
          </a:pPr>
        </a:p>
      </c:txPr>
    </c:title>
    <c:plotArea>
      <c:scatterChart>
        <c:scatterStyle val="line"/>
        <c:ser>
          <c:idx val="0"/>
          <c:order val="0"/>
          <c:tx>
            <c:v>valid</c:v>
          </c:tx>
          <c:spPr>
            <a:ln xmlns:a="http://schemas.openxmlformats.org/drawingml/2006/main" w="28575">
              <a:solidFill>
                <a:srgbClr val="EF9529"/>
              </a:solidFill>
              <a:prstDash val="solid"/>
            </a:ln>
          </c:spPr>
          <c:marker>
            <c:symbol val="none"/>
          </c:marker>
          <c:xVal>
            <c:numRef>
              <c:f>'Chart Data'!$A$2:$A$15</c:f>
              <c:numCache>
                <c:formatCode>General</c:formatCode>
                <c:ptCount val="14"/>
                <c:pt idx="0">
                  <c:v>0</c:v>
                </c:pt>
                <c:pt idx="1">
                  <c:v>1</c:v>
                </c:pt>
                <c:pt idx="2">
                  <c:v>1</c:v>
                </c:pt>
                <c:pt idx="3">
                  <c:v>2</c:v>
                </c:pt>
                <c:pt idx="4">
                  <c:v>2</c:v>
                </c:pt>
                <c:pt idx="5">
                  <c:v>3</c:v>
                </c:pt>
                <c:pt idx="6">
                  <c:v>3</c:v>
                </c:pt>
                <c:pt idx="7">
                  <c:v>4</c:v>
                </c:pt>
                <c:pt idx="8">
                  <c:v>4</c:v>
                </c:pt>
                <c:pt idx="9">
                  <c:v>5</c:v>
                </c:pt>
                <c:pt idx="10">
                  <c:v>5</c:v>
                </c:pt>
                <c:pt idx="11">
                  <c:v>6</c:v>
                </c:pt>
                <c:pt idx="12">
                  <c:v>6</c:v>
                </c:pt>
                <c:pt idx="13">
                  <c:v>7</c:v>
                </c:pt>
              </c:numCache>
            </c:numRef>
          </c:xVal>
          <c:yVal>
            <c:numRef>
              <c:f>'Chart Data'!$B$2:$B$15</c:f>
              <c:numCache>
                <c:formatCode>General</c:formatCode>
                <c:ptCount val="14"/>
                <c:pt idx="0">
                  <c:v>0</c:v>
                </c:pt>
                <c:pt idx="1">
                  <c:v>0</c:v>
                </c:pt>
                <c:pt idx="2">
                  <c:v>1</c:v>
                </c:pt>
                <c:pt idx="3">
                  <c:v>1</c:v>
                </c:pt>
                <c:pt idx="4">
                  <c:v>1</c:v>
                </c:pt>
                <c:pt idx="5">
                  <c:v>1</c:v>
                </c:pt>
                <c:pt idx="6">
                  <c:v>1</c:v>
                </c:pt>
                <c:pt idx="7">
                  <c:v>1</c:v>
                </c:pt>
                <c:pt idx="8">
                  <c:v>1</c:v>
                </c:pt>
                <c:pt idx="9">
                  <c:v>1</c:v>
                </c:pt>
                <c:pt idx="10">
                  <c:v>0</c:v>
                </c:pt>
                <c:pt idx="11">
                  <c:v>0</c:v>
                </c:pt>
                <c:pt idx="12">
                  <c:v>0</c:v>
                </c:pt>
                <c:pt idx="13">
                  <c:v>0</c:v>
                </c:pt>
              </c:numCache>
            </c:numRef>
          </c:yVal>
          <c:smooth val="0"/>
        </c:ser>
        <c:axId val="48650112"/>
        <c:axId val="48672768"/>
      </c:scatterChart>
      <c:valAx>
        <c:axId val="48672768"/>
        <c:scaling>
          <c:orientation val="minMax"/>
          <c:max val="1"/>
          <c:min val="0"/>
        </c:scaling>
        <c:delete val="0"/>
        <c:axPos val="l"/>
        <c:numFmt formatCode="General"/>
        <c:majorTickMark val="none"/>
        <c:minorTickMark val="none"/>
        <c:tickLblPos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9A9AA2"/>
                </a:solidFill>
                <a:latin typeface="Segoe UI"/>
                <a:ea typeface="Segoe UI"/>
                <a:cs typeface="Segoe UI"/>
              </a:defRPr>
            </a:pPr>
          </a:p>
        </c:txPr>
        <c:crossAx val="48650112"/>
        <c:majorUnit val="1"/>
      </c:valAx>
      <c:valAx>
        <c:axId val="48650112"/>
        <c:scaling>
          <c:orientation val="minMax"/>
          <c:max val="7"/>
          <c:min val="0"/>
        </c:scaling>
        <c:delete val="0"/>
        <c:axPos val="b"/>
        <c:majorGridlines>
          <c:spPr>
            <a:ln xmlns:a="http://schemas.openxmlformats.org/drawingml/2006/main" w="4763">
              <a:solidFill>
                <a:srgbClr val="35353C"/>
              </a:solidFill>
            </a:ln>
          </c:spPr>
        </c:majorGridlines>
        <c:numFmt formatCode="General"/>
        <c:majorTickMark val="none"/>
        <c:minorTickMark val="none"/>
        <c:tickLblPos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9A9AA2"/>
                </a:solidFill>
                <a:latin typeface="Segoe UI"/>
                <a:ea typeface="Segoe UI"/>
                <a:cs typeface="Segoe UI"/>
              </a:defRPr>
            </a:pPr>
          </a:p>
        </c:txPr>
        <c:crossAx val="48672768"/>
      </c:valAx>
      <c:spPr>
        <a:solidFill xmlns:a="http://schemas.openxmlformats.org/drawingml/2006/main">
          <a:srgbClr val="0B0B0C"/>
        </a:solidFill>
        <a:ln xmlns:a="http://schemas.openxmlformats.org/drawingml/2006/main" w="0">
          <a:noFill/>
        </a:ln>
      </c:spPr>
    </c:plotArea>
    <c:plotVisOnly val="1"/>
  </c:chart>
  <c:spPr>
    <a:solidFill xmlns:a="http://schemas.openxmlformats.org/drawingml/2006/main">
      <a:srgbClr val="0B0B0C"/>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500">
                <a:solidFill>
                  <a:srgbClr val="EDEDED"/>
                </a:solidFill>
                <a:latin typeface="Consolas"/>
                <a:ea typeface="Consolas"/>
                <a:cs typeface="Consolas"/>
              </a:rPr>
              <a:t>ready</a:t>
            </a:r>
          </a:p>
        </c:rich>
      </c:tx>
      <c:overlay val="0"/>
      <c:txPr>
        <a:bodyPr xmlns:a="http://schemas.openxmlformats.org/drawingml/2006/main" anchorCtr="1"/>
        <a:lstStyle xmlns:a="http://schemas.openxmlformats.org/drawingml/2006/main"/>
        <a:p xmlns:a="http://schemas.openxmlformats.org/drawingml/2006/main">
          <a:pPr>
            <a:defRPr sz="1500">
              <a:solidFill>
                <a:srgbClr val="EDEDED"/>
              </a:solidFill>
              <a:latin typeface="Consolas"/>
              <a:ea typeface="Consolas"/>
              <a:cs typeface="Consolas"/>
            </a:defRPr>
          </a:pPr>
        </a:p>
      </c:txPr>
    </c:title>
    <c:plotArea>
      <c:scatterChart>
        <c:scatterStyle val="line"/>
        <c:ser>
          <c:idx val="0"/>
          <c:order val="0"/>
          <c:tx>
            <c:v>ready</c:v>
          </c:tx>
          <c:spPr>
            <a:ln xmlns:a="http://schemas.openxmlformats.org/drawingml/2006/main" w="28575">
              <a:solidFill>
                <a:srgbClr val="EDEDED"/>
              </a:solidFill>
              <a:prstDash val="solid"/>
            </a:ln>
          </c:spPr>
          <c:marker>
            <c:symbol val="none"/>
          </c:marker>
          <c:xVal>
            <c:numRef>
              <c:f>'Chart Data'!$A$2:$A$15</c:f>
              <c:numCache>
                <c:formatCode>General</c:formatCode>
                <c:ptCount val="14"/>
                <c:pt idx="0">
                  <c:v>0</c:v>
                </c:pt>
                <c:pt idx="1">
                  <c:v>1</c:v>
                </c:pt>
                <c:pt idx="2">
                  <c:v>1</c:v>
                </c:pt>
                <c:pt idx="3">
                  <c:v>2</c:v>
                </c:pt>
                <c:pt idx="4">
                  <c:v>2</c:v>
                </c:pt>
                <c:pt idx="5">
                  <c:v>3</c:v>
                </c:pt>
                <c:pt idx="6">
                  <c:v>3</c:v>
                </c:pt>
                <c:pt idx="7">
                  <c:v>4</c:v>
                </c:pt>
                <c:pt idx="8">
                  <c:v>4</c:v>
                </c:pt>
                <c:pt idx="9">
                  <c:v>5</c:v>
                </c:pt>
                <c:pt idx="10">
                  <c:v>5</c:v>
                </c:pt>
                <c:pt idx="11">
                  <c:v>6</c:v>
                </c:pt>
                <c:pt idx="12">
                  <c:v>6</c:v>
                </c:pt>
                <c:pt idx="13">
                  <c:v>7</c:v>
                </c:pt>
              </c:numCache>
            </c:numRef>
          </c:xVal>
          <c:yVal>
            <c:numRef>
              <c:f>'Chart Data'!$B$2:$B$15</c:f>
              <c:numCache>
                <c:formatCode>General</c:formatCode>
                <c:ptCount val="14"/>
                <c:pt idx="0">
                  <c:v>0</c:v>
                </c:pt>
                <c:pt idx="1">
                  <c:v>0</c:v>
                </c:pt>
                <c:pt idx="2">
                  <c:v>0</c:v>
                </c:pt>
                <c:pt idx="3">
                  <c:v>0</c:v>
                </c:pt>
                <c:pt idx="4">
                  <c:v>0</c:v>
                </c:pt>
                <c:pt idx="5">
                  <c:v>0</c:v>
                </c:pt>
                <c:pt idx="6">
                  <c:v>0</c:v>
                </c:pt>
                <c:pt idx="7">
                  <c:v>0</c:v>
                </c:pt>
                <c:pt idx="8">
                  <c:v>1</c:v>
                </c:pt>
                <c:pt idx="9">
                  <c:v>1</c:v>
                </c:pt>
                <c:pt idx="10">
                  <c:v>1</c:v>
                </c:pt>
                <c:pt idx="11">
                  <c:v>1</c:v>
                </c:pt>
                <c:pt idx="12">
                  <c:v>1</c:v>
                </c:pt>
                <c:pt idx="13">
                  <c:v>1</c:v>
                </c:pt>
              </c:numCache>
            </c:numRef>
          </c:yVal>
          <c:smooth val="0"/>
        </c:ser>
        <c:axId val="48650112"/>
        <c:axId val="48672768"/>
      </c:scatterChart>
      <c:valAx>
        <c:axId val="48672768"/>
        <c:scaling>
          <c:orientation val="minMax"/>
          <c:max val="1"/>
          <c:min val="0"/>
        </c:scaling>
        <c:delete val="0"/>
        <c:axPos val="l"/>
        <c:numFmt formatCode="General"/>
        <c:majorTickMark val="none"/>
        <c:minorTickMark val="none"/>
        <c:tickLblPos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9A9AA2"/>
                </a:solidFill>
                <a:latin typeface="Segoe UI"/>
                <a:ea typeface="Segoe UI"/>
                <a:cs typeface="Segoe UI"/>
              </a:defRPr>
            </a:pPr>
          </a:p>
        </c:txPr>
        <c:crossAx val="48650112"/>
        <c:majorUnit val="1"/>
      </c:valAx>
      <c:valAx>
        <c:axId val="48650112"/>
        <c:scaling>
          <c:orientation val="minMax"/>
          <c:max val="7"/>
          <c:min val="0"/>
        </c:scaling>
        <c:delete val="0"/>
        <c:axPos val="b"/>
        <c:majorGridlines>
          <c:spPr>
            <a:ln xmlns:a="http://schemas.openxmlformats.org/drawingml/2006/main" w="4763">
              <a:solidFill>
                <a:srgbClr val="35353C"/>
              </a:solidFill>
            </a:ln>
          </c:spPr>
        </c:majorGridlines>
        <c:title>
          <c:tx>
            <c:rich>
              <a:bodyPr xmlns:a="http://schemas.openxmlformats.org/drawingml/2006/main"/>
              <a:lstStyle xmlns:a="http://schemas.openxmlformats.org/drawingml/2006/main"/>
              <a:p xmlns:a="http://schemas.openxmlformats.org/drawingml/2006/main">
                <a:r>
                  <a:rPr sz="1350">
                    <a:solidFill>
                      <a:srgbClr val="9A9AA2"/>
                    </a:solidFill>
                    <a:latin typeface="Segoe UI"/>
                    <a:ea typeface="Segoe UI"/>
                    <a:cs typeface="Segoe UI"/>
                  </a:rPr>
                  <a:t>Core-cycle intervals</a:t>
                </a:r>
              </a:p>
            </c:rich>
          </c:tx>
          <c:overlay val="0"/>
          <c:txPr>
            <a:bodyPr xmlns:a="http://schemas.openxmlformats.org/drawingml/2006/main" anchorCtr="1"/>
            <a:lstStyle xmlns:a="http://schemas.openxmlformats.org/drawingml/2006/main"/>
            <a:p xmlns:a="http://schemas.openxmlformats.org/drawingml/2006/main">
              <a:pPr>
                <a:defRPr sz="1350">
                  <a:solidFill>
                    <a:srgbClr val="9A9AA2"/>
                  </a:solidFill>
                  <a:latin typeface="Segoe UI"/>
                  <a:ea typeface="Segoe UI"/>
                  <a:cs typeface="Segoe UI"/>
                </a:defRPr>
              </a:pPr>
            </a:p>
          </c:txPr>
        </c:title>
        <c:numFmt formatCode="General"/>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9A9AA2"/>
                </a:solidFill>
                <a:latin typeface="Segoe UI"/>
                <a:ea typeface="Segoe UI"/>
                <a:cs typeface="Segoe UI"/>
              </a:defRPr>
            </a:pPr>
          </a:p>
        </c:txPr>
        <c:crossAx val="48672768"/>
      </c:valAx>
      <c:spPr>
        <a:solidFill xmlns:a="http://schemas.openxmlformats.org/drawingml/2006/main">
          <a:srgbClr val="0B0B0C"/>
        </a:solidFill>
        <a:ln xmlns:a="http://schemas.openxmlformats.org/drawingml/2006/main" w="0">
          <a:noFill/>
        </a:ln>
      </c:spPr>
    </c:plotArea>
    <c:plotVisOnly val="1"/>
  </c:chart>
  <c:spPr>
    <a:solidFill xmlns:a="http://schemas.openxmlformats.org/drawingml/2006/main">
      <a:srgbClr val="0B0B0C"/>
    </a:solidFill>
    <a:ln xmlns:a="http://schemas.openxmlformats.org/drawingml/2006/main" w="0">
      <a:noFill/>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500">
                <a:solidFill>
                  <a:srgbClr val="EDEDED"/>
                </a:solidFill>
                <a:latin typeface="Consolas"/>
                <a:ea typeface="Consolas"/>
                <a:cs typeface="Consolas"/>
              </a:rPr>
              <a:t>TX</a:t>
            </a:r>
          </a:p>
        </c:rich>
      </c:tx>
      <c:overlay val="0"/>
      <c:txPr>
        <a:bodyPr xmlns:a="http://schemas.openxmlformats.org/drawingml/2006/main" anchorCtr="1"/>
        <a:lstStyle xmlns:a="http://schemas.openxmlformats.org/drawingml/2006/main"/>
        <a:p xmlns:a="http://schemas.openxmlformats.org/drawingml/2006/main">
          <a:pPr>
            <a:defRPr sz="1500">
              <a:solidFill>
                <a:srgbClr val="EDEDED"/>
              </a:solidFill>
              <a:latin typeface="Consolas"/>
              <a:ea typeface="Consolas"/>
              <a:cs typeface="Consolas"/>
            </a:defRPr>
          </a:pPr>
        </a:p>
      </c:txPr>
    </c:title>
    <c:plotArea>
      <c:scatterChart>
        <c:scatterStyle val="line"/>
        <c:ser>
          <c:idx val="0"/>
          <c:order val="0"/>
          <c:tx>
            <c:v>TX</c:v>
          </c:tx>
          <c:spPr>
            <a:ln xmlns:a="http://schemas.openxmlformats.org/drawingml/2006/main" w="28575">
              <a:solidFill>
                <a:srgbClr val="EF9529"/>
              </a:solidFill>
              <a:prstDash val="solid"/>
            </a:ln>
          </c:spPr>
          <c:marker>
            <c:symbol val="none"/>
          </c:marker>
          <c:xVal>
            <c:numRef>
              <c:f>'Chart Data'!$A$2:$A$25</c:f>
              <c:numCache>
                <c:formatCode>General</c:formatCode>
                <c:ptCount val="24"/>
                <c:pt idx="0">
                  <c:v>0</c:v>
                </c:pt>
                <c:pt idx="1">
                  <c:v>1</c:v>
                </c:pt>
                <c:pt idx="2">
                  <c:v>1</c:v>
                </c:pt>
                <c:pt idx="3">
                  <c:v>2</c:v>
                </c:pt>
                <c:pt idx="4">
                  <c:v>2</c:v>
                </c:pt>
                <c:pt idx="5">
                  <c:v>3</c:v>
                </c:pt>
                <c:pt idx="6">
                  <c:v>3</c:v>
                </c:pt>
                <c:pt idx="7">
                  <c:v>4</c:v>
                </c:pt>
                <c:pt idx="8">
                  <c:v>4</c:v>
                </c:pt>
                <c:pt idx="9">
                  <c:v>5</c:v>
                </c:pt>
                <c:pt idx="10">
                  <c:v>5</c:v>
                </c:pt>
                <c:pt idx="11">
                  <c:v>6</c:v>
                </c:pt>
                <c:pt idx="12">
                  <c:v>6</c:v>
                </c:pt>
                <c:pt idx="13">
                  <c:v>7</c:v>
                </c:pt>
                <c:pt idx="14">
                  <c:v>7</c:v>
                </c:pt>
                <c:pt idx="15">
                  <c:v>8</c:v>
                </c:pt>
                <c:pt idx="16">
                  <c:v>8</c:v>
                </c:pt>
                <c:pt idx="17">
                  <c:v>9</c:v>
                </c:pt>
                <c:pt idx="18">
                  <c:v>9</c:v>
                </c:pt>
                <c:pt idx="19">
                  <c:v>10</c:v>
                </c:pt>
                <c:pt idx="20">
                  <c:v>10</c:v>
                </c:pt>
                <c:pt idx="21">
                  <c:v>11</c:v>
                </c:pt>
                <c:pt idx="22">
                  <c:v>11</c:v>
                </c:pt>
                <c:pt idx="23">
                  <c:v>12</c:v>
                </c:pt>
              </c:numCache>
            </c:numRef>
          </c:xVal>
          <c:yVal>
            <c:numRef>
              <c:f>'Chart Data'!$B$2:$B$25</c:f>
              <c:numCache>
                <c:formatCode>General</c:formatCode>
                <c:ptCount val="24"/>
                <c:pt idx="0">
                  <c:v>1</c:v>
                </c:pt>
                <c:pt idx="1">
                  <c:v>1</c:v>
                </c:pt>
                <c:pt idx="2">
                  <c:v>0</c:v>
                </c:pt>
                <c:pt idx="3">
                  <c:v>0</c:v>
                </c:pt>
                <c:pt idx="4">
                  <c:v>1</c:v>
                </c:pt>
                <c:pt idx="5">
                  <c:v>1</c:v>
                </c:pt>
                <c:pt idx="6">
                  <c:v>1</c:v>
                </c:pt>
                <c:pt idx="7">
                  <c:v>1</c:v>
                </c:pt>
                <c:pt idx="8">
                  <c:v>0</c:v>
                </c:pt>
                <c:pt idx="9">
                  <c:v>0</c:v>
                </c:pt>
                <c:pt idx="10">
                  <c:v>0</c:v>
                </c:pt>
                <c:pt idx="11">
                  <c:v>0</c:v>
                </c:pt>
                <c:pt idx="12">
                  <c:v>1</c:v>
                </c:pt>
                <c:pt idx="13">
                  <c:v>1</c:v>
                </c:pt>
                <c:pt idx="14">
                  <c:v>0</c:v>
                </c:pt>
                <c:pt idx="15">
                  <c:v>0</c:v>
                </c:pt>
                <c:pt idx="16">
                  <c:v>1</c:v>
                </c:pt>
                <c:pt idx="17">
                  <c:v>1</c:v>
                </c:pt>
                <c:pt idx="18">
                  <c:v>0</c:v>
                </c:pt>
                <c:pt idx="19">
                  <c:v>0</c:v>
                </c:pt>
                <c:pt idx="20">
                  <c:v>0</c:v>
                </c:pt>
                <c:pt idx="21">
                  <c:v>0</c:v>
                </c:pt>
                <c:pt idx="22">
                  <c:v>1</c:v>
                </c:pt>
                <c:pt idx="23">
                  <c:v>1</c:v>
                </c:pt>
              </c:numCache>
            </c:numRef>
          </c:yVal>
          <c:smooth val="0"/>
        </c:ser>
        <c:axId val="48650112"/>
        <c:axId val="48672768"/>
      </c:scatterChart>
      <c:valAx>
        <c:axId val="48672768"/>
        <c:scaling>
          <c:orientation val="minMax"/>
          <c:max val="1"/>
          <c:min val="0"/>
        </c:scaling>
        <c:delete val="0"/>
        <c:axPos val="l"/>
        <c:numFmt formatCode="General"/>
        <c:majorTickMark val="none"/>
        <c:minorTickMark val="none"/>
        <c:tickLblPos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9A9AA2"/>
                </a:solidFill>
                <a:latin typeface="Segoe UI"/>
                <a:ea typeface="Segoe UI"/>
                <a:cs typeface="Segoe UI"/>
              </a:defRPr>
            </a:pPr>
          </a:p>
        </c:txPr>
        <c:crossAx val="48650112"/>
        <c:majorUnit val="1"/>
      </c:valAx>
      <c:valAx>
        <c:axId val="48650112"/>
        <c:scaling>
          <c:orientation val="minMax"/>
          <c:max val="12"/>
          <c:min val="0"/>
        </c:scaling>
        <c:delete val="0"/>
        <c:axPos val="b"/>
        <c:majorGridlines>
          <c:spPr>
            <a:ln xmlns:a="http://schemas.openxmlformats.org/drawingml/2006/main" w="4763">
              <a:solidFill>
                <a:srgbClr val="35353C"/>
              </a:solidFill>
            </a:ln>
          </c:spPr>
        </c:majorGridlines>
        <c:title>
          <c:tx>
            <c:rich>
              <a:bodyPr xmlns:a="http://schemas.openxmlformats.org/drawingml/2006/main"/>
              <a:lstStyle xmlns:a="http://schemas.openxmlformats.org/drawingml/2006/main"/>
              <a:p xmlns:a="http://schemas.openxmlformats.org/drawingml/2006/main">
                <a:r>
                  <a:rPr sz="1350">
                    <a:solidFill>
                      <a:srgbClr val="9A9AA2"/>
                    </a:solidFill>
                    <a:latin typeface="Segoe UI"/>
                    <a:ea typeface="Segoe UI"/>
                    <a:cs typeface="Segoe UI"/>
                  </a:rPr>
                  <a:t>Bit intervals</a:t>
                </a:r>
              </a:p>
            </c:rich>
          </c:tx>
          <c:overlay val="0"/>
          <c:txPr>
            <a:bodyPr xmlns:a="http://schemas.openxmlformats.org/drawingml/2006/main" anchorCtr="1"/>
            <a:lstStyle xmlns:a="http://schemas.openxmlformats.org/drawingml/2006/main"/>
            <a:p xmlns:a="http://schemas.openxmlformats.org/drawingml/2006/main">
              <a:pPr>
                <a:defRPr sz="1350">
                  <a:solidFill>
                    <a:srgbClr val="9A9AA2"/>
                  </a:solidFill>
                  <a:latin typeface="Segoe UI"/>
                  <a:ea typeface="Segoe UI"/>
                  <a:cs typeface="Segoe UI"/>
                </a:defRPr>
              </a:pPr>
            </a:p>
          </c:txPr>
        </c:title>
        <c:numFmt formatCode="General"/>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9A9AA2"/>
                </a:solidFill>
                <a:latin typeface="Segoe UI"/>
                <a:ea typeface="Segoe UI"/>
                <a:cs typeface="Segoe UI"/>
              </a:defRPr>
            </a:pPr>
          </a:p>
        </c:txPr>
        <c:crossAx val="48672768"/>
      </c:valAx>
      <c:spPr>
        <a:solidFill xmlns:a="http://schemas.openxmlformats.org/drawingml/2006/main">
          <a:srgbClr val="0B0B0C"/>
        </a:solidFill>
        <a:ln xmlns:a="http://schemas.openxmlformats.org/drawingml/2006/main" w="0">
          <a:noFill/>
        </a:ln>
      </c:spPr>
    </c:plotArea>
    <c:plotVisOnly val="1"/>
  </c:chart>
  <c:spPr>
    <a:solidFill xmlns:a="http://schemas.openxmlformats.org/drawingml/2006/main">
      <a:srgbClr val="0B0B0C"/>
    </a:solidFill>
    <a:ln xmlns:a="http://schemas.openxmlformats.org/drawingml/2006/main" w="0">
      <a:noFill/>
    </a:ln>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500">
                <a:solidFill>
                  <a:srgbClr val="EDEDED"/>
                </a:solidFill>
                <a:latin typeface="Consolas"/>
                <a:ea typeface="Consolas"/>
                <a:cs typeface="Consolas"/>
              </a:rPr>
              <a:t>TX</a:t>
            </a:r>
          </a:p>
        </c:rich>
      </c:tx>
      <c:overlay val="0"/>
      <c:txPr>
        <a:bodyPr xmlns:a="http://schemas.openxmlformats.org/drawingml/2006/main" anchorCtr="1"/>
        <a:lstStyle xmlns:a="http://schemas.openxmlformats.org/drawingml/2006/main"/>
        <a:p xmlns:a="http://schemas.openxmlformats.org/drawingml/2006/main">
          <a:pPr>
            <a:defRPr sz="1500">
              <a:solidFill>
                <a:srgbClr val="EDEDED"/>
              </a:solidFill>
              <a:latin typeface="Consolas"/>
              <a:ea typeface="Consolas"/>
              <a:cs typeface="Consolas"/>
            </a:defRPr>
          </a:pPr>
        </a:p>
      </c:txPr>
    </c:title>
    <c:plotArea>
      <c:scatterChart>
        <c:scatterStyle val="line"/>
        <c:ser>
          <c:idx val="0"/>
          <c:order val="0"/>
          <c:tx>
            <c:v>TX</c:v>
          </c:tx>
          <c:spPr>
            <a:ln xmlns:a="http://schemas.openxmlformats.org/drawingml/2006/main" w="28575">
              <a:solidFill>
                <a:srgbClr val="EF9529"/>
              </a:solidFill>
              <a:prstDash val="solid"/>
            </a:ln>
          </c:spPr>
          <c:marker>
            <c:symbol val="none"/>
          </c:marker>
          <c:xVal>
            <c:numRef>
              <c:f>'Chart Data'!$A$2:$A$19</c:f>
              <c:numCache>
                <c:formatCode>General</c:formatCode>
                <c:ptCount val="18"/>
                <c:pt idx="0">
                  <c:v>0</c:v>
                </c:pt>
                <c:pt idx="1">
                  <c:v>0.32</c:v>
                </c:pt>
                <c:pt idx="2">
                  <c:v>0.32</c:v>
                </c:pt>
                <c:pt idx="3">
                  <c:v>0.96</c:v>
                </c:pt>
                <c:pt idx="4">
                  <c:v>0.96</c:v>
                </c:pt>
                <c:pt idx="5">
                  <c:v>2.24</c:v>
                </c:pt>
                <c:pt idx="6">
                  <c:v>2.24</c:v>
                </c:pt>
                <c:pt idx="7">
                  <c:v>3.52</c:v>
                </c:pt>
                <c:pt idx="8">
                  <c:v>3.52</c:v>
                </c:pt>
                <c:pt idx="9">
                  <c:v>4.16</c:v>
                </c:pt>
                <c:pt idx="10">
                  <c:v>4.16</c:v>
                </c:pt>
                <c:pt idx="11">
                  <c:v>4.8</c:v>
                </c:pt>
                <c:pt idx="12">
                  <c:v>4.8</c:v>
                </c:pt>
                <c:pt idx="13">
                  <c:v>5.44</c:v>
                </c:pt>
                <c:pt idx="14">
                  <c:v>5.44</c:v>
                </c:pt>
                <c:pt idx="15">
                  <c:v>6.08</c:v>
                </c:pt>
                <c:pt idx="16">
                  <c:v>6.08</c:v>
                </c:pt>
                <c:pt idx="17">
                  <c:v>7.04</c:v>
                </c:pt>
              </c:numCache>
            </c:numRef>
          </c:xVal>
          <c:yVal>
            <c:numRef>
              <c:f>'Chart Data'!$B$2:$B$19</c:f>
              <c:numCache>
                <c:formatCode>General</c:formatCode>
                <c:ptCount val="18"/>
                <c:pt idx="0">
                  <c:v>1</c:v>
                </c:pt>
                <c:pt idx="1">
                  <c:v>1</c:v>
                </c:pt>
                <c:pt idx="2">
                  <c:v>0</c:v>
                </c:pt>
                <c:pt idx="3">
                  <c:v>0</c:v>
                </c:pt>
                <c:pt idx="4">
                  <c:v>1</c:v>
                </c:pt>
                <c:pt idx="5">
                  <c:v>1</c:v>
                </c:pt>
                <c:pt idx="6">
                  <c:v>0</c:v>
                </c:pt>
                <c:pt idx="7">
                  <c:v>0</c:v>
                </c:pt>
                <c:pt idx="8">
                  <c:v>1</c:v>
                </c:pt>
                <c:pt idx="9">
                  <c:v>1</c:v>
                </c:pt>
                <c:pt idx="10">
                  <c:v>0</c:v>
                </c:pt>
                <c:pt idx="11">
                  <c:v>0</c:v>
                </c:pt>
                <c:pt idx="12">
                  <c:v>1</c:v>
                </c:pt>
                <c:pt idx="13">
                  <c:v>1</c:v>
                </c:pt>
                <c:pt idx="14">
                  <c:v>0</c:v>
                </c:pt>
                <c:pt idx="15">
                  <c:v>0</c:v>
                </c:pt>
                <c:pt idx="16">
                  <c:v>1</c:v>
                </c:pt>
                <c:pt idx="17">
                  <c:v>1</c:v>
                </c:pt>
              </c:numCache>
            </c:numRef>
          </c:yVal>
          <c:smooth val="0"/>
        </c:ser>
        <c:axId val="48650112"/>
        <c:axId val="48672768"/>
      </c:scatterChart>
      <c:valAx>
        <c:axId val="48672768"/>
        <c:scaling>
          <c:orientation val="minMax"/>
          <c:max val="1"/>
          <c:min val="0"/>
        </c:scaling>
        <c:delete val="0"/>
        <c:axPos val="l"/>
        <c:numFmt formatCode="General"/>
        <c:majorTickMark val="none"/>
        <c:minorTickMark val="none"/>
        <c:tickLblPos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9A9AA2"/>
                </a:solidFill>
                <a:latin typeface="Segoe UI"/>
                <a:ea typeface="Segoe UI"/>
                <a:cs typeface="Segoe UI"/>
              </a:defRPr>
            </a:pPr>
          </a:p>
        </c:txPr>
        <c:crossAx val="48650112"/>
        <c:majorUnit val="1"/>
      </c:valAx>
      <c:valAx>
        <c:axId val="48650112"/>
        <c:scaling>
          <c:orientation val="minMax"/>
          <c:max val="7.04"/>
          <c:min val="0"/>
        </c:scaling>
        <c:delete val="0"/>
        <c:axPos val="b"/>
        <c:majorGridlines>
          <c:spPr>
            <a:ln xmlns:a="http://schemas.openxmlformats.org/drawingml/2006/main" w="4763">
              <a:solidFill>
                <a:srgbClr val="35353C"/>
              </a:solidFill>
            </a:ln>
          </c:spPr>
        </c:majorGridlines>
        <c:numFmt formatCode="General"/>
        <c:majorTickMark val="none"/>
        <c:minorTickMark val="none"/>
        <c:tickLblPos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9A9AA2"/>
                </a:solidFill>
                <a:latin typeface="Segoe UI"/>
                <a:ea typeface="Segoe UI"/>
                <a:cs typeface="Segoe UI"/>
              </a:defRPr>
            </a:pPr>
          </a:p>
        </c:txPr>
        <c:crossAx val="48672768"/>
      </c:valAx>
      <c:spPr>
        <a:solidFill xmlns:a="http://schemas.openxmlformats.org/drawingml/2006/main">
          <a:srgbClr val="0B0B0C"/>
        </a:solidFill>
        <a:ln xmlns:a="http://schemas.openxmlformats.org/drawingml/2006/main" w="0">
          <a:noFill/>
        </a:ln>
      </c:spPr>
    </c:plotArea>
    <c:plotVisOnly val="1"/>
  </c:chart>
  <c:spPr>
    <a:solidFill xmlns:a="http://schemas.openxmlformats.org/drawingml/2006/main">
      <a:srgbClr val="0B0B0C"/>
    </a:solidFill>
    <a:ln xmlns:a="http://schemas.openxmlformats.org/drawingml/2006/main" w="0">
      <a:noFill/>
    </a:ln>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500">
                <a:solidFill>
                  <a:srgbClr val="EDEDED"/>
                </a:solidFill>
                <a:latin typeface="Consolas"/>
                <a:ea typeface="Consolas"/>
                <a:cs typeface="Consolas"/>
              </a:rPr>
              <a:t>RX</a:t>
            </a:r>
          </a:p>
        </c:rich>
      </c:tx>
      <c:overlay val="0"/>
      <c:txPr>
        <a:bodyPr xmlns:a="http://schemas.openxmlformats.org/drawingml/2006/main" anchorCtr="1"/>
        <a:lstStyle xmlns:a="http://schemas.openxmlformats.org/drawingml/2006/main"/>
        <a:p xmlns:a="http://schemas.openxmlformats.org/drawingml/2006/main">
          <a:pPr>
            <a:defRPr sz="1500">
              <a:solidFill>
                <a:srgbClr val="EDEDED"/>
              </a:solidFill>
              <a:latin typeface="Consolas"/>
              <a:ea typeface="Consolas"/>
              <a:cs typeface="Consolas"/>
            </a:defRPr>
          </a:pPr>
        </a:p>
      </c:txPr>
    </c:title>
    <c:plotArea>
      <c:scatterChart>
        <c:scatterStyle val="line"/>
        <c:ser>
          <c:idx val="0"/>
          <c:order val="0"/>
          <c:tx>
            <c:v>RX</c:v>
          </c:tx>
          <c:spPr>
            <a:ln xmlns:a="http://schemas.openxmlformats.org/drawingml/2006/main" w="28575">
              <a:solidFill>
                <a:srgbClr val="EDEDED"/>
              </a:solidFill>
              <a:prstDash val="solid"/>
            </a:ln>
          </c:spPr>
          <c:marker>
            <c:symbol val="none"/>
          </c:marker>
          <c:xVal>
            <c:numRef>
              <c:f>'Chart Data'!$A$2:$A$15</c:f>
              <c:numCache>
                <c:formatCode>General</c:formatCode>
                <c:ptCount val="14"/>
                <c:pt idx="0">
                  <c:v>0</c:v>
                </c:pt>
                <c:pt idx="1">
                  <c:v>0.31</c:v>
                </c:pt>
                <c:pt idx="2">
                  <c:v>0.31</c:v>
                </c:pt>
                <c:pt idx="3">
                  <c:v>2.23</c:v>
                </c:pt>
                <c:pt idx="4">
                  <c:v>2.23</c:v>
                </c:pt>
                <c:pt idx="5">
                  <c:v>3.51</c:v>
                </c:pt>
                <c:pt idx="6">
                  <c:v>3.51</c:v>
                </c:pt>
                <c:pt idx="7">
                  <c:v>4.15</c:v>
                </c:pt>
                <c:pt idx="8">
                  <c:v>4.15</c:v>
                </c:pt>
                <c:pt idx="9">
                  <c:v>4.79</c:v>
                </c:pt>
                <c:pt idx="10">
                  <c:v>4.79</c:v>
                </c:pt>
                <c:pt idx="11">
                  <c:v>5.43</c:v>
                </c:pt>
                <c:pt idx="12">
                  <c:v>5.43</c:v>
                </c:pt>
                <c:pt idx="13">
                  <c:v>7.04</c:v>
                </c:pt>
              </c:numCache>
            </c:numRef>
          </c:xVal>
          <c:yVal>
            <c:numRef>
              <c:f>'Chart Data'!$B$2:$B$15</c:f>
              <c:numCache>
                <c:formatCode>General</c:formatCode>
                <c:ptCount val="14"/>
                <c:pt idx="0">
                  <c:v>1</c:v>
                </c:pt>
                <c:pt idx="1">
                  <c:v>1</c:v>
                </c:pt>
                <c:pt idx="2">
                  <c:v>0</c:v>
                </c:pt>
                <c:pt idx="3">
                  <c:v>0</c:v>
                </c:pt>
                <c:pt idx="4">
                  <c:v>1</c:v>
                </c:pt>
                <c:pt idx="5">
                  <c:v>1</c:v>
                </c:pt>
                <c:pt idx="6">
                  <c:v>0</c:v>
                </c:pt>
                <c:pt idx="7">
                  <c:v>0</c:v>
                </c:pt>
                <c:pt idx="8">
                  <c:v>1</c:v>
                </c:pt>
                <c:pt idx="9">
                  <c:v>1</c:v>
                </c:pt>
                <c:pt idx="10">
                  <c:v>0</c:v>
                </c:pt>
                <c:pt idx="11">
                  <c:v>0</c:v>
                </c:pt>
                <c:pt idx="12">
                  <c:v>1</c:v>
                </c:pt>
                <c:pt idx="13">
                  <c:v>1</c:v>
                </c:pt>
              </c:numCache>
            </c:numRef>
          </c:yVal>
          <c:smooth val="0"/>
        </c:ser>
        <c:axId val="48650112"/>
        <c:axId val="48672768"/>
      </c:scatterChart>
      <c:valAx>
        <c:axId val="48672768"/>
        <c:scaling>
          <c:orientation val="minMax"/>
          <c:max val="1"/>
          <c:min val="0"/>
        </c:scaling>
        <c:delete val="0"/>
        <c:axPos val="l"/>
        <c:numFmt formatCode="General"/>
        <c:majorTickMark val="none"/>
        <c:minorTickMark val="none"/>
        <c:tickLblPos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9A9AA2"/>
                </a:solidFill>
                <a:latin typeface="Segoe UI"/>
                <a:ea typeface="Segoe UI"/>
                <a:cs typeface="Segoe UI"/>
              </a:defRPr>
            </a:pPr>
          </a:p>
        </c:txPr>
        <c:crossAx val="48650112"/>
        <c:majorUnit val="1"/>
      </c:valAx>
      <c:valAx>
        <c:axId val="48650112"/>
        <c:scaling>
          <c:orientation val="minMax"/>
          <c:max val="7.04"/>
          <c:min val="0"/>
        </c:scaling>
        <c:delete val="0"/>
        <c:axPos val="b"/>
        <c:majorGridlines>
          <c:spPr>
            <a:ln xmlns:a="http://schemas.openxmlformats.org/drawingml/2006/main" w="4763">
              <a:solidFill>
                <a:srgbClr val="35353C"/>
              </a:solidFill>
            </a:ln>
          </c:spPr>
        </c:majorGridlines>
        <c:title>
          <c:tx>
            <c:rich>
              <a:bodyPr xmlns:a="http://schemas.openxmlformats.org/drawingml/2006/main"/>
              <a:lstStyle xmlns:a="http://schemas.openxmlformats.org/drawingml/2006/main"/>
              <a:p xmlns:a="http://schemas.openxmlformats.org/drawingml/2006/main">
                <a:r>
                  <a:rPr sz="1350">
                    <a:solidFill>
                      <a:srgbClr val="9A9AA2"/>
                    </a:solidFill>
                    <a:latin typeface="Segoe UI"/>
                    <a:ea typeface="Segoe UI"/>
                    <a:cs typeface="Segoe UI"/>
                  </a:rPr>
                  <a:t>Time from crop start (us)</a:t>
                </a:r>
              </a:p>
            </c:rich>
          </c:tx>
          <c:overlay val="0"/>
          <c:txPr>
            <a:bodyPr xmlns:a="http://schemas.openxmlformats.org/drawingml/2006/main" anchorCtr="1"/>
            <a:lstStyle xmlns:a="http://schemas.openxmlformats.org/drawingml/2006/main"/>
            <a:p xmlns:a="http://schemas.openxmlformats.org/drawingml/2006/main">
              <a:pPr>
                <a:defRPr sz="1350">
                  <a:solidFill>
                    <a:srgbClr val="9A9AA2"/>
                  </a:solidFill>
                  <a:latin typeface="Segoe UI"/>
                  <a:ea typeface="Segoe UI"/>
                  <a:cs typeface="Segoe UI"/>
                </a:defRPr>
              </a:pPr>
            </a:p>
          </c:txPr>
        </c:title>
        <c:numFmt formatCode="General"/>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9A9AA2"/>
                </a:solidFill>
                <a:latin typeface="Segoe UI"/>
                <a:ea typeface="Segoe UI"/>
                <a:cs typeface="Segoe UI"/>
              </a:defRPr>
            </a:pPr>
          </a:p>
        </c:txPr>
        <c:crossAx val="48672768"/>
      </c:valAx>
      <c:spPr>
        <a:solidFill xmlns:a="http://schemas.openxmlformats.org/drawingml/2006/main">
          <a:srgbClr val="0B0B0C"/>
        </a:solidFill>
        <a:ln xmlns:a="http://schemas.openxmlformats.org/drawingml/2006/main" w="0">
          <a:noFill/>
        </a:ln>
      </c:spPr>
    </c:plotArea>
    <c:plotVisOnly val="1"/>
  </c:chart>
  <c:spPr>
    <a:solidFill xmlns:a="http://schemas.openxmlformats.org/drawingml/2006/main">
      <a:srgbClr val="0B0B0C"/>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366FB3C3-5D1B-4F68-8DFC-2A62AA87F6EA}"/>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777FF1E7-DA09-49BC-87FA-4A68B362C06F}"/>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0D29963F-2653-4199-86A0-C4D7B534DFFB}"/>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UART STUDENT LAB</a:t>
            </a:r>
          </a:p>
        </p:txBody>
      </p:sp>
      <p:sp>
        <p:nvSpPr>
          <p:cNvPr id="5" name="t5">
            <a:extLst xmlns:a="http://schemas.openxmlformats.org/drawingml/2006/main">
              <a:ext uri="{FF2B5EF4-FFF2-40B4-BE49-F238E27FC236}">
                <a16:creationId xmlns:a16="http://schemas.microsoft.com/office/drawing/2014/main" id="{1B3C72BE-F611-49AD-929A-B0E3025E5084}"/>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7E46585D-DD41-432C-8D6A-40A6B364E815}"/>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01/44</a:t>
            </a:r>
          </a:p>
        </p:txBody>
      </p:sp>
      <p:sp>
        <p:nvSpPr>
          <p:cNvPr id="7" name="lesson-title">
            <a:extLst xmlns:a="http://schemas.openxmlformats.org/drawingml/2006/main">
              <a:ext uri="{FF2B5EF4-FFF2-40B4-BE49-F238E27FC236}">
                <a16:creationId xmlns:a16="http://schemas.microsoft.com/office/drawing/2014/main" id="{F04442C2-163F-4BE5-BC6C-C6334A8B1284}"/>
              </a:ext>
            </a:extLst>
          </p:cNvPr>
          <p:cNvSpPr>
            <a:spLocks xmlns:a="http://schemas.openxmlformats.org/drawingml/2006/main" noGrp="1"/>
          </p:cNvSpPr>
          <p:nvPr/>
        </p:nvSpPr>
        <p:spPr>
          <a:xfrm xmlns:a="http://schemas.openxmlformats.org/drawingml/2006/main">
            <a:off x="609600" y="14287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EDEDED"/>
                </a:solidFill>
                <a:latin typeface="Segoe UI"/>
                <a:ea typeface="Segoe UI"/>
                <a:cs typeface="Segoe UI"/>
              </a:defRPr>
            </a:pPr>
            <a:r>
              <a:rPr sz="4050" b="1">
                <a:solidFill>
                  <a:srgbClr val="EDEDED"/>
                </a:solidFill>
                <a:latin typeface="Segoe UI"/>
                <a:ea typeface="Segoe UI"/>
                <a:cs typeface="Segoe UI"/>
              </a:rPr>
              <a:t>UART protocol and ASIC build</a:t>
            </a:r>
          </a:p>
        </p:txBody>
      </p:sp>
      <p:sp>
        <p:nvSpPr>
          <p:cNvPr id="8" name="cover-summary-0">
            <a:extLst xmlns:a="http://schemas.openxmlformats.org/drawingml/2006/main">
              <a:ext uri="{FF2B5EF4-FFF2-40B4-BE49-F238E27FC236}">
                <a16:creationId xmlns:a16="http://schemas.microsoft.com/office/drawing/2014/main" id="{14826830-FEE1-4169-AD1E-0E5ABD951324}"/>
              </a:ext>
            </a:extLst>
          </p:cNvPr>
          <p:cNvSpPr>
            <a:spLocks xmlns:a="http://schemas.openxmlformats.org/drawingml/2006/main" noGrp="1"/>
          </p:cNvSpPr>
          <p:nvPr/>
        </p:nvSpPr>
        <p:spPr>
          <a:xfrm xmlns:a="http://schemas.openxmlformats.org/drawingml/2006/main">
            <a:off x="647700" y="2724150"/>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F9529"/>
                </a:solidFill>
                <a:latin typeface="Segoe UI"/>
                <a:ea typeface="Segoe UI"/>
                <a:cs typeface="Segoe UI"/>
              </a:defRPr>
            </a:pPr>
            <a:r>
              <a:rPr sz="2175" b="0">
                <a:solidFill>
                  <a:srgbClr val="EF9529"/>
                </a:solidFill>
                <a:latin typeface="Segoe UI"/>
                <a:ea typeface="Segoe UI"/>
                <a:cs typeface="Segoe UI"/>
              </a:rPr>
              <a:t>A student lesson on asynchronous serial bytes</a:t>
            </a:r>
          </a:p>
        </p:txBody>
      </p:sp>
      <p:sp>
        <p:nvSpPr>
          <p:cNvPr id="9" name="cover-summary-1">
            <a:extLst xmlns:a="http://schemas.openxmlformats.org/drawingml/2006/main">
              <a:ext uri="{FF2B5EF4-FFF2-40B4-BE49-F238E27FC236}">
                <a16:creationId xmlns:a16="http://schemas.microsoft.com/office/drawing/2014/main" id="{4C39C482-6AFC-4D98-B7CA-B81A13E012CD}"/>
              </a:ext>
            </a:extLst>
          </p:cNvPr>
          <p:cNvSpPr>
            <a:spLocks xmlns:a="http://schemas.openxmlformats.org/drawingml/2006/main" noGrp="1"/>
          </p:cNvSpPr>
          <p:nvPr/>
        </p:nvSpPr>
        <p:spPr>
          <a:xfrm xmlns:a="http://schemas.openxmlformats.org/drawingml/2006/main">
            <a:off x="647700" y="3352800"/>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9A9AA2"/>
                </a:solidFill>
                <a:latin typeface="Segoe UI"/>
                <a:ea typeface="Segoe UI"/>
                <a:cs typeface="Segoe UI"/>
              </a:defRPr>
            </a:pPr>
            <a:r>
              <a:rPr sz="2175" b="0">
                <a:solidFill>
                  <a:srgbClr val="9A9AA2"/>
                </a:solidFill>
                <a:latin typeface="Segoe UI"/>
                <a:ea typeface="Segoe UI"/>
                <a:cs typeface="Segoe UI"/>
              </a:rPr>
              <a:t>Frame timing, receiver sampling, verification and routed GDS</a:t>
            </a:r>
          </a:p>
        </p:txBody>
      </p:sp>
      <p:sp>
        <p:nvSpPr>
          <p:cNvPr id="10" name="author">
            <a:extLst xmlns:a="http://schemas.openxmlformats.org/drawingml/2006/main">
              <a:ext uri="{FF2B5EF4-FFF2-40B4-BE49-F238E27FC236}">
                <a16:creationId xmlns:a16="http://schemas.microsoft.com/office/drawing/2014/main" id="{16441F77-BFAB-4542-B89B-10774C4498C5}"/>
              </a:ext>
            </a:extLst>
          </p:cNvPr>
          <p:cNvSpPr>
            <a:spLocks xmlns:a="http://schemas.openxmlformats.org/drawingml/2006/main" noGrp="1"/>
          </p:cNvSpPr>
          <p:nvPr/>
        </p:nvSpPr>
        <p:spPr>
          <a:xfrm xmlns:a="http://schemas.openxmlformats.org/drawingml/2006/main">
            <a:off x="647700" y="5200650"/>
            <a:ext cx="952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9A9AA2"/>
                </a:solidFill>
                <a:latin typeface="Segoe UI"/>
                <a:ea typeface="Segoe UI"/>
                <a:cs typeface="Segoe UI"/>
              </a:defRPr>
            </a:pPr>
            <a:r>
              <a:rPr sz="1650" b="0">
                <a:solidFill>
                  <a:srgbClr val="9A9AA2"/>
                </a:solidFill>
                <a:latin typeface="Segoe UI"/>
                <a:ea typeface="Segoe UI"/>
                <a:cs typeface="Segoe UI"/>
              </a:rPr>
              <a:t>IGNYTION_TECH    October 2026</a:t>
            </a:r>
          </a:p>
        </p:txBody>
      </p:sp>
      <p:sp>
        <p:nvSpPr>
          <p:cNvPr id="11" name="scope">
            <a:extLst xmlns:a="http://schemas.openxmlformats.org/drawingml/2006/main">
              <a:ext uri="{FF2B5EF4-FFF2-40B4-BE49-F238E27FC236}">
                <a16:creationId xmlns:a16="http://schemas.microsoft.com/office/drawing/2014/main" id="{E126302E-99A2-4720-8550-54734A608929}"/>
              </a:ext>
            </a:extLst>
          </p:cNvPr>
          <p:cNvSpPr>
            <a:spLocks xmlns:a="http://schemas.openxmlformats.org/drawingml/2006/main" noGrp="1"/>
          </p:cNvSpPr>
          <p:nvPr/>
        </p:nvSpPr>
        <p:spPr>
          <a:xfrm xmlns:a="http://schemas.openxmlformats.org/drawingml/2006/main">
            <a:off x="647700" y="5657850"/>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9A9AA2"/>
                </a:solidFill>
                <a:latin typeface="Segoe UI"/>
                <a:ea typeface="Segoe UI"/>
                <a:cs typeface="Segoe UI"/>
              </a:defRPr>
            </a:pPr>
            <a:r>
              <a:rPr sz="1575" b="0">
                <a:solidFill>
                  <a:srgbClr val="9A9AA2"/>
                </a:solidFill>
                <a:latin typeface="Segoe UI"/>
                <a:ea typeface="Segoe UI"/>
                <a:cs typeface="Segoe UI"/>
              </a:rPr>
              <a:t>Reference build. Foundry DRC/LVS and full-chip signoff are unperformed.</a:t>
            </a:r>
          </a:p>
        </p:txBody>
      </p:sp>
    </p:spTree>
    <p:extLst>
      <p:ext uri="{BB962C8B-B14F-4D97-AF65-F5344CB8AC3E}">
        <p14:creationId xmlns:p14="http://schemas.microsoft.com/office/powerpoint/2010/main" val="1426376253"/>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366FB3C3-5D1B-4F68-8DFC-2A62AA87F6EA}"/>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777FF1E7-DA09-49BC-87FA-4A68B362C06F}"/>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0D29963F-2653-4199-86A0-C4D7B534DFFB}"/>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UART STUDENT LAB</a:t>
            </a:r>
          </a:p>
        </p:txBody>
      </p:sp>
      <p:sp>
        <p:nvSpPr>
          <p:cNvPr id="5" name="t5">
            <a:extLst xmlns:a="http://schemas.openxmlformats.org/drawingml/2006/main">
              <a:ext uri="{FF2B5EF4-FFF2-40B4-BE49-F238E27FC236}">
                <a16:creationId xmlns:a16="http://schemas.microsoft.com/office/drawing/2014/main" id="{1B3C72BE-F611-49AD-929A-B0E3025E5084}"/>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7E46585D-DD41-432C-8D6A-40A6B364E815}"/>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02/44</a:t>
            </a:r>
          </a:p>
        </p:txBody>
      </p:sp>
      <p:sp>
        <p:nvSpPr>
          <p:cNvPr id="7" name="lesson-title">
            <a:extLst xmlns:a="http://schemas.openxmlformats.org/drawingml/2006/main">
              <a:ext uri="{FF2B5EF4-FFF2-40B4-BE49-F238E27FC236}">
                <a16:creationId xmlns:a16="http://schemas.microsoft.com/office/drawing/2014/main" id="{43DDCFD3-838A-4DBE-8BC8-ABE41C15775B}"/>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Asynchronous serial communication</a:t>
            </a:r>
          </a:p>
        </p:txBody>
      </p:sp>
      <p:sp>
        <p:nvSpPr>
          <p:cNvPr id="8" name="explanation-0">
            <a:extLst xmlns:a="http://schemas.openxmlformats.org/drawingml/2006/main">
              <a:ext uri="{FF2B5EF4-FFF2-40B4-BE49-F238E27FC236}">
                <a16:creationId xmlns:a16="http://schemas.microsoft.com/office/drawing/2014/main" id="{55651E7F-956F-40F7-B3D6-B8C9A69D3061}"/>
              </a:ext>
            </a:extLst>
          </p:cNvPr>
          <p:cNvSpPr>
            <a:spLocks xmlns:a="http://schemas.openxmlformats.org/drawingml/2006/main" noGrp="1"/>
          </p:cNvSpPr>
          <p:nvPr/>
        </p:nvSpPr>
        <p:spPr>
          <a:xfrm xmlns:a="http://schemas.openxmlformats.org/drawingml/2006/main">
            <a:off x="609600" y="19240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F9529"/>
                </a:solidFill>
                <a:latin typeface="Segoe UI"/>
                <a:ea typeface="Segoe UI"/>
                <a:cs typeface="Segoe UI"/>
              </a:defRPr>
            </a:pPr>
            <a:r>
              <a:rPr sz="2175" b="0">
                <a:solidFill>
                  <a:srgbClr val="EF9529"/>
                </a:solidFill>
                <a:latin typeface="Segoe UI"/>
                <a:ea typeface="Segoe UI"/>
                <a:cs typeface="Segoe UI"/>
              </a:rPr>
              <a:t>The transmitter and receiver use their own local clocks.</a:t>
            </a:r>
          </a:p>
        </p:txBody>
      </p:sp>
      <p:sp>
        <p:nvSpPr>
          <p:cNvPr id="9" name="explanation-1">
            <a:extLst xmlns:a="http://schemas.openxmlformats.org/drawingml/2006/main">
              <a:ext uri="{FF2B5EF4-FFF2-40B4-BE49-F238E27FC236}">
                <a16:creationId xmlns:a16="http://schemas.microsoft.com/office/drawing/2014/main" id="{5BA3D9D3-CF27-47A8-808A-B41308749D30}"/>
              </a:ext>
            </a:extLst>
          </p:cNvPr>
          <p:cNvSpPr>
            <a:spLocks xmlns:a="http://schemas.openxmlformats.org/drawingml/2006/main" noGrp="1"/>
          </p:cNvSpPr>
          <p:nvPr/>
        </p:nvSpPr>
        <p:spPr>
          <a:xfrm xmlns:a="http://schemas.openxmlformats.org/drawingml/2006/main">
            <a:off x="609600" y="274320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A START transition establishes the beginning of a frame.</a:t>
            </a:r>
          </a:p>
        </p:txBody>
      </p:sp>
      <p:sp>
        <p:nvSpPr>
          <p:cNvPr id="10" name="explanation-2">
            <a:extLst xmlns:a="http://schemas.openxmlformats.org/drawingml/2006/main">
              <a:ext uri="{FF2B5EF4-FFF2-40B4-BE49-F238E27FC236}">
                <a16:creationId xmlns:a16="http://schemas.microsoft.com/office/drawing/2014/main" id="{C507ADCD-C4D8-4443-A315-B8B910448FC4}"/>
              </a:ext>
            </a:extLst>
          </p:cNvPr>
          <p:cNvSpPr>
            <a:spLocks xmlns:a="http://schemas.openxmlformats.org/drawingml/2006/main" noGrp="1"/>
          </p:cNvSpPr>
          <p:nvPr/>
        </p:nvSpPr>
        <p:spPr>
          <a:xfrm xmlns:a="http://schemas.openxmlformats.org/drawingml/2006/main">
            <a:off x="609600" y="35623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Both ends must agree on baud rate and frame format.</a:t>
            </a:r>
          </a:p>
        </p:txBody>
      </p:sp>
    </p:spTree>
    <p:extLst>
      <p:ext uri="{BB962C8B-B14F-4D97-AF65-F5344CB8AC3E}">
        <p14:creationId xmlns:p14="http://schemas.microsoft.com/office/powerpoint/2010/main" val="1426376253"/>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366FB3C3-5D1B-4F68-8DFC-2A62AA87F6EA}"/>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777FF1E7-DA09-49BC-87FA-4A68B362C06F}"/>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0D29963F-2653-4199-86A0-C4D7B534DFFB}"/>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UART STUDENT LAB</a:t>
            </a:r>
          </a:p>
        </p:txBody>
      </p:sp>
      <p:sp>
        <p:nvSpPr>
          <p:cNvPr id="5" name="t5">
            <a:extLst xmlns:a="http://schemas.openxmlformats.org/drawingml/2006/main">
              <a:ext uri="{FF2B5EF4-FFF2-40B4-BE49-F238E27FC236}">
                <a16:creationId xmlns:a16="http://schemas.microsoft.com/office/drawing/2014/main" id="{1B3C72BE-F611-49AD-929A-B0E3025E5084}"/>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7E46585D-DD41-432C-8D6A-40A6B364E815}"/>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03/44</a:t>
            </a:r>
          </a:p>
        </p:txBody>
      </p:sp>
      <p:sp>
        <p:nvSpPr>
          <p:cNvPr id="7" name="lesson-title">
            <a:extLst xmlns:a="http://schemas.openxmlformats.org/drawingml/2006/main">
              <a:ext uri="{FF2B5EF4-FFF2-40B4-BE49-F238E27FC236}">
                <a16:creationId xmlns:a16="http://schemas.microsoft.com/office/drawing/2014/main" id="{0378A030-9DE8-4AAD-8AA3-9129F90079CE}"/>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TX, RX and electrical levels</a:t>
            </a:r>
          </a:p>
        </p:txBody>
      </p:sp>
      <p:sp>
        <p:nvSpPr>
          <p:cNvPr id="8" name="explanation-0">
            <a:extLst xmlns:a="http://schemas.openxmlformats.org/drawingml/2006/main">
              <a:ext uri="{FF2B5EF4-FFF2-40B4-BE49-F238E27FC236}">
                <a16:creationId xmlns:a16="http://schemas.microsoft.com/office/drawing/2014/main" id="{335A4655-8648-46B5-BCD9-659CBCD530DC}"/>
              </a:ext>
            </a:extLst>
          </p:cNvPr>
          <p:cNvSpPr>
            <a:spLocks xmlns:a="http://schemas.openxmlformats.org/drawingml/2006/main" noGrp="1"/>
          </p:cNvSpPr>
          <p:nvPr/>
        </p:nvSpPr>
        <p:spPr>
          <a:xfrm xmlns:a="http://schemas.openxmlformats.org/drawingml/2006/main">
            <a:off x="609600" y="1724025"/>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F9529"/>
                </a:solidFill>
                <a:latin typeface="Segoe UI"/>
                <a:ea typeface="Segoe UI"/>
                <a:cs typeface="Segoe UI"/>
              </a:defRPr>
            </a:pPr>
            <a:r>
              <a:rPr sz="1800" b="0">
                <a:solidFill>
                  <a:srgbClr val="EF9529"/>
                </a:solidFill>
                <a:latin typeface="Segoe UI"/>
                <a:ea typeface="Segoe UI"/>
                <a:cs typeface="Segoe UI"/>
              </a:rPr>
              <a:t>TX from one device connects to RX at the other.</a:t>
            </a:r>
          </a:p>
        </p:txBody>
      </p:sp>
      <p:sp>
        <p:nvSpPr>
          <p:cNvPr id="9" name="explanation-1">
            <a:extLst xmlns:a="http://schemas.openxmlformats.org/drawingml/2006/main">
              <a:ext uri="{FF2B5EF4-FFF2-40B4-BE49-F238E27FC236}">
                <a16:creationId xmlns:a16="http://schemas.microsoft.com/office/drawing/2014/main" id="{DBEC1019-349C-408F-9D5E-C20A9C28FCB3}"/>
              </a:ext>
            </a:extLst>
          </p:cNvPr>
          <p:cNvSpPr>
            <a:spLocks xmlns:a="http://schemas.openxmlformats.org/drawingml/2006/main" noGrp="1"/>
          </p:cNvSpPr>
          <p:nvPr/>
        </p:nvSpPr>
        <p:spPr>
          <a:xfrm xmlns:a="http://schemas.openxmlformats.org/drawingml/2006/main">
            <a:off x="609600" y="2076450"/>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DEDED"/>
                </a:solidFill>
                <a:latin typeface="Segoe UI"/>
                <a:ea typeface="Segoe UI"/>
                <a:cs typeface="Segoe UI"/>
              </a:defRPr>
            </a:pPr>
            <a:r>
              <a:rPr sz="1800" b="0">
                <a:solidFill>
                  <a:srgbClr val="EDEDED"/>
                </a:solidFill>
                <a:latin typeface="Segoe UI"/>
                <a:ea typeface="Segoe UI"/>
                <a:cs typeface="Segoe UI"/>
              </a:rPr>
              <a:t>A shared ground and compatible signalling levels are required.</a:t>
            </a:r>
          </a:p>
        </p:txBody>
      </p:sp>
      <p:sp>
        <p:nvSpPr>
          <p:cNvPr id="10" name="explanation-2">
            <a:extLst xmlns:a="http://schemas.openxmlformats.org/drawingml/2006/main">
              <a:ext uri="{FF2B5EF4-FFF2-40B4-BE49-F238E27FC236}">
                <a16:creationId xmlns:a16="http://schemas.microsoft.com/office/drawing/2014/main" id="{99B4B31F-77FC-4E8B-8434-30ABF7E486E3}"/>
              </a:ext>
            </a:extLst>
          </p:cNvPr>
          <p:cNvSpPr>
            <a:spLocks xmlns:a="http://schemas.openxmlformats.org/drawingml/2006/main" noGrp="1"/>
          </p:cNvSpPr>
          <p:nvPr/>
        </p:nvSpPr>
        <p:spPr>
          <a:xfrm xmlns:a="http://schemas.openxmlformats.org/drawingml/2006/main">
            <a:off x="609600" y="2428875"/>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DEDED"/>
                </a:solidFill>
                <a:latin typeface="Segoe UI"/>
                <a:ea typeface="Segoe UI"/>
                <a:cs typeface="Segoe UI"/>
              </a:defRPr>
            </a:pPr>
            <a:r>
              <a:rPr sz="1800" b="0">
                <a:solidFill>
                  <a:srgbClr val="EDEDED"/>
                </a:solidFill>
                <a:latin typeface="Segoe UI"/>
                <a:ea typeface="Segoe UI"/>
                <a:cs typeface="Segoe UI"/>
              </a:rPr>
              <a:t>An external transceiver is needed for RS-232 or RS-485 links.</a:t>
            </a:r>
          </a:p>
        </p:txBody>
      </p:sp>
      <p:graphicFrame>
        <p:nvGraphicFramePr>
          <p:cNvPr id="21" name=""/>
          <p:cNvGraphicFramePr/>
          <p:nvPr/>
        </p:nvGraphicFramePr>
        <p:xfrm>
          <a:off xmlns:a="http://schemas.openxmlformats.org/drawingml/2006/main" x="609600" y="2914650"/>
          <a:ext xmlns:a="http://schemas.openxmlformats.org/drawingml/2006/main" cx="10972800" cy="3238500"/>
        </p:xfrm>
        <a:graphic xmlns:a="http://schemas.openxmlformats.org/drawingml/2006/main">
          <a:graphicData uri="http://schemas.openxmlformats.org/drawingml/2006/table">
            <a:tbl>
              <a:tblPr/>
              <a:tblGrid>
                <a:gridCol w="3657600"/>
                <a:gridCol w="3657600"/>
                <a:gridCol w="3657600"/>
              </a:tblGrid>
              <a:tr h="647700">
                <a:tc>
                  <a:txBody>
                    <a:bodyPr>
                      <a:noAutofit/>
                    </a:bodyPr>
                    <a:lstStyle/>
                    <a:p>
                      <a:r>
                        <a:rPr sz="1650" b="1">
                          <a:solidFill>
                            <a:srgbClr val="EF9529"/>
                          </a:solidFill>
                          <a:latin typeface="Segoe UI"/>
                          <a:ea typeface="Segoe UI"/>
                          <a:cs typeface="Segoe UI"/>
                        </a:rPr>
                        <a:t>Pin</a:t>
                      </a:r>
                    </a:p>
                  </a:txBody>
                  <a:tcPr marL="91440" marR="91440" marT="45720" marB="45720">
                    <a:solidFill>
                      <a:srgbClr val="24242B"/>
                    </a:solidFill>
                  </a:tcPr>
                </a:tc>
                <a:tc>
                  <a:txBody>
                    <a:bodyPr>
                      <a:noAutofit/>
                    </a:bodyPr>
                    <a:lstStyle/>
                    <a:p>
                      <a:r>
                        <a:rPr sz="1650" b="1">
                          <a:solidFill>
                            <a:srgbClr val="EF9529"/>
                          </a:solidFill>
                          <a:latin typeface="Segoe UI"/>
                          <a:ea typeface="Segoe UI"/>
                          <a:cs typeface="Segoe UI"/>
                        </a:rPr>
                        <a:t>Role</a:t>
                      </a:r>
                    </a:p>
                  </a:txBody>
                  <a:tcPr marL="91440" marR="91440" marT="45720" marB="45720">
                    <a:solidFill>
                      <a:srgbClr val="24242B"/>
                    </a:solidFill>
                  </a:tcPr>
                </a:tc>
                <a:tc>
                  <a:txBody>
                    <a:bodyPr>
                      <a:noAutofit/>
                    </a:bodyPr>
                    <a:lstStyle/>
                    <a:p>
                      <a:r>
                        <a:rPr sz="1650" b="1">
                          <a:solidFill>
                            <a:srgbClr val="EF9529"/>
                          </a:solidFill>
                          <a:latin typeface="Segoe UI"/>
                          <a:ea typeface="Segoe UI"/>
                          <a:cs typeface="Segoe UI"/>
                        </a:rPr>
                        <a:t>Idle for this UART</a:t>
                      </a:r>
                    </a:p>
                  </a:txBody>
                  <a:tcPr marL="91440" marR="91440" marT="45720" marB="45720">
                    <a:solidFill>
                      <a:srgbClr val="24242B"/>
                    </a:solidFill>
                  </a:tcPr>
                </a:tc>
              </a:tr>
              <a:tr h="647700">
                <a:tc>
                  <a:txBody>
                    <a:bodyPr>
                      <a:noAutofit/>
                    </a:bodyPr>
                    <a:lstStyle/>
                    <a:p>
                      <a:r>
                        <a:rPr sz="1650" b="0">
                          <a:solidFill>
                            <a:srgbClr val="EDEDED"/>
                          </a:solidFill>
                          <a:latin typeface="Segoe UI"/>
                          <a:ea typeface="Segoe UI"/>
                          <a:cs typeface="Segoe UI"/>
                        </a:rPr>
                        <a:t>txd</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Transmit serial output</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High</a:t>
                      </a:r>
                    </a:p>
                  </a:txBody>
                  <a:tcPr marL="91440" marR="91440" marT="45720" marB="45720">
                    <a:solidFill>
                      <a:srgbClr val="16161A"/>
                    </a:solidFill>
                  </a:tcPr>
                </a:tc>
              </a:tr>
              <a:tr h="647700">
                <a:tc>
                  <a:txBody>
                    <a:bodyPr>
                      <a:noAutofit/>
                    </a:bodyPr>
                    <a:lstStyle/>
                    <a:p>
                      <a:r>
                        <a:rPr sz="1650" b="0">
                          <a:solidFill>
                            <a:srgbClr val="EDEDED"/>
                          </a:solidFill>
                          <a:latin typeface="Segoe UI"/>
                          <a:ea typeface="Segoe UI"/>
                          <a:cs typeface="Segoe UI"/>
                        </a:rPr>
                        <a:t>rxd</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Receive serial input</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High</a:t>
                      </a:r>
                    </a:p>
                  </a:txBody>
                  <a:tcPr marL="91440" marR="91440" marT="45720" marB="45720">
                    <a:solidFill>
                      <a:srgbClr val="16161A"/>
                    </a:solidFill>
                  </a:tcPr>
                </a:tc>
              </a:tr>
              <a:tr h="647700">
                <a:tc>
                  <a:txBody>
                    <a:bodyPr>
                      <a:noAutofit/>
                    </a:bodyPr>
                    <a:lstStyle/>
                    <a:p>
                      <a:r>
                        <a:rPr sz="1650" b="0">
                          <a:solidFill>
                            <a:srgbClr val="EDEDED"/>
                          </a:solidFill>
                          <a:latin typeface="Segoe UI"/>
                          <a:ea typeface="Segoe UI"/>
                          <a:cs typeface="Segoe UI"/>
                        </a:rPr>
                        <a:t>clk</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Local logic clock</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50 MHz reference target</a:t>
                      </a:r>
                    </a:p>
                  </a:txBody>
                  <a:tcPr marL="91440" marR="91440" marT="45720" marB="45720">
                    <a:solidFill>
                      <a:srgbClr val="16161A"/>
                    </a:solidFill>
                  </a:tcPr>
                </a:tc>
              </a:tr>
              <a:tr h="647700">
                <a:tc>
                  <a:txBody>
                    <a:bodyPr>
                      <a:noAutofit/>
                    </a:bodyPr>
                    <a:lstStyle/>
                    <a:p>
                      <a:r>
                        <a:rPr sz="1650" b="0">
                          <a:solidFill>
                            <a:srgbClr val="EDEDED"/>
                          </a:solidFill>
                          <a:latin typeface="Segoe UI"/>
                          <a:ea typeface="Segoe UI"/>
                          <a:cs typeface="Segoe UI"/>
                        </a:rPr>
                        <a:t>rst</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Synchronous active-high reset</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Low during normal operation</a:t>
                      </a:r>
                    </a:p>
                  </a:txBody>
                  <a:tcPr marL="91440" marR="91440" marT="45720" marB="45720">
                    <a:solidFill>
                      <a:srgbClr val="16161A"/>
                    </a:solidFill>
                  </a:tcPr>
                </a:tc>
              </a:tr>
            </a:tbl>
          </a:graphicData>
        </a:graphic>
      </p:graphicFrame>
    </p:spTree>
    <p:extLst>
      <p:ext uri="{BB962C8B-B14F-4D97-AF65-F5344CB8AC3E}">
        <p14:creationId xmlns:p14="http://schemas.microsoft.com/office/powerpoint/2010/main" val="1426376253"/>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366FB3C3-5D1B-4F68-8DFC-2A62AA87F6EA}"/>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777FF1E7-DA09-49BC-87FA-4A68B362C06F}"/>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0D29963F-2653-4199-86A0-C4D7B534DFFB}"/>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UART STUDENT LAB</a:t>
            </a:r>
          </a:p>
        </p:txBody>
      </p:sp>
      <p:sp>
        <p:nvSpPr>
          <p:cNvPr id="5" name="t5">
            <a:extLst xmlns:a="http://schemas.openxmlformats.org/drawingml/2006/main">
              <a:ext uri="{FF2B5EF4-FFF2-40B4-BE49-F238E27FC236}">
                <a16:creationId xmlns:a16="http://schemas.microsoft.com/office/drawing/2014/main" id="{1B3C72BE-F611-49AD-929A-B0E3025E5084}"/>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7E46585D-DD41-432C-8D6A-40A6B364E815}"/>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04/44</a:t>
            </a:r>
          </a:p>
        </p:txBody>
      </p:sp>
      <p:sp>
        <p:nvSpPr>
          <p:cNvPr id="7" name="lesson-title">
            <a:extLst xmlns:a="http://schemas.openxmlformats.org/drawingml/2006/main">
              <a:ext uri="{FF2B5EF4-FFF2-40B4-BE49-F238E27FC236}">
                <a16:creationId xmlns:a16="http://schemas.microsoft.com/office/drawing/2014/main" id="{A03D4659-84E5-4A79-8311-79E9EEA5C74A}"/>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UART logic levels and electrical interfaces</a:t>
            </a:r>
          </a:p>
        </p:txBody>
      </p:sp>
      <p:sp>
        <p:nvSpPr>
          <p:cNvPr id="8" name="explanation-0">
            <a:extLst xmlns:a="http://schemas.openxmlformats.org/drawingml/2006/main">
              <a:ext uri="{FF2B5EF4-FFF2-40B4-BE49-F238E27FC236}">
                <a16:creationId xmlns:a16="http://schemas.microsoft.com/office/drawing/2014/main" id="{593E8327-3FB4-47F5-B4F5-B06C907A8E70}"/>
              </a:ext>
            </a:extLst>
          </p:cNvPr>
          <p:cNvSpPr>
            <a:spLocks xmlns:a="http://schemas.openxmlformats.org/drawingml/2006/main" noGrp="1"/>
          </p:cNvSpPr>
          <p:nvPr/>
        </p:nvSpPr>
        <p:spPr>
          <a:xfrm xmlns:a="http://schemas.openxmlformats.org/drawingml/2006/main">
            <a:off x="609600" y="1724025"/>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F9529"/>
                </a:solidFill>
                <a:latin typeface="Segoe UI"/>
                <a:ea typeface="Segoe UI"/>
                <a:cs typeface="Segoe UI"/>
              </a:defRPr>
            </a:pPr>
            <a:r>
              <a:rPr sz="1800" b="0">
                <a:solidFill>
                  <a:srgbClr val="EF9529"/>
                </a:solidFill>
                <a:latin typeface="Segoe UI"/>
                <a:ea typeface="Segoe UI"/>
                <a:cs typeface="Segoe UI"/>
              </a:rPr>
              <a:t>The RTL expects logic-level RX/TX with a shared reference.</a:t>
            </a:r>
          </a:p>
        </p:txBody>
      </p:sp>
      <p:sp>
        <p:nvSpPr>
          <p:cNvPr id="9" name="explanation-1">
            <a:extLst xmlns:a="http://schemas.openxmlformats.org/drawingml/2006/main">
              <a:ext uri="{FF2B5EF4-FFF2-40B4-BE49-F238E27FC236}">
                <a16:creationId xmlns:a16="http://schemas.microsoft.com/office/drawing/2014/main" id="{0B308603-8612-4311-8BDB-256F11EE6286}"/>
              </a:ext>
            </a:extLst>
          </p:cNvPr>
          <p:cNvSpPr>
            <a:spLocks xmlns:a="http://schemas.openxmlformats.org/drawingml/2006/main" noGrp="1"/>
          </p:cNvSpPr>
          <p:nvPr/>
        </p:nvSpPr>
        <p:spPr>
          <a:xfrm xmlns:a="http://schemas.openxmlformats.org/drawingml/2006/main">
            <a:off x="609600" y="2076450"/>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DEDED"/>
                </a:solidFill>
                <a:latin typeface="Segoe UI"/>
                <a:ea typeface="Segoe UI"/>
                <a:cs typeface="Segoe UI"/>
              </a:defRPr>
            </a:pPr>
            <a:r>
              <a:rPr sz="1800" b="0">
                <a:solidFill>
                  <a:srgbClr val="EDEDED"/>
                </a:solidFill>
                <a:latin typeface="Segoe UI"/>
                <a:ea typeface="Segoe UI"/>
                <a:cs typeface="Segoe UI"/>
              </a:rPr>
              <a:t>RS-232 voltage conversion and RS-485 bus control need separate hardware.</a:t>
            </a:r>
          </a:p>
        </p:txBody>
      </p:sp>
      <p:graphicFrame>
        <p:nvGraphicFramePr>
          <p:cNvPr id="19" name=""/>
          <p:cNvGraphicFramePr/>
          <p:nvPr/>
        </p:nvGraphicFramePr>
        <p:xfrm>
          <a:off xmlns:a="http://schemas.openxmlformats.org/drawingml/2006/main" x="609600" y="2914650"/>
          <a:ext xmlns:a="http://schemas.openxmlformats.org/drawingml/2006/main" cx="10972800" cy="2590800"/>
        </p:xfrm>
        <a:graphic xmlns:a="http://schemas.openxmlformats.org/drawingml/2006/main">
          <a:graphicData uri="http://schemas.openxmlformats.org/drawingml/2006/table">
            <a:tbl>
              <a:tblPr/>
              <a:tblGrid>
                <a:gridCol w="3657600"/>
                <a:gridCol w="3657600"/>
                <a:gridCol w="3657600"/>
              </a:tblGrid>
              <a:tr h="647700">
                <a:tc>
                  <a:txBody>
                    <a:bodyPr>
                      <a:noAutofit/>
                    </a:bodyPr>
                    <a:lstStyle/>
                    <a:p>
                      <a:r>
                        <a:rPr sz="1650" b="1">
                          <a:solidFill>
                            <a:srgbClr val="EF9529"/>
                          </a:solidFill>
                          <a:latin typeface="Segoe UI"/>
                          <a:ea typeface="Segoe UI"/>
                          <a:cs typeface="Segoe UI"/>
                        </a:rPr>
                        <a:t>Interface</a:t>
                      </a:r>
                    </a:p>
                  </a:txBody>
                  <a:tcPr marL="91440" marR="91440" marT="45720" marB="45720">
                    <a:solidFill>
                      <a:srgbClr val="24242B"/>
                    </a:solidFill>
                  </a:tcPr>
                </a:tc>
                <a:tc>
                  <a:txBody>
                    <a:bodyPr>
                      <a:noAutofit/>
                    </a:bodyPr>
                    <a:lstStyle/>
                    <a:p>
                      <a:r>
                        <a:rPr sz="1650" b="1">
                          <a:solidFill>
                            <a:srgbClr val="EF9529"/>
                          </a:solidFill>
                          <a:latin typeface="Segoe UI"/>
                          <a:ea typeface="Segoe UI"/>
                          <a:cs typeface="Segoe UI"/>
                        </a:rPr>
                        <a:t>Electrical meaning</a:t>
                      </a:r>
                    </a:p>
                  </a:txBody>
                  <a:tcPr marL="91440" marR="91440" marT="45720" marB="45720">
                    <a:solidFill>
                      <a:srgbClr val="24242B"/>
                    </a:solidFill>
                  </a:tcPr>
                </a:tc>
                <a:tc>
                  <a:txBody>
                    <a:bodyPr>
                      <a:noAutofit/>
                    </a:bodyPr>
                    <a:lstStyle/>
                    <a:p>
                      <a:r>
                        <a:rPr sz="1650" b="1">
                          <a:solidFill>
                            <a:srgbClr val="EF9529"/>
                          </a:solidFill>
                          <a:latin typeface="Segoe UI"/>
                          <a:ea typeface="Segoe UI"/>
                          <a:cs typeface="Segoe UI"/>
                        </a:rPr>
                        <a:t>Extra hardware</a:t>
                      </a:r>
                    </a:p>
                  </a:txBody>
                  <a:tcPr marL="91440" marR="91440" marT="45720" marB="45720">
                    <a:solidFill>
                      <a:srgbClr val="24242B"/>
                    </a:solidFill>
                  </a:tcPr>
                </a:tc>
              </a:tr>
              <a:tr h="647700">
                <a:tc>
                  <a:txBody>
                    <a:bodyPr>
                      <a:noAutofit/>
                    </a:bodyPr>
                    <a:lstStyle/>
                    <a:p>
                      <a:r>
                        <a:rPr sz="1650" b="0">
                          <a:solidFill>
                            <a:srgbClr val="EDEDED"/>
                          </a:solidFill>
                          <a:latin typeface="Segoe UI"/>
                          <a:ea typeface="Segoe UI"/>
                          <a:cs typeface="Segoe UI"/>
                        </a:rPr>
                        <a:t>Logic UART</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Digital RX/TX levels</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Compatible pads and ground</a:t>
                      </a:r>
                    </a:p>
                  </a:txBody>
                  <a:tcPr marL="91440" marR="91440" marT="45720" marB="45720">
                    <a:solidFill>
                      <a:srgbClr val="16161A"/>
                    </a:solidFill>
                  </a:tcPr>
                </a:tc>
              </a:tr>
              <a:tr h="647700">
                <a:tc>
                  <a:txBody>
                    <a:bodyPr>
                      <a:noAutofit/>
                    </a:bodyPr>
                    <a:lstStyle/>
                    <a:p>
                      <a:r>
                        <a:rPr sz="1650" b="0">
                          <a:solidFill>
                            <a:srgbClr val="EDEDED"/>
                          </a:solidFill>
                          <a:latin typeface="Segoe UI"/>
                          <a:ea typeface="Segoe UI"/>
                          <a:cs typeface="Segoe UI"/>
                        </a:rPr>
                        <a:t>RS-232</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Different voltage/polarity convention</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Level-converting transceiver</a:t>
                      </a:r>
                    </a:p>
                  </a:txBody>
                  <a:tcPr marL="91440" marR="91440" marT="45720" marB="45720">
                    <a:solidFill>
                      <a:srgbClr val="16161A"/>
                    </a:solidFill>
                  </a:tcPr>
                </a:tc>
              </a:tr>
              <a:tr h="647700">
                <a:tc>
                  <a:txBody>
                    <a:bodyPr>
                      <a:noAutofit/>
                    </a:bodyPr>
                    <a:lstStyle/>
                    <a:p>
                      <a:r>
                        <a:rPr sz="1650" b="0">
                          <a:solidFill>
                            <a:srgbClr val="EDEDED"/>
                          </a:solidFill>
                          <a:latin typeface="Segoe UI"/>
                          <a:ea typeface="Segoe UI"/>
                          <a:cs typeface="Segoe UI"/>
                        </a:rPr>
                        <a:t>RS-485</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Differential shared link</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Transceiver and bus-control policy</a:t>
                      </a:r>
                    </a:p>
                  </a:txBody>
                  <a:tcPr marL="91440" marR="91440" marT="45720" marB="45720">
                    <a:solidFill>
                      <a:srgbClr val="16161A"/>
                    </a:solidFill>
                  </a:tcPr>
                </a:tc>
              </a:tr>
            </a:tbl>
          </a:graphicData>
        </a:graphic>
      </p:graphicFrame>
    </p:spTree>
    <p:extLst>
      <p:ext uri="{BB962C8B-B14F-4D97-AF65-F5344CB8AC3E}">
        <p14:creationId xmlns:p14="http://schemas.microsoft.com/office/powerpoint/2010/main" val="142637625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366FB3C3-5D1B-4F68-8DFC-2A62AA87F6EA}"/>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777FF1E7-DA09-49BC-87FA-4A68B362C06F}"/>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0D29963F-2653-4199-86A0-C4D7B534DFFB}"/>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UART STUDENT LAB</a:t>
            </a:r>
          </a:p>
        </p:txBody>
      </p:sp>
      <p:sp>
        <p:nvSpPr>
          <p:cNvPr id="5" name="t5">
            <a:extLst xmlns:a="http://schemas.openxmlformats.org/drawingml/2006/main">
              <a:ext uri="{FF2B5EF4-FFF2-40B4-BE49-F238E27FC236}">
                <a16:creationId xmlns:a16="http://schemas.microsoft.com/office/drawing/2014/main" id="{1B3C72BE-F611-49AD-929A-B0E3025E5084}"/>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7E46585D-DD41-432C-8D6A-40A6B364E815}"/>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05/44</a:t>
            </a:r>
          </a:p>
        </p:txBody>
      </p:sp>
      <p:sp>
        <p:nvSpPr>
          <p:cNvPr id="7" name="lesson-title">
            <a:extLst xmlns:a="http://schemas.openxmlformats.org/drawingml/2006/main">
              <a:ext uri="{FF2B5EF4-FFF2-40B4-BE49-F238E27FC236}">
                <a16:creationId xmlns:a16="http://schemas.microsoft.com/office/drawing/2014/main" id="{34ACD077-F2E7-4867-86AD-4B5FEA652716}"/>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The 8N1 frame</a:t>
            </a:r>
          </a:p>
        </p:txBody>
      </p:sp>
      <p:sp>
        <p:nvSpPr>
          <p:cNvPr id="8" name="explanation-0">
            <a:extLst xmlns:a="http://schemas.openxmlformats.org/drawingml/2006/main">
              <a:ext uri="{FF2B5EF4-FFF2-40B4-BE49-F238E27FC236}">
                <a16:creationId xmlns:a16="http://schemas.microsoft.com/office/drawing/2014/main" id="{89605129-6E75-4625-85C5-8E97E9A24A6C}"/>
              </a:ext>
            </a:extLst>
          </p:cNvPr>
          <p:cNvSpPr>
            <a:spLocks xmlns:a="http://schemas.openxmlformats.org/drawingml/2006/main" noGrp="1"/>
          </p:cNvSpPr>
          <p:nvPr/>
        </p:nvSpPr>
        <p:spPr>
          <a:xfrm xmlns:a="http://schemas.openxmlformats.org/drawingml/2006/main">
            <a:off x="609600" y="1724025"/>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F9529"/>
                </a:solidFill>
                <a:latin typeface="Segoe UI"/>
                <a:ea typeface="Segoe UI"/>
                <a:cs typeface="Segoe UI"/>
              </a:defRPr>
            </a:pPr>
            <a:r>
              <a:rPr sz="1800" b="0">
                <a:solidFill>
                  <a:srgbClr val="EF9529"/>
                </a:solidFill>
                <a:latin typeface="Segoe UI"/>
                <a:ea typeface="Segoe UI"/>
                <a:cs typeface="Segoe UI"/>
              </a:rPr>
              <a:t>One low START bit begins the frame.</a:t>
            </a:r>
          </a:p>
        </p:txBody>
      </p:sp>
      <p:sp>
        <p:nvSpPr>
          <p:cNvPr id="9" name="explanation-1">
            <a:extLst xmlns:a="http://schemas.openxmlformats.org/drawingml/2006/main">
              <a:ext uri="{FF2B5EF4-FFF2-40B4-BE49-F238E27FC236}">
                <a16:creationId xmlns:a16="http://schemas.microsoft.com/office/drawing/2014/main" id="{E987D5A0-DBCB-42C6-9687-572DBC88C609}"/>
              </a:ext>
            </a:extLst>
          </p:cNvPr>
          <p:cNvSpPr>
            <a:spLocks xmlns:a="http://schemas.openxmlformats.org/drawingml/2006/main" noGrp="1"/>
          </p:cNvSpPr>
          <p:nvPr/>
        </p:nvSpPr>
        <p:spPr>
          <a:xfrm xmlns:a="http://schemas.openxmlformats.org/drawingml/2006/main">
            <a:off x="609600" y="2076450"/>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DEDED"/>
                </a:solidFill>
                <a:latin typeface="Segoe UI"/>
                <a:ea typeface="Segoe UI"/>
                <a:cs typeface="Segoe UI"/>
              </a:defRPr>
            </a:pPr>
            <a:r>
              <a:rPr sz="1800" b="0">
                <a:solidFill>
                  <a:srgbClr val="EDEDED"/>
                </a:solidFill>
                <a:latin typeface="Segoe UI"/>
                <a:ea typeface="Segoe UI"/>
                <a:cs typeface="Segoe UI"/>
              </a:rPr>
              <a:t>Eight data bits travel least significant bit first.</a:t>
            </a:r>
          </a:p>
        </p:txBody>
      </p:sp>
      <p:sp>
        <p:nvSpPr>
          <p:cNvPr id="10" name="explanation-2">
            <a:extLst xmlns:a="http://schemas.openxmlformats.org/drawingml/2006/main">
              <a:ext uri="{FF2B5EF4-FFF2-40B4-BE49-F238E27FC236}">
                <a16:creationId xmlns:a16="http://schemas.microsoft.com/office/drawing/2014/main" id="{65E938A4-B463-4010-9A06-7D7D8ED78153}"/>
              </a:ext>
            </a:extLst>
          </p:cNvPr>
          <p:cNvSpPr>
            <a:spLocks xmlns:a="http://schemas.openxmlformats.org/drawingml/2006/main" noGrp="1"/>
          </p:cNvSpPr>
          <p:nvPr/>
        </p:nvSpPr>
        <p:spPr>
          <a:xfrm xmlns:a="http://schemas.openxmlformats.org/drawingml/2006/main">
            <a:off x="609600" y="2428875"/>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DEDED"/>
                </a:solidFill>
                <a:latin typeface="Segoe UI"/>
                <a:ea typeface="Segoe UI"/>
                <a:cs typeface="Segoe UI"/>
              </a:defRPr>
            </a:pPr>
            <a:r>
              <a:rPr sz="1800" b="0">
                <a:solidFill>
                  <a:srgbClr val="EDEDED"/>
                </a:solidFill>
                <a:latin typeface="Segoe UI"/>
                <a:ea typeface="Segoe UI"/>
                <a:cs typeface="Segoe UI"/>
              </a:rPr>
              <a:t>No parity bit and one high STOP bit complete the frame.</a:t>
            </a:r>
          </a:p>
        </p:txBody>
      </p:sp>
      <p:graphicFrame>
        <p:nvGraphicFramePr>
          <p:cNvPr id="21" name=""/>
          <p:cNvGraphicFramePr/>
          <p:nvPr/>
        </p:nvGraphicFramePr>
        <p:xfrm>
          <a:off xmlns:a="http://schemas.openxmlformats.org/drawingml/2006/main" x="609600" y="2914650"/>
          <a:ext xmlns:a="http://schemas.openxmlformats.org/drawingml/2006/main" cx="10972800" cy="1295400"/>
        </p:xfrm>
        <a:graphic xmlns:a="http://schemas.openxmlformats.org/drawingml/2006/main">
          <a:graphicData uri="http://schemas.openxmlformats.org/drawingml/2006/table">
            <a:tbl>
              <a:tblPr/>
              <a:tblGrid>
                <a:gridCol w="1714500"/>
                <a:gridCol w="859367"/>
                <a:gridCol w="859367"/>
                <a:gridCol w="859367"/>
                <a:gridCol w="859367"/>
                <a:gridCol w="859367"/>
                <a:gridCol w="859367"/>
                <a:gridCol w="859367"/>
                <a:gridCol w="859367"/>
                <a:gridCol w="859367"/>
                <a:gridCol w="1524000"/>
              </a:tblGrid>
              <a:tr h="647700">
                <a:tc>
                  <a:txBody>
                    <a:bodyPr>
                      <a:noAutofit/>
                    </a:bodyPr>
                    <a:lstStyle/>
                    <a:p>
                      <a:r>
                        <a:rPr sz="1500" b="1">
                          <a:solidFill>
                            <a:srgbClr val="EF9529"/>
                          </a:solidFill>
                          <a:latin typeface="Segoe UI"/>
                          <a:ea typeface="Segoe UI"/>
                          <a:cs typeface="Segoe UI"/>
                        </a:rPr>
                        <a:t>Interval</a:t>
                      </a:r>
                    </a:p>
                  </a:txBody>
                  <a:tcPr marL="91440" marR="91440" marT="45720" marB="45720">
                    <a:solidFill>
                      <a:srgbClr val="24242B"/>
                    </a:solidFill>
                  </a:tcPr>
                </a:tc>
                <a:tc>
                  <a:txBody>
                    <a:bodyPr>
                      <a:noAutofit/>
                    </a:bodyPr>
                    <a:lstStyle/>
                    <a:p>
                      <a:r>
                        <a:rPr sz="1500" b="1">
                          <a:solidFill>
                            <a:srgbClr val="EF9529"/>
                          </a:solidFill>
                          <a:latin typeface="Segoe UI"/>
                          <a:ea typeface="Segoe UI"/>
                          <a:cs typeface="Segoe UI"/>
                        </a:rPr>
                        <a:t>START</a:t>
                      </a:r>
                    </a:p>
                  </a:txBody>
                  <a:tcPr marL="91440" marR="91440" marT="45720" marB="45720">
                    <a:solidFill>
                      <a:srgbClr val="24242B"/>
                    </a:solidFill>
                  </a:tcPr>
                </a:tc>
                <a:tc>
                  <a:txBody>
                    <a:bodyPr>
                      <a:noAutofit/>
                    </a:bodyPr>
                    <a:lstStyle/>
                    <a:p>
                      <a:r>
                        <a:rPr sz="1500" b="1">
                          <a:solidFill>
                            <a:srgbClr val="EF9529"/>
                          </a:solidFill>
                          <a:latin typeface="Segoe UI"/>
                          <a:ea typeface="Segoe UI"/>
                          <a:cs typeface="Segoe UI"/>
                        </a:rPr>
                        <a:t>D0</a:t>
                      </a:r>
                    </a:p>
                  </a:txBody>
                  <a:tcPr marL="91440" marR="91440" marT="45720" marB="45720">
                    <a:solidFill>
                      <a:srgbClr val="24242B"/>
                    </a:solidFill>
                  </a:tcPr>
                </a:tc>
                <a:tc>
                  <a:txBody>
                    <a:bodyPr>
                      <a:noAutofit/>
                    </a:bodyPr>
                    <a:lstStyle/>
                    <a:p>
                      <a:r>
                        <a:rPr sz="1500" b="1">
                          <a:solidFill>
                            <a:srgbClr val="EF9529"/>
                          </a:solidFill>
                          <a:latin typeface="Segoe UI"/>
                          <a:ea typeface="Segoe UI"/>
                          <a:cs typeface="Segoe UI"/>
                        </a:rPr>
                        <a:t>D1</a:t>
                      </a:r>
                    </a:p>
                  </a:txBody>
                  <a:tcPr marL="91440" marR="91440" marT="45720" marB="45720">
                    <a:solidFill>
                      <a:srgbClr val="24242B"/>
                    </a:solidFill>
                  </a:tcPr>
                </a:tc>
                <a:tc>
                  <a:txBody>
                    <a:bodyPr>
                      <a:noAutofit/>
                    </a:bodyPr>
                    <a:lstStyle/>
                    <a:p>
                      <a:r>
                        <a:rPr sz="1500" b="1">
                          <a:solidFill>
                            <a:srgbClr val="EF9529"/>
                          </a:solidFill>
                          <a:latin typeface="Segoe UI"/>
                          <a:ea typeface="Segoe UI"/>
                          <a:cs typeface="Segoe UI"/>
                        </a:rPr>
                        <a:t>D2</a:t>
                      </a:r>
                    </a:p>
                  </a:txBody>
                  <a:tcPr marL="91440" marR="91440" marT="45720" marB="45720">
                    <a:solidFill>
                      <a:srgbClr val="24242B"/>
                    </a:solidFill>
                  </a:tcPr>
                </a:tc>
                <a:tc>
                  <a:txBody>
                    <a:bodyPr>
                      <a:noAutofit/>
                    </a:bodyPr>
                    <a:lstStyle/>
                    <a:p>
                      <a:r>
                        <a:rPr sz="1500" b="1">
                          <a:solidFill>
                            <a:srgbClr val="EF9529"/>
                          </a:solidFill>
                          <a:latin typeface="Segoe UI"/>
                          <a:ea typeface="Segoe UI"/>
                          <a:cs typeface="Segoe UI"/>
                        </a:rPr>
                        <a:t>D3</a:t>
                      </a:r>
                    </a:p>
                  </a:txBody>
                  <a:tcPr marL="91440" marR="91440" marT="45720" marB="45720">
                    <a:solidFill>
                      <a:srgbClr val="24242B"/>
                    </a:solidFill>
                  </a:tcPr>
                </a:tc>
                <a:tc>
                  <a:txBody>
                    <a:bodyPr>
                      <a:noAutofit/>
                    </a:bodyPr>
                    <a:lstStyle/>
                    <a:p>
                      <a:r>
                        <a:rPr sz="1500" b="1">
                          <a:solidFill>
                            <a:srgbClr val="EF9529"/>
                          </a:solidFill>
                          <a:latin typeface="Segoe UI"/>
                          <a:ea typeface="Segoe UI"/>
                          <a:cs typeface="Segoe UI"/>
                        </a:rPr>
                        <a:t>D4</a:t>
                      </a:r>
                    </a:p>
                  </a:txBody>
                  <a:tcPr marL="91440" marR="91440" marT="45720" marB="45720">
                    <a:solidFill>
                      <a:srgbClr val="24242B"/>
                    </a:solidFill>
                  </a:tcPr>
                </a:tc>
                <a:tc>
                  <a:txBody>
                    <a:bodyPr>
                      <a:noAutofit/>
                    </a:bodyPr>
                    <a:lstStyle/>
                    <a:p>
                      <a:r>
                        <a:rPr sz="1500" b="1">
                          <a:solidFill>
                            <a:srgbClr val="EF9529"/>
                          </a:solidFill>
                          <a:latin typeface="Segoe UI"/>
                          <a:ea typeface="Segoe UI"/>
                          <a:cs typeface="Segoe UI"/>
                        </a:rPr>
                        <a:t>D5</a:t>
                      </a:r>
                    </a:p>
                  </a:txBody>
                  <a:tcPr marL="91440" marR="91440" marT="45720" marB="45720">
                    <a:solidFill>
                      <a:srgbClr val="24242B"/>
                    </a:solidFill>
                  </a:tcPr>
                </a:tc>
                <a:tc>
                  <a:txBody>
                    <a:bodyPr>
                      <a:noAutofit/>
                    </a:bodyPr>
                    <a:lstStyle/>
                    <a:p>
                      <a:r>
                        <a:rPr sz="1500" b="1">
                          <a:solidFill>
                            <a:srgbClr val="EF9529"/>
                          </a:solidFill>
                          <a:latin typeface="Segoe UI"/>
                          <a:ea typeface="Segoe UI"/>
                          <a:cs typeface="Segoe UI"/>
                        </a:rPr>
                        <a:t>D6</a:t>
                      </a:r>
                    </a:p>
                  </a:txBody>
                  <a:tcPr marL="91440" marR="91440" marT="45720" marB="45720">
                    <a:solidFill>
                      <a:srgbClr val="24242B"/>
                    </a:solidFill>
                  </a:tcPr>
                </a:tc>
                <a:tc>
                  <a:txBody>
                    <a:bodyPr>
                      <a:noAutofit/>
                    </a:bodyPr>
                    <a:lstStyle/>
                    <a:p>
                      <a:r>
                        <a:rPr sz="1500" b="1">
                          <a:solidFill>
                            <a:srgbClr val="EF9529"/>
                          </a:solidFill>
                          <a:latin typeface="Segoe UI"/>
                          <a:ea typeface="Segoe UI"/>
                          <a:cs typeface="Segoe UI"/>
                        </a:rPr>
                        <a:t>D7</a:t>
                      </a:r>
                    </a:p>
                  </a:txBody>
                  <a:tcPr marL="91440" marR="91440" marT="45720" marB="45720">
                    <a:solidFill>
                      <a:srgbClr val="24242B"/>
                    </a:solidFill>
                  </a:tcPr>
                </a:tc>
                <a:tc>
                  <a:txBody>
                    <a:bodyPr>
                      <a:noAutofit/>
                    </a:bodyPr>
                    <a:lstStyle/>
                    <a:p>
                      <a:r>
                        <a:rPr sz="1500" b="1">
                          <a:solidFill>
                            <a:srgbClr val="EF9529"/>
                          </a:solidFill>
                          <a:latin typeface="Segoe UI"/>
                          <a:ea typeface="Segoe UI"/>
                          <a:cs typeface="Segoe UI"/>
                        </a:rPr>
                        <a:t>STOP</a:t>
                      </a:r>
                    </a:p>
                  </a:txBody>
                  <a:tcPr marL="91440" marR="91440" marT="45720" marB="45720">
                    <a:solidFill>
                      <a:srgbClr val="24242B"/>
                    </a:solidFill>
                  </a:tcPr>
                </a:tc>
              </a:tr>
              <a:tr h="647700">
                <a:tc>
                  <a:txBody>
                    <a:bodyPr>
                      <a:noAutofit/>
                    </a:bodyPr>
                    <a:lstStyle/>
                    <a:p>
                      <a:r>
                        <a:rPr sz="1500" b="0">
                          <a:solidFill>
                            <a:srgbClr val="EDEDED"/>
                          </a:solidFill>
                          <a:latin typeface="Segoe UI"/>
                          <a:ea typeface="Segoe UI"/>
                          <a:cs typeface="Segoe UI"/>
                        </a:rPr>
                        <a:t>Meaning</a:t>
                      </a:r>
                    </a:p>
                  </a:txBody>
                  <a:tcPr marL="91440" marR="91440" marT="45720" marB="45720">
                    <a:solidFill>
                      <a:srgbClr val="16161A"/>
                    </a:solidFill>
                  </a:tcPr>
                </a:tc>
                <a:tc>
                  <a:txBody>
                    <a:bodyPr>
                      <a:noAutofit/>
                    </a:bodyPr>
                    <a:lstStyle/>
                    <a:p>
                      <a:r>
                        <a:rPr sz="1500" b="0">
                          <a:solidFill>
                            <a:srgbClr val="EDEDED"/>
                          </a:solidFill>
                          <a:latin typeface="Segoe UI"/>
                          <a:ea typeface="Segoe UI"/>
                          <a:cs typeface="Segoe UI"/>
                        </a:rPr>
                        <a:t>0</a:t>
                      </a:r>
                    </a:p>
                  </a:txBody>
                  <a:tcPr marL="91440" marR="91440" marT="45720" marB="45720">
                    <a:solidFill>
                      <a:srgbClr val="16161A"/>
                    </a:solidFill>
                  </a:tcPr>
                </a:tc>
                <a:tc>
                  <a:txBody>
                    <a:bodyPr>
                      <a:noAutofit/>
                    </a:bodyPr>
                    <a:lstStyle/>
                    <a:p>
                      <a:r>
                        <a:rPr sz="1500" b="0">
                          <a:solidFill>
                            <a:srgbClr val="EDEDED"/>
                          </a:solidFill>
                          <a:latin typeface="Segoe UI"/>
                          <a:ea typeface="Segoe UI"/>
                          <a:cs typeface="Segoe UI"/>
                        </a:rPr>
                        <a:t>LSB</a:t>
                      </a:r>
                    </a:p>
                  </a:txBody>
                  <a:tcPr marL="91440" marR="91440" marT="45720" marB="45720">
                    <a:solidFill>
                      <a:srgbClr val="16161A"/>
                    </a:solidFill>
                  </a:tcPr>
                </a:tc>
                <a:tc>
                  <a:txBody>
                    <a:bodyPr>
                      <a:noAutofit/>
                    </a:bodyPr>
                    <a:lstStyle/>
                    <a:p>
                      <a:r>
                        <a:rPr sz="1500" b="0">
                          <a:solidFill>
                            <a:srgbClr val="EDEDED"/>
                          </a:solidFill>
                          <a:latin typeface="Segoe UI"/>
                          <a:ea typeface="Segoe UI"/>
                          <a:cs typeface="Segoe UI"/>
                        </a:rPr>
                        <a:t/>
                      </a:r>
                    </a:p>
                  </a:txBody>
                  <a:tcPr marL="91440" marR="91440" marT="45720" marB="45720">
                    <a:solidFill>
                      <a:srgbClr val="16161A"/>
                    </a:solidFill>
                  </a:tcPr>
                </a:tc>
                <a:tc>
                  <a:txBody>
                    <a:bodyPr>
                      <a:noAutofit/>
                    </a:bodyPr>
                    <a:lstStyle/>
                    <a:p>
                      <a:r>
                        <a:rPr sz="1500" b="0">
                          <a:solidFill>
                            <a:srgbClr val="EDEDED"/>
                          </a:solidFill>
                          <a:latin typeface="Segoe UI"/>
                          <a:ea typeface="Segoe UI"/>
                          <a:cs typeface="Segoe UI"/>
                        </a:rPr>
                        <a:t/>
                      </a:r>
                    </a:p>
                  </a:txBody>
                  <a:tcPr marL="91440" marR="91440" marT="45720" marB="45720">
                    <a:solidFill>
                      <a:srgbClr val="16161A"/>
                    </a:solidFill>
                  </a:tcPr>
                </a:tc>
                <a:tc>
                  <a:txBody>
                    <a:bodyPr>
                      <a:noAutofit/>
                    </a:bodyPr>
                    <a:lstStyle/>
                    <a:p>
                      <a:r>
                        <a:rPr sz="1500" b="0">
                          <a:solidFill>
                            <a:srgbClr val="EDEDED"/>
                          </a:solidFill>
                          <a:latin typeface="Segoe UI"/>
                          <a:ea typeface="Segoe UI"/>
                          <a:cs typeface="Segoe UI"/>
                        </a:rPr>
                        <a:t/>
                      </a:r>
                    </a:p>
                  </a:txBody>
                  <a:tcPr marL="91440" marR="91440" marT="45720" marB="45720">
                    <a:solidFill>
                      <a:srgbClr val="16161A"/>
                    </a:solidFill>
                  </a:tcPr>
                </a:tc>
                <a:tc>
                  <a:txBody>
                    <a:bodyPr>
                      <a:noAutofit/>
                    </a:bodyPr>
                    <a:lstStyle/>
                    <a:p>
                      <a:r>
                        <a:rPr sz="1500" b="0">
                          <a:solidFill>
                            <a:srgbClr val="EDEDED"/>
                          </a:solidFill>
                          <a:latin typeface="Segoe UI"/>
                          <a:ea typeface="Segoe UI"/>
                          <a:cs typeface="Segoe UI"/>
                        </a:rPr>
                        <a:t/>
                      </a:r>
                    </a:p>
                  </a:txBody>
                  <a:tcPr marL="91440" marR="91440" marT="45720" marB="45720">
                    <a:solidFill>
                      <a:srgbClr val="16161A"/>
                    </a:solidFill>
                  </a:tcPr>
                </a:tc>
                <a:tc>
                  <a:txBody>
                    <a:bodyPr>
                      <a:noAutofit/>
                    </a:bodyPr>
                    <a:lstStyle/>
                    <a:p>
                      <a:r>
                        <a:rPr sz="1500" b="0">
                          <a:solidFill>
                            <a:srgbClr val="EDEDED"/>
                          </a:solidFill>
                          <a:latin typeface="Segoe UI"/>
                          <a:ea typeface="Segoe UI"/>
                          <a:cs typeface="Segoe UI"/>
                        </a:rPr>
                        <a:t/>
                      </a:r>
                    </a:p>
                  </a:txBody>
                  <a:tcPr marL="91440" marR="91440" marT="45720" marB="45720">
                    <a:solidFill>
                      <a:srgbClr val="16161A"/>
                    </a:solidFill>
                  </a:tcPr>
                </a:tc>
                <a:tc>
                  <a:txBody>
                    <a:bodyPr>
                      <a:noAutofit/>
                    </a:bodyPr>
                    <a:lstStyle/>
                    <a:p>
                      <a:r>
                        <a:rPr sz="1500" b="0">
                          <a:solidFill>
                            <a:srgbClr val="EDEDED"/>
                          </a:solidFill>
                          <a:latin typeface="Segoe UI"/>
                          <a:ea typeface="Segoe UI"/>
                          <a:cs typeface="Segoe UI"/>
                        </a:rPr>
                        <a:t/>
                      </a:r>
                    </a:p>
                  </a:txBody>
                  <a:tcPr marL="91440" marR="91440" marT="45720" marB="45720">
                    <a:solidFill>
                      <a:srgbClr val="16161A"/>
                    </a:solidFill>
                  </a:tcPr>
                </a:tc>
                <a:tc>
                  <a:txBody>
                    <a:bodyPr>
                      <a:noAutofit/>
                    </a:bodyPr>
                    <a:lstStyle/>
                    <a:p>
                      <a:r>
                        <a:rPr sz="1500" b="0">
                          <a:solidFill>
                            <a:srgbClr val="EDEDED"/>
                          </a:solidFill>
                          <a:latin typeface="Segoe UI"/>
                          <a:ea typeface="Segoe UI"/>
                          <a:cs typeface="Segoe UI"/>
                        </a:rPr>
                        <a:t>MSB</a:t>
                      </a:r>
                    </a:p>
                  </a:txBody>
                  <a:tcPr marL="91440" marR="91440" marT="45720" marB="45720">
                    <a:solidFill>
                      <a:srgbClr val="16161A"/>
                    </a:solidFill>
                  </a:tcPr>
                </a:tc>
                <a:tc>
                  <a:txBody>
                    <a:bodyPr>
                      <a:noAutofit/>
                    </a:bodyPr>
                    <a:lstStyle/>
                    <a:p>
                      <a:r>
                        <a:rPr sz="1500" b="0">
                          <a:solidFill>
                            <a:srgbClr val="EDEDED"/>
                          </a:solidFill>
                          <a:latin typeface="Segoe UI"/>
                          <a:ea typeface="Segoe UI"/>
                          <a:cs typeface="Segoe UI"/>
                        </a:rPr>
                        <a:t>1</a:t>
                      </a:r>
                    </a:p>
                  </a:txBody>
                  <a:tcPr marL="91440" marR="91440" marT="45720" marB="45720">
                    <a:solidFill>
                      <a:srgbClr val="16161A"/>
                    </a:solidFill>
                  </a:tcPr>
                </a:tc>
              </a:tr>
            </a:tbl>
          </a:graphicData>
        </a:graphic>
      </p:graphicFrame>
    </p:spTree>
    <p:extLst>
      <p:ext uri="{BB962C8B-B14F-4D97-AF65-F5344CB8AC3E}">
        <p14:creationId xmlns:p14="http://schemas.microsoft.com/office/powerpoint/2010/main" val="1426376253"/>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366FB3C3-5D1B-4F68-8DFC-2A62AA87F6EA}"/>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777FF1E7-DA09-49BC-87FA-4A68B362C06F}"/>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0D29963F-2653-4199-86A0-C4D7B534DFFB}"/>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UART STUDENT LAB</a:t>
            </a:r>
          </a:p>
        </p:txBody>
      </p:sp>
      <p:sp>
        <p:nvSpPr>
          <p:cNvPr id="5" name="t5">
            <a:extLst xmlns:a="http://schemas.openxmlformats.org/drawingml/2006/main">
              <a:ext uri="{FF2B5EF4-FFF2-40B4-BE49-F238E27FC236}">
                <a16:creationId xmlns:a16="http://schemas.microsoft.com/office/drawing/2014/main" id="{1B3C72BE-F611-49AD-929A-B0E3025E5084}"/>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7E46585D-DD41-432C-8D6A-40A6B364E815}"/>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06/44</a:t>
            </a:r>
          </a:p>
        </p:txBody>
      </p:sp>
      <p:sp>
        <p:nvSpPr>
          <p:cNvPr id="7" name="lesson-title">
            <a:extLst xmlns:a="http://schemas.openxmlformats.org/drawingml/2006/main">
              <a:ext uri="{FF2B5EF4-FFF2-40B4-BE49-F238E27FC236}">
                <a16:creationId xmlns:a16="http://schemas.microsoft.com/office/drawing/2014/main" id="{88338818-14A6-4305-85FF-12699B5AF123}"/>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Worked frame for 0x53</a:t>
            </a:r>
          </a:p>
        </p:txBody>
      </p:sp>
      <p:sp>
        <p:nvSpPr>
          <p:cNvPr id="8" name="explanation-0">
            <a:extLst xmlns:a="http://schemas.openxmlformats.org/drawingml/2006/main">
              <a:ext uri="{FF2B5EF4-FFF2-40B4-BE49-F238E27FC236}">
                <a16:creationId xmlns:a16="http://schemas.microsoft.com/office/drawing/2014/main" id="{4FDA9EF3-C856-42C2-85F5-1487DADD88E3}"/>
              </a:ext>
            </a:extLst>
          </p:cNvPr>
          <p:cNvSpPr>
            <a:spLocks xmlns:a="http://schemas.openxmlformats.org/drawingml/2006/main" noGrp="1"/>
          </p:cNvSpPr>
          <p:nvPr/>
        </p:nvSpPr>
        <p:spPr>
          <a:xfrm xmlns:a="http://schemas.openxmlformats.org/drawingml/2006/main">
            <a:off x="609600" y="1724025"/>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F9529"/>
                </a:solidFill>
                <a:latin typeface="Segoe UI"/>
                <a:ea typeface="Segoe UI"/>
                <a:cs typeface="Segoe UI"/>
              </a:defRPr>
            </a:pPr>
            <a:r>
              <a:rPr sz="1800" b="0">
                <a:solidFill>
                  <a:srgbClr val="EF9529"/>
                </a:solidFill>
                <a:latin typeface="Segoe UI"/>
                <a:ea typeface="Segoe UI"/>
                <a:cs typeface="Segoe UI"/>
              </a:rPr>
              <a:t>0x53 is binary 01010011 when written MSB first.</a:t>
            </a:r>
          </a:p>
        </p:txBody>
      </p:sp>
      <p:sp>
        <p:nvSpPr>
          <p:cNvPr id="9" name="explanation-1">
            <a:extLst xmlns:a="http://schemas.openxmlformats.org/drawingml/2006/main">
              <a:ext uri="{FF2B5EF4-FFF2-40B4-BE49-F238E27FC236}">
                <a16:creationId xmlns:a16="http://schemas.microsoft.com/office/drawing/2014/main" id="{C09F31C8-4A9E-4D6C-A17B-40944B8076EC}"/>
              </a:ext>
            </a:extLst>
          </p:cNvPr>
          <p:cNvSpPr>
            <a:spLocks xmlns:a="http://schemas.openxmlformats.org/drawingml/2006/main" noGrp="1"/>
          </p:cNvSpPr>
          <p:nvPr/>
        </p:nvSpPr>
        <p:spPr>
          <a:xfrm xmlns:a="http://schemas.openxmlformats.org/drawingml/2006/main">
            <a:off x="609600" y="2076450"/>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DEDED"/>
                </a:solidFill>
                <a:latin typeface="Segoe UI"/>
                <a:ea typeface="Segoe UI"/>
                <a:cs typeface="Segoe UI"/>
              </a:defRPr>
            </a:pPr>
            <a:r>
              <a:rPr sz="1800" b="0">
                <a:solidFill>
                  <a:srgbClr val="EDEDED"/>
                </a:solidFill>
                <a:latin typeface="Segoe UI"/>
                <a:ea typeface="Segoe UI"/>
                <a:cs typeface="Segoe UI"/>
              </a:rPr>
              <a:t>The wire sends data bits in the opposite index order.</a:t>
            </a:r>
          </a:p>
        </p:txBody>
      </p:sp>
      <p:sp>
        <p:nvSpPr>
          <p:cNvPr id="10" name="explanation-2">
            <a:extLst xmlns:a="http://schemas.openxmlformats.org/drawingml/2006/main">
              <a:ext uri="{FF2B5EF4-FFF2-40B4-BE49-F238E27FC236}">
                <a16:creationId xmlns:a16="http://schemas.microsoft.com/office/drawing/2014/main" id="{08993435-EBDC-4BDA-826A-B93B62CD781A}"/>
              </a:ext>
            </a:extLst>
          </p:cNvPr>
          <p:cNvSpPr>
            <a:spLocks xmlns:a="http://schemas.openxmlformats.org/drawingml/2006/main" noGrp="1"/>
          </p:cNvSpPr>
          <p:nvPr/>
        </p:nvSpPr>
        <p:spPr>
          <a:xfrm xmlns:a="http://schemas.openxmlformats.org/drawingml/2006/main">
            <a:off x="609600" y="2428875"/>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DEDED"/>
                </a:solidFill>
                <a:latin typeface="Segoe UI"/>
                <a:ea typeface="Segoe UI"/>
                <a:cs typeface="Segoe UI"/>
              </a:defRPr>
            </a:pPr>
            <a:r>
              <a:rPr sz="1800" b="0">
                <a:solidFill>
                  <a:srgbClr val="EDEDED"/>
                </a:solidFill>
                <a:latin typeface="Segoe UI"/>
                <a:ea typeface="Segoe UI"/>
                <a:cs typeface="Segoe UI"/>
              </a:rPr>
              <a:t>START and STOP surround the eight data bits.</a:t>
            </a:r>
          </a:p>
        </p:txBody>
      </p:sp>
      <p:graphicFrame>
        <p:nvGraphicFramePr>
          <p:cNvPr id="21" name=""/>
          <p:cNvGraphicFramePr/>
          <p:nvPr/>
        </p:nvGraphicFramePr>
        <p:xfrm>
          <a:off xmlns:a="http://schemas.openxmlformats.org/drawingml/2006/main" x="609600" y="2914650"/>
          <a:ext xmlns:a="http://schemas.openxmlformats.org/drawingml/2006/main" cx="10972800" cy="1295400"/>
        </p:xfrm>
        <a:graphic xmlns:a="http://schemas.openxmlformats.org/drawingml/2006/main">
          <a:graphicData uri="http://schemas.openxmlformats.org/drawingml/2006/table">
            <a:tbl>
              <a:tblPr/>
              <a:tblGrid>
                <a:gridCol w="1714500"/>
                <a:gridCol w="859367"/>
                <a:gridCol w="859367"/>
                <a:gridCol w="859367"/>
                <a:gridCol w="859367"/>
                <a:gridCol w="859367"/>
                <a:gridCol w="859367"/>
                <a:gridCol w="859367"/>
                <a:gridCol w="859367"/>
                <a:gridCol w="859367"/>
                <a:gridCol w="1524000"/>
              </a:tblGrid>
              <a:tr h="647700">
                <a:tc>
                  <a:txBody>
                    <a:bodyPr>
                      <a:noAutofit/>
                    </a:bodyPr>
                    <a:lstStyle/>
                    <a:p>
                      <a:r>
                        <a:rPr sz="1500" b="1">
                          <a:solidFill>
                            <a:srgbClr val="EF9529"/>
                          </a:solidFill>
                          <a:latin typeface="Segoe UI"/>
                          <a:ea typeface="Segoe UI"/>
                          <a:cs typeface="Segoe UI"/>
                        </a:rPr>
                        <a:t>Time order</a:t>
                      </a:r>
                    </a:p>
                  </a:txBody>
                  <a:tcPr marL="91440" marR="91440" marT="45720" marB="45720">
                    <a:solidFill>
                      <a:srgbClr val="24242B"/>
                    </a:solidFill>
                  </a:tcPr>
                </a:tc>
                <a:tc>
                  <a:txBody>
                    <a:bodyPr>
                      <a:noAutofit/>
                    </a:bodyPr>
                    <a:lstStyle/>
                    <a:p>
                      <a:r>
                        <a:rPr sz="1500" b="1">
                          <a:solidFill>
                            <a:srgbClr val="EF9529"/>
                          </a:solidFill>
                          <a:latin typeface="Segoe UI"/>
                          <a:ea typeface="Segoe UI"/>
                          <a:cs typeface="Segoe UI"/>
                        </a:rPr>
                        <a:t>START</a:t>
                      </a:r>
                    </a:p>
                  </a:txBody>
                  <a:tcPr marL="91440" marR="91440" marT="45720" marB="45720">
                    <a:solidFill>
                      <a:srgbClr val="24242B"/>
                    </a:solidFill>
                  </a:tcPr>
                </a:tc>
                <a:tc>
                  <a:txBody>
                    <a:bodyPr>
                      <a:noAutofit/>
                    </a:bodyPr>
                    <a:lstStyle/>
                    <a:p>
                      <a:r>
                        <a:rPr sz="1500" b="1">
                          <a:solidFill>
                            <a:srgbClr val="EF9529"/>
                          </a:solidFill>
                          <a:latin typeface="Segoe UI"/>
                          <a:ea typeface="Segoe UI"/>
                          <a:cs typeface="Segoe UI"/>
                        </a:rPr>
                        <a:t>D0</a:t>
                      </a:r>
                    </a:p>
                  </a:txBody>
                  <a:tcPr marL="91440" marR="91440" marT="45720" marB="45720">
                    <a:solidFill>
                      <a:srgbClr val="24242B"/>
                    </a:solidFill>
                  </a:tcPr>
                </a:tc>
                <a:tc>
                  <a:txBody>
                    <a:bodyPr>
                      <a:noAutofit/>
                    </a:bodyPr>
                    <a:lstStyle/>
                    <a:p>
                      <a:r>
                        <a:rPr sz="1500" b="1">
                          <a:solidFill>
                            <a:srgbClr val="EF9529"/>
                          </a:solidFill>
                          <a:latin typeface="Segoe UI"/>
                          <a:ea typeface="Segoe UI"/>
                          <a:cs typeface="Segoe UI"/>
                        </a:rPr>
                        <a:t>D1</a:t>
                      </a:r>
                    </a:p>
                  </a:txBody>
                  <a:tcPr marL="91440" marR="91440" marT="45720" marB="45720">
                    <a:solidFill>
                      <a:srgbClr val="24242B"/>
                    </a:solidFill>
                  </a:tcPr>
                </a:tc>
                <a:tc>
                  <a:txBody>
                    <a:bodyPr>
                      <a:noAutofit/>
                    </a:bodyPr>
                    <a:lstStyle/>
                    <a:p>
                      <a:r>
                        <a:rPr sz="1500" b="1">
                          <a:solidFill>
                            <a:srgbClr val="EF9529"/>
                          </a:solidFill>
                          <a:latin typeface="Segoe UI"/>
                          <a:ea typeface="Segoe UI"/>
                          <a:cs typeface="Segoe UI"/>
                        </a:rPr>
                        <a:t>D2</a:t>
                      </a:r>
                    </a:p>
                  </a:txBody>
                  <a:tcPr marL="91440" marR="91440" marT="45720" marB="45720">
                    <a:solidFill>
                      <a:srgbClr val="24242B"/>
                    </a:solidFill>
                  </a:tcPr>
                </a:tc>
                <a:tc>
                  <a:txBody>
                    <a:bodyPr>
                      <a:noAutofit/>
                    </a:bodyPr>
                    <a:lstStyle/>
                    <a:p>
                      <a:r>
                        <a:rPr sz="1500" b="1">
                          <a:solidFill>
                            <a:srgbClr val="EF9529"/>
                          </a:solidFill>
                          <a:latin typeface="Segoe UI"/>
                          <a:ea typeface="Segoe UI"/>
                          <a:cs typeface="Segoe UI"/>
                        </a:rPr>
                        <a:t>D3</a:t>
                      </a:r>
                    </a:p>
                  </a:txBody>
                  <a:tcPr marL="91440" marR="91440" marT="45720" marB="45720">
                    <a:solidFill>
                      <a:srgbClr val="24242B"/>
                    </a:solidFill>
                  </a:tcPr>
                </a:tc>
                <a:tc>
                  <a:txBody>
                    <a:bodyPr>
                      <a:noAutofit/>
                    </a:bodyPr>
                    <a:lstStyle/>
                    <a:p>
                      <a:r>
                        <a:rPr sz="1500" b="1">
                          <a:solidFill>
                            <a:srgbClr val="EF9529"/>
                          </a:solidFill>
                          <a:latin typeface="Segoe UI"/>
                          <a:ea typeface="Segoe UI"/>
                          <a:cs typeface="Segoe UI"/>
                        </a:rPr>
                        <a:t>D4</a:t>
                      </a:r>
                    </a:p>
                  </a:txBody>
                  <a:tcPr marL="91440" marR="91440" marT="45720" marB="45720">
                    <a:solidFill>
                      <a:srgbClr val="24242B"/>
                    </a:solidFill>
                  </a:tcPr>
                </a:tc>
                <a:tc>
                  <a:txBody>
                    <a:bodyPr>
                      <a:noAutofit/>
                    </a:bodyPr>
                    <a:lstStyle/>
                    <a:p>
                      <a:r>
                        <a:rPr sz="1500" b="1">
                          <a:solidFill>
                            <a:srgbClr val="EF9529"/>
                          </a:solidFill>
                          <a:latin typeface="Segoe UI"/>
                          <a:ea typeface="Segoe UI"/>
                          <a:cs typeface="Segoe UI"/>
                        </a:rPr>
                        <a:t>D5</a:t>
                      </a:r>
                    </a:p>
                  </a:txBody>
                  <a:tcPr marL="91440" marR="91440" marT="45720" marB="45720">
                    <a:solidFill>
                      <a:srgbClr val="24242B"/>
                    </a:solidFill>
                  </a:tcPr>
                </a:tc>
                <a:tc>
                  <a:txBody>
                    <a:bodyPr>
                      <a:noAutofit/>
                    </a:bodyPr>
                    <a:lstStyle/>
                    <a:p>
                      <a:r>
                        <a:rPr sz="1500" b="1">
                          <a:solidFill>
                            <a:srgbClr val="EF9529"/>
                          </a:solidFill>
                          <a:latin typeface="Segoe UI"/>
                          <a:ea typeface="Segoe UI"/>
                          <a:cs typeface="Segoe UI"/>
                        </a:rPr>
                        <a:t>D6</a:t>
                      </a:r>
                    </a:p>
                  </a:txBody>
                  <a:tcPr marL="91440" marR="91440" marT="45720" marB="45720">
                    <a:solidFill>
                      <a:srgbClr val="24242B"/>
                    </a:solidFill>
                  </a:tcPr>
                </a:tc>
                <a:tc>
                  <a:txBody>
                    <a:bodyPr>
                      <a:noAutofit/>
                    </a:bodyPr>
                    <a:lstStyle/>
                    <a:p>
                      <a:r>
                        <a:rPr sz="1500" b="1">
                          <a:solidFill>
                            <a:srgbClr val="EF9529"/>
                          </a:solidFill>
                          <a:latin typeface="Segoe UI"/>
                          <a:ea typeface="Segoe UI"/>
                          <a:cs typeface="Segoe UI"/>
                        </a:rPr>
                        <a:t>D7</a:t>
                      </a:r>
                    </a:p>
                  </a:txBody>
                  <a:tcPr marL="91440" marR="91440" marT="45720" marB="45720">
                    <a:solidFill>
                      <a:srgbClr val="24242B"/>
                    </a:solidFill>
                  </a:tcPr>
                </a:tc>
                <a:tc>
                  <a:txBody>
                    <a:bodyPr>
                      <a:noAutofit/>
                    </a:bodyPr>
                    <a:lstStyle/>
                    <a:p>
                      <a:r>
                        <a:rPr sz="1500" b="1">
                          <a:solidFill>
                            <a:srgbClr val="EF9529"/>
                          </a:solidFill>
                          <a:latin typeface="Segoe UI"/>
                          <a:ea typeface="Segoe UI"/>
                          <a:cs typeface="Segoe UI"/>
                        </a:rPr>
                        <a:t>STOP</a:t>
                      </a:r>
                    </a:p>
                  </a:txBody>
                  <a:tcPr marL="91440" marR="91440" marT="45720" marB="45720">
                    <a:solidFill>
                      <a:srgbClr val="24242B"/>
                    </a:solidFill>
                  </a:tcPr>
                </a:tc>
              </a:tr>
              <a:tr h="647700">
                <a:tc>
                  <a:txBody>
                    <a:bodyPr>
                      <a:noAutofit/>
                    </a:bodyPr>
                    <a:lstStyle/>
                    <a:p>
                      <a:r>
                        <a:rPr sz="1500" b="0">
                          <a:solidFill>
                            <a:srgbClr val="EDEDED"/>
                          </a:solidFill>
                          <a:latin typeface="Segoe UI"/>
                          <a:ea typeface="Segoe UI"/>
                          <a:cs typeface="Segoe UI"/>
                        </a:rPr>
                        <a:t>Line value</a:t>
                      </a:r>
                    </a:p>
                  </a:txBody>
                  <a:tcPr marL="91440" marR="91440" marT="45720" marB="45720">
                    <a:solidFill>
                      <a:srgbClr val="16161A"/>
                    </a:solidFill>
                  </a:tcPr>
                </a:tc>
                <a:tc>
                  <a:txBody>
                    <a:bodyPr>
                      <a:noAutofit/>
                    </a:bodyPr>
                    <a:lstStyle/>
                    <a:p>
                      <a:r>
                        <a:rPr sz="1500" b="0">
                          <a:solidFill>
                            <a:srgbClr val="EDEDED"/>
                          </a:solidFill>
                          <a:latin typeface="Segoe UI"/>
                          <a:ea typeface="Segoe UI"/>
                          <a:cs typeface="Segoe UI"/>
                        </a:rPr>
                        <a:t>0</a:t>
                      </a:r>
                    </a:p>
                  </a:txBody>
                  <a:tcPr marL="91440" marR="91440" marT="45720" marB="45720">
                    <a:solidFill>
                      <a:srgbClr val="16161A"/>
                    </a:solidFill>
                  </a:tcPr>
                </a:tc>
                <a:tc>
                  <a:txBody>
                    <a:bodyPr>
                      <a:noAutofit/>
                    </a:bodyPr>
                    <a:lstStyle/>
                    <a:p>
                      <a:r>
                        <a:rPr sz="1500" b="0">
                          <a:solidFill>
                            <a:srgbClr val="EDEDED"/>
                          </a:solidFill>
                          <a:latin typeface="Segoe UI"/>
                          <a:ea typeface="Segoe UI"/>
                          <a:cs typeface="Segoe UI"/>
                        </a:rPr>
                        <a:t>1</a:t>
                      </a:r>
                    </a:p>
                  </a:txBody>
                  <a:tcPr marL="91440" marR="91440" marT="45720" marB="45720">
                    <a:solidFill>
                      <a:srgbClr val="16161A"/>
                    </a:solidFill>
                  </a:tcPr>
                </a:tc>
                <a:tc>
                  <a:txBody>
                    <a:bodyPr>
                      <a:noAutofit/>
                    </a:bodyPr>
                    <a:lstStyle/>
                    <a:p>
                      <a:r>
                        <a:rPr sz="1500" b="0">
                          <a:solidFill>
                            <a:srgbClr val="EDEDED"/>
                          </a:solidFill>
                          <a:latin typeface="Segoe UI"/>
                          <a:ea typeface="Segoe UI"/>
                          <a:cs typeface="Segoe UI"/>
                        </a:rPr>
                        <a:t>1</a:t>
                      </a:r>
                    </a:p>
                  </a:txBody>
                  <a:tcPr marL="91440" marR="91440" marT="45720" marB="45720">
                    <a:solidFill>
                      <a:srgbClr val="16161A"/>
                    </a:solidFill>
                  </a:tcPr>
                </a:tc>
                <a:tc>
                  <a:txBody>
                    <a:bodyPr>
                      <a:noAutofit/>
                    </a:bodyPr>
                    <a:lstStyle/>
                    <a:p>
                      <a:r>
                        <a:rPr sz="1500" b="0">
                          <a:solidFill>
                            <a:srgbClr val="EDEDED"/>
                          </a:solidFill>
                          <a:latin typeface="Segoe UI"/>
                          <a:ea typeface="Segoe UI"/>
                          <a:cs typeface="Segoe UI"/>
                        </a:rPr>
                        <a:t>0</a:t>
                      </a:r>
                    </a:p>
                  </a:txBody>
                  <a:tcPr marL="91440" marR="91440" marT="45720" marB="45720">
                    <a:solidFill>
                      <a:srgbClr val="16161A"/>
                    </a:solidFill>
                  </a:tcPr>
                </a:tc>
                <a:tc>
                  <a:txBody>
                    <a:bodyPr>
                      <a:noAutofit/>
                    </a:bodyPr>
                    <a:lstStyle/>
                    <a:p>
                      <a:r>
                        <a:rPr sz="1500" b="0">
                          <a:solidFill>
                            <a:srgbClr val="EDEDED"/>
                          </a:solidFill>
                          <a:latin typeface="Segoe UI"/>
                          <a:ea typeface="Segoe UI"/>
                          <a:cs typeface="Segoe UI"/>
                        </a:rPr>
                        <a:t>0</a:t>
                      </a:r>
                    </a:p>
                  </a:txBody>
                  <a:tcPr marL="91440" marR="91440" marT="45720" marB="45720">
                    <a:solidFill>
                      <a:srgbClr val="16161A"/>
                    </a:solidFill>
                  </a:tcPr>
                </a:tc>
                <a:tc>
                  <a:txBody>
                    <a:bodyPr>
                      <a:noAutofit/>
                    </a:bodyPr>
                    <a:lstStyle/>
                    <a:p>
                      <a:r>
                        <a:rPr sz="1500" b="0">
                          <a:solidFill>
                            <a:srgbClr val="EDEDED"/>
                          </a:solidFill>
                          <a:latin typeface="Segoe UI"/>
                          <a:ea typeface="Segoe UI"/>
                          <a:cs typeface="Segoe UI"/>
                        </a:rPr>
                        <a:t>1</a:t>
                      </a:r>
                    </a:p>
                  </a:txBody>
                  <a:tcPr marL="91440" marR="91440" marT="45720" marB="45720">
                    <a:solidFill>
                      <a:srgbClr val="16161A"/>
                    </a:solidFill>
                  </a:tcPr>
                </a:tc>
                <a:tc>
                  <a:txBody>
                    <a:bodyPr>
                      <a:noAutofit/>
                    </a:bodyPr>
                    <a:lstStyle/>
                    <a:p>
                      <a:r>
                        <a:rPr sz="1500" b="0">
                          <a:solidFill>
                            <a:srgbClr val="EDEDED"/>
                          </a:solidFill>
                          <a:latin typeface="Segoe UI"/>
                          <a:ea typeface="Segoe UI"/>
                          <a:cs typeface="Segoe UI"/>
                        </a:rPr>
                        <a:t>0</a:t>
                      </a:r>
                    </a:p>
                  </a:txBody>
                  <a:tcPr marL="91440" marR="91440" marT="45720" marB="45720">
                    <a:solidFill>
                      <a:srgbClr val="16161A"/>
                    </a:solidFill>
                  </a:tcPr>
                </a:tc>
                <a:tc>
                  <a:txBody>
                    <a:bodyPr>
                      <a:noAutofit/>
                    </a:bodyPr>
                    <a:lstStyle/>
                    <a:p>
                      <a:r>
                        <a:rPr sz="1500" b="0">
                          <a:solidFill>
                            <a:srgbClr val="EDEDED"/>
                          </a:solidFill>
                          <a:latin typeface="Segoe UI"/>
                          <a:ea typeface="Segoe UI"/>
                          <a:cs typeface="Segoe UI"/>
                        </a:rPr>
                        <a:t>1</a:t>
                      </a:r>
                    </a:p>
                  </a:txBody>
                  <a:tcPr marL="91440" marR="91440" marT="45720" marB="45720">
                    <a:solidFill>
                      <a:srgbClr val="16161A"/>
                    </a:solidFill>
                  </a:tcPr>
                </a:tc>
                <a:tc>
                  <a:txBody>
                    <a:bodyPr>
                      <a:noAutofit/>
                    </a:bodyPr>
                    <a:lstStyle/>
                    <a:p>
                      <a:r>
                        <a:rPr sz="1500" b="0">
                          <a:solidFill>
                            <a:srgbClr val="EDEDED"/>
                          </a:solidFill>
                          <a:latin typeface="Segoe UI"/>
                          <a:ea typeface="Segoe UI"/>
                          <a:cs typeface="Segoe UI"/>
                        </a:rPr>
                        <a:t>0</a:t>
                      </a:r>
                    </a:p>
                  </a:txBody>
                  <a:tcPr marL="91440" marR="91440" marT="45720" marB="45720">
                    <a:solidFill>
                      <a:srgbClr val="16161A"/>
                    </a:solidFill>
                  </a:tcPr>
                </a:tc>
                <a:tc>
                  <a:txBody>
                    <a:bodyPr>
                      <a:noAutofit/>
                    </a:bodyPr>
                    <a:lstStyle/>
                    <a:p>
                      <a:r>
                        <a:rPr sz="1500" b="0">
                          <a:solidFill>
                            <a:srgbClr val="EDEDED"/>
                          </a:solidFill>
                          <a:latin typeface="Segoe UI"/>
                          <a:ea typeface="Segoe UI"/>
                          <a:cs typeface="Segoe UI"/>
                        </a:rPr>
                        <a:t>1</a:t>
                      </a:r>
                    </a:p>
                  </a:txBody>
                  <a:tcPr marL="91440" marR="91440" marT="45720" marB="45720">
                    <a:solidFill>
                      <a:srgbClr val="16161A"/>
                    </a:solidFill>
                  </a:tcPr>
                </a:tc>
              </a:tr>
            </a:tbl>
          </a:graphicData>
        </a:graphic>
      </p:graphicFrame>
    </p:spTree>
    <p:extLst>
      <p:ext uri="{BB962C8B-B14F-4D97-AF65-F5344CB8AC3E}">
        <p14:creationId xmlns:p14="http://schemas.microsoft.com/office/powerpoint/2010/main" val="1426376253"/>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366FB3C3-5D1B-4F68-8DFC-2A62AA87F6EA}"/>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777FF1E7-DA09-49BC-87FA-4A68B362C06F}"/>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0D29963F-2653-4199-86A0-C4D7B534DFFB}"/>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UART STUDENT LAB</a:t>
            </a:r>
          </a:p>
        </p:txBody>
      </p:sp>
      <p:sp>
        <p:nvSpPr>
          <p:cNvPr id="5" name="t5">
            <a:extLst xmlns:a="http://schemas.openxmlformats.org/drawingml/2006/main">
              <a:ext uri="{FF2B5EF4-FFF2-40B4-BE49-F238E27FC236}">
                <a16:creationId xmlns:a16="http://schemas.microsoft.com/office/drawing/2014/main" id="{1B3C72BE-F611-49AD-929A-B0E3025E5084}"/>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7E46585D-DD41-432C-8D6A-40A6B364E815}"/>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07/44</a:t>
            </a:r>
          </a:p>
        </p:txBody>
      </p:sp>
      <p:sp>
        <p:nvSpPr>
          <p:cNvPr id="7" name="lesson-title">
            <a:extLst xmlns:a="http://schemas.openxmlformats.org/drawingml/2006/main">
              <a:ext uri="{FF2B5EF4-FFF2-40B4-BE49-F238E27FC236}">
                <a16:creationId xmlns:a16="http://schemas.microsoft.com/office/drawing/2014/main" id="{390C42D2-9AAB-428C-9DC7-44838A7E7011}"/>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0x53 frame: LSB-first waveform</a:t>
            </a:r>
          </a:p>
        </p:txBody>
      </p:sp>
      <p:sp>
        <p:nvSpPr>
          <p:cNvPr id="8" name="explanation-0">
            <a:extLst xmlns:a="http://schemas.openxmlformats.org/drawingml/2006/main">
              <a:ext uri="{FF2B5EF4-FFF2-40B4-BE49-F238E27FC236}">
                <a16:creationId xmlns:a16="http://schemas.microsoft.com/office/drawing/2014/main" id="{D8AA8E40-8704-4EE6-8020-FC32416C62A0}"/>
              </a:ext>
            </a:extLst>
          </p:cNvPr>
          <p:cNvSpPr>
            <a:spLocks xmlns:a="http://schemas.openxmlformats.org/drawingml/2006/main" noGrp="1"/>
          </p:cNvSpPr>
          <p:nvPr/>
        </p:nvSpPr>
        <p:spPr>
          <a:xfrm xmlns:a="http://schemas.openxmlformats.org/drawingml/2006/main">
            <a:off x="609600" y="169545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F9529"/>
                </a:solidFill>
                <a:latin typeface="Segoe UI"/>
                <a:ea typeface="Segoe UI"/>
                <a:cs typeface="Segoe UI"/>
              </a:defRPr>
            </a:pPr>
            <a:r>
              <a:rPr sz="1800" b="0">
                <a:solidFill>
                  <a:srgbClr val="EF9529"/>
                </a:solidFill>
                <a:latin typeface="Segoe UI"/>
                <a:ea typeface="Segoe UI"/>
                <a:cs typeface="Segoe UI"/>
              </a:rPr>
              <a:t>Frame slots: idle, START, b0..b7, STOP, idle.</a:t>
            </a:r>
          </a:p>
        </p:txBody>
      </p:sp>
      <p:sp>
        <p:nvSpPr>
          <p:cNvPr id="9" name="explanation-1">
            <a:extLst xmlns:a="http://schemas.openxmlformats.org/drawingml/2006/main">
              <a:ext uri="{FF2B5EF4-FFF2-40B4-BE49-F238E27FC236}">
                <a16:creationId xmlns:a16="http://schemas.microsoft.com/office/drawing/2014/main" id="{09850F87-C334-40D4-B96C-D8E687B3FF6C}"/>
              </a:ext>
            </a:extLst>
          </p:cNvPr>
          <p:cNvSpPr>
            <a:spLocks xmlns:a="http://schemas.openxmlformats.org/drawingml/2006/main" noGrp="1"/>
          </p:cNvSpPr>
          <p:nvPr/>
        </p:nvSpPr>
        <p:spPr>
          <a:xfrm xmlns:a="http://schemas.openxmlformats.org/drawingml/2006/main">
            <a:off x="609600" y="20574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DEDED"/>
                </a:solidFill>
                <a:latin typeface="Segoe UI"/>
                <a:ea typeface="Segoe UI"/>
                <a:cs typeface="Segoe UI"/>
              </a:defRPr>
            </a:pPr>
            <a:r>
              <a:rPr sz="1800" b="0">
                <a:solidFill>
                  <a:srgbClr val="EDEDED"/>
                </a:solidFill>
                <a:latin typeface="Segoe UI"/>
                <a:ea typeface="Segoe UI"/>
                <a:cs typeface="Segoe UI"/>
              </a:rPr>
              <a:t>0x53 sends data bits 1 1 0 0 1 0 1 0.</a:t>
            </a:r>
          </a:p>
        </p:txBody>
      </p:sp>
      <p:graphicFrame>
        <p:nvGraphicFramePr>
          <p:cNvPr id="20" name="Chart"/>
          <p:cNvGraphicFramePr/>
          <p:nvPr/>
        </p:nvGraphicFramePr>
        <p:xfrm>
          <a:off xmlns:a="http://schemas.openxmlformats.org/drawingml/2006/main" x="609600" y="2381250"/>
          <a:ext xmlns:a="http://schemas.openxmlformats.org/drawingml/2006/main" cx="10972800" cy="3429000"/>
        </p:xfrm>
        <a:graphic xmlns:a="http://schemas.openxmlformats.org/drawingml/2006/main">
          <a:graphicData uri="http://schemas.openxmlformats.org/drawingml/2006/chart">
            <c:chart xmlns:r="http://schemas.openxmlformats.org/officeDocument/2006/relationships" xmlns:c="http://schemas.openxmlformats.org/drawingml/2006/chart" r:id="R6dc7bdbd4abf4760"/>
          </a:graphicData>
        </a:graphic>
      </p:graphicFrame>
      <p:sp>
        <p:nvSpPr>
          <p:cNvPr id="11" name="trace-kind">
            <a:extLst xmlns:a="http://schemas.openxmlformats.org/drawingml/2006/main">
              <a:ext uri="{FF2B5EF4-FFF2-40B4-BE49-F238E27FC236}">
                <a16:creationId xmlns:a16="http://schemas.microsoft.com/office/drawing/2014/main" id="{47F13B8A-0847-42E3-8223-060E82C1A77B}"/>
              </a:ext>
            </a:extLst>
          </p:cNvPr>
          <p:cNvSpPr>
            <a:spLocks xmlns:a="http://schemas.openxmlformats.org/drawingml/2006/main" noGrp="1"/>
          </p:cNvSpPr>
          <p:nvPr/>
        </p:nvSpPr>
        <p:spPr>
          <a:xfrm xmlns:a="http://schemas.openxmlformats.org/drawingml/2006/main">
            <a:off x="609600" y="6000750"/>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9A9AA2"/>
                </a:solidFill>
                <a:latin typeface="Segoe UI"/>
                <a:ea typeface="Segoe UI"/>
                <a:cs typeface="Segoe UI"/>
              </a:defRPr>
            </a:pPr>
            <a:r>
              <a:rPr sz="1350" b="0">
                <a:solidFill>
                  <a:srgbClr val="9A9AA2"/>
                </a:solidFill>
                <a:latin typeface="Segoe UI"/>
                <a:ea typeface="Segoe UI"/>
                <a:cs typeface="Segoe UI"/>
              </a:rPr>
              <a:t>Logic levels: HIGH=1, LOW=0. IDEAL WORKED EXAMPLE: logic values, not a measured trace</a:t>
            </a:r>
          </a:p>
        </p:txBody>
      </p:sp>
    </p:spTree>
    <p:extLst>
      <p:ext uri="{BB962C8B-B14F-4D97-AF65-F5344CB8AC3E}">
        <p14:creationId xmlns:p14="http://schemas.microsoft.com/office/powerpoint/2010/main" val="1426376253"/>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366FB3C3-5D1B-4F68-8DFC-2A62AA87F6EA}"/>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777FF1E7-DA09-49BC-87FA-4A68B362C06F}"/>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0D29963F-2653-4199-86A0-C4D7B534DFFB}"/>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UART STUDENT LAB</a:t>
            </a:r>
          </a:p>
        </p:txBody>
      </p:sp>
      <p:sp>
        <p:nvSpPr>
          <p:cNvPr id="5" name="t5">
            <a:extLst xmlns:a="http://schemas.openxmlformats.org/drawingml/2006/main">
              <a:ext uri="{FF2B5EF4-FFF2-40B4-BE49-F238E27FC236}">
                <a16:creationId xmlns:a16="http://schemas.microsoft.com/office/drawing/2014/main" id="{1B3C72BE-F611-49AD-929A-B0E3025E5084}"/>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7E46585D-DD41-432C-8D6A-40A6B364E815}"/>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08/44</a:t>
            </a:r>
          </a:p>
        </p:txBody>
      </p:sp>
      <p:sp>
        <p:nvSpPr>
          <p:cNvPr id="7" name="lesson-title">
            <a:extLst xmlns:a="http://schemas.openxmlformats.org/drawingml/2006/main">
              <a:ext uri="{FF2B5EF4-FFF2-40B4-BE49-F238E27FC236}">
                <a16:creationId xmlns:a16="http://schemas.microsoft.com/office/drawing/2014/main" id="{8CDDB3AC-672E-43B7-B58E-19B2D9978E93}"/>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Baud rate and useful byte rate</a:t>
            </a:r>
          </a:p>
        </p:txBody>
      </p:sp>
      <p:sp>
        <p:nvSpPr>
          <p:cNvPr id="8" name="explanation-0">
            <a:extLst xmlns:a="http://schemas.openxmlformats.org/drawingml/2006/main">
              <a:ext uri="{FF2B5EF4-FFF2-40B4-BE49-F238E27FC236}">
                <a16:creationId xmlns:a16="http://schemas.microsoft.com/office/drawing/2014/main" id="{00AF694E-73CB-4640-92B5-98E4F6879792}"/>
              </a:ext>
            </a:extLst>
          </p:cNvPr>
          <p:cNvSpPr>
            <a:spLocks xmlns:a="http://schemas.openxmlformats.org/drawingml/2006/main" noGrp="1"/>
          </p:cNvSpPr>
          <p:nvPr/>
        </p:nvSpPr>
        <p:spPr>
          <a:xfrm xmlns:a="http://schemas.openxmlformats.org/drawingml/2006/main">
            <a:off x="609600" y="19240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F9529"/>
                </a:solidFill>
                <a:latin typeface="Segoe UI"/>
                <a:ea typeface="Segoe UI"/>
                <a:cs typeface="Segoe UI"/>
              </a:defRPr>
            </a:pPr>
            <a:r>
              <a:rPr sz="2175" b="0">
                <a:solidFill>
                  <a:srgbClr val="EF9529"/>
                </a:solidFill>
                <a:latin typeface="Segoe UI"/>
                <a:ea typeface="Segoe UI"/>
                <a:cs typeface="Segoe UI"/>
              </a:rPr>
              <a:t>Bit period equals one divided by baud.</a:t>
            </a:r>
          </a:p>
        </p:txBody>
      </p:sp>
      <p:sp>
        <p:nvSpPr>
          <p:cNvPr id="9" name="explanation-1">
            <a:extLst xmlns:a="http://schemas.openxmlformats.org/drawingml/2006/main">
              <a:ext uri="{FF2B5EF4-FFF2-40B4-BE49-F238E27FC236}">
                <a16:creationId xmlns:a16="http://schemas.microsoft.com/office/drawing/2014/main" id="{5D2FC41D-EED0-4A1F-8D5A-58A7C025ACD7}"/>
              </a:ext>
            </a:extLst>
          </p:cNvPr>
          <p:cNvSpPr>
            <a:spLocks xmlns:a="http://schemas.openxmlformats.org/drawingml/2006/main" noGrp="1"/>
          </p:cNvSpPr>
          <p:nvPr/>
        </p:nvSpPr>
        <p:spPr>
          <a:xfrm xmlns:a="http://schemas.openxmlformats.org/drawingml/2006/main">
            <a:off x="609600" y="274320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8N1 carries eight useful bits in ten transmitted bit periods.</a:t>
            </a:r>
          </a:p>
        </p:txBody>
      </p:sp>
      <p:sp>
        <p:nvSpPr>
          <p:cNvPr id="10" name="explanation-2">
            <a:extLst xmlns:a="http://schemas.openxmlformats.org/drawingml/2006/main">
              <a:ext uri="{FF2B5EF4-FFF2-40B4-BE49-F238E27FC236}">
                <a16:creationId xmlns:a16="http://schemas.microsoft.com/office/drawing/2014/main" id="{DB6E562A-51AF-4942-B0D9-022AE368EAC3}"/>
              </a:ext>
            </a:extLst>
          </p:cNvPr>
          <p:cNvSpPr>
            <a:spLocks xmlns:a="http://schemas.openxmlformats.org/drawingml/2006/main" noGrp="1"/>
          </p:cNvSpPr>
          <p:nvPr/>
        </p:nvSpPr>
        <p:spPr>
          <a:xfrm xmlns:a="http://schemas.openxmlformats.org/drawingml/2006/main">
            <a:off x="609600" y="35623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At 115200 baud, the ideal maximum is 11520 bytes/s.</a:t>
            </a:r>
          </a:p>
        </p:txBody>
      </p:sp>
    </p:spTree>
    <p:extLst>
      <p:ext uri="{BB962C8B-B14F-4D97-AF65-F5344CB8AC3E}">
        <p14:creationId xmlns:p14="http://schemas.microsoft.com/office/powerpoint/2010/main" val="1426376253"/>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366FB3C3-5D1B-4F68-8DFC-2A62AA87F6EA}"/>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777FF1E7-DA09-49BC-87FA-4A68B362C06F}"/>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0D29963F-2653-4199-86A0-C4D7B534DFFB}"/>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UART STUDENT LAB</a:t>
            </a:r>
          </a:p>
        </p:txBody>
      </p:sp>
      <p:sp>
        <p:nvSpPr>
          <p:cNvPr id="5" name="t5">
            <a:extLst xmlns:a="http://schemas.openxmlformats.org/drawingml/2006/main">
              <a:ext uri="{FF2B5EF4-FFF2-40B4-BE49-F238E27FC236}">
                <a16:creationId xmlns:a16="http://schemas.microsoft.com/office/drawing/2014/main" id="{1B3C72BE-F611-49AD-929A-B0E3025E5084}"/>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7E46585D-DD41-432C-8D6A-40A6B364E815}"/>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09/44</a:t>
            </a:r>
          </a:p>
        </p:txBody>
      </p:sp>
      <p:sp>
        <p:nvSpPr>
          <p:cNvPr id="7" name="lesson-title">
            <a:extLst xmlns:a="http://schemas.openxmlformats.org/drawingml/2006/main">
              <a:ext uri="{FF2B5EF4-FFF2-40B4-BE49-F238E27FC236}">
                <a16:creationId xmlns:a16="http://schemas.microsoft.com/office/drawing/2014/main" id="{B4375BF2-C313-4593-8F58-35B98A7B285D}"/>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8N1 useful throughput calculation</a:t>
            </a:r>
          </a:p>
        </p:txBody>
      </p:sp>
      <p:sp>
        <p:nvSpPr>
          <p:cNvPr id="8" name="explanation-0">
            <a:extLst xmlns:a="http://schemas.openxmlformats.org/drawingml/2006/main">
              <a:ext uri="{FF2B5EF4-FFF2-40B4-BE49-F238E27FC236}">
                <a16:creationId xmlns:a16="http://schemas.microsoft.com/office/drawing/2014/main" id="{D1A72955-2860-484A-A371-2A94D15DAFCD}"/>
              </a:ext>
            </a:extLst>
          </p:cNvPr>
          <p:cNvSpPr>
            <a:spLocks xmlns:a="http://schemas.openxmlformats.org/drawingml/2006/main" noGrp="1"/>
          </p:cNvSpPr>
          <p:nvPr/>
        </p:nvSpPr>
        <p:spPr>
          <a:xfrm xmlns:a="http://schemas.openxmlformats.org/drawingml/2006/main">
            <a:off x="609600" y="19240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F9529"/>
                </a:solidFill>
                <a:latin typeface="Segoe UI"/>
                <a:ea typeface="Segoe UI"/>
                <a:cs typeface="Segoe UI"/>
              </a:defRPr>
            </a:pPr>
            <a:r>
              <a:rPr sz="2175" b="0">
                <a:solidFill>
                  <a:srgbClr val="EF9529"/>
                </a:solidFill>
                <a:latin typeface="Segoe UI"/>
                <a:ea typeface="Segoe UI"/>
                <a:cs typeface="Segoe UI"/>
              </a:rPr>
              <a:t>START + 8 data + STOP = 10 wire bits per payload byte.</a:t>
            </a:r>
          </a:p>
        </p:txBody>
      </p:sp>
      <p:sp>
        <p:nvSpPr>
          <p:cNvPr id="9" name="explanation-1">
            <a:extLst xmlns:a="http://schemas.openxmlformats.org/drawingml/2006/main">
              <a:ext uri="{FF2B5EF4-FFF2-40B4-BE49-F238E27FC236}">
                <a16:creationId xmlns:a16="http://schemas.microsoft.com/office/drawing/2014/main" id="{FF8DBC76-5927-435B-BA5E-B597812ED175}"/>
              </a:ext>
            </a:extLst>
          </p:cNvPr>
          <p:cNvSpPr>
            <a:spLocks xmlns:a="http://schemas.openxmlformats.org/drawingml/2006/main" noGrp="1"/>
          </p:cNvSpPr>
          <p:nvPr/>
        </p:nvSpPr>
        <p:spPr>
          <a:xfrm xmlns:a="http://schemas.openxmlformats.org/drawingml/2006/main">
            <a:off x="609600" y="274320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At 115200 baud: 11,520 bytes/s before gaps and application overhead.</a:t>
            </a:r>
          </a:p>
        </p:txBody>
      </p:sp>
      <p:sp>
        <p:nvSpPr>
          <p:cNvPr id="10" name="explanation-2">
            <a:extLst xmlns:a="http://schemas.openxmlformats.org/drawingml/2006/main">
              <a:ext uri="{FF2B5EF4-FFF2-40B4-BE49-F238E27FC236}">
                <a16:creationId xmlns:a16="http://schemas.microsoft.com/office/drawing/2014/main" id="{29B47A7E-6FB8-4FBC-A996-1058D3BB6612}"/>
              </a:ext>
            </a:extLst>
          </p:cNvPr>
          <p:cNvSpPr>
            <a:spLocks xmlns:a="http://schemas.openxmlformats.org/drawingml/2006/main" noGrp="1"/>
          </p:cNvSpPr>
          <p:nvPr/>
        </p:nvSpPr>
        <p:spPr>
          <a:xfrm xmlns:a="http://schemas.openxmlformats.org/drawingml/2006/main">
            <a:off x="609600" y="35623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A 32-byte message uses at least 320 bit intervals, about 2.778 ms.</a:t>
            </a:r>
          </a:p>
        </p:txBody>
      </p:sp>
    </p:spTree>
    <p:extLst>
      <p:ext uri="{BB962C8B-B14F-4D97-AF65-F5344CB8AC3E}">
        <p14:creationId xmlns:p14="http://schemas.microsoft.com/office/powerpoint/2010/main" val="1426376253"/>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366FB3C3-5D1B-4F68-8DFC-2A62AA87F6EA}"/>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777FF1E7-DA09-49BC-87FA-4A68B362C06F}"/>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0D29963F-2653-4199-86A0-C4D7B534DFFB}"/>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UART STUDENT LAB</a:t>
            </a:r>
          </a:p>
        </p:txBody>
      </p:sp>
      <p:sp>
        <p:nvSpPr>
          <p:cNvPr id="5" name="t5">
            <a:extLst xmlns:a="http://schemas.openxmlformats.org/drawingml/2006/main">
              <a:ext uri="{FF2B5EF4-FFF2-40B4-BE49-F238E27FC236}">
                <a16:creationId xmlns:a16="http://schemas.microsoft.com/office/drawing/2014/main" id="{1B3C72BE-F611-49AD-929A-B0E3025E5084}"/>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7E46585D-DD41-432C-8D6A-40A6B364E815}"/>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10/44</a:t>
            </a:r>
          </a:p>
        </p:txBody>
      </p:sp>
      <p:sp>
        <p:nvSpPr>
          <p:cNvPr id="7" name="lesson-title">
            <a:extLst xmlns:a="http://schemas.openxmlformats.org/drawingml/2006/main">
              <a:ext uri="{FF2B5EF4-FFF2-40B4-BE49-F238E27FC236}">
                <a16:creationId xmlns:a16="http://schemas.microsoft.com/office/drawing/2014/main" id="{7E729C07-20F4-49E8-903A-81EB619916BC}"/>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The local prescaler</a:t>
            </a:r>
          </a:p>
        </p:txBody>
      </p:sp>
      <p:sp>
        <p:nvSpPr>
          <p:cNvPr id="8" name="explanation-0">
            <a:extLst xmlns:a="http://schemas.openxmlformats.org/drawingml/2006/main">
              <a:ext uri="{FF2B5EF4-FFF2-40B4-BE49-F238E27FC236}">
                <a16:creationId xmlns:a16="http://schemas.microsoft.com/office/drawing/2014/main" id="{427C8EC9-9B7B-4A29-AEFA-34B3A3996832}"/>
              </a:ext>
            </a:extLst>
          </p:cNvPr>
          <p:cNvSpPr>
            <a:spLocks xmlns:a="http://schemas.openxmlformats.org/drawingml/2006/main" noGrp="1"/>
          </p:cNvSpPr>
          <p:nvPr/>
        </p:nvSpPr>
        <p:spPr>
          <a:xfrm xmlns:a="http://schemas.openxmlformats.org/drawingml/2006/main">
            <a:off x="609600" y="1724025"/>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F9529"/>
                </a:solidFill>
                <a:latin typeface="Segoe UI"/>
                <a:ea typeface="Segoe UI"/>
                <a:cs typeface="Segoe UI"/>
              </a:defRPr>
            </a:pPr>
            <a:r>
              <a:rPr sz="1800" b="0">
                <a:solidFill>
                  <a:srgbClr val="EF9529"/>
                </a:solidFill>
                <a:latin typeface="Segoe UI"/>
                <a:ea typeface="Segoe UI"/>
                <a:cs typeface="Segoe UI"/>
              </a:rPr>
              <a:t>Bit duration is 8 times prescale local clock cycles.</a:t>
            </a:r>
          </a:p>
        </p:txBody>
      </p:sp>
      <p:sp>
        <p:nvSpPr>
          <p:cNvPr id="9" name="explanation-1">
            <a:extLst xmlns:a="http://schemas.openxmlformats.org/drawingml/2006/main">
              <a:ext uri="{FF2B5EF4-FFF2-40B4-BE49-F238E27FC236}">
                <a16:creationId xmlns:a16="http://schemas.microsoft.com/office/drawing/2014/main" id="{EE30A520-61EB-4391-A181-84F454787C99}"/>
              </a:ext>
            </a:extLst>
          </p:cNvPr>
          <p:cNvSpPr>
            <a:spLocks xmlns:a="http://schemas.openxmlformats.org/drawingml/2006/main" noGrp="1"/>
          </p:cNvSpPr>
          <p:nvPr/>
        </p:nvSpPr>
        <p:spPr>
          <a:xfrm xmlns:a="http://schemas.openxmlformats.org/drawingml/2006/main">
            <a:off x="609600" y="2076450"/>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DEDED"/>
                </a:solidFill>
                <a:latin typeface="Segoe UI"/>
                <a:ea typeface="Segoe UI"/>
                <a:cs typeface="Segoe UI"/>
              </a:defRPr>
            </a:pPr>
            <a:r>
              <a:rPr sz="1800" b="0">
                <a:solidFill>
                  <a:srgbClr val="EDEDED"/>
                </a:solidFill>
                <a:latin typeface="Segoe UI"/>
                <a:ea typeface="Segoe UI"/>
                <a:cs typeface="Segoe UI"/>
              </a:rPr>
              <a:t>Nominal baud is f_clk divided by 8 times prescale.</a:t>
            </a:r>
          </a:p>
        </p:txBody>
      </p:sp>
      <p:sp>
        <p:nvSpPr>
          <p:cNvPr id="10" name="explanation-2">
            <a:extLst xmlns:a="http://schemas.openxmlformats.org/drawingml/2006/main">
              <a:ext uri="{FF2B5EF4-FFF2-40B4-BE49-F238E27FC236}">
                <a16:creationId xmlns:a16="http://schemas.microsoft.com/office/drawing/2014/main" id="{2A5C6F5D-0558-4C3F-96B0-67CF40447CE4}"/>
              </a:ext>
            </a:extLst>
          </p:cNvPr>
          <p:cNvSpPr>
            <a:spLocks xmlns:a="http://schemas.openxmlformats.org/drawingml/2006/main" noGrp="1"/>
          </p:cNvSpPr>
          <p:nvPr/>
        </p:nvSpPr>
        <p:spPr>
          <a:xfrm xmlns:a="http://schemas.openxmlformats.org/drawingml/2006/main">
            <a:off x="609600" y="2428875"/>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DEDED"/>
                </a:solidFill>
                <a:latin typeface="Segoe UI"/>
                <a:ea typeface="Segoe UI"/>
                <a:cs typeface="Segoe UI"/>
              </a:defRPr>
            </a:pPr>
            <a:r>
              <a:rPr sz="1800" b="0">
                <a:solidFill>
                  <a:srgbClr val="EDEDED"/>
                </a:solidFill>
                <a:latin typeface="Segoe UI"/>
                <a:ea typeface="Segoe UI"/>
                <a:cs typeface="Segoe UI"/>
              </a:rPr>
              <a:t>Hold prescale stable while transmission or reception is busy.</a:t>
            </a:r>
          </a:p>
        </p:txBody>
      </p:sp>
      <p:graphicFrame>
        <p:nvGraphicFramePr>
          <p:cNvPr id="21" name=""/>
          <p:cNvGraphicFramePr/>
          <p:nvPr/>
        </p:nvGraphicFramePr>
        <p:xfrm>
          <a:off xmlns:a="http://schemas.openxmlformats.org/drawingml/2006/main" x="609600" y="2914650"/>
          <a:ext xmlns:a="http://schemas.openxmlformats.org/drawingml/2006/main" cx="10972800" cy="2590800"/>
        </p:xfrm>
        <a:graphic xmlns:a="http://schemas.openxmlformats.org/drawingml/2006/main">
          <a:graphicData uri="http://schemas.openxmlformats.org/drawingml/2006/table">
            <a:tbl>
              <a:tblPr/>
              <a:tblGrid>
                <a:gridCol w="3657600"/>
                <a:gridCol w="3657600"/>
                <a:gridCol w="3657600"/>
              </a:tblGrid>
              <a:tr h="647700">
                <a:tc>
                  <a:txBody>
                    <a:bodyPr>
                      <a:noAutofit/>
                    </a:bodyPr>
                    <a:lstStyle/>
                    <a:p>
                      <a:r>
                        <a:rPr sz="1650" b="1">
                          <a:solidFill>
                            <a:srgbClr val="EF9529"/>
                          </a:solidFill>
                          <a:latin typeface="Segoe UI"/>
                          <a:ea typeface="Segoe UI"/>
                          <a:cs typeface="Segoe UI"/>
                        </a:rPr>
                        <a:t>Core clock</a:t>
                      </a:r>
                    </a:p>
                  </a:txBody>
                  <a:tcPr marL="91440" marR="91440" marT="45720" marB="45720">
                    <a:solidFill>
                      <a:srgbClr val="24242B"/>
                    </a:solidFill>
                  </a:tcPr>
                </a:tc>
                <a:tc>
                  <a:txBody>
                    <a:bodyPr>
                      <a:noAutofit/>
                    </a:bodyPr>
                    <a:lstStyle/>
                    <a:p>
                      <a:r>
                        <a:rPr sz="1650" b="1">
                          <a:solidFill>
                            <a:srgbClr val="EF9529"/>
                          </a:solidFill>
                          <a:latin typeface="Segoe UI"/>
                          <a:ea typeface="Segoe UI"/>
                          <a:cs typeface="Segoe UI"/>
                        </a:rPr>
                        <a:t>Prescale</a:t>
                      </a:r>
                    </a:p>
                  </a:txBody>
                  <a:tcPr marL="91440" marR="91440" marT="45720" marB="45720">
                    <a:solidFill>
                      <a:srgbClr val="24242B"/>
                    </a:solidFill>
                  </a:tcPr>
                </a:tc>
                <a:tc>
                  <a:txBody>
                    <a:bodyPr>
                      <a:noAutofit/>
                    </a:bodyPr>
                    <a:lstStyle/>
                    <a:p>
                      <a:r>
                        <a:rPr sz="1650" b="1">
                          <a:solidFill>
                            <a:srgbClr val="EF9529"/>
                          </a:solidFill>
                          <a:latin typeface="Segoe UI"/>
                          <a:ea typeface="Segoe UI"/>
                          <a:cs typeface="Segoe UI"/>
                        </a:rPr>
                        <a:t>Nominal baud</a:t>
                      </a:r>
                    </a:p>
                  </a:txBody>
                  <a:tcPr marL="91440" marR="91440" marT="45720" marB="45720">
                    <a:solidFill>
                      <a:srgbClr val="24242B"/>
                    </a:solidFill>
                  </a:tcPr>
                </a:tc>
              </a:tr>
              <a:tr h="647700">
                <a:tc>
                  <a:txBody>
                    <a:bodyPr>
                      <a:noAutofit/>
                    </a:bodyPr>
                    <a:lstStyle/>
                    <a:p>
                      <a:r>
                        <a:rPr sz="1650" b="0">
                          <a:solidFill>
                            <a:srgbClr val="EDEDED"/>
                          </a:solidFill>
                          <a:latin typeface="Segoe UI"/>
                          <a:ea typeface="Segoe UI"/>
                          <a:cs typeface="Segoe UI"/>
                        </a:rPr>
                        <a:t>50 MHz</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2</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3125000</a:t>
                      </a:r>
                    </a:p>
                  </a:txBody>
                  <a:tcPr marL="91440" marR="91440" marT="45720" marB="45720">
                    <a:solidFill>
                      <a:srgbClr val="16161A"/>
                    </a:solidFill>
                  </a:tcPr>
                </a:tc>
              </a:tr>
              <a:tr h="647700">
                <a:tc>
                  <a:txBody>
                    <a:bodyPr>
                      <a:noAutofit/>
                    </a:bodyPr>
                    <a:lstStyle/>
                    <a:p>
                      <a:r>
                        <a:rPr sz="1650" b="0">
                          <a:solidFill>
                            <a:srgbClr val="EDEDED"/>
                          </a:solidFill>
                          <a:latin typeface="Segoe UI"/>
                          <a:ea typeface="Segoe UI"/>
                          <a:cs typeface="Segoe UI"/>
                        </a:rPr>
                        <a:t>50 MHz</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7</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892857.14</a:t>
                      </a:r>
                    </a:p>
                  </a:txBody>
                  <a:tcPr marL="91440" marR="91440" marT="45720" marB="45720">
                    <a:solidFill>
                      <a:srgbClr val="16161A"/>
                    </a:solidFill>
                  </a:tcPr>
                </a:tc>
              </a:tr>
              <a:tr h="647700">
                <a:tc>
                  <a:txBody>
                    <a:bodyPr>
                      <a:noAutofit/>
                    </a:bodyPr>
                    <a:lstStyle/>
                    <a:p>
                      <a:r>
                        <a:rPr sz="1650" b="0">
                          <a:solidFill>
                            <a:srgbClr val="EDEDED"/>
                          </a:solidFill>
                          <a:latin typeface="Segoe UI"/>
                          <a:ea typeface="Segoe UI"/>
                          <a:cs typeface="Segoe UI"/>
                        </a:rPr>
                        <a:t>50 MHz</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54</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115740.74 (example only)</a:t>
                      </a:r>
                    </a:p>
                  </a:txBody>
                  <a:tcPr marL="91440" marR="91440" marT="45720" marB="45720">
                    <a:solidFill>
                      <a:srgbClr val="16161A"/>
                    </a:solidFill>
                  </a:tcPr>
                </a:tc>
              </a:tr>
            </a:tbl>
          </a:graphicData>
        </a:graphic>
      </p:graphicFrame>
    </p:spTree>
    <p:extLst>
      <p:ext uri="{BB962C8B-B14F-4D97-AF65-F5344CB8AC3E}">
        <p14:creationId xmlns:p14="http://schemas.microsoft.com/office/powerpoint/2010/main" val="1426376253"/>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366FB3C3-5D1B-4F68-8DFC-2A62AA87F6EA}"/>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777FF1E7-DA09-49BC-87FA-4A68B362C06F}"/>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0D29963F-2653-4199-86A0-C4D7B534DFFB}"/>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UART STUDENT LAB</a:t>
            </a:r>
          </a:p>
        </p:txBody>
      </p:sp>
      <p:sp>
        <p:nvSpPr>
          <p:cNvPr id="5" name="t5">
            <a:extLst xmlns:a="http://schemas.openxmlformats.org/drawingml/2006/main">
              <a:ext uri="{FF2B5EF4-FFF2-40B4-BE49-F238E27FC236}">
                <a16:creationId xmlns:a16="http://schemas.microsoft.com/office/drawing/2014/main" id="{1B3C72BE-F611-49AD-929A-B0E3025E5084}"/>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7E46585D-DD41-432C-8D6A-40A6B364E815}"/>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11/44</a:t>
            </a:r>
          </a:p>
        </p:txBody>
      </p:sp>
      <p:sp>
        <p:nvSpPr>
          <p:cNvPr id="7" name="lesson-title">
            <a:extLst xmlns:a="http://schemas.openxmlformats.org/drawingml/2006/main">
              <a:ext uri="{FF2B5EF4-FFF2-40B4-BE49-F238E27FC236}">
                <a16:creationId xmlns:a16="http://schemas.microsoft.com/office/drawing/2014/main" id="{9E195424-6615-449A-997D-95EDA24FE434}"/>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Integer prescaler: 115200 baud at 50 MHz</a:t>
            </a:r>
          </a:p>
        </p:txBody>
      </p:sp>
      <p:sp>
        <p:nvSpPr>
          <p:cNvPr id="8" name="explanation-0">
            <a:extLst xmlns:a="http://schemas.openxmlformats.org/drawingml/2006/main">
              <a:ext uri="{FF2B5EF4-FFF2-40B4-BE49-F238E27FC236}">
                <a16:creationId xmlns:a16="http://schemas.microsoft.com/office/drawing/2014/main" id="{CF4F7E89-2A81-4907-997A-038DE2FBE338}"/>
              </a:ext>
            </a:extLst>
          </p:cNvPr>
          <p:cNvSpPr>
            <a:spLocks xmlns:a="http://schemas.openxmlformats.org/drawingml/2006/main" noGrp="1"/>
          </p:cNvSpPr>
          <p:nvPr/>
        </p:nvSpPr>
        <p:spPr>
          <a:xfrm xmlns:a="http://schemas.openxmlformats.org/drawingml/2006/main">
            <a:off x="609600" y="1724025"/>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F9529"/>
                </a:solidFill>
                <a:latin typeface="Segoe UI"/>
                <a:ea typeface="Segoe UI"/>
                <a:cs typeface="Segoe UI"/>
              </a:defRPr>
            </a:pPr>
            <a:r>
              <a:rPr sz="1800" b="0">
                <a:solidFill>
                  <a:srgbClr val="EF9529"/>
                </a:solidFill>
                <a:latin typeface="Segoe UI"/>
                <a:ea typeface="Segoe UI"/>
                <a:cs typeface="Segoe UI"/>
              </a:rPr>
              <a:t>Choose P near 50,000,000 / (8 x 115200) = 54.253.</a:t>
            </a:r>
          </a:p>
        </p:txBody>
      </p:sp>
      <p:sp>
        <p:nvSpPr>
          <p:cNvPr id="9" name="explanation-1">
            <a:extLst xmlns:a="http://schemas.openxmlformats.org/drawingml/2006/main">
              <a:ext uri="{FF2B5EF4-FFF2-40B4-BE49-F238E27FC236}">
                <a16:creationId xmlns:a16="http://schemas.microsoft.com/office/drawing/2014/main" id="{814F8315-A92F-45C8-8192-D1A674FA3C28}"/>
              </a:ext>
            </a:extLst>
          </p:cNvPr>
          <p:cNvSpPr>
            <a:spLocks xmlns:a="http://schemas.openxmlformats.org/drawingml/2006/main" noGrp="1"/>
          </p:cNvSpPr>
          <p:nvPr/>
        </p:nvSpPr>
        <p:spPr>
          <a:xfrm xmlns:a="http://schemas.openxmlformats.org/drawingml/2006/main">
            <a:off x="609600" y="2076450"/>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DEDED"/>
                </a:solidFill>
                <a:latin typeface="Segoe UI"/>
                <a:ea typeface="Segoe UI"/>
                <a:cs typeface="Segoe UI"/>
              </a:defRPr>
            </a:pPr>
            <a:r>
              <a:rPr sz="1800" b="0">
                <a:solidFill>
                  <a:srgbClr val="EDEDED"/>
                </a:solidFill>
                <a:latin typeface="Segoe UI"/>
                <a:ea typeface="Segoe UI"/>
                <a:cs typeface="Segoe UI"/>
              </a:rPr>
              <a:t>P=54 gives 115740.74 baud, error +0.4694%.</a:t>
            </a:r>
          </a:p>
        </p:txBody>
      </p:sp>
      <p:sp>
        <p:nvSpPr>
          <p:cNvPr id="10" name="explanation-2">
            <a:extLst xmlns:a="http://schemas.openxmlformats.org/drawingml/2006/main">
              <a:ext uri="{FF2B5EF4-FFF2-40B4-BE49-F238E27FC236}">
                <a16:creationId xmlns:a16="http://schemas.microsoft.com/office/drawing/2014/main" id="{59F03FE8-B72A-43E6-A025-5ADA46DA9B9C}"/>
              </a:ext>
            </a:extLst>
          </p:cNvPr>
          <p:cNvSpPr>
            <a:spLocks xmlns:a="http://schemas.openxmlformats.org/drawingml/2006/main" noGrp="1"/>
          </p:cNvSpPr>
          <p:nvPr/>
        </p:nvSpPr>
        <p:spPr>
          <a:xfrm xmlns:a="http://schemas.openxmlformats.org/drawingml/2006/main">
            <a:off x="609600" y="2428875"/>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DEDED"/>
                </a:solidFill>
                <a:latin typeface="Segoe UI"/>
                <a:ea typeface="Segoe UI"/>
                <a:cs typeface="Segoe UI"/>
              </a:defRPr>
            </a:pPr>
            <a:r>
              <a:rPr sz="1800" b="0">
                <a:solidFill>
                  <a:srgbClr val="EDEDED"/>
                </a:solidFill>
                <a:latin typeface="Segoe UI"/>
                <a:ea typeface="Segoe UI"/>
                <a:cs typeface="Segoe UI"/>
              </a:rPr>
              <a:t>P=55 gives 113636.36 baud, error -1.3573%.</a:t>
            </a:r>
          </a:p>
        </p:txBody>
      </p:sp>
      <p:graphicFrame>
        <p:nvGraphicFramePr>
          <p:cNvPr id="21" name=""/>
          <p:cNvGraphicFramePr/>
          <p:nvPr/>
        </p:nvGraphicFramePr>
        <p:xfrm>
          <a:off xmlns:a="http://schemas.openxmlformats.org/drawingml/2006/main" x="609600" y="2914650"/>
          <a:ext xmlns:a="http://schemas.openxmlformats.org/drawingml/2006/main" cx="10972800" cy="2590800"/>
        </p:xfrm>
        <a:graphic xmlns:a="http://schemas.openxmlformats.org/drawingml/2006/main">
          <a:graphicData uri="http://schemas.openxmlformats.org/drawingml/2006/table">
            <a:tbl>
              <a:tblPr/>
              <a:tblGrid>
                <a:gridCol w="3657600"/>
                <a:gridCol w="3657600"/>
                <a:gridCol w="3657600"/>
              </a:tblGrid>
              <a:tr h="647700">
                <a:tc>
                  <a:txBody>
                    <a:bodyPr>
                      <a:noAutofit/>
                    </a:bodyPr>
                    <a:lstStyle/>
                    <a:p>
                      <a:r>
                        <a:rPr sz="1650" b="1">
                          <a:solidFill>
                            <a:srgbClr val="EF9529"/>
                          </a:solidFill>
                          <a:latin typeface="Segoe UI"/>
                          <a:ea typeface="Segoe UI"/>
                          <a:cs typeface="Segoe UI"/>
                        </a:rPr>
                        <a:t>Prescale</a:t>
                      </a:r>
                    </a:p>
                  </a:txBody>
                  <a:tcPr marL="91440" marR="91440" marT="45720" marB="45720">
                    <a:solidFill>
                      <a:srgbClr val="24242B"/>
                    </a:solidFill>
                  </a:tcPr>
                </a:tc>
                <a:tc>
                  <a:txBody>
                    <a:bodyPr>
                      <a:noAutofit/>
                    </a:bodyPr>
                    <a:lstStyle/>
                    <a:p>
                      <a:r>
                        <a:rPr sz="1650" b="1">
                          <a:solidFill>
                            <a:srgbClr val="EF9529"/>
                          </a:solidFill>
                          <a:latin typeface="Segoe UI"/>
                          <a:ea typeface="Segoe UI"/>
                          <a:cs typeface="Segoe UI"/>
                        </a:rPr>
                        <a:t>Calculated baud</a:t>
                      </a:r>
                    </a:p>
                  </a:txBody>
                  <a:tcPr marL="91440" marR="91440" marT="45720" marB="45720">
                    <a:solidFill>
                      <a:srgbClr val="24242B"/>
                    </a:solidFill>
                  </a:tcPr>
                </a:tc>
                <a:tc>
                  <a:txBody>
                    <a:bodyPr>
                      <a:noAutofit/>
                    </a:bodyPr>
                    <a:lstStyle/>
                    <a:p>
                      <a:r>
                        <a:rPr sz="1650" b="1">
                          <a:solidFill>
                            <a:srgbClr val="EF9529"/>
                          </a:solidFill>
                          <a:latin typeface="Segoe UI"/>
                          <a:ea typeface="Segoe UI"/>
                          <a:cs typeface="Segoe UI"/>
                        </a:rPr>
                        <a:t>Error versus 115200</a:t>
                      </a:r>
                    </a:p>
                  </a:txBody>
                  <a:tcPr marL="91440" marR="91440" marT="45720" marB="45720">
                    <a:solidFill>
                      <a:srgbClr val="24242B"/>
                    </a:solidFill>
                  </a:tcPr>
                </a:tc>
              </a:tr>
              <a:tr h="647700">
                <a:tc>
                  <a:txBody>
                    <a:bodyPr>
                      <a:noAutofit/>
                    </a:bodyPr>
                    <a:lstStyle/>
                    <a:p>
                      <a:r>
                        <a:rPr sz="1650" b="0">
                          <a:solidFill>
                            <a:srgbClr val="EDEDED"/>
                          </a:solidFill>
                          <a:latin typeface="Segoe UI"/>
                          <a:ea typeface="Segoe UI"/>
                          <a:cs typeface="Segoe UI"/>
                        </a:rPr>
                        <a:t>54</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115740.74</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+0.4694%</a:t>
                      </a:r>
                    </a:p>
                  </a:txBody>
                  <a:tcPr marL="91440" marR="91440" marT="45720" marB="45720">
                    <a:solidFill>
                      <a:srgbClr val="16161A"/>
                    </a:solidFill>
                  </a:tcPr>
                </a:tc>
              </a:tr>
              <a:tr h="647700">
                <a:tc>
                  <a:txBody>
                    <a:bodyPr>
                      <a:noAutofit/>
                    </a:bodyPr>
                    <a:lstStyle/>
                    <a:p>
                      <a:r>
                        <a:rPr sz="1650" b="0">
                          <a:solidFill>
                            <a:srgbClr val="EDEDED"/>
                          </a:solidFill>
                          <a:latin typeface="Segoe UI"/>
                          <a:ea typeface="Segoe UI"/>
                          <a:cs typeface="Segoe UI"/>
                        </a:rPr>
                        <a:t>55</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113636.36</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-1.3573%</a:t>
                      </a:r>
                    </a:p>
                  </a:txBody>
                  <a:tcPr marL="91440" marR="91440" marT="45720" marB="45720">
                    <a:solidFill>
                      <a:srgbClr val="16161A"/>
                    </a:solidFill>
                  </a:tcPr>
                </a:tc>
              </a:tr>
              <a:tr h="647700">
                <a:tc>
                  <a:txBody>
                    <a:bodyPr>
                      <a:noAutofit/>
                    </a:bodyPr>
                    <a:lstStyle/>
                    <a:p>
                      <a:r>
                        <a:rPr sz="1650" b="0">
                          <a:solidFill>
                            <a:srgbClr val="EDEDED"/>
                          </a:solidFill>
                          <a:latin typeface="Segoe UI"/>
                          <a:ea typeface="Segoe UI"/>
                          <a:cs typeface="Segoe UI"/>
                        </a:rPr>
                        <a:t>651 for 9600</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9600.61</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+0.0064%</a:t>
                      </a:r>
                    </a:p>
                  </a:txBody>
                  <a:tcPr marL="91440" marR="91440" marT="45720" marB="45720">
                    <a:solidFill>
                      <a:srgbClr val="16161A"/>
                    </a:solidFill>
                  </a:tcPr>
                </a:tc>
              </a:tr>
            </a:tbl>
          </a:graphicData>
        </a:graphic>
      </p:graphicFrame>
    </p:spTree>
    <p:extLst>
      <p:ext uri="{BB962C8B-B14F-4D97-AF65-F5344CB8AC3E}">
        <p14:creationId xmlns:p14="http://schemas.microsoft.com/office/powerpoint/2010/main" val="1426376253"/>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366FB3C3-5D1B-4F68-8DFC-2A62AA87F6EA}"/>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777FF1E7-DA09-49BC-87FA-4A68B362C06F}"/>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0D29963F-2653-4199-86A0-C4D7B534DFFB}"/>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UART STUDENT LAB</a:t>
            </a:r>
          </a:p>
        </p:txBody>
      </p:sp>
      <p:sp>
        <p:nvSpPr>
          <p:cNvPr id="5" name="t5">
            <a:extLst xmlns:a="http://schemas.openxmlformats.org/drawingml/2006/main">
              <a:ext uri="{FF2B5EF4-FFF2-40B4-BE49-F238E27FC236}">
                <a16:creationId xmlns:a16="http://schemas.microsoft.com/office/drawing/2014/main" id="{1B3C72BE-F611-49AD-929A-B0E3025E5084}"/>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7E46585D-DD41-432C-8D6A-40A6B364E815}"/>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12/44</a:t>
            </a:r>
          </a:p>
        </p:txBody>
      </p:sp>
      <p:sp>
        <p:nvSpPr>
          <p:cNvPr id="7" name="lesson-title">
            <a:extLst xmlns:a="http://schemas.openxmlformats.org/drawingml/2006/main">
              <a:ext uri="{FF2B5EF4-FFF2-40B4-BE49-F238E27FC236}">
                <a16:creationId xmlns:a16="http://schemas.microsoft.com/office/drawing/2014/main" id="{C30B7E83-1F4A-422C-9696-21D7DBC0C382}"/>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Receiver sampling</a:t>
            </a:r>
          </a:p>
        </p:txBody>
      </p:sp>
      <p:sp>
        <p:nvSpPr>
          <p:cNvPr id="8" name="explanation-0">
            <a:extLst xmlns:a="http://schemas.openxmlformats.org/drawingml/2006/main">
              <a:ext uri="{FF2B5EF4-FFF2-40B4-BE49-F238E27FC236}">
                <a16:creationId xmlns:a16="http://schemas.microsoft.com/office/drawing/2014/main" id="{39437F08-F87C-401C-8D23-A82156556577}"/>
              </a:ext>
            </a:extLst>
          </p:cNvPr>
          <p:cNvSpPr>
            <a:spLocks xmlns:a="http://schemas.openxmlformats.org/drawingml/2006/main" noGrp="1"/>
          </p:cNvSpPr>
          <p:nvPr/>
        </p:nvSpPr>
        <p:spPr>
          <a:xfrm xmlns:a="http://schemas.openxmlformats.org/drawingml/2006/main">
            <a:off x="609600" y="19240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F9529"/>
                </a:solidFill>
                <a:latin typeface="Segoe UI"/>
                <a:ea typeface="Segoe UI"/>
                <a:cs typeface="Segoe UI"/>
              </a:defRPr>
            </a:pPr>
            <a:r>
              <a:rPr sz="2175" b="0">
                <a:solidFill>
                  <a:srgbClr val="EF9529"/>
                </a:solidFill>
                <a:latin typeface="Segoe UI"/>
                <a:ea typeface="Segoe UI"/>
                <a:cs typeface="Segoe UI"/>
              </a:rPr>
              <a:t>The receiver detects a low START candidate.</a:t>
            </a:r>
          </a:p>
        </p:txBody>
      </p:sp>
      <p:sp>
        <p:nvSpPr>
          <p:cNvPr id="9" name="explanation-1">
            <a:extLst xmlns:a="http://schemas.openxmlformats.org/drawingml/2006/main">
              <a:ext uri="{FF2B5EF4-FFF2-40B4-BE49-F238E27FC236}">
                <a16:creationId xmlns:a16="http://schemas.microsoft.com/office/drawing/2014/main" id="{C630F139-FE5F-4189-AC30-7904589FDF0B}"/>
              </a:ext>
            </a:extLst>
          </p:cNvPr>
          <p:cNvSpPr>
            <a:spLocks xmlns:a="http://schemas.openxmlformats.org/drawingml/2006/main" noGrp="1"/>
          </p:cNvSpPr>
          <p:nvPr/>
        </p:nvSpPr>
        <p:spPr>
          <a:xfrm xmlns:a="http://schemas.openxmlformats.org/drawingml/2006/main">
            <a:off x="609600" y="274320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It checks and samples within the expected bit intervals.</a:t>
            </a:r>
          </a:p>
        </p:txBody>
      </p:sp>
      <p:sp>
        <p:nvSpPr>
          <p:cNvPr id="10" name="explanation-2">
            <a:extLst xmlns:a="http://schemas.openxmlformats.org/drawingml/2006/main">
              <a:ext uri="{FF2B5EF4-FFF2-40B4-BE49-F238E27FC236}">
                <a16:creationId xmlns:a16="http://schemas.microsoft.com/office/drawing/2014/main" id="{EA319FB4-7545-4175-A204-4ED48882074C}"/>
              </a:ext>
            </a:extLst>
          </p:cNvPr>
          <p:cNvSpPr>
            <a:spLocks xmlns:a="http://schemas.openxmlformats.org/drawingml/2006/main" noGrp="1"/>
          </p:cNvSpPr>
          <p:nvPr/>
        </p:nvSpPr>
        <p:spPr>
          <a:xfrm xmlns:a="http://schemas.openxmlformats.org/drawingml/2006/main">
            <a:off x="609600" y="35623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A two-flop wrapper synchronizer samples external RX.</a:t>
            </a:r>
          </a:p>
        </p:txBody>
      </p:sp>
    </p:spTree>
    <p:extLst>
      <p:ext uri="{BB962C8B-B14F-4D97-AF65-F5344CB8AC3E}">
        <p14:creationId xmlns:p14="http://schemas.microsoft.com/office/powerpoint/2010/main" val="1426376253"/>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366FB3C3-5D1B-4F68-8DFC-2A62AA87F6EA}"/>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777FF1E7-DA09-49BC-87FA-4A68B362C06F}"/>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0D29963F-2653-4199-86A0-C4D7B534DFFB}"/>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UART STUDENT LAB</a:t>
            </a:r>
          </a:p>
        </p:txBody>
      </p:sp>
      <p:sp>
        <p:nvSpPr>
          <p:cNvPr id="5" name="t5">
            <a:extLst xmlns:a="http://schemas.openxmlformats.org/drawingml/2006/main">
              <a:ext uri="{FF2B5EF4-FFF2-40B4-BE49-F238E27FC236}">
                <a16:creationId xmlns:a16="http://schemas.microsoft.com/office/drawing/2014/main" id="{1B3C72BE-F611-49AD-929A-B0E3025E5084}"/>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7E46585D-DD41-432C-8D6A-40A6B364E815}"/>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13/44</a:t>
            </a:r>
          </a:p>
        </p:txBody>
      </p:sp>
      <p:sp>
        <p:nvSpPr>
          <p:cNvPr id="7" name="lesson-title">
            <a:extLst xmlns:a="http://schemas.openxmlformats.org/drawingml/2006/main">
              <a:ext uri="{FF2B5EF4-FFF2-40B4-BE49-F238E27FC236}">
                <a16:creationId xmlns:a16="http://schemas.microsoft.com/office/drawing/2014/main" id="{E8BEA227-8988-4E4B-A9A4-F50D886F83AF}"/>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Receiver timing: centre-of-bit samples</a:t>
            </a:r>
          </a:p>
        </p:txBody>
      </p:sp>
      <p:sp>
        <p:nvSpPr>
          <p:cNvPr id="8" name="explanation-0">
            <a:extLst xmlns:a="http://schemas.openxmlformats.org/drawingml/2006/main">
              <a:ext uri="{FF2B5EF4-FFF2-40B4-BE49-F238E27FC236}">
                <a16:creationId xmlns:a16="http://schemas.microsoft.com/office/drawing/2014/main" id="{1690A3E8-FA9B-42FA-A7B1-B2B8007A755D}"/>
              </a:ext>
            </a:extLst>
          </p:cNvPr>
          <p:cNvSpPr>
            <a:spLocks xmlns:a="http://schemas.openxmlformats.org/drawingml/2006/main" noGrp="1"/>
          </p:cNvSpPr>
          <p:nvPr/>
        </p:nvSpPr>
        <p:spPr>
          <a:xfrm xmlns:a="http://schemas.openxmlformats.org/drawingml/2006/main">
            <a:off x="609600" y="169545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F9529"/>
                </a:solidFill>
                <a:latin typeface="Segoe UI"/>
                <a:ea typeface="Segoe UI"/>
                <a:cs typeface="Segoe UI"/>
              </a:defRPr>
            </a:pPr>
            <a:r>
              <a:rPr sz="1800" b="0">
                <a:solidFill>
                  <a:srgbClr val="EF9529"/>
                </a:solidFill>
                <a:latin typeface="Segoe UI"/>
                <a:ea typeface="Segoe UI"/>
                <a:cs typeface="Segoe UI"/>
              </a:rPr>
              <a:t>Relative to START: centres are 0.5T, 1.5T, ... 9.5T.</a:t>
            </a:r>
          </a:p>
        </p:txBody>
      </p:sp>
      <p:sp>
        <p:nvSpPr>
          <p:cNvPr id="9" name="explanation-1">
            <a:extLst xmlns:a="http://schemas.openxmlformats.org/drawingml/2006/main">
              <a:ext uri="{FF2B5EF4-FFF2-40B4-BE49-F238E27FC236}">
                <a16:creationId xmlns:a16="http://schemas.microsoft.com/office/drawing/2014/main" id="{C5AF7EF6-36B6-4202-8947-EFE470981702}"/>
              </a:ext>
            </a:extLst>
          </p:cNvPr>
          <p:cNvSpPr>
            <a:spLocks xmlns:a="http://schemas.openxmlformats.org/drawingml/2006/main" noGrp="1"/>
          </p:cNvSpPr>
          <p:nvPr/>
        </p:nvSpPr>
        <p:spPr>
          <a:xfrm xmlns:a="http://schemas.openxmlformats.org/drawingml/2006/main">
            <a:off x="609600" y="20574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DEDED"/>
                </a:solidFill>
                <a:latin typeface="Segoe UI"/>
                <a:ea typeface="Segoe UI"/>
                <a:cs typeface="Segoe UI"/>
              </a:defRPr>
            </a:pPr>
            <a:r>
              <a:rPr sz="1800" b="0">
                <a:solidFill>
                  <a:srgbClr val="EDEDED"/>
                </a:solidFill>
                <a:latin typeface="Segoe UI"/>
                <a:ea typeface="Segoe UI"/>
                <a:cs typeface="Segoe UI"/>
              </a:rPr>
              <a:t>START begins at chart slot 1. Data samples follow the START confirmation.</a:t>
            </a:r>
          </a:p>
        </p:txBody>
      </p:sp>
      <p:graphicFrame>
        <p:nvGraphicFramePr>
          <p:cNvPr id="21" name="Chart"/>
          <p:cNvGraphicFramePr/>
          <p:nvPr/>
        </p:nvGraphicFramePr>
        <p:xfrm>
          <a:off xmlns:a="http://schemas.openxmlformats.org/drawingml/2006/main" x="609600" y="2381250"/>
          <a:ext xmlns:a="http://schemas.openxmlformats.org/drawingml/2006/main" cx="10972800" cy="1476375"/>
        </p:xfrm>
        <a:graphic xmlns:a="http://schemas.openxmlformats.org/drawingml/2006/main">
          <a:graphicData uri="http://schemas.openxmlformats.org/drawingml/2006/chart">
            <c:chart xmlns:r="http://schemas.openxmlformats.org/officeDocument/2006/relationships" xmlns:c="http://schemas.openxmlformats.org/drawingml/2006/chart" r:id="Rcd78be925a614141"/>
          </a:graphicData>
        </a:graphic>
      </p:graphicFrame>
      <p:graphicFrame>
        <p:nvGraphicFramePr>
          <p:cNvPr id="22" name="Chart"/>
          <p:cNvGraphicFramePr/>
          <p:nvPr/>
        </p:nvGraphicFramePr>
        <p:xfrm>
          <a:off xmlns:a="http://schemas.openxmlformats.org/drawingml/2006/main" x="609600" y="3857625"/>
          <a:ext xmlns:a="http://schemas.openxmlformats.org/drawingml/2006/main" cx="10972800" cy="1952625"/>
        </p:xfrm>
        <a:graphic xmlns:a="http://schemas.openxmlformats.org/drawingml/2006/main">
          <a:graphicData uri="http://schemas.openxmlformats.org/drawingml/2006/chart">
            <c:chart xmlns:r="http://schemas.openxmlformats.org/officeDocument/2006/relationships" xmlns:c="http://schemas.openxmlformats.org/drawingml/2006/chart" r:id="R357ba4d2138d42c2"/>
          </a:graphicData>
        </a:graphic>
      </p:graphicFrame>
      <p:sp>
        <p:nvSpPr>
          <p:cNvPr id="12" name="trace-kind">
            <a:extLst xmlns:a="http://schemas.openxmlformats.org/drawingml/2006/main">
              <a:ext uri="{FF2B5EF4-FFF2-40B4-BE49-F238E27FC236}">
                <a16:creationId xmlns:a16="http://schemas.microsoft.com/office/drawing/2014/main" id="{B7E6F348-CCE9-4AAE-8BEE-FD73B99DB0D7}"/>
              </a:ext>
            </a:extLst>
          </p:cNvPr>
          <p:cNvSpPr>
            <a:spLocks xmlns:a="http://schemas.openxmlformats.org/drawingml/2006/main" noGrp="1"/>
          </p:cNvSpPr>
          <p:nvPr/>
        </p:nvSpPr>
        <p:spPr>
          <a:xfrm xmlns:a="http://schemas.openxmlformats.org/drawingml/2006/main">
            <a:off x="609600" y="6000750"/>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9A9AA2"/>
                </a:solidFill>
                <a:latin typeface="Segoe UI"/>
                <a:ea typeface="Segoe UI"/>
                <a:cs typeface="Segoe UI"/>
              </a:defRPr>
            </a:pPr>
            <a:r>
              <a:rPr sz="1350" b="0">
                <a:solidFill>
                  <a:srgbClr val="9A9AA2"/>
                </a:solidFill>
                <a:latin typeface="Segoe UI"/>
                <a:ea typeface="Segoe UI"/>
                <a:cs typeface="Segoe UI"/>
              </a:rPr>
              <a:t>Logic levels: HIGH=1, LOW=0. IDEAL WORKED EXAMPLE: logic values, not a measured trace</a:t>
            </a:r>
          </a:p>
        </p:txBody>
      </p:sp>
    </p:spTree>
    <p:extLst>
      <p:ext uri="{BB962C8B-B14F-4D97-AF65-F5344CB8AC3E}">
        <p14:creationId xmlns:p14="http://schemas.microsoft.com/office/powerpoint/2010/main" val="1426376253"/>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366FB3C3-5D1B-4F68-8DFC-2A62AA87F6EA}"/>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777FF1E7-DA09-49BC-87FA-4A68B362C06F}"/>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0D29963F-2653-4199-86A0-C4D7B534DFFB}"/>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UART STUDENT LAB</a:t>
            </a:r>
          </a:p>
        </p:txBody>
      </p:sp>
      <p:sp>
        <p:nvSpPr>
          <p:cNvPr id="5" name="t5">
            <a:extLst xmlns:a="http://schemas.openxmlformats.org/drawingml/2006/main">
              <a:ext uri="{FF2B5EF4-FFF2-40B4-BE49-F238E27FC236}">
                <a16:creationId xmlns:a16="http://schemas.microsoft.com/office/drawing/2014/main" id="{1B3C72BE-F611-49AD-929A-B0E3025E5084}"/>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7E46585D-DD41-432C-8D6A-40A6B364E815}"/>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14/44</a:t>
            </a:r>
          </a:p>
        </p:txBody>
      </p:sp>
      <p:sp>
        <p:nvSpPr>
          <p:cNvPr id="7" name="lesson-title">
            <a:extLst xmlns:a="http://schemas.openxmlformats.org/drawingml/2006/main">
              <a:ext uri="{FF2B5EF4-FFF2-40B4-BE49-F238E27FC236}">
                <a16:creationId xmlns:a16="http://schemas.microsoft.com/office/drawing/2014/main" id="{577AF013-CB58-427F-953F-5D983056B8C8}"/>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RTL walkthrough: rejecting a false START</a:t>
            </a:r>
          </a:p>
        </p:txBody>
      </p:sp>
      <p:sp>
        <p:nvSpPr>
          <p:cNvPr id="8" name="explanation-0">
            <a:extLst xmlns:a="http://schemas.openxmlformats.org/drawingml/2006/main">
              <a:ext uri="{FF2B5EF4-FFF2-40B4-BE49-F238E27FC236}">
                <a16:creationId xmlns:a16="http://schemas.microsoft.com/office/drawing/2014/main" id="{D1D634C2-EBA2-4C29-B3F4-B07AA010C835}"/>
              </a:ext>
            </a:extLst>
          </p:cNvPr>
          <p:cNvSpPr>
            <a:spLocks xmlns:a="http://schemas.openxmlformats.org/drawingml/2006/main" noGrp="1"/>
          </p:cNvSpPr>
          <p:nvPr/>
        </p:nvSpPr>
        <p:spPr>
          <a:xfrm xmlns:a="http://schemas.openxmlformats.org/drawingml/2006/main">
            <a:off x="609600" y="169545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F9529"/>
                </a:solidFill>
                <a:latin typeface="Segoe UI"/>
                <a:ea typeface="Segoe UI"/>
                <a:cs typeface="Segoe UI"/>
              </a:defRPr>
            </a:pPr>
            <a:r>
              <a:rPr sz="1800" b="0">
                <a:solidFill>
                  <a:srgbClr val="EF9529"/>
                </a:solidFill>
                <a:latin typeface="Segoe UI"/>
                <a:ea typeface="Segoe UI"/>
                <a:cs typeface="Segoe UI"/>
              </a:rPr>
              <a:t>The receiver confirms the line is still low after its initial wait.</a:t>
            </a:r>
          </a:p>
        </p:txBody>
      </p:sp>
      <p:sp>
        <p:nvSpPr>
          <p:cNvPr id="9" name="explanation-1">
            <a:extLst xmlns:a="http://schemas.openxmlformats.org/drawingml/2006/main">
              <a:ext uri="{FF2B5EF4-FFF2-40B4-BE49-F238E27FC236}">
                <a16:creationId xmlns:a16="http://schemas.microsoft.com/office/drawing/2014/main" id="{B88A7FD0-0956-42AA-9293-B99C07FB8D18}"/>
              </a:ext>
            </a:extLst>
          </p:cNvPr>
          <p:cNvSpPr>
            <a:spLocks xmlns:a="http://schemas.openxmlformats.org/drawingml/2006/main" noGrp="1"/>
          </p:cNvSpPr>
          <p:nvPr/>
        </p:nvSpPr>
        <p:spPr>
          <a:xfrm xmlns:a="http://schemas.openxmlformats.org/drawingml/2006/main">
            <a:off x="609600" y="20574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DEDED"/>
                </a:solidFill>
                <a:latin typeface="Segoe UI"/>
                <a:ea typeface="Segoe UI"/>
                <a:cs typeface="Segoe UI"/>
              </a:defRPr>
            </a:pPr>
            <a:r>
              <a:rPr sz="1800" b="0">
                <a:solidFill>
                  <a:srgbClr val="EDEDED"/>
                </a:solidFill>
                <a:latin typeface="Segoe UI"/>
                <a:ea typeface="Segoe UI"/>
                <a:cs typeface="Segoe UI"/>
              </a:rPr>
              <a:t>If it is high, it abandons the candidate frame.</a:t>
            </a:r>
          </a:p>
        </p:txBody>
      </p:sp>
      <p:sp>
        <p:nvSpPr>
          <p:cNvPr id="10" name="rtl-excerpt">
            <a:extLst xmlns:a="http://schemas.openxmlformats.org/drawingml/2006/main">
              <a:ext uri="{FF2B5EF4-FFF2-40B4-BE49-F238E27FC236}">
                <a16:creationId xmlns:a16="http://schemas.microsoft.com/office/drawing/2014/main" id="{F823439F-678D-478E-956D-C528E63054DE}"/>
              </a:ext>
            </a:extLst>
          </p:cNvPr>
          <p:cNvSpPr>
            <a:spLocks xmlns:a="http://schemas.openxmlformats.org/drawingml/2006/main" noGrp="1"/>
          </p:cNvSpPr>
          <p:nvPr/>
        </p:nvSpPr>
        <p:spPr>
          <a:xfrm xmlns:a="http://schemas.openxmlformats.org/drawingml/2006/main">
            <a:off x="609600" y="2809875"/>
            <a:ext cx="109728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DEDED"/>
                </a:solidFill>
                <a:latin typeface="Consolas"/>
                <a:ea typeface="Consolas"/>
                <a:cs typeface="Consolas"/>
              </a:defRPr>
            </a:pPr>
            <a:r>
              <a:rPr sz="1800" b="0">
                <a:solidFill>
                  <a:srgbClr val="EDEDED"/>
                </a:solidFill>
                <a:latin typeface="Consolas"/>
                <a:ea typeface="Consolas"/>
                <a:cs typeface="Consolas"/>
              </a:rPr>
              <a:t>if (bit_cnt &gt; DATA_WIDTH+1) begin</a:t>
            </a:r>
          </a:p>
          <a:p xmlns:a="http://schemas.openxmlformats.org/drawingml/2006/main">
            <a:pPr>
              <a:defRPr sz="1800" b="0">
                <a:solidFill>
                  <a:srgbClr val="EDEDED"/>
                </a:solidFill>
                <a:latin typeface="Consolas"/>
                <a:ea typeface="Consolas"/>
                <a:cs typeface="Consolas"/>
              </a:defRPr>
            </a:pPr>
            <a:r>
              <a:rPr sz="1800" b="0">
                <a:solidFill>
                  <a:srgbClr val="EDEDED"/>
                </a:solidFill>
                <a:latin typeface="Consolas"/>
                <a:ea typeface="Consolas"/>
                <a:cs typeface="Consolas"/>
              </a:rPr>
              <a:t>    if (!rxd_reg) begin</a:t>
            </a:r>
          </a:p>
          <a:p xmlns:a="http://schemas.openxmlformats.org/drawingml/2006/main">
            <a:pPr>
              <a:defRPr sz="1800" b="0">
                <a:solidFill>
                  <a:srgbClr val="EDEDED"/>
                </a:solidFill>
                <a:latin typeface="Consolas"/>
                <a:ea typeface="Consolas"/>
                <a:cs typeface="Consolas"/>
              </a:defRPr>
            </a:pPr>
            <a:r>
              <a:rPr sz="1800" b="0">
                <a:solidFill>
                  <a:srgbClr val="EDEDED"/>
                </a:solidFill>
                <a:latin typeface="Consolas"/>
                <a:ea typeface="Consolas"/>
                <a:cs typeface="Consolas"/>
              </a:rPr>
              <a:t>        bit_cnt &lt;= bit_cnt - 1;</a:t>
            </a:r>
          </a:p>
          <a:p xmlns:a="http://schemas.openxmlformats.org/drawingml/2006/main">
            <a:pPr>
              <a:defRPr sz="1800" b="0">
                <a:solidFill>
                  <a:srgbClr val="EDEDED"/>
                </a:solidFill>
                <a:latin typeface="Consolas"/>
                <a:ea typeface="Consolas"/>
                <a:cs typeface="Consolas"/>
              </a:defRPr>
            </a:pPr>
            <a:r>
              <a:rPr sz="1800" b="0">
                <a:solidFill>
                  <a:srgbClr val="EDEDED"/>
                </a:solidFill>
                <a:latin typeface="Consolas"/>
                <a:ea typeface="Consolas"/>
                <a:cs typeface="Consolas"/>
              </a:rPr>
              <a:t>        prescale_reg &lt;= (prescale &lt;&lt; 3)-1;</a:t>
            </a:r>
          </a:p>
          <a:p xmlns:a="http://schemas.openxmlformats.org/drawingml/2006/main">
            <a:pPr>
              <a:defRPr sz="1800" b="0">
                <a:solidFill>
                  <a:srgbClr val="EDEDED"/>
                </a:solidFill>
                <a:latin typeface="Consolas"/>
                <a:ea typeface="Consolas"/>
                <a:cs typeface="Consolas"/>
              </a:defRPr>
            </a:pPr>
            <a:r>
              <a:rPr sz="1800" b="0">
                <a:solidFill>
                  <a:srgbClr val="EDEDED"/>
                </a:solidFill>
                <a:latin typeface="Consolas"/>
                <a:ea typeface="Consolas"/>
                <a:cs typeface="Consolas"/>
              </a:rPr>
              <a:t>    end else begin</a:t>
            </a:r>
          </a:p>
          <a:p xmlns:a="http://schemas.openxmlformats.org/drawingml/2006/main">
            <a:pPr>
              <a:defRPr sz="1800" b="0">
                <a:solidFill>
                  <a:srgbClr val="EDEDED"/>
                </a:solidFill>
                <a:latin typeface="Consolas"/>
                <a:ea typeface="Consolas"/>
                <a:cs typeface="Consolas"/>
              </a:defRPr>
            </a:pPr>
            <a:r>
              <a:rPr sz="1800" b="0">
                <a:solidFill>
                  <a:srgbClr val="EDEDED"/>
                </a:solidFill>
                <a:latin typeface="Consolas"/>
                <a:ea typeface="Consolas"/>
                <a:cs typeface="Consolas"/>
              </a:rPr>
              <a:t>        bit_cnt &lt;= 0;</a:t>
            </a:r>
          </a:p>
          <a:p xmlns:a="http://schemas.openxmlformats.org/drawingml/2006/main">
            <a:pPr>
              <a:defRPr sz="1800" b="0">
                <a:solidFill>
                  <a:srgbClr val="EDEDED"/>
                </a:solidFill>
                <a:latin typeface="Consolas"/>
                <a:ea typeface="Consolas"/>
                <a:cs typeface="Consolas"/>
              </a:defRPr>
            </a:pPr>
            <a:r>
              <a:rPr sz="1800" b="0">
                <a:solidFill>
                  <a:srgbClr val="EDEDED"/>
                </a:solidFill>
                <a:latin typeface="Consolas"/>
                <a:ea typeface="Consolas"/>
                <a:cs typeface="Consolas"/>
              </a:rPr>
              <a:t>        prescale_reg &lt;= 0;</a:t>
            </a:r>
          </a:p>
          <a:p xmlns:a="http://schemas.openxmlformats.org/drawingml/2006/main">
            <a:pPr>
              <a:defRPr sz="1800" b="0">
                <a:solidFill>
                  <a:srgbClr val="EDEDED"/>
                </a:solidFill>
                <a:latin typeface="Consolas"/>
                <a:ea typeface="Consolas"/>
                <a:cs typeface="Consolas"/>
              </a:defRPr>
            </a:pPr>
            <a:r>
              <a:rPr sz="1800" b="0">
                <a:solidFill>
                  <a:srgbClr val="EDEDED"/>
                </a:solidFill>
                <a:latin typeface="Consolas"/>
                <a:ea typeface="Consolas"/>
                <a:cs typeface="Consolas"/>
              </a:rPr>
              <a:t>    end</a:t>
            </a:r>
          </a:p>
          <a:p xmlns:a="http://schemas.openxmlformats.org/drawingml/2006/main">
            <a:pPr>
              <a:defRPr sz="1800" b="0">
                <a:solidFill>
                  <a:srgbClr val="EDEDED"/>
                </a:solidFill>
                <a:latin typeface="Consolas"/>
                <a:ea typeface="Consolas"/>
                <a:cs typeface="Consolas"/>
              </a:defRPr>
            </a:pPr>
            <a:r>
              <a:rPr sz="1800" b="0">
                <a:solidFill>
                  <a:srgbClr val="EDEDED"/>
                </a:solidFill>
                <a:latin typeface="Consolas"/>
                <a:ea typeface="Consolas"/>
                <a:cs typeface="Consolas"/>
              </a:rPr>
              <a:t>end else if (bit_cnt &gt; 1) begin</a:t>
            </a:r>
          </a:p>
        </p:txBody>
      </p:sp>
      <p:sp>
        <p:nvSpPr>
          <p:cNvPr id="11" name="rtl-source">
            <a:extLst xmlns:a="http://schemas.openxmlformats.org/drawingml/2006/main">
              <a:ext uri="{FF2B5EF4-FFF2-40B4-BE49-F238E27FC236}">
                <a16:creationId xmlns:a16="http://schemas.microsoft.com/office/drawing/2014/main" id="{4FFE6363-1E9E-403C-A070-C3B33DB71D9A}"/>
              </a:ext>
            </a:extLst>
          </p:cNvPr>
          <p:cNvSpPr>
            <a:spLocks xmlns:a="http://schemas.openxmlformats.org/drawingml/2006/main" noGrp="1"/>
          </p:cNvSpPr>
          <p:nvPr/>
        </p:nvSpPr>
        <p:spPr>
          <a:xfrm xmlns:a="http://schemas.openxmlformats.org/drawingml/2006/main">
            <a:off x="609600" y="595312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9A9AA2"/>
                </a:solidFill>
                <a:latin typeface="Segoe UI"/>
                <a:ea typeface="Segoe UI"/>
                <a:cs typeface="Segoe UI"/>
              </a:defRPr>
            </a:pPr>
            <a:r>
              <a:rPr sz="1350" b="0">
                <a:solidFill>
                  <a:srgbClr val="9A9AA2"/>
                </a:solidFill>
                <a:latin typeface="Segoe UI"/>
                <a:ea typeface="Segoe UI"/>
                <a:cs typeface="Segoe UI"/>
              </a:rPr>
              <a:t>hw/protocols/uart/01_rtl/uart_rx.v:117</a:t>
            </a:r>
          </a:p>
        </p:txBody>
      </p:sp>
    </p:spTree>
    <p:extLst>
      <p:ext uri="{BB962C8B-B14F-4D97-AF65-F5344CB8AC3E}">
        <p14:creationId xmlns:p14="http://schemas.microsoft.com/office/powerpoint/2010/main" val="1426376253"/>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366FB3C3-5D1B-4F68-8DFC-2A62AA87F6EA}"/>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777FF1E7-DA09-49BC-87FA-4A68B362C06F}"/>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0D29963F-2653-4199-86A0-C4D7B534DFFB}"/>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UART STUDENT LAB</a:t>
            </a:r>
          </a:p>
        </p:txBody>
      </p:sp>
      <p:sp>
        <p:nvSpPr>
          <p:cNvPr id="5" name="t5">
            <a:extLst xmlns:a="http://schemas.openxmlformats.org/drawingml/2006/main">
              <a:ext uri="{FF2B5EF4-FFF2-40B4-BE49-F238E27FC236}">
                <a16:creationId xmlns:a16="http://schemas.microsoft.com/office/drawing/2014/main" id="{1B3C72BE-F611-49AD-929A-B0E3025E5084}"/>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7E46585D-DD41-432C-8D6A-40A6B364E815}"/>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15/44</a:t>
            </a:r>
          </a:p>
        </p:txBody>
      </p:sp>
      <p:sp>
        <p:nvSpPr>
          <p:cNvPr id="7" name="lesson-title">
            <a:extLst xmlns:a="http://schemas.openxmlformats.org/drawingml/2006/main">
              <a:ext uri="{FF2B5EF4-FFF2-40B4-BE49-F238E27FC236}">
                <a16:creationId xmlns:a16="http://schemas.microsoft.com/office/drawing/2014/main" id="{DFBA1677-850D-4DC4-AFA2-0995CB7D0278}"/>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Baud mismatch and noise</a:t>
            </a:r>
          </a:p>
        </p:txBody>
      </p:sp>
      <p:sp>
        <p:nvSpPr>
          <p:cNvPr id="8" name="explanation-0">
            <a:extLst xmlns:a="http://schemas.openxmlformats.org/drawingml/2006/main">
              <a:ext uri="{FF2B5EF4-FFF2-40B4-BE49-F238E27FC236}">
                <a16:creationId xmlns:a16="http://schemas.microsoft.com/office/drawing/2014/main" id="{4DA19112-7FEB-4851-89CC-7D070F1E243E}"/>
              </a:ext>
            </a:extLst>
          </p:cNvPr>
          <p:cNvSpPr>
            <a:spLocks xmlns:a="http://schemas.openxmlformats.org/drawingml/2006/main" noGrp="1"/>
          </p:cNvSpPr>
          <p:nvPr/>
        </p:nvSpPr>
        <p:spPr>
          <a:xfrm xmlns:a="http://schemas.openxmlformats.org/drawingml/2006/main">
            <a:off x="609600" y="19240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F9529"/>
                </a:solidFill>
                <a:latin typeface="Segoe UI"/>
                <a:ea typeface="Segoe UI"/>
                <a:cs typeface="Segoe UI"/>
              </a:defRPr>
            </a:pPr>
            <a:r>
              <a:rPr sz="2175" b="0">
                <a:solidFill>
                  <a:srgbClr val="EF9529"/>
                </a:solidFill>
                <a:latin typeface="Segoe UI"/>
                <a:ea typeface="Segoe UI"/>
                <a:cs typeface="Segoe UI"/>
              </a:rPr>
              <a:t>Sampling error grows across the frame.</a:t>
            </a:r>
          </a:p>
        </p:txBody>
      </p:sp>
      <p:sp>
        <p:nvSpPr>
          <p:cNvPr id="9" name="explanation-1">
            <a:extLst xmlns:a="http://schemas.openxmlformats.org/drawingml/2006/main">
              <a:ext uri="{FF2B5EF4-FFF2-40B4-BE49-F238E27FC236}">
                <a16:creationId xmlns:a16="http://schemas.microsoft.com/office/drawing/2014/main" id="{3C4E885B-4FA5-46DE-A247-ED89AE277A1F}"/>
              </a:ext>
            </a:extLst>
          </p:cNvPr>
          <p:cNvSpPr>
            <a:spLocks xmlns:a="http://schemas.openxmlformats.org/drawingml/2006/main" noGrp="1"/>
          </p:cNvSpPr>
          <p:nvPr/>
        </p:nvSpPr>
        <p:spPr>
          <a:xfrm xmlns:a="http://schemas.openxmlformats.org/drawingml/2006/main">
            <a:off x="609600" y="274320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A false START or a low STOP can corrupt the byte.</a:t>
            </a:r>
          </a:p>
        </p:txBody>
      </p:sp>
      <p:sp>
        <p:nvSpPr>
          <p:cNvPr id="10" name="explanation-2">
            <a:extLst xmlns:a="http://schemas.openxmlformats.org/drawingml/2006/main">
              <a:ext uri="{FF2B5EF4-FFF2-40B4-BE49-F238E27FC236}">
                <a16:creationId xmlns:a16="http://schemas.microsoft.com/office/drawing/2014/main" id="{38EDE8D1-59E1-492C-8C0B-9C3077BAB382}"/>
              </a:ext>
            </a:extLst>
          </p:cNvPr>
          <p:cNvSpPr>
            <a:spLocks xmlns:a="http://schemas.openxmlformats.org/drawingml/2006/main" noGrp="1"/>
          </p:cNvSpPr>
          <p:nvPr/>
        </p:nvSpPr>
        <p:spPr>
          <a:xfrm xmlns:a="http://schemas.openxmlformats.org/drawingml/2006/main">
            <a:off x="609600" y="35623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The current tests do not certify arbitrary clock mismatch or noise.</a:t>
            </a:r>
          </a:p>
        </p:txBody>
      </p:sp>
    </p:spTree>
    <p:extLst>
      <p:ext uri="{BB962C8B-B14F-4D97-AF65-F5344CB8AC3E}">
        <p14:creationId xmlns:p14="http://schemas.microsoft.com/office/powerpoint/2010/main" val="1426376253"/>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366FB3C3-5D1B-4F68-8DFC-2A62AA87F6EA}"/>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777FF1E7-DA09-49BC-87FA-4A68B362C06F}"/>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0D29963F-2653-4199-86A0-C4D7B534DFFB}"/>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UART STUDENT LAB</a:t>
            </a:r>
          </a:p>
        </p:txBody>
      </p:sp>
      <p:sp>
        <p:nvSpPr>
          <p:cNvPr id="5" name="t5">
            <a:extLst xmlns:a="http://schemas.openxmlformats.org/drawingml/2006/main">
              <a:ext uri="{FF2B5EF4-FFF2-40B4-BE49-F238E27FC236}">
                <a16:creationId xmlns:a16="http://schemas.microsoft.com/office/drawing/2014/main" id="{1B3C72BE-F611-49AD-929A-B0E3025E5084}"/>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7E46585D-DD41-432C-8D6A-40A6B364E815}"/>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16/44</a:t>
            </a:r>
          </a:p>
        </p:txBody>
      </p:sp>
      <p:sp>
        <p:nvSpPr>
          <p:cNvPr id="7" name="lesson-title">
            <a:extLst xmlns:a="http://schemas.openxmlformats.org/drawingml/2006/main">
              <a:ext uri="{FF2B5EF4-FFF2-40B4-BE49-F238E27FC236}">
                <a16:creationId xmlns:a16="http://schemas.microsoft.com/office/drawing/2014/main" id="{073260C4-5B07-4738-BE45-78A3B6F771CD}"/>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Baud mismatch accumulates across a frame</a:t>
            </a:r>
          </a:p>
        </p:txBody>
      </p:sp>
      <p:sp>
        <p:nvSpPr>
          <p:cNvPr id="8" name="explanation-0">
            <a:extLst xmlns:a="http://schemas.openxmlformats.org/drawingml/2006/main">
              <a:ext uri="{FF2B5EF4-FFF2-40B4-BE49-F238E27FC236}">
                <a16:creationId xmlns:a16="http://schemas.microsoft.com/office/drawing/2014/main" id="{8EB5B596-9261-4B3F-82F8-8F2C0D2A8DE4}"/>
              </a:ext>
            </a:extLst>
          </p:cNvPr>
          <p:cNvSpPr>
            <a:spLocks xmlns:a="http://schemas.openxmlformats.org/drawingml/2006/main" noGrp="1"/>
          </p:cNvSpPr>
          <p:nvPr/>
        </p:nvSpPr>
        <p:spPr>
          <a:xfrm xmlns:a="http://schemas.openxmlformats.org/drawingml/2006/main">
            <a:off x="609600" y="19240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F9529"/>
                </a:solidFill>
                <a:latin typeface="Segoe UI"/>
                <a:ea typeface="Segoe UI"/>
                <a:cs typeface="Segoe UI"/>
              </a:defRPr>
            </a:pPr>
            <a:r>
              <a:rPr sz="2175" b="0">
                <a:solidFill>
                  <a:srgbClr val="EF9529"/>
                </a:solidFill>
                <a:latin typeface="Segoe UI"/>
                <a:ea typeface="Segoe UI"/>
                <a:cs typeface="Segoe UI"/>
              </a:rPr>
              <a:t>If receiver bit time differs by 2%, centre error grows by about 0.02T per bit.</a:t>
            </a:r>
          </a:p>
        </p:txBody>
      </p:sp>
      <p:sp>
        <p:nvSpPr>
          <p:cNvPr id="9" name="explanation-1">
            <a:extLst xmlns:a="http://schemas.openxmlformats.org/drawingml/2006/main">
              <a:ext uri="{FF2B5EF4-FFF2-40B4-BE49-F238E27FC236}">
                <a16:creationId xmlns:a16="http://schemas.microsoft.com/office/drawing/2014/main" id="{54326A49-E0E2-4074-A318-566A135CD5A8}"/>
              </a:ext>
            </a:extLst>
          </p:cNvPr>
          <p:cNvSpPr>
            <a:spLocks xmlns:a="http://schemas.openxmlformats.org/drawingml/2006/main" noGrp="1"/>
          </p:cNvSpPr>
          <p:nvPr/>
        </p:nvSpPr>
        <p:spPr>
          <a:xfrm xmlns:a="http://schemas.openxmlformats.org/drawingml/2006/main">
            <a:off x="609600" y="274320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Near the STOP centre at 9.5T, that is about 0.19T before other errors.</a:t>
            </a:r>
          </a:p>
        </p:txBody>
      </p:sp>
      <p:sp>
        <p:nvSpPr>
          <p:cNvPr id="10" name="explanation-2">
            <a:extLst xmlns:a="http://schemas.openxmlformats.org/drawingml/2006/main">
              <a:ext uri="{FF2B5EF4-FFF2-40B4-BE49-F238E27FC236}">
                <a16:creationId xmlns:a16="http://schemas.microsoft.com/office/drawing/2014/main" id="{C0157903-5812-4B5C-A6AB-28EC7D9D95D8}"/>
              </a:ext>
            </a:extLst>
          </p:cNvPr>
          <p:cNvSpPr>
            <a:spLocks xmlns:a="http://schemas.openxmlformats.org/drawingml/2006/main" noGrp="1"/>
          </p:cNvSpPr>
          <p:nvPr/>
        </p:nvSpPr>
        <p:spPr>
          <a:xfrm xmlns:a="http://schemas.openxmlformats.org/drawingml/2006/main">
            <a:off x="609600" y="35623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Start-detection delay and jitter consume additional sampling margin.</a:t>
            </a:r>
          </a:p>
        </p:txBody>
      </p:sp>
    </p:spTree>
    <p:extLst>
      <p:ext uri="{BB962C8B-B14F-4D97-AF65-F5344CB8AC3E}">
        <p14:creationId xmlns:p14="http://schemas.microsoft.com/office/powerpoint/2010/main" val="1426376253"/>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366FB3C3-5D1B-4F68-8DFC-2A62AA87F6EA}"/>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777FF1E7-DA09-49BC-87FA-4A68B362C06F}"/>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0D29963F-2653-4199-86A0-C4D7B534DFFB}"/>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UART STUDENT LAB</a:t>
            </a:r>
          </a:p>
        </p:txBody>
      </p:sp>
      <p:sp>
        <p:nvSpPr>
          <p:cNvPr id="5" name="t5">
            <a:extLst xmlns:a="http://schemas.openxmlformats.org/drawingml/2006/main">
              <a:ext uri="{FF2B5EF4-FFF2-40B4-BE49-F238E27FC236}">
                <a16:creationId xmlns:a16="http://schemas.microsoft.com/office/drawing/2014/main" id="{1B3C72BE-F611-49AD-929A-B0E3025E5084}"/>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7E46585D-DD41-432C-8D6A-40A6B364E815}"/>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17/44</a:t>
            </a:r>
          </a:p>
        </p:txBody>
      </p:sp>
      <p:sp>
        <p:nvSpPr>
          <p:cNvPr id="7" name="lesson-title">
            <a:extLst xmlns:a="http://schemas.openxmlformats.org/drawingml/2006/main">
              <a:ext uri="{FF2B5EF4-FFF2-40B4-BE49-F238E27FC236}">
                <a16:creationId xmlns:a16="http://schemas.microsoft.com/office/drawing/2014/main" id="{90E13410-85AE-4122-876B-B86C4E520382}"/>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Transmit ready-valid handshake</a:t>
            </a:r>
          </a:p>
        </p:txBody>
      </p:sp>
      <p:sp>
        <p:nvSpPr>
          <p:cNvPr id="8" name="explanation-0">
            <a:extLst xmlns:a="http://schemas.openxmlformats.org/drawingml/2006/main">
              <a:ext uri="{FF2B5EF4-FFF2-40B4-BE49-F238E27FC236}">
                <a16:creationId xmlns:a16="http://schemas.microsoft.com/office/drawing/2014/main" id="{674F44CE-BB81-4FDE-A868-157D6FE30822}"/>
              </a:ext>
            </a:extLst>
          </p:cNvPr>
          <p:cNvSpPr>
            <a:spLocks xmlns:a="http://schemas.openxmlformats.org/drawingml/2006/main" noGrp="1"/>
          </p:cNvSpPr>
          <p:nvPr/>
        </p:nvSpPr>
        <p:spPr>
          <a:xfrm xmlns:a="http://schemas.openxmlformats.org/drawingml/2006/main">
            <a:off x="609600" y="19240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F9529"/>
                </a:solidFill>
                <a:latin typeface="Segoe UI"/>
                <a:ea typeface="Segoe UI"/>
                <a:cs typeface="Segoe UI"/>
              </a:defRPr>
            </a:pPr>
            <a:r>
              <a:rPr sz="2175" b="0">
                <a:solidFill>
                  <a:srgbClr val="EF9529"/>
                </a:solidFill>
                <a:latin typeface="Segoe UI"/>
                <a:ea typeface="Segoe UI"/>
                <a:cs typeface="Segoe UI"/>
              </a:rPr>
              <a:t>Keep tx_valid and tx_data stable until tx_ready accepts them.</a:t>
            </a:r>
          </a:p>
        </p:txBody>
      </p:sp>
      <p:sp>
        <p:nvSpPr>
          <p:cNvPr id="9" name="explanation-1">
            <a:extLst xmlns:a="http://schemas.openxmlformats.org/drawingml/2006/main">
              <a:ext uri="{FF2B5EF4-FFF2-40B4-BE49-F238E27FC236}">
                <a16:creationId xmlns:a16="http://schemas.microsoft.com/office/drawing/2014/main" id="{3FEBAB94-FF99-4F86-8507-87B9DD2EA57A}"/>
              </a:ext>
            </a:extLst>
          </p:cNvPr>
          <p:cNvSpPr>
            <a:spLocks xmlns:a="http://schemas.openxmlformats.org/drawingml/2006/main" noGrp="1"/>
          </p:cNvSpPr>
          <p:nvPr/>
        </p:nvSpPr>
        <p:spPr>
          <a:xfrm xmlns:a="http://schemas.openxmlformats.org/drawingml/2006/main">
            <a:off x="609600" y="274320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Acceptance occurs on a clock edge with both signals high.</a:t>
            </a:r>
          </a:p>
        </p:txBody>
      </p:sp>
      <p:sp>
        <p:nvSpPr>
          <p:cNvPr id="10" name="explanation-2">
            <a:extLst xmlns:a="http://schemas.openxmlformats.org/drawingml/2006/main">
              <a:ext uri="{FF2B5EF4-FFF2-40B4-BE49-F238E27FC236}">
                <a16:creationId xmlns:a16="http://schemas.microsoft.com/office/drawing/2014/main" id="{17725CBD-8BA3-46D4-A1E0-08D043EAA1B1}"/>
              </a:ext>
            </a:extLst>
          </p:cNvPr>
          <p:cNvSpPr>
            <a:spLocks xmlns:a="http://schemas.openxmlformats.org/drawingml/2006/main" noGrp="1"/>
          </p:cNvSpPr>
          <p:nvPr/>
        </p:nvSpPr>
        <p:spPr>
          <a:xfrm xmlns:a="http://schemas.openxmlformats.org/drawingml/2006/main">
            <a:off x="609600" y="35623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tx_busy describes serial activity after the byte enters the transmitter.</a:t>
            </a:r>
          </a:p>
        </p:txBody>
      </p:sp>
    </p:spTree>
    <p:extLst>
      <p:ext uri="{BB962C8B-B14F-4D97-AF65-F5344CB8AC3E}">
        <p14:creationId xmlns:p14="http://schemas.microsoft.com/office/powerpoint/2010/main" val="1426376253"/>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366FB3C3-5D1B-4F68-8DFC-2A62AA87F6EA}"/>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777FF1E7-DA09-49BC-87FA-4A68B362C06F}"/>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0D29963F-2653-4199-86A0-C4D7B534DFFB}"/>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UART STUDENT LAB</a:t>
            </a:r>
          </a:p>
        </p:txBody>
      </p:sp>
      <p:sp>
        <p:nvSpPr>
          <p:cNvPr id="5" name="t5">
            <a:extLst xmlns:a="http://schemas.openxmlformats.org/drawingml/2006/main">
              <a:ext uri="{FF2B5EF4-FFF2-40B4-BE49-F238E27FC236}">
                <a16:creationId xmlns:a16="http://schemas.microsoft.com/office/drawing/2014/main" id="{1B3C72BE-F611-49AD-929A-B0E3025E5084}"/>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7E46585D-DD41-432C-8D6A-40A6B364E815}"/>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18/44</a:t>
            </a:r>
          </a:p>
        </p:txBody>
      </p:sp>
      <p:sp>
        <p:nvSpPr>
          <p:cNvPr id="7" name="lesson-title">
            <a:extLst xmlns:a="http://schemas.openxmlformats.org/drawingml/2006/main">
              <a:ext uri="{FF2B5EF4-FFF2-40B4-BE49-F238E27FC236}">
                <a16:creationId xmlns:a16="http://schemas.microsoft.com/office/drawing/2014/main" id="{F402F220-E251-44CE-B3EE-C972E443824F}"/>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Ready-valid stall: stable byte until acceptance</a:t>
            </a:r>
          </a:p>
        </p:txBody>
      </p:sp>
      <p:sp>
        <p:nvSpPr>
          <p:cNvPr id="8" name="explanation-0">
            <a:extLst xmlns:a="http://schemas.openxmlformats.org/drawingml/2006/main">
              <a:ext uri="{FF2B5EF4-FFF2-40B4-BE49-F238E27FC236}">
                <a16:creationId xmlns:a16="http://schemas.microsoft.com/office/drawing/2014/main" id="{4038281E-31DB-4C1E-8941-5B5E50B97064}"/>
              </a:ext>
            </a:extLst>
          </p:cNvPr>
          <p:cNvSpPr>
            <a:spLocks xmlns:a="http://schemas.openxmlformats.org/drawingml/2006/main" noGrp="1"/>
          </p:cNvSpPr>
          <p:nvPr/>
        </p:nvSpPr>
        <p:spPr>
          <a:xfrm xmlns:a="http://schemas.openxmlformats.org/drawingml/2006/main">
            <a:off x="609600" y="169545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F9529"/>
                </a:solidFill>
                <a:latin typeface="Segoe UI"/>
                <a:ea typeface="Segoe UI"/>
                <a:cs typeface="Segoe UI"/>
              </a:defRPr>
            </a:pPr>
            <a:r>
              <a:rPr sz="1800" b="0">
                <a:solidFill>
                  <a:srgbClr val="EF9529"/>
                </a:solidFill>
                <a:latin typeface="Segoe UI"/>
                <a:ea typeface="Segoe UI"/>
                <a:cs typeface="Segoe UI"/>
              </a:rPr>
              <a:t>The source holds valid and data while ready=0.</a:t>
            </a:r>
          </a:p>
        </p:txBody>
      </p:sp>
      <p:sp>
        <p:nvSpPr>
          <p:cNvPr id="9" name="explanation-1">
            <a:extLst xmlns:a="http://schemas.openxmlformats.org/drawingml/2006/main">
              <a:ext uri="{FF2B5EF4-FFF2-40B4-BE49-F238E27FC236}">
                <a16:creationId xmlns:a16="http://schemas.microsoft.com/office/drawing/2014/main" id="{DF9C85CE-F9E4-48BA-956A-37F617279514}"/>
              </a:ext>
            </a:extLst>
          </p:cNvPr>
          <p:cNvSpPr>
            <a:spLocks xmlns:a="http://schemas.openxmlformats.org/drawingml/2006/main" noGrp="1"/>
          </p:cNvSpPr>
          <p:nvPr/>
        </p:nvSpPr>
        <p:spPr>
          <a:xfrm xmlns:a="http://schemas.openxmlformats.org/drawingml/2006/main">
            <a:off x="609600" y="20574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DEDED"/>
                </a:solidFill>
                <a:latin typeface="Segoe UI"/>
                <a:ea typeface="Segoe UI"/>
                <a:cs typeface="Segoe UI"/>
              </a:defRPr>
            </a:pPr>
            <a:r>
              <a:rPr sz="1800" b="0">
                <a:solidFill>
                  <a:srgbClr val="EDEDED"/>
                </a:solidFill>
                <a:latin typeface="Segoe UI"/>
                <a:ea typeface="Segoe UI"/>
                <a:cs typeface="Segoe UI"/>
              </a:rPr>
              <a:t>Acceptance occurs only at a core-clock edge where both equal 1.</a:t>
            </a:r>
          </a:p>
        </p:txBody>
      </p:sp>
      <p:graphicFrame>
        <p:nvGraphicFramePr>
          <p:cNvPr id="21" name="Chart"/>
          <p:cNvGraphicFramePr/>
          <p:nvPr/>
        </p:nvGraphicFramePr>
        <p:xfrm>
          <a:off xmlns:a="http://schemas.openxmlformats.org/drawingml/2006/main" x="609600" y="2381250"/>
          <a:ext xmlns:a="http://schemas.openxmlformats.org/drawingml/2006/main" cx="10972800" cy="1476375"/>
        </p:xfrm>
        <a:graphic xmlns:a="http://schemas.openxmlformats.org/drawingml/2006/main">
          <a:graphicData uri="http://schemas.openxmlformats.org/drawingml/2006/chart">
            <c:chart xmlns:r="http://schemas.openxmlformats.org/officeDocument/2006/relationships" xmlns:c="http://schemas.openxmlformats.org/drawingml/2006/chart" r:id="R739fb67ef37b4213"/>
          </a:graphicData>
        </a:graphic>
      </p:graphicFrame>
      <p:graphicFrame>
        <p:nvGraphicFramePr>
          <p:cNvPr id="22" name="Chart"/>
          <p:cNvGraphicFramePr/>
          <p:nvPr/>
        </p:nvGraphicFramePr>
        <p:xfrm>
          <a:off xmlns:a="http://schemas.openxmlformats.org/drawingml/2006/main" x="609600" y="3857625"/>
          <a:ext xmlns:a="http://schemas.openxmlformats.org/drawingml/2006/main" cx="10972800" cy="1952625"/>
        </p:xfrm>
        <a:graphic xmlns:a="http://schemas.openxmlformats.org/drawingml/2006/main">
          <a:graphicData uri="http://schemas.openxmlformats.org/drawingml/2006/chart">
            <c:chart xmlns:r="http://schemas.openxmlformats.org/officeDocument/2006/relationships" xmlns:c="http://schemas.openxmlformats.org/drawingml/2006/chart" r:id="Rc099e1c05d364bad"/>
          </a:graphicData>
        </a:graphic>
      </p:graphicFrame>
      <p:sp>
        <p:nvSpPr>
          <p:cNvPr id="12" name="trace-kind">
            <a:extLst xmlns:a="http://schemas.openxmlformats.org/drawingml/2006/main">
              <a:ext uri="{FF2B5EF4-FFF2-40B4-BE49-F238E27FC236}">
                <a16:creationId xmlns:a16="http://schemas.microsoft.com/office/drawing/2014/main" id="{EEA7E1A5-8D25-44A3-98B0-3F6888EDD203}"/>
              </a:ext>
            </a:extLst>
          </p:cNvPr>
          <p:cNvSpPr>
            <a:spLocks xmlns:a="http://schemas.openxmlformats.org/drawingml/2006/main" noGrp="1"/>
          </p:cNvSpPr>
          <p:nvPr/>
        </p:nvSpPr>
        <p:spPr>
          <a:xfrm xmlns:a="http://schemas.openxmlformats.org/drawingml/2006/main">
            <a:off x="609600" y="6000750"/>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9A9AA2"/>
                </a:solidFill>
                <a:latin typeface="Segoe UI"/>
                <a:ea typeface="Segoe UI"/>
                <a:cs typeface="Segoe UI"/>
              </a:defRPr>
            </a:pPr>
            <a:r>
              <a:rPr sz="1350" b="0">
                <a:solidFill>
                  <a:srgbClr val="9A9AA2"/>
                </a:solidFill>
                <a:latin typeface="Segoe UI"/>
                <a:ea typeface="Segoe UI"/>
                <a:cs typeface="Segoe UI"/>
              </a:rPr>
              <a:t>Logic levels: HIGH=1, LOW=0. IDEAL WORKED EXAMPLE: logic values, not a measured trace</a:t>
            </a:r>
          </a:p>
        </p:txBody>
      </p:sp>
    </p:spTree>
    <p:extLst>
      <p:ext uri="{BB962C8B-B14F-4D97-AF65-F5344CB8AC3E}">
        <p14:creationId xmlns:p14="http://schemas.microsoft.com/office/powerpoint/2010/main" val="1426376253"/>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366FB3C3-5D1B-4F68-8DFC-2A62AA87F6EA}"/>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777FF1E7-DA09-49BC-87FA-4A68B362C06F}"/>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0D29963F-2653-4199-86A0-C4D7B534DFFB}"/>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UART STUDENT LAB</a:t>
            </a:r>
          </a:p>
        </p:txBody>
      </p:sp>
      <p:sp>
        <p:nvSpPr>
          <p:cNvPr id="5" name="t5">
            <a:extLst xmlns:a="http://schemas.openxmlformats.org/drawingml/2006/main">
              <a:ext uri="{FF2B5EF4-FFF2-40B4-BE49-F238E27FC236}">
                <a16:creationId xmlns:a16="http://schemas.microsoft.com/office/drawing/2014/main" id="{1B3C72BE-F611-49AD-929A-B0E3025E5084}"/>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7E46585D-DD41-432C-8D6A-40A6B364E815}"/>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19/44</a:t>
            </a:r>
          </a:p>
        </p:txBody>
      </p:sp>
      <p:sp>
        <p:nvSpPr>
          <p:cNvPr id="7" name="lesson-title">
            <a:extLst xmlns:a="http://schemas.openxmlformats.org/drawingml/2006/main">
              <a:ext uri="{FF2B5EF4-FFF2-40B4-BE49-F238E27FC236}">
                <a16:creationId xmlns:a16="http://schemas.microsoft.com/office/drawing/2014/main" id="{AA4159B3-A776-44BB-82D6-C50DF19E9C42}"/>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Receive backpressure</a:t>
            </a:r>
          </a:p>
        </p:txBody>
      </p:sp>
      <p:sp>
        <p:nvSpPr>
          <p:cNvPr id="8" name="explanation-0">
            <a:extLst xmlns:a="http://schemas.openxmlformats.org/drawingml/2006/main">
              <a:ext uri="{FF2B5EF4-FFF2-40B4-BE49-F238E27FC236}">
                <a16:creationId xmlns:a16="http://schemas.microsoft.com/office/drawing/2014/main" id="{EEB79B12-B8AF-49BF-A9FD-793B10901C2B}"/>
              </a:ext>
            </a:extLst>
          </p:cNvPr>
          <p:cNvSpPr>
            <a:spLocks xmlns:a="http://schemas.openxmlformats.org/drawingml/2006/main" noGrp="1"/>
          </p:cNvSpPr>
          <p:nvPr/>
        </p:nvSpPr>
        <p:spPr>
          <a:xfrm xmlns:a="http://schemas.openxmlformats.org/drawingml/2006/main">
            <a:off x="609600" y="1724025"/>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F9529"/>
                </a:solidFill>
                <a:latin typeface="Segoe UI"/>
                <a:ea typeface="Segoe UI"/>
                <a:cs typeface="Segoe UI"/>
              </a:defRPr>
            </a:pPr>
            <a:r>
              <a:rPr sz="1800" b="0">
                <a:solidFill>
                  <a:srgbClr val="EF9529"/>
                </a:solidFill>
                <a:latin typeface="Segoe UI"/>
                <a:ea typeface="Segoe UI"/>
                <a:cs typeface="Segoe UI"/>
              </a:rPr>
              <a:t>rx_valid identifies a buffered byte.</a:t>
            </a:r>
          </a:p>
        </p:txBody>
      </p:sp>
      <p:sp>
        <p:nvSpPr>
          <p:cNvPr id="9" name="explanation-1">
            <a:extLst xmlns:a="http://schemas.openxmlformats.org/drawingml/2006/main">
              <a:ext uri="{FF2B5EF4-FFF2-40B4-BE49-F238E27FC236}">
                <a16:creationId xmlns:a16="http://schemas.microsoft.com/office/drawing/2014/main" id="{3CD7516C-9A44-4D10-B85E-37E957BEA82D}"/>
              </a:ext>
            </a:extLst>
          </p:cNvPr>
          <p:cNvSpPr>
            <a:spLocks xmlns:a="http://schemas.openxmlformats.org/drawingml/2006/main" noGrp="1"/>
          </p:cNvSpPr>
          <p:nvPr/>
        </p:nvSpPr>
        <p:spPr>
          <a:xfrm xmlns:a="http://schemas.openxmlformats.org/drawingml/2006/main">
            <a:off x="609600" y="2076450"/>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DEDED"/>
                </a:solidFill>
                <a:latin typeface="Segoe UI"/>
                <a:ea typeface="Segoe UI"/>
                <a:cs typeface="Segoe UI"/>
              </a:defRPr>
            </a:pPr>
            <a:r>
              <a:rPr sz="1800" b="0">
                <a:solidFill>
                  <a:srgbClr val="EDEDED"/>
                </a:solidFill>
                <a:latin typeface="Segoe UI"/>
                <a:ea typeface="Segoe UI"/>
                <a:cs typeface="Segoe UI"/>
              </a:rPr>
              <a:t>rx_data must remain stable until rx_ready accepts it.</a:t>
            </a:r>
          </a:p>
        </p:txBody>
      </p:sp>
      <p:sp>
        <p:nvSpPr>
          <p:cNvPr id="10" name="explanation-2">
            <a:extLst xmlns:a="http://schemas.openxmlformats.org/drawingml/2006/main">
              <a:ext uri="{FF2B5EF4-FFF2-40B4-BE49-F238E27FC236}">
                <a16:creationId xmlns:a16="http://schemas.microsoft.com/office/drawing/2014/main" id="{E4E227EB-2FE2-4F4A-8BF4-9855379E5F82}"/>
              </a:ext>
            </a:extLst>
          </p:cNvPr>
          <p:cNvSpPr>
            <a:spLocks xmlns:a="http://schemas.openxmlformats.org/drawingml/2006/main" noGrp="1"/>
          </p:cNvSpPr>
          <p:nvPr/>
        </p:nvSpPr>
        <p:spPr>
          <a:xfrm xmlns:a="http://schemas.openxmlformats.org/drawingml/2006/main">
            <a:off x="609600" y="2428875"/>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DEDED"/>
                </a:solidFill>
                <a:latin typeface="Segoe UI"/>
                <a:ea typeface="Segoe UI"/>
                <a:cs typeface="Segoe UI"/>
              </a:defRPr>
            </a:pPr>
            <a:r>
              <a:rPr sz="1800" b="0">
                <a:solidFill>
                  <a:srgbClr val="EDEDED"/>
                </a:solidFill>
                <a:latin typeface="Segoe UI"/>
                <a:ea typeface="Segoe UI"/>
                <a:cs typeface="Segoe UI"/>
              </a:rPr>
              <a:t>Another arriving byte can cause overrun while the buffer is occupied.</a:t>
            </a:r>
          </a:p>
        </p:txBody>
      </p:sp>
      <p:graphicFrame>
        <p:nvGraphicFramePr>
          <p:cNvPr id="21" name=""/>
          <p:cNvGraphicFramePr/>
          <p:nvPr/>
        </p:nvGraphicFramePr>
        <p:xfrm>
          <a:off xmlns:a="http://schemas.openxmlformats.org/drawingml/2006/main" x="609600" y="2914650"/>
          <a:ext xmlns:a="http://schemas.openxmlformats.org/drawingml/2006/main" cx="10972800" cy="2590800"/>
        </p:xfrm>
        <a:graphic xmlns:a="http://schemas.openxmlformats.org/drawingml/2006/main">
          <a:graphicData uri="http://schemas.openxmlformats.org/drawingml/2006/table">
            <a:tbl>
              <a:tblPr/>
              <a:tblGrid>
                <a:gridCol w="3333750"/>
                <a:gridCol w="7639050"/>
              </a:tblGrid>
              <a:tr h="647700">
                <a:tc>
                  <a:txBody>
                    <a:bodyPr>
                      <a:noAutofit/>
                    </a:bodyPr>
                    <a:lstStyle/>
                    <a:p>
                      <a:r>
                        <a:rPr sz="1650" b="1">
                          <a:solidFill>
                            <a:srgbClr val="EF9529"/>
                          </a:solidFill>
                          <a:latin typeface="Segoe UI"/>
                          <a:ea typeface="Segoe UI"/>
                          <a:cs typeface="Segoe UI"/>
                        </a:rPr>
                        <a:t>Situation</a:t>
                      </a:r>
                    </a:p>
                  </a:txBody>
                  <a:tcPr marL="91440" marR="91440" marT="45720" marB="45720">
                    <a:solidFill>
                      <a:srgbClr val="24242B"/>
                    </a:solidFill>
                  </a:tcPr>
                </a:tc>
                <a:tc>
                  <a:txBody>
                    <a:bodyPr>
                      <a:noAutofit/>
                    </a:bodyPr>
                    <a:lstStyle/>
                    <a:p>
                      <a:r>
                        <a:rPr sz="1650" b="1">
                          <a:solidFill>
                            <a:srgbClr val="EF9529"/>
                          </a:solidFill>
                          <a:latin typeface="Segoe UI"/>
                          <a:ea typeface="Segoe UI"/>
                          <a:cs typeface="Segoe UI"/>
                        </a:rPr>
                        <a:t>Expected behaviour</a:t>
                      </a:r>
                    </a:p>
                  </a:txBody>
                  <a:tcPr marL="91440" marR="91440" marT="45720" marB="45720">
                    <a:solidFill>
                      <a:srgbClr val="24242B"/>
                    </a:solidFill>
                  </a:tcPr>
                </a:tc>
              </a:tr>
              <a:tr h="647700">
                <a:tc>
                  <a:txBody>
                    <a:bodyPr>
                      <a:noAutofit/>
                    </a:bodyPr>
                    <a:lstStyle/>
                    <a:p>
                      <a:r>
                        <a:rPr sz="1650" b="0">
                          <a:solidFill>
                            <a:srgbClr val="EDEDED"/>
                          </a:solidFill>
                          <a:latin typeface="Segoe UI"/>
                          <a:ea typeface="Segoe UI"/>
                          <a:cs typeface="Segoe UI"/>
                        </a:rPr>
                        <a:t>valid 1, ready 0</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Retain pending byte</a:t>
                      </a:r>
                    </a:p>
                  </a:txBody>
                  <a:tcPr marL="91440" marR="91440" marT="45720" marB="45720">
                    <a:solidFill>
                      <a:srgbClr val="16161A"/>
                    </a:solidFill>
                  </a:tcPr>
                </a:tc>
              </a:tr>
              <a:tr h="647700">
                <a:tc>
                  <a:txBody>
                    <a:bodyPr>
                      <a:noAutofit/>
                    </a:bodyPr>
                    <a:lstStyle/>
                    <a:p>
                      <a:r>
                        <a:rPr sz="1650" b="0">
                          <a:solidFill>
                            <a:srgbClr val="EDEDED"/>
                          </a:solidFill>
                          <a:latin typeface="Segoe UI"/>
                          <a:ea typeface="Segoe UI"/>
                          <a:cs typeface="Segoe UI"/>
                        </a:rPr>
                        <a:t>valid 1, ready 1</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Consumer accepts byte</a:t>
                      </a:r>
                    </a:p>
                  </a:txBody>
                  <a:tcPr marL="91440" marR="91440" marT="45720" marB="45720">
                    <a:solidFill>
                      <a:srgbClr val="16161A"/>
                    </a:solidFill>
                  </a:tcPr>
                </a:tc>
              </a:tr>
              <a:tr h="647700">
                <a:tc>
                  <a:txBody>
                    <a:bodyPr>
                      <a:noAutofit/>
                    </a:bodyPr>
                    <a:lstStyle/>
                    <a:p>
                      <a:r>
                        <a:rPr sz="1650" b="0">
                          <a:solidFill>
                            <a:srgbClr val="EDEDED"/>
                          </a:solidFill>
                          <a:latin typeface="Segoe UI"/>
                          <a:ea typeface="Segoe UI"/>
                          <a:cs typeface="Segoe UI"/>
                        </a:rPr>
                        <a:t>New byte, pending result occupied</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Overrun indication may assert</a:t>
                      </a:r>
                    </a:p>
                  </a:txBody>
                  <a:tcPr marL="91440" marR="91440" marT="45720" marB="45720">
                    <a:solidFill>
                      <a:srgbClr val="16161A"/>
                    </a:solidFill>
                  </a:tcPr>
                </a:tc>
              </a:tr>
            </a:tbl>
          </a:graphicData>
        </a:graphic>
      </p:graphicFrame>
    </p:spTree>
    <p:extLst>
      <p:ext uri="{BB962C8B-B14F-4D97-AF65-F5344CB8AC3E}">
        <p14:creationId xmlns:p14="http://schemas.microsoft.com/office/powerpoint/2010/main" val="1426376253"/>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366FB3C3-5D1B-4F68-8DFC-2A62AA87F6EA}"/>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777FF1E7-DA09-49BC-87FA-4A68B362C06F}"/>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0D29963F-2653-4199-86A0-C4D7B534DFFB}"/>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UART STUDENT LAB</a:t>
            </a:r>
          </a:p>
        </p:txBody>
      </p:sp>
      <p:sp>
        <p:nvSpPr>
          <p:cNvPr id="5" name="t5">
            <a:extLst xmlns:a="http://schemas.openxmlformats.org/drawingml/2006/main">
              <a:ext uri="{FF2B5EF4-FFF2-40B4-BE49-F238E27FC236}">
                <a16:creationId xmlns:a16="http://schemas.microsoft.com/office/drawing/2014/main" id="{1B3C72BE-F611-49AD-929A-B0E3025E5084}"/>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7E46585D-DD41-432C-8D6A-40A6B364E815}"/>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20/44</a:t>
            </a:r>
          </a:p>
        </p:txBody>
      </p:sp>
      <p:sp>
        <p:nvSpPr>
          <p:cNvPr id="7" name="lesson-title">
            <a:extLst xmlns:a="http://schemas.openxmlformats.org/drawingml/2006/main">
              <a:ext uri="{FF2B5EF4-FFF2-40B4-BE49-F238E27FC236}">
                <a16:creationId xmlns:a16="http://schemas.microsoft.com/office/drawing/2014/main" id="{B80DD034-DFD6-4006-84D0-0645AD05A7F9}"/>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Receive buffer: what backpressure cannot stop</a:t>
            </a:r>
          </a:p>
        </p:txBody>
      </p:sp>
      <p:sp>
        <p:nvSpPr>
          <p:cNvPr id="8" name="explanation-0">
            <a:extLst xmlns:a="http://schemas.openxmlformats.org/drawingml/2006/main">
              <a:ext uri="{FF2B5EF4-FFF2-40B4-BE49-F238E27FC236}">
                <a16:creationId xmlns:a16="http://schemas.microsoft.com/office/drawing/2014/main" id="{BFC3F4BE-423C-4008-8F92-29E0863B32F6}"/>
              </a:ext>
            </a:extLst>
          </p:cNvPr>
          <p:cNvSpPr>
            <a:spLocks xmlns:a="http://schemas.openxmlformats.org/drawingml/2006/main" noGrp="1"/>
          </p:cNvSpPr>
          <p:nvPr/>
        </p:nvSpPr>
        <p:spPr>
          <a:xfrm xmlns:a="http://schemas.openxmlformats.org/drawingml/2006/main">
            <a:off x="609600" y="19240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F9529"/>
                </a:solidFill>
                <a:latin typeface="Segoe UI"/>
                <a:ea typeface="Segoe UI"/>
                <a:cs typeface="Segoe UI"/>
              </a:defRPr>
            </a:pPr>
            <a:r>
              <a:rPr sz="2175" b="0">
                <a:solidFill>
                  <a:srgbClr val="EF9529"/>
                </a:solidFill>
                <a:latin typeface="Segoe UI"/>
                <a:ea typeface="Segoe UI"/>
                <a:cs typeface="Segoe UI"/>
              </a:rPr>
              <a:t>rx_ready=0 preserves a completed byte on the output interface.</a:t>
            </a:r>
          </a:p>
        </p:txBody>
      </p:sp>
      <p:sp>
        <p:nvSpPr>
          <p:cNvPr id="9" name="explanation-1">
            <a:extLst xmlns:a="http://schemas.openxmlformats.org/drawingml/2006/main">
              <a:ext uri="{FF2B5EF4-FFF2-40B4-BE49-F238E27FC236}">
                <a16:creationId xmlns:a16="http://schemas.microsoft.com/office/drawing/2014/main" id="{03407128-F0EA-42B9-9E05-46560946E5BA}"/>
              </a:ext>
            </a:extLst>
          </p:cNvPr>
          <p:cNvSpPr>
            <a:spLocks xmlns:a="http://schemas.openxmlformats.org/drawingml/2006/main" noGrp="1"/>
          </p:cNvSpPr>
          <p:nvPr/>
        </p:nvSpPr>
        <p:spPr>
          <a:xfrm xmlns:a="http://schemas.openxmlformats.org/drawingml/2006/main">
            <a:off x="609600" y="274320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The remote transmitter still sends serial bits. There is no CTS/RTS flow control here.</a:t>
            </a:r>
          </a:p>
        </p:txBody>
      </p:sp>
      <p:sp>
        <p:nvSpPr>
          <p:cNvPr id="10" name="explanation-2">
            <a:extLst xmlns:a="http://schemas.openxmlformats.org/drawingml/2006/main">
              <a:ext uri="{FF2B5EF4-FFF2-40B4-BE49-F238E27FC236}">
                <a16:creationId xmlns:a16="http://schemas.microsoft.com/office/drawing/2014/main" id="{5502FA6B-FDFD-4C14-B3FE-D1CC32886BBA}"/>
              </a:ext>
            </a:extLst>
          </p:cNvPr>
          <p:cNvSpPr>
            <a:spLocks xmlns:a="http://schemas.openxmlformats.org/drawingml/2006/main" noGrp="1"/>
          </p:cNvSpPr>
          <p:nvPr/>
        </p:nvSpPr>
        <p:spPr>
          <a:xfrm xmlns:a="http://schemas.openxmlformats.org/drawingml/2006/main">
            <a:off x="609600" y="35623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A new completed byte can cause overrun if the previous one is still pending.</a:t>
            </a:r>
          </a:p>
        </p:txBody>
      </p:sp>
    </p:spTree>
    <p:extLst>
      <p:ext uri="{BB962C8B-B14F-4D97-AF65-F5344CB8AC3E}">
        <p14:creationId xmlns:p14="http://schemas.microsoft.com/office/powerpoint/2010/main" val="1426376253"/>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366FB3C3-5D1B-4F68-8DFC-2A62AA87F6EA}"/>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777FF1E7-DA09-49BC-87FA-4A68B362C06F}"/>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0D29963F-2653-4199-86A0-C4D7B534DFFB}"/>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UART STUDENT LAB</a:t>
            </a:r>
          </a:p>
        </p:txBody>
      </p:sp>
      <p:sp>
        <p:nvSpPr>
          <p:cNvPr id="5" name="t5">
            <a:extLst xmlns:a="http://schemas.openxmlformats.org/drawingml/2006/main">
              <a:ext uri="{FF2B5EF4-FFF2-40B4-BE49-F238E27FC236}">
                <a16:creationId xmlns:a16="http://schemas.microsoft.com/office/drawing/2014/main" id="{1B3C72BE-F611-49AD-929A-B0E3025E5084}"/>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7E46585D-DD41-432C-8D6A-40A6B364E815}"/>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21/44</a:t>
            </a:r>
          </a:p>
        </p:txBody>
      </p:sp>
      <p:sp>
        <p:nvSpPr>
          <p:cNvPr id="7" name="lesson-title">
            <a:extLst xmlns:a="http://schemas.openxmlformats.org/drawingml/2006/main">
              <a:ext uri="{FF2B5EF4-FFF2-40B4-BE49-F238E27FC236}">
                <a16:creationId xmlns:a16="http://schemas.microsoft.com/office/drawing/2014/main" id="{4ADD782E-3DD5-4A45-8C20-8FB08D45993C}"/>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Framing and overrun errors</a:t>
            </a:r>
          </a:p>
        </p:txBody>
      </p:sp>
      <p:sp>
        <p:nvSpPr>
          <p:cNvPr id="8" name="explanation-0">
            <a:extLst xmlns:a="http://schemas.openxmlformats.org/drawingml/2006/main">
              <a:ext uri="{FF2B5EF4-FFF2-40B4-BE49-F238E27FC236}">
                <a16:creationId xmlns:a16="http://schemas.microsoft.com/office/drawing/2014/main" id="{DC18AE51-483C-43DD-ADDB-3BA3A6999703}"/>
              </a:ext>
            </a:extLst>
          </p:cNvPr>
          <p:cNvSpPr>
            <a:spLocks xmlns:a="http://schemas.openxmlformats.org/drawingml/2006/main" noGrp="1"/>
          </p:cNvSpPr>
          <p:nvPr/>
        </p:nvSpPr>
        <p:spPr>
          <a:xfrm xmlns:a="http://schemas.openxmlformats.org/drawingml/2006/main">
            <a:off x="609600" y="19240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F9529"/>
                </a:solidFill>
                <a:latin typeface="Segoe UI"/>
                <a:ea typeface="Segoe UI"/>
                <a:cs typeface="Segoe UI"/>
              </a:defRPr>
            </a:pPr>
            <a:r>
              <a:rPr sz="2175" b="0">
                <a:solidFill>
                  <a:srgbClr val="EF9529"/>
                </a:solidFill>
                <a:latin typeface="Segoe UI"/>
                <a:ea typeface="Segoe UI"/>
                <a:cs typeface="Segoe UI"/>
              </a:rPr>
              <a:t>Framing error reports an invalid STOP sample.</a:t>
            </a:r>
          </a:p>
        </p:txBody>
      </p:sp>
      <p:sp>
        <p:nvSpPr>
          <p:cNvPr id="9" name="explanation-1">
            <a:extLst xmlns:a="http://schemas.openxmlformats.org/drawingml/2006/main">
              <a:ext uri="{FF2B5EF4-FFF2-40B4-BE49-F238E27FC236}">
                <a16:creationId xmlns:a16="http://schemas.microsoft.com/office/drawing/2014/main" id="{1C67CD68-BC30-49B9-A4B2-37A14BD8F076}"/>
              </a:ext>
            </a:extLst>
          </p:cNvPr>
          <p:cNvSpPr>
            <a:spLocks xmlns:a="http://schemas.openxmlformats.org/drawingml/2006/main" noGrp="1"/>
          </p:cNvSpPr>
          <p:nvPr/>
        </p:nvSpPr>
        <p:spPr>
          <a:xfrm xmlns:a="http://schemas.openxmlformats.org/drawingml/2006/main">
            <a:off x="609600" y="274320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Overrun reports loss caused by an occupied receive buffer.</a:t>
            </a:r>
          </a:p>
        </p:txBody>
      </p:sp>
      <p:sp>
        <p:nvSpPr>
          <p:cNvPr id="10" name="explanation-2">
            <a:extLst xmlns:a="http://schemas.openxmlformats.org/drawingml/2006/main">
              <a:ext uri="{FF2B5EF4-FFF2-40B4-BE49-F238E27FC236}">
                <a16:creationId xmlns:a16="http://schemas.microsoft.com/office/drawing/2014/main" id="{BB07DE18-642B-4C44-83A8-F791520B3C5D}"/>
              </a:ext>
            </a:extLst>
          </p:cNvPr>
          <p:cNvSpPr>
            <a:spLocks xmlns:a="http://schemas.openxmlformats.org/drawingml/2006/main" noGrp="1"/>
          </p:cNvSpPr>
          <p:nvPr/>
        </p:nvSpPr>
        <p:spPr>
          <a:xfrm xmlns:a="http://schemas.openxmlformats.org/drawingml/2006/main">
            <a:off x="609600" y="35623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Error outputs are pulses, not persistent counters.</a:t>
            </a:r>
          </a:p>
        </p:txBody>
      </p:sp>
    </p:spTree>
    <p:extLst>
      <p:ext uri="{BB962C8B-B14F-4D97-AF65-F5344CB8AC3E}">
        <p14:creationId xmlns:p14="http://schemas.microsoft.com/office/powerpoint/2010/main" val="1426376253"/>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366FB3C3-5D1B-4F68-8DFC-2A62AA87F6EA}"/>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777FF1E7-DA09-49BC-87FA-4A68B362C06F}"/>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0D29963F-2653-4199-86A0-C4D7B534DFFB}"/>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UART STUDENT LAB</a:t>
            </a:r>
          </a:p>
        </p:txBody>
      </p:sp>
      <p:sp>
        <p:nvSpPr>
          <p:cNvPr id="5" name="t5">
            <a:extLst xmlns:a="http://schemas.openxmlformats.org/drawingml/2006/main">
              <a:ext uri="{FF2B5EF4-FFF2-40B4-BE49-F238E27FC236}">
                <a16:creationId xmlns:a16="http://schemas.microsoft.com/office/drawing/2014/main" id="{1B3C72BE-F611-49AD-929A-B0E3025E5084}"/>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7E46585D-DD41-432C-8D6A-40A6B364E815}"/>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22/44</a:t>
            </a:r>
          </a:p>
        </p:txBody>
      </p:sp>
      <p:sp>
        <p:nvSpPr>
          <p:cNvPr id="7" name="lesson-title">
            <a:extLst xmlns:a="http://schemas.openxmlformats.org/drawingml/2006/main">
              <a:ext uri="{FF2B5EF4-FFF2-40B4-BE49-F238E27FC236}">
                <a16:creationId xmlns:a16="http://schemas.microsoft.com/office/drawing/2014/main" id="{26D3E9A8-F8CA-4BF2-9BFD-9335D7DFCD9F}"/>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Framing error: STOP stays low</a:t>
            </a:r>
          </a:p>
        </p:txBody>
      </p:sp>
      <p:sp>
        <p:nvSpPr>
          <p:cNvPr id="8" name="explanation-0">
            <a:extLst xmlns:a="http://schemas.openxmlformats.org/drawingml/2006/main">
              <a:ext uri="{FF2B5EF4-FFF2-40B4-BE49-F238E27FC236}">
                <a16:creationId xmlns:a16="http://schemas.microsoft.com/office/drawing/2014/main" id="{627BC735-2E7D-4044-987F-BC107E27ED77}"/>
              </a:ext>
            </a:extLst>
          </p:cNvPr>
          <p:cNvSpPr>
            <a:spLocks xmlns:a="http://schemas.openxmlformats.org/drawingml/2006/main" noGrp="1"/>
          </p:cNvSpPr>
          <p:nvPr/>
        </p:nvSpPr>
        <p:spPr>
          <a:xfrm xmlns:a="http://schemas.openxmlformats.org/drawingml/2006/main">
            <a:off x="609600" y="169545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F9529"/>
                </a:solidFill>
                <a:latin typeface="Segoe UI"/>
                <a:ea typeface="Segoe UI"/>
                <a:cs typeface="Segoe UI"/>
              </a:defRPr>
            </a:pPr>
            <a:r>
              <a:rPr sz="1800" b="0">
                <a:solidFill>
                  <a:srgbClr val="EF9529"/>
                </a:solidFill>
                <a:latin typeface="Segoe UI"/>
                <a:ea typeface="Segoe UI"/>
                <a:cs typeface="Segoe UI"/>
              </a:rPr>
              <a:t>START and data can look valid while the STOP interval is wrong.</a:t>
            </a:r>
          </a:p>
        </p:txBody>
      </p:sp>
      <p:sp>
        <p:nvSpPr>
          <p:cNvPr id="9" name="explanation-1">
            <a:extLst xmlns:a="http://schemas.openxmlformats.org/drawingml/2006/main">
              <a:ext uri="{FF2B5EF4-FFF2-40B4-BE49-F238E27FC236}">
                <a16:creationId xmlns:a16="http://schemas.microsoft.com/office/drawing/2014/main" id="{81CB4347-095E-4A76-A280-51C8EBA5A631}"/>
              </a:ext>
            </a:extLst>
          </p:cNvPr>
          <p:cNvSpPr>
            <a:spLocks xmlns:a="http://schemas.openxmlformats.org/drawingml/2006/main" noGrp="1"/>
          </p:cNvSpPr>
          <p:nvPr/>
        </p:nvSpPr>
        <p:spPr>
          <a:xfrm xmlns:a="http://schemas.openxmlformats.org/drawingml/2006/main">
            <a:off x="609600" y="20574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DEDED"/>
                </a:solidFill>
                <a:latin typeface="Segoe UI"/>
                <a:ea typeface="Segoe UI"/>
                <a:cs typeface="Segoe UI"/>
              </a:defRPr>
            </a:pPr>
            <a:r>
              <a:rPr sz="1800" b="0">
                <a:solidFill>
                  <a:srgbClr val="EDEDED"/>
                </a:solidFill>
                <a:latin typeface="Segoe UI"/>
                <a:ea typeface="Segoe UI"/>
                <a:cs typeface="Segoe UI"/>
              </a:rPr>
              <a:t>The local receiver pulses frame_error instead of accepting that byte.</a:t>
            </a:r>
          </a:p>
        </p:txBody>
      </p:sp>
      <p:graphicFrame>
        <p:nvGraphicFramePr>
          <p:cNvPr id="20" name="Chart"/>
          <p:cNvGraphicFramePr/>
          <p:nvPr/>
        </p:nvGraphicFramePr>
        <p:xfrm>
          <a:off xmlns:a="http://schemas.openxmlformats.org/drawingml/2006/main" x="609600" y="2381250"/>
          <a:ext xmlns:a="http://schemas.openxmlformats.org/drawingml/2006/main" cx="10972800" cy="3429000"/>
        </p:xfrm>
        <a:graphic xmlns:a="http://schemas.openxmlformats.org/drawingml/2006/main">
          <a:graphicData uri="http://schemas.openxmlformats.org/drawingml/2006/chart">
            <c:chart xmlns:r="http://schemas.openxmlformats.org/officeDocument/2006/relationships" xmlns:c="http://schemas.openxmlformats.org/drawingml/2006/chart" r:id="Rf7db0a9771ee4758"/>
          </a:graphicData>
        </a:graphic>
      </p:graphicFrame>
      <p:sp>
        <p:nvSpPr>
          <p:cNvPr id="11" name="trace-kind">
            <a:extLst xmlns:a="http://schemas.openxmlformats.org/drawingml/2006/main">
              <a:ext uri="{FF2B5EF4-FFF2-40B4-BE49-F238E27FC236}">
                <a16:creationId xmlns:a16="http://schemas.microsoft.com/office/drawing/2014/main" id="{D0DD3790-59BC-4682-9284-14A793D4EB9A}"/>
              </a:ext>
            </a:extLst>
          </p:cNvPr>
          <p:cNvSpPr>
            <a:spLocks xmlns:a="http://schemas.openxmlformats.org/drawingml/2006/main" noGrp="1"/>
          </p:cNvSpPr>
          <p:nvPr/>
        </p:nvSpPr>
        <p:spPr>
          <a:xfrm xmlns:a="http://schemas.openxmlformats.org/drawingml/2006/main">
            <a:off x="609600" y="6000750"/>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9A9AA2"/>
                </a:solidFill>
                <a:latin typeface="Segoe UI"/>
                <a:ea typeface="Segoe UI"/>
                <a:cs typeface="Segoe UI"/>
              </a:defRPr>
            </a:pPr>
            <a:r>
              <a:rPr sz="1350" b="0">
                <a:solidFill>
                  <a:srgbClr val="9A9AA2"/>
                </a:solidFill>
                <a:latin typeface="Segoe UI"/>
                <a:ea typeface="Segoe UI"/>
                <a:cs typeface="Segoe UI"/>
              </a:rPr>
              <a:t>Logic levels: HIGH=1, LOW=0. IDEAL WORKED EXAMPLE: logic values, not a measured trace</a:t>
            </a:r>
          </a:p>
        </p:txBody>
      </p:sp>
    </p:spTree>
    <p:extLst>
      <p:ext uri="{BB962C8B-B14F-4D97-AF65-F5344CB8AC3E}">
        <p14:creationId xmlns:p14="http://schemas.microsoft.com/office/powerpoint/2010/main" val="1426376253"/>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366FB3C3-5D1B-4F68-8DFC-2A62AA87F6EA}"/>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777FF1E7-DA09-49BC-87FA-4A68B362C06F}"/>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0D29963F-2653-4199-86A0-C4D7B534DFFB}"/>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UART STUDENT LAB</a:t>
            </a:r>
          </a:p>
        </p:txBody>
      </p:sp>
      <p:sp>
        <p:nvSpPr>
          <p:cNvPr id="5" name="t5">
            <a:extLst xmlns:a="http://schemas.openxmlformats.org/drawingml/2006/main">
              <a:ext uri="{FF2B5EF4-FFF2-40B4-BE49-F238E27FC236}">
                <a16:creationId xmlns:a16="http://schemas.microsoft.com/office/drawing/2014/main" id="{1B3C72BE-F611-49AD-929A-B0E3025E5084}"/>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7E46585D-DD41-432C-8D6A-40A6B364E815}"/>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23/44</a:t>
            </a:r>
          </a:p>
        </p:txBody>
      </p:sp>
      <p:sp>
        <p:nvSpPr>
          <p:cNvPr id="7" name="lesson-title">
            <a:extLst xmlns:a="http://schemas.openxmlformats.org/drawingml/2006/main">
              <a:ext uri="{FF2B5EF4-FFF2-40B4-BE49-F238E27FC236}">
                <a16:creationId xmlns:a16="http://schemas.microsoft.com/office/drawing/2014/main" id="{AAAB2188-4DE7-47EA-9093-242C6DCB9C06}"/>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RTL walkthrough: frame completion and overrun</a:t>
            </a:r>
          </a:p>
        </p:txBody>
      </p:sp>
      <p:sp>
        <p:nvSpPr>
          <p:cNvPr id="8" name="explanation-0">
            <a:extLst xmlns:a="http://schemas.openxmlformats.org/drawingml/2006/main">
              <a:ext uri="{FF2B5EF4-FFF2-40B4-BE49-F238E27FC236}">
                <a16:creationId xmlns:a16="http://schemas.microsoft.com/office/drawing/2014/main" id="{9E705DA1-A3E1-4F18-9718-62EF503BC999}"/>
              </a:ext>
            </a:extLst>
          </p:cNvPr>
          <p:cNvSpPr>
            <a:spLocks xmlns:a="http://schemas.openxmlformats.org/drawingml/2006/main" noGrp="1"/>
          </p:cNvSpPr>
          <p:nvPr/>
        </p:nvSpPr>
        <p:spPr>
          <a:xfrm xmlns:a="http://schemas.openxmlformats.org/drawingml/2006/main">
            <a:off x="609600" y="169545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F9529"/>
                </a:solidFill>
                <a:latin typeface="Segoe UI"/>
                <a:ea typeface="Segoe UI"/>
                <a:cs typeface="Segoe UI"/>
              </a:defRPr>
            </a:pPr>
            <a:r>
              <a:rPr sz="1800" b="0">
                <a:solidFill>
                  <a:srgbClr val="EF9529"/>
                </a:solidFill>
                <a:latin typeface="Segoe UI"/>
                <a:ea typeface="Segoe UI"/>
                <a:cs typeface="Segoe UI"/>
              </a:rPr>
              <a:t>STOP high captures data and sets output valid.</a:t>
            </a:r>
          </a:p>
        </p:txBody>
      </p:sp>
      <p:sp>
        <p:nvSpPr>
          <p:cNvPr id="9" name="explanation-1">
            <a:extLst xmlns:a="http://schemas.openxmlformats.org/drawingml/2006/main">
              <a:ext uri="{FF2B5EF4-FFF2-40B4-BE49-F238E27FC236}">
                <a16:creationId xmlns:a16="http://schemas.microsoft.com/office/drawing/2014/main" id="{25C40999-8E21-4D66-AF07-D3DD14A24B39}"/>
              </a:ext>
            </a:extLst>
          </p:cNvPr>
          <p:cNvSpPr>
            <a:spLocks xmlns:a="http://schemas.openxmlformats.org/drawingml/2006/main" noGrp="1"/>
          </p:cNvSpPr>
          <p:nvPr/>
        </p:nvSpPr>
        <p:spPr>
          <a:xfrm xmlns:a="http://schemas.openxmlformats.org/drawingml/2006/main">
            <a:off x="609600" y="20574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DEDED"/>
                </a:solidFill>
                <a:latin typeface="Segoe UI"/>
                <a:ea typeface="Segoe UI"/>
                <a:cs typeface="Segoe UI"/>
              </a:defRPr>
            </a:pPr>
            <a:r>
              <a:rPr sz="1800" b="0">
                <a:solidFill>
                  <a:srgbClr val="EDEDED"/>
                </a:solidFill>
                <a:latin typeface="Segoe UI"/>
                <a:ea typeface="Segoe UI"/>
                <a:cs typeface="Segoe UI"/>
              </a:rPr>
              <a:t>If output valid was already high, the core raises overrun.</a:t>
            </a:r>
          </a:p>
        </p:txBody>
      </p:sp>
      <p:sp>
        <p:nvSpPr>
          <p:cNvPr id="10" name="rtl-excerpt">
            <a:extLst xmlns:a="http://schemas.openxmlformats.org/drawingml/2006/main">
              <a:ext uri="{FF2B5EF4-FFF2-40B4-BE49-F238E27FC236}">
                <a16:creationId xmlns:a16="http://schemas.microsoft.com/office/drawing/2014/main" id="{CAFED532-0514-4E73-AEA8-EB7AD40DE028}"/>
              </a:ext>
            </a:extLst>
          </p:cNvPr>
          <p:cNvSpPr>
            <a:spLocks xmlns:a="http://schemas.openxmlformats.org/drawingml/2006/main" noGrp="1"/>
          </p:cNvSpPr>
          <p:nvPr/>
        </p:nvSpPr>
        <p:spPr>
          <a:xfrm xmlns:a="http://schemas.openxmlformats.org/drawingml/2006/main">
            <a:off x="609600" y="2809875"/>
            <a:ext cx="109728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DEDED"/>
                </a:solidFill>
                <a:latin typeface="Consolas"/>
                <a:ea typeface="Consolas"/>
                <a:cs typeface="Consolas"/>
              </a:defRPr>
            </a:pPr>
            <a:r>
              <a:rPr sz="1800" b="0">
                <a:solidFill>
                  <a:srgbClr val="EDEDED"/>
                </a:solidFill>
                <a:latin typeface="Consolas"/>
                <a:ea typeface="Consolas"/>
                <a:cs typeface="Consolas"/>
              </a:rPr>
              <a:t>if (rxd_reg) begin</a:t>
            </a:r>
          </a:p>
          <a:p xmlns:a="http://schemas.openxmlformats.org/drawingml/2006/main">
            <a:pPr>
              <a:defRPr sz="1800" b="0">
                <a:solidFill>
                  <a:srgbClr val="EDEDED"/>
                </a:solidFill>
                <a:latin typeface="Consolas"/>
                <a:ea typeface="Consolas"/>
                <a:cs typeface="Consolas"/>
              </a:defRPr>
            </a:pPr>
            <a:r>
              <a:rPr sz="1800" b="0">
                <a:solidFill>
                  <a:srgbClr val="EDEDED"/>
                </a:solidFill>
                <a:latin typeface="Consolas"/>
                <a:ea typeface="Consolas"/>
                <a:cs typeface="Consolas"/>
              </a:rPr>
              <a:t>    m_axis_tdata_reg &lt;= data_reg;</a:t>
            </a:r>
          </a:p>
          <a:p xmlns:a="http://schemas.openxmlformats.org/drawingml/2006/main">
            <a:pPr>
              <a:defRPr sz="1800" b="0">
                <a:solidFill>
                  <a:srgbClr val="EDEDED"/>
                </a:solidFill>
                <a:latin typeface="Consolas"/>
                <a:ea typeface="Consolas"/>
                <a:cs typeface="Consolas"/>
              </a:defRPr>
            </a:pPr>
            <a:r>
              <a:rPr sz="1800" b="0">
                <a:solidFill>
                  <a:srgbClr val="EDEDED"/>
                </a:solidFill>
                <a:latin typeface="Consolas"/>
                <a:ea typeface="Consolas"/>
                <a:cs typeface="Consolas"/>
              </a:rPr>
              <a:t>    m_axis_tvalid_reg &lt;= 1;</a:t>
            </a:r>
          </a:p>
          <a:p xmlns:a="http://schemas.openxmlformats.org/drawingml/2006/main">
            <a:pPr>
              <a:defRPr sz="1800" b="0">
                <a:solidFill>
                  <a:srgbClr val="EDEDED"/>
                </a:solidFill>
                <a:latin typeface="Consolas"/>
                <a:ea typeface="Consolas"/>
                <a:cs typeface="Consolas"/>
              </a:defRPr>
            </a:pPr>
            <a:r>
              <a:rPr sz="1800" b="0">
                <a:solidFill>
                  <a:srgbClr val="EDEDED"/>
                </a:solidFill>
                <a:latin typeface="Consolas"/>
                <a:ea typeface="Consolas"/>
                <a:cs typeface="Consolas"/>
              </a:rPr>
              <a:t>    overrun_error_reg &lt;= m_axis_tvalid_reg;</a:t>
            </a:r>
          </a:p>
          <a:p xmlns:a="http://schemas.openxmlformats.org/drawingml/2006/main">
            <a:pPr>
              <a:defRPr sz="1800" b="0">
                <a:solidFill>
                  <a:srgbClr val="EDEDED"/>
                </a:solidFill>
                <a:latin typeface="Consolas"/>
                <a:ea typeface="Consolas"/>
                <a:cs typeface="Consolas"/>
              </a:defRPr>
            </a:pPr>
            <a:r>
              <a:rPr sz="1800" b="0">
                <a:solidFill>
                  <a:srgbClr val="EDEDED"/>
                </a:solidFill>
                <a:latin typeface="Consolas"/>
                <a:ea typeface="Consolas"/>
                <a:cs typeface="Consolas"/>
              </a:rPr>
              <a:t>end else begin</a:t>
            </a:r>
          </a:p>
          <a:p xmlns:a="http://schemas.openxmlformats.org/drawingml/2006/main">
            <a:pPr>
              <a:defRPr sz="1800" b="0">
                <a:solidFill>
                  <a:srgbClr val="EDEDED"/>
                </a:solidFill>
                <a:latin typeface="Consolas"/>
                <a:ea typeface="Consolas"/>
                <a:cs typeface="Consolas"/>
              </a:defRPr>
            </a:pPr>
            <a:r>
              <a:rPr sz="1800" b="0">
                <a:solidFill>
                  <a:srgbClr val="EDEDED"/>
                </a:solidFill>
                <a:latin typeface="Consolas"/>
                <a:ea typeface="Consolas"/>
                <a:cs typeface="Consolas"/>
              </a:rPr>
              <a:t>    frame_error_reg &lt;= 1;</a:t>
            </a:r>
          </a:p>
          <a:p xmlns:a="http://schemas.openxmlformats.org/drawingml/2006/main">
            <a:pPr>
              <a:defRPr sz="1800" b="0">
                <a:solidFill>
                  <a:srgbClr val="EDEDED"/>
                </a:solidFill>
                <a:latin typeface="Consolas"/>
                <a:ea typeface="Consolas"/>
                <a:cs typeface="Consolas"/>
              </a:defRPr>
            </a:pPr>
            <a:r>
              <a:rPr sz="1800" b="0">
                <a:solidFill>
                  <a:srgbClr val="EDEDED"/>
                </a:solidFill>
                <a:latin typeface="Consolas"/>
                <a:ea typeface="Consolas"/>
                <a:cs typeface="Consolas"/>
              </a:rPr>
              <a:t>end</a:t>
            </a:r>
          </a:p>
        </p:txBody>
      </p:sp>
      <p:sp>
        <p:nvSpPr>
          <p:cNvPr id="11" name="rtl-source">
            <a:extLst xmlns:a="http://schemas.openxmlformats.org/drawingml/2006/main">
              <a:ext uri="{FF2B5EF4-FFF2-40B4-BE49-F238E27FC236}">
                <a16:creationId xmlns:a16="http://schemas.microsoft.com/office/drawing/2014/main" id="{E036E94C-DAA7-410E-AE7E-81E7AE96E36A}"/>
              </a:ext>
            </a:extLst>
          </p:cNvPr>
          <p:cNvSpPr>
            <a:spLocks xmlns:a="http://schemas.openxmlformats.org/drawingml/2006/main" noGrp="1"/>
          </p:cNvSpPr>
          <p:nvPr/>
        </p:nvSpPr>
        <p:spPr>
          <a:xfrm xmlns:a="http://schemas.openxmlformats.org/drawingml/2006/main">
            <a:off x="609600" y="595312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9A9AA2"/>
                </a:solidFill>
                <a:latin typeface="Segoe UI"/>
                <a:ea typeface="Segoe UI"/>
                <a:cs typeface="Segoe UI"/>
              </a:defRPr>
            </a:pPr>
            <a:r>
              <a:rPr sz="1350" b="0">
                <a:solidFill>
                  <a:srgbClr val="9A9AA2"/>
                </a:solidFill>
                <a:latin typeface="Segoe UI"/>
                <a:ea typeface="Segoe UI"/>
                <a:cs typeface="Segoe UI"/>
              </a:rPr>
              <a:t>hw/protocols/uart/01_rtl/uart_rx.v:131</a:t>
            </a:r>
          </a:p>
        </p:txBody>
      </p:sp>
    </p:spTree>
    <p:extLst>
      <p:ext uri="{BB962C8B-B14F-4D97-AF65-F5344CB8AC3E}">
        <p14:creationId xmlns:p14="http://schemas.microsoft.com/office/powerpoint/2010/main" val="1426376253"/>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366FB3C3-5D1B-4F68-8DFC-2A62AA87F6EA}"/>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777FF1E7-DA09-49BC-87FA-4A68B362C06F}"/>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0D29963F-2653-4199-86A0-C4D7B534DFFB}"/>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UART STUDENT LAB</a:t>
            </a:r>
          </a:p>
        </p:txBody>
      </p:sp>
      <p:sp>
        <p:nvSpPr>
          <p:cNvPr id="5" name="t5">
            <a:extLst xmlns:a="http://schemas.openxmlformats.org/drawingml/2006/main">
              <a:ext uri="{FF2B5EF4-FFF2-40B4-BE49-F238E27FC236}">
                <a16:creationId xmlns:a16="http://schemas.microsoft.com/office/drawing/2014/main" id="{1B3C72BE-F611-49AD-929A-B0E3025E5084}"/>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7E46585D-DD41-432C-8D6A-40A6B364E815}"/>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24/44</a:t>
            </a:r>
          </a:p>
        </p:txBody>
      </p:sp>
      <p:sp>
        <p:nvSpPr>
          <p:cNvPr id="7" name="lesson-title">
            <a:extLst xmlns:a="http://schemas.openxmlformats.org/drawingml/2006/main">
              <a:ext uri="{FF2B5EF4-FFF2-40B4-BE49-F238E27FC236}">
                <a16:creationId xmlns:a16="http://schemas.microsoft.com/office/drawing/2014/main" id="{B7F120D7-42C7-4202-A489-C4BA68E38993}"/>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Reset and recovery</a:t>
            </a:r>
          </a:p>
        </p:txBody>
      </p:sp>
      <p:sp>
        <p:nvSpPr>
          <p:cNvPr id="8" name="explanation-0">
            <a:extLst xmlns:a="http://schemas.openxmlformats.org/drawingml/2006/main">
              <a:ext uri="{FF2B5EF4-FFF2-40B4-BE49-F238E27FC236}">
                <a16:creationId xmlns:a16="http://schemas.microsoft.com/office/drawing/2014/main" id="{1A6052C2-592D-4175-B234-2D84B08B43B3}"/>
              </a:ext>
            </a:extLst>
          </p:cNvPr>
          <p:cNvSpPr>
            <a:spLocks xmlns:a="http://schemas.openxmlformats.org/drawingml/2006/main" noGrp="1"/>
          </p:cNvSpPr>
          <p:nvPr/>
        </p:nvSpPr>
        <p:spPr>
          <a:xfrm xmlns:a="http://schemas.openxmlformats.org/drawingml/2006/main">
            <a:off x="609600" y="19240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F9529"/>
                </a:solidFill>
                <a:latin typeface="Segoe UI"/>
                <a:ea typeface="Segoe UI"/>
                <a:cs typeface="Segoe UI"/>
              </a:defRPr>
            </a:pPr>
            <a:r>
              <a:rPr sz="2175" b="0">
                <a:solidFill>
                  <a:srgbClr val="EF9529"/>
                </a:solidFill>
                <a:latin typeface="Segoe UI"/>
                <a:ea typeface="Segoe UI"/>
                <a:cs typeface="Segoe UI"/>
              </a:rPr>
              <a:t>rst is synchronous and active high.</a:t>
            </a:r>
          </a:p>
        </p:txBody>
      </p:sp>
      <p:sp>
        <p:nvSpPr>
          <p:cNvPr id="9" name="explanation-1">
            <a:extLst xmlns:a="http://schemas.openxmlformats.org/drawingml/2006/main">
              <a:ext uri="{FF2B5EF4-FFF2-40B4-BE49-F238E27FC236}">
                <a16:creationId xmlns:a16="http://schemas.microsoft.com/office/drawing/2014/main" id="{A52A7347-C69F-4D77-B7D3-EAB2D7C3A303}"/>
              </a:ext>
            </a:extLst>
          </p:cNvPr>
          <p:cNvSpPr>
            <a:spLocks xmlns:a="http://schemas.openxmlformats.org/drawingml/2006/main" noGrp="1"/>
          </p:cNvSpPr>
          <p:nvPr/>
        </p:nvSpPr>
        <p:spPr>
          <a:xfrm xmlns:a="http://schemas.openxmlformats.org/drawingml/2006/main">
            <a:off x="609600" y="274320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Reset returns serial transmit to its idle state.</a:t>
            </a:r>
          </a:p>
        </p:txBody>
      </p:sp>
      <p:sp>
        <p:nvSpPr>
          <p:cNvPr id="10" name="explanation-2">
            <a:extLst xmlns:a="http://schemas.openxmlformats.org/drawingml/2006/main">
              <a:ext uri="{FF2B5EF4-FFF2-40B4-BE49-F238E27FC236}">
                <a16:creationId xmlns:a16="http://schemas.microsoft.com/office/drawing/2014/main" id="{B353D885-9F20-4CBE-BD50-86919AE7BB30}"/>
              </a:ext>
            </a:extLst>
          </p:cNvPr>
          <p:cNvSpPr>
            <a:spLocks xmlns:a="http://schemas.openxmlformats.org/drawingml/2006/main" noGrp="1"/>
          </p:cNvSpPr>
          <p:nvPr/>
        </p:nvSpPr>
        <p:spPr>
          <a:xfrm xmlns:a="http://schemas.openxmlformats.org/drawingml/2006/main">
            <a:off x="609600" y="35623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The bench aborts a transfer, then verifies another byte.</a:t>
            </a:r>
          </a:p>
        </p:txBody>
      </p:sp>
    </p:spTree>
    <p:extLst>
      <p:ext uri="{BB962C8B-B14F-4D97-AF65-F5344CB8AC3E}">
        <p14:creationId xmlns:p14="http://schemas.microsoft.com/office/powerpoint/2010/main" val="1426376253"/>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366FB3C3-5D1B-4F68-8DFC-2A62AA87F6EA}"/>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777FF1E7-DA09-49BC-87FA-4A68B362C06F}"/>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0D29963F-2653-4199-86A0-C4D7B534DFFB}"/>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UART STUDENT LAB</a:t>
            </a:r>
          </a:p>
        </p:txBody>
      </p:sp>
      <p:sp>
        <p:nvSpPr>
          <p:cNvPr id="5" name="t5">
            <a:extLst xmlns:a="http://schemas.openxmlformats.org/drawingml/2006/main">
              <a:ext uri="{FF2B5EF4-FFF2-40B4-BE49-F238E27FC236}">
                <a16:creationId xmlns:a16="http://schemas.microsoft.com/office/drawing/2014/main" id="{1B3C72BE-F611-49AD-929A-B0E3025E5084}"/>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7E46585D-DD41-432C-8D6A-40A6B364E815}"/>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25/44</a:t>
            </a:r>
          </a:p>
        </p:txBody>
      </p:sp>
      <p:sp>
        <p:nvSpPr>
          <p:cNvPr id="7" name="lesson-title">
            <a:extLst xmlns:a="http://schemas.openxmlformats.org/drawingml/2006/main">
              <a:ext uri="{FF2B5EF4-FFF2-40B4-BE49-F238E27FC236}">
                <a16:creationId xmlns:a16="http://schemas.microsoft.com/office/drawing/2014/main" id="{CCEDFBA4-0539-4B1A-B015-144602237CDD}"/>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RTL walkthrough: RX input synchronization</a:t>
            </a:r>
          </a:p>
        </p:txBody>
      </p:sp>
      <p:sp>
        <p:nvSpPr>
          <p:cNvPr id="8" name="explanation-0">
            <a:extLst xmlns:a="http://schemas.openxmlformats.org/drawingml/2006/main">
              <a:ext uri="{FF2B5EF4-FFF2-40B4-BE49-F238E27FC236}">
                <a16:creationId xmlns:a16="http://schemas.microsoft.com/office/drawing/2014/main" id="{E685B93D-326C-4383-A9D5-6BF97806BEC9}"/>
              </a:ext>
            </a:extLst>
          </p:cNvPr>
          <p:cNvSpPr>
            <a:spLocks xmlns:a="http://schemas.openxmlformats.org/drawingml/2006/main" noGrp="1"/>
          </p:cNvSpPr>
          <p:nvPr/>
        </p:nvSpPr>
        <p:spPr>
          <a:xfrm xmlns:a="http://schemas.openxmlformats.org/drawingml/2006/main">
            <a:off x="609600" y="169545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F9529"/>
                </a:solidFill>
                <a:latin typeface="Segoe UI"/>
                <a:ea typeface="Segoe UI"/>
                <a:cs typeface="Segoe UI"/>
              </a:defRPr>
            </a:pPr>
            <a:r>
              <a:rPr sz="1800" b="0">
                <a:solidFill>
                  <a:srgbClr val="EF9529"/>
                </a:solidFill>
                <a:latin typeface="Segoe UI"/>
                <a:ea typeface="Segoe UI"/>
                <a:cs typeface="Segoe UI"/>
              </a:rPr>
              <a:t>Two flops sample the asynchronous external pin before the UART decoder.</a:t>
            </a:r>
          </a:p>
        </p:txBody>
      </p:sp>
      <p:sp>
        <p:nvSpPr>
          <p:cNvPr id="9" name="explanation-1">
            <a:extLst xmlns:a="http://schemas.openxmlformats.org/drawingml/2006/main">
              <a:ext uri="{FF2B5EF4-FFF2-40B4-BE49-F238E27FC236}">
                <a16:creationId xmlns:a16="http://schemas.microsoft.com/office/drawing/2014/main" id="{10AB6ECC-2767-4F0A-BC7B-072F811D7186}"/>
              </a:ext>
            </a:extLst>
          </p:cNvPr>
          <p:cNvSpPr>
            <a:spLocks xmlns:a="http://schemas.openxmlformats.org/drawingml/2006/main" noGrp="1"/>
          </p:cNvSpPr>
          <p:nvPr/>
        </p:nvSpPr>
        <p:spPr>
          <a:xfrm xmlns:a="http://schemas.openxmlformats.org/drawingml/2006/main">
            <a:off x="609600" y="20574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DEDED"/>
                </a:solidFill>
                <a:latin typeface="Segoe UI"/>
                <a:ea typeface="Segoe UI"/>
                <a:cs typeface="Segoe UI"/>
              </a:defRPr>
            </a:pPr>
            <a:r>
              <a:rPr sz="1800" b="0">
                <a:solidFill>
                  <a:srgbClr val="EDEDED"/>
                </a:solidFill>
                <a:latin typeface="Segoe UI"/>
                <a:ea typeface="Segoe UI"/>
                <a:cs typeface="Segoe UI"/>
              </a:rPr>
              <a:t>Reset is synchronous active high and initializes the sampled line to idle high.</a:t>
            </a:r>
          </a:p>
        </p:txBody>
      </p:sp>
      <p:sp>
        <p:nvSpPr>
          <p:cNvPr id="10" name="rtl-excerpt">
            <a:extLst xmlns:a="http://schemas.openxmlformats.org/drawingml/2006/main">
              <a:ext uri="{FF2B5EF4-FFF2-40B4-BE49-F238E27FC236}">
                <a16:creationId xmlns:a16="http://schemas.microsoft.com/office/drawing/2014/main" id="{582B2979-D3E8-4B3A-8015-A37AE7613632}"/>
              </a:ext>
            </a:extLst>
          </p:cNvPr>
          <p:cNvSpPr>
            <a:spLocks xmlns:a="http://schemas.openxmlformats.org/drawingml/2006/main" noGrp="1"/>
          </p:cNvSpPr>
          <p:nvPr/>
        </p:nvSpPr>
        <p:spPr>
          <a:xfrm xmlns:a="http://schemas.openxmlformats.org/drawingml/2006/main">
            <a:off x="609600" y="2809875"/>
            <a:ext cx="109728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DEDED"/>
                </a:solidFill>
                <a:latin typeface="Consolas"/>
                <a:ea typeface="Consolas"/>
                <a:cs typeface="Consolas"/>
              </a:defRPr>
            </a:pPr>
            <a:r>
              <a:rPr sz="1800" b="0">
                <a:solidFill>
                  <a:srgbClr val="EDEDED"/>
                </a:solidFill>
                <a:latin typeface="Consolas"/>
                <a:ea typeface="Consolas"/>
                <a:cs typeface="Consolas"/>
              </a:rPr>
              <a:t>(* async_reg = "true" *) reg [1:0] rx_sync;</a:t>
            </a:r>
          </a:p>
          <a:p xmlns:a="http://schemas.openxmlformats.org/drawingml/2006/main">
            <a:pPr>
              <a:defRPr sz="1800" b="0">
                <a:solidFill>
                  <a:srgbClr val="EDEDED"/>
                </a:solidFill>
                <a:latin typeface="Consolas"/>
                <a:ea typeface="Consolas"/>
                <a:cs typeface="Consolas"/>
              </a:defRPr>
            </a:pPr>
            <a:r>
              <a:rPr sz="1800" b="0">
                <a:solidFill>
                  <a:srgbClr val="EDEDED"/>
                </a:solidFill>
                <a:latin typeface="Consolas"/>
                <a:ea typeface="Consolas"/>
                <a:cs typeface="Consolas"/>
              </a:rPr>
              <a:t>always @(posedge clk)</a:t>
            </a:r>
          </a:p>
          <a:p xmlns:a="http://schemas.openxmlformats.org/drawingml/2006/main">
            <a:pPr>
              <a:defRPr sz="1800" b="0">
                <a:solidFill>
                  <a:srgbClr val="EDEDED"/>
                </a:solidFill>
                <a:latin typeface="Consolas"/>
                <a:ea typeface="Consolas"/>
                <a:cs typeface="Consolas"/>
              </a:defRPr>
            </a:pPr>
            <a:r>
              <a:rPr sz="1800" b="0">
                <a:solidFill>
                  <a:srgbClr val="EDEDED"/>
                </a:solidFill>
                <a:latin typeface="Consolas"/>
                <a:ea typeface="Consolas"/>
                <a:cs typeface="Consolas"/>
              </a:rPr>
              <a:t>    if (rst) rx_sync &lt;= 2'b11;</a:t>
            </a:r>
          </a:p>
          <a:p xmlns:a="http://schemas.openxmlformats.org/drawingml/2006/main">
            <a:pPr>
              <a:defRPr sz="1800" b="0">
                <a:solidFill>
                  <a:srgbClr val="EDEDED"/>
                </a:solidFill>
                <a:latin typeface="Consolas"/>
                <a:ea typeface="Consolas"/>
                <a:cs typeface="Consolas"/>
              </a:defRPr>
            </a:pPr>
            <a:r>
              <a:rPr sz="1800" b="0">
                <a:solidFill>
                  <a:srgbClr val="EDEDED"/>
                </a:solidFill>
                <a:latin typeface="Consolas"/>
                <a:ea typeface="Consolas"/>
                <a:cs typeface="Consolas"/>
              </a:rPr>
              <a:t>    else rx_sync &lt;= {rx_sync[0],rxd};</a:t>
            </a:r>
          </a:p>
          <a:p xmlns:a="http://schemas.openxmlformats.org/drawingml/2006/main">
            <a:pPr>
              <a:defRPr sz="1800" b="0">
                <a:solidFill>
                  <a:srgbClr val="EDEDED"/>
                </a:solidFill>
                <a:latin typeface="Consolas"/>
                <a:ea typeface="Consolas"/>
                <a:cs typeface="Consolas"/>
              </a:defRPr>
            </a:pPr>
            <a:r>
              <a:rPr sz="1800" b="0">
                <a:solidFill>
                  <a:srgbClr val="EDEDED"/>
                </a:solidFill>
                <a:latin typeface="Consolas"/>
                <a:ea typeface="Consolas"/>
                <a:cs typeface="Consolas"/>
              </a:rPr>
              <a:t>uart controller (</a:t>
            </a:r>
          </a:p>
        </p:txBody>
      </p:sp>
      <p:sp>
        <p:nvSpPr>
          <p:cNvPr id="11" name="rtl-source">
            <a:extLst xmlns:a="http://schemas.openxmlformats.org/drawingml/2006/main">
              <a:ext uri="{FF2B5EF4-FFF2-40B4-BE49-F238E27FC236}">
                <a16:creationId xmlns:a16="http://schemas.microsoft.com/office/drawing/2014/main" id="{D867BFAD-5BC2-4C1F-998B-DC90D137040E}"/>
              </a:ext>
            </a:extLst>
          </p:cNvPr>
          <p:cNvSpPr>
            <a:spLocks xmlns:a="http://schemas.openxmlformats.org/drawingml/2006/main" noGrp="1"/>
          </p:cNvSpPr>
          <p:nvPr/>
        </p:nvSpPr>
        <p:spPr>
          <a:xfrm xmlns:a="http://schemas.openxmlformats.org/drawingml/2006/main">
            <a:off x="609600" y="595312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9A9AA2"/>
                </a:solidFill>
                <a:latin typeface="Segoe UI"/>
                <a:ea typeface="Segoe UI"/>
                <a:cs typeface="Segoe UI"/>
              </a:defRPr>
            </a:pPr>
            <a:r>
              <a:rPr sz="1350" b="0">
                <a:solidFill>
                  <a:srgbClr val="9A9AA2"/>
                </a:solidFill>
                <a:latin typeface="Segoe UI"/>
                <a:ea typeface="Segoe UI"/>
                <a:cs typeface="Segoe UI"/>
              </a:rPr>
              <a:t>hw/protocols/uart/01_rtl/uart_core.v:24</a:t>
            </a:r>
          </a:p>
        </p:txBody>
      </p:sp>
    </p:spTree>
    <p:extLst>
      <p:ext uri="{BB962C8B-B14F-4D97-AF65-F5344CB8AC3E}">
        <p14:creationId xmlns:p14="http://schemas.microsoft.com/office/powerpoint/2010/main" val="1426376253"/>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366FB3C3-5D1B-4F68-8DFC-2A62AA87F6EA}"/>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777FF1E7-DA09-49BC-87FA-4A68B362C06F}"/>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0D29963F-2653-4199-86A0-C4D7B534DFFB}"/>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UART STUDENT LAB</a:t>
            </a:r>
          </a:p>
        </p:txBody>
      </p:sp>
      <p:sp>
        <p:nvSpPr>
          <p:cNvPr id="5" name="t5">
            <a:extLst xmlns:a="http://schemas.openxmlformats.org/drawingml/2006/main">
              <a:ext uri="{FF2B5EF4-FFF2-40B4-BE49-F238E27FC236}">
                <a16:creationId xmlns:a16="http://schemas.microsoft.com/office/drawing/2014/main" id="{1B3C72BE-F611-49AD-929A-B0E3025E5084}"/>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7E46585D-DD41-432C-8D6A-40A6B364E815}"/>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26/44</a:t>
            </a:r>
          </a:p>
        </p:txBody>
      </p:sp>
      <p:sp>
        <p:nvSpPr>
          <p:cNvPr id="7" name="lesson-title">
            <a:extLst xmlns:a="http://schemas.openxmlformats.org/drawingml/2006/main">
              <a:ext uri="{FF2B5EF4-FFF2-40B4-BE49-F238E27FC236}">
                <a16:creationId xmlns:a16="http://schemas.microsoft.com/office/drawing/2014/main" id="{3ECD7315-402B-47B5-857D-7F44B45EC20E}"/>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RTL walkthrough: launching a TX frame</a:t>
            </a:r>
          </a:p>
        </p:txBody>
      </p:sp>
      <p:sp>
        <p:nvSpPr>
          <p:cNvPr id="8" name="explanation-0">
            <a:extLst xmlns:a="http://schemas.openxmlformats.org/drawingml/2006/main">
              <a:ext uri="{FF2B5EF4-FFF2-40B4-BE49-F238E27FC236}">
                <a16:creationId xmlns:a16="http://schemas.microsoft.com/office/drawing/2014/main" id="{B5439868-EC83-4AA5-9327-8AA86ED1A109}"/>
              </a:ext>
            </a:extLst>
          </p:cNvPr>
          <p:cNvSpPr>
            <a:spLocks xmlns:a="http://schemas.openxmlformats.org/drawingml/2006/main" noGrp="1"/>
          </p:cNvSpPr>
          <p:nvPr/>
        </p:nvSpPr>
        <p:spPr>
          <a:xfrm xmlns:a="http://schemas.openxmlformats.org/drawingml/2006/main">
            <a:off x="609600" y="169545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F9529"/>
                </a:solidFill>
                <a:latin typeface="Segoe UI"/>
                <a:ea typeface="Segoe UI"/>
                <a:cs typeface="Segoe UI"/>
              </a:defRPr>
            </a:pPr>
            <a:r>
              <a:rPr sz="1800" b="0">
                <a:solidFill>
                  <a:srgbClr val="EF9529"/>
                </a:solidFill>
                <a:latin typeface="Segoe UI"/>
                <a:ea typeface="Segoe UI"/>
                <a:cs typeface="Segoe UI"/>
              </a:rPr>
              <a:t>The source byte latches before the serial shifter sends it.</a:t>
            </a:r>
          </a:p>
        </p:txBody>
      </p:sp>
      <p:sp>
        <p:nvSpPr>
          <p:cNvPr id="9" name="explanation-1">
            <a:extLst xmlns:a="http://schemas.openxmlformats.org/drawingml/2006/main">
              <a:ext uri="{FF2B5EF4-FFF2-40B4-BE49-F238E27FC236}">
                <a16:creationId xmlns:a16="http://schemas.microsoft.com/office/drawing/2014/main" id="{33A54F14-1847-4F5B-B0CC-8A67DE3C6B88}"/>
              </a:ext>
            </a:extLst>
          </p:cNvPr>
          <p:cNvSpPr>
            <a:spLocks xmlns:a="http://schemas.openxmlformats.org/drawingml/2006/main" noGrp="1"/>
          </p:cNvSpPr>
          <p:nvPr/>
        </p:nvSpPr>
        <p:spPr>
          <a:xfrm xmlns:a="http://schemas.openxmlformats.org/drawingml/2006/main">
            <a:off x="609600" y="20574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DEDED"/>
                </a:solidFill>
                <a:latin typeface="Segoe UI"/>
                <a:ea typeface="Segoe UI"/>
                <a:cs typeface="Segoe UI"/>
              </a:defRPr>
            </a:pPr>
            <a:r>
              <a:rPr sz="1800" b="0">
                <a:solidFill>
                  <a:srgbClr val="EDEDED"/>
                </a:solidFill>
                <a:latin typeface="Segoe UI"/>
                <a:ea typeface="Segoe UI"/>
                <a:cs typeface="Segoe UI"/>
              </a:rPr>
              <a:t>A low START begins the frame and prescale controls its duration.</a:t>
            </a:r>
          </a:p>
        </p:txBody>
      </p:sp>
      <p:sp>
        <p:nvSpPr>
          <p:cNvPr id="10" name="rtl-excerpt">
            <a:extLst xmlns:a="http://schemas.openxmlformats.org/drawingml/2006/main">
              <a:ext uri="{FF2B5EF4-FFF2-40B4-BE49-F238E27FC236}">
                <a16:creationId xmlns:a16="http://schemas.microsoft.com/office/drawing/2014/main" id="{08A04072-09B6-424C-9AB0-09641D6BE123}"/>
              </a:ext>
            </a:extLst>
          </p:cNvPr>
          <p:cNvSpPr>
            <a:spLocks xmlns:a="http://schemas.openxmlformats.org/drawingml/2006/main" noGrp="1"/>
          </p:cNvSpPr>
          <p:nvPr/>
        </p:nvSpPr>
        <p:spPr>
          <a:xfrm xmlns:a="http://schemas.openxmlformats.org/drawingml/2006/main">
            <a:off x="609600" y="2809875"/>
            <a:ext cx="109728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DEDED"/>
                </a:solidFill>
                <a:latin typeface="Consolas"/>
                <a:ea typeface="Consolas"/>
                <a:cs typeface="Consolas"/>
              </a:defRPr>
            </a:pPr>
            <a:r>
              <a:rPr sz="1800" b="0">
                <a:solidFill>
                  <a:srgbClr val="EDEDED"/>
                </a:solidFill>
                <a:latin typeface="Consolas"/>
                <a:ea typeface="Consolas"/>
                <a:cs typeface="Consolas"/>
              </a:rPr>
              <a:t>if (s_axis_tvalid) begin</a:t>
            </a:r>
          </a:p>
          <a:p xmlns:a="http://schemas.openxmlformats.org/drawingml/2006/main">
            <a:pPr>
              <a:defRPr sz="1800" b="0">
                <a:solidFill>
                  <a:srgbClr val="EDEDED"/>
                </a:solidFill>
                <a:latin typeface="Consolas"/>
                <a:ea typeface="Consolas"/>
                <a:cs typeface="Consolas"/>
              </a:defRPr>
            </a:pPr>
            <a:r>
              <a:rPr sz="1800" b="0">
                <a:solidFill>
                  <a:srgbClr val="EDEDED"/>
                </a:solidFill>
                <a:latin typeface="Consolas"/>
                <a:ea typeface="Consolas"/>
                <a:cs typeface="Consolas"/>
              </a:rPr>
              <a:t>    s_axis_tready_reg &lt;= !s_axis_tready_reg;</a:t>
            </a:r>
          </a:p>
          <a:p xmlns:a="http://schemas.openxmlformats.org/drawingml/2006/main">
            <a:pPr>
              <a:defRPr sz="1800" b="0">
                <a:solidFill>
                  <a:srgbClr val="EDEDED"/>
                </a:solidFill>
                <a:latin typeface="Consolas"/>
                <a:ea typeface="Consolas"/>
                <a:cs typeface="Consolas"/>
              </a:defRPr>
            </a:pPr>
            <a:r>
              <a:rPr sz="1800" b="0">
                <a:solidFill>
                  <a:srgbClr val="EDEDED"/>
                </a:solidFill>
                <a:latin typeface="Consolas"/>
                <a:ea typeface="Consolas"/>
                <a:cs typeface="Consolas"/>
              </a:rPr>
              <a:t>    prescale_reg &lt;= (prescale &lt;&lt; 3)-1;</a:t>
            </a:r>
          </a:p>
          <a:p xmlns:a="http://schemas.openxmlformats.org/drawingml/2006/main">
            <a:pPr>
              <a:defRPr sz="1800" b="0">
                <a:solidFill>
                  <a:srgbClr val="EDEDED"/>
                </a:solidFill>
                <a:latin typeface="Consolas"/>
                <a:ea typeface="Consolas"/>
                <a:cs typeface="Consolas"/>
              </a:defRPr>
            </a:pPr>
            <a:r>
              <a:rPr sz="1800" b="0">
                <a:solidFill>
                  <a:srgbClr val="EDEDED"/>
                </a:solidFill>
                <a:latin typeface="Consolas"/>
                <a:ea typeface="Consolas"/>
                <a:cs typeface="Consolas"/>
              </a:rPr>
              <a:t>    bit_cnt &lt;= DATA_WIDTH+1;</a:t>
            </a:r>
          </a:p>
          <a:p xmlns:a="http://schemas.openxmlformats.org/drawingml/2006/main">
            <a:pPr>
              <a:defRPr sz="1800" b="0">
                <a:solidFill>
                  <a:srgbClr val="EDEDED"/>
                </a:solidFill>
                <a:latin typeface="Consolas"/>
                <a:ea typeface="Consolas"/>
                <a:cs typeface="Consolas"/>
              </a:defRPr>
            </a:pPr>
            <a:r>
              <a:rPr sz="1800" b="0">
                <a:solidFill>
                  <a:srgbClr val="EDEDED"/>
                </a:solidFill>
                <a:latin typeface="Consolas"/>
                <a:ea typeface="Consolas"/>
                <a:cs typeface="Consolas"/>
              </a:rPr>
              <a:t>    data_reg &lt;= {1'b1, s_axis_tdata};</a:t>
            </a:r>
          </a:p>
          <a:p xmlns:a="http://schemas.openxmlformats.org/drawingml/2006/main">
            <a:pPr>
              <a:defRPr sz="1800" b="0">
                <a:solidFill>
                  <a:srgbClr val="EDEDED"/>
                </a:solidFill>
                <a:latin typeface="Consolas"/>
                <a:ea typeface="Consolas"/>
                <a:cs typeface="Consolas"/>
              </a:defRPr>
            </a:pPr>
            <a:r>
              <a:rPr sz="1800" b="0">
                <a:solidFill>
                  <a:srgbClr val="EDEDED"/>
                </a:solidFill>
                <a:latin typeface="Consolas"/>
                <a:ea typeface="Consolas"/>
                <a:cs typeface="Consolas"/>
              </a:rPr>
              <a:t>    txd_reg &lt;= 0;</a:t>
            </a:r>
          </a:p>
          <a:p xmlns:a="http://schemas.openxmlformats.org/drawingml/2006/main">
            <a:pPr>
              <a:defRPr sz="1800" b="0">
                <a:solidFill>
                  <a:srgbClr val="EDEDED"/>
                </a:solidFill>
                <a:latin typeface="Consolas"/>
                <a:ea typeface="Consolas"/>
                <a:cs typeface="Consolas"/>
              </a:defRPr>
            </a:pPr>
            <a:r>
              <a:rPr sz="1800" b="0">
                <a:solidFill>
                  <a:srgbClr val="EDEDED"/>
                </a:solidFill>
                <a:latin typeface="Consolas"/>
                <a:ea typeface="Consolas"/>
                <a:cs typeface="Consolas"/>
              </a:rPr>
              <a:t>    busy_reg &lt;= 1;</a:t>
            </a:r>
          </a:p>
        </p:txBody>
      </p:sp>
      <p:sp>
        <p:nvSpPr>
          <p:cNvPr id="11" name="rtl-source">
            <a:extLst xmlns:a="http://schemas.openxmlformats.org/drawingml/2006/main">
              <a:ext uri="{FF2B5EF4-FFF2-40B4-BE49-F238E27FC236}">
                <a16:creationId xmlns:a16="http://schemas.microsoft.com/office/drawing/2014/main" id="{5E0668E4-2CB1-40E8-A8B3-73550009727E}"/>
              </a:ext>
            </a:extLst>
          </p:cNvPr>
          <p:cNvSpPr>
            <a:spLocks xmlns:a="http://schemas.openxmlformats.org/drawingml/2006/main" noGrp="1"/>
          </p:cNvSpPr>
          <p:nvPr/>
        </p:nvSpPr>
        <p:spPr>
          <a:xfrm xmlns:a="http://schemas.openxmlformats.org/drawingml/2006/main">
            <a:off x="609600" y="595312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9A9AA2"/>
                </a:solidFill>
                <a:latin typeface="Segoe UI"/>
                <a:ea typeface="Segoe UI"/>
                <a:cs typeface="Segoe UI"/>
              </a:defRPr>
            </a:pPr>
            <a:r>
              <a:rPr sz="1350" b="0">
                <a:solidFill>
                  <a:srgbClr val="9A9AA2"/>
                </a:solidFill>
                <a:latin typeface="Segoe UI"/>
                <a:ea typeface="Segoe UI"/>
                <a:cs typeface="Segoe UI"/>
              </a:rPr>
              <a:t>hw/protocols/uart/01_rtl/uart_tx.v:102</a:t>
            </a:r>
          </a:p>
        </p:txBody>
      </p:sp>
    </p:spTree>
    <p:extLst>
      <p:ext uri="{BB962C8B-B14F-4D97-AF65-F5344CB8AC3E}">
        <p14:creationId xmlns:p14="http://schemas.microsoft.com/office/powerpoint/2010/main" val="1426376253"/>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366FB3C3-5D1B-4F68-8DFC-2A62AA87F6EA}"/>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777FF1E7-DA09-49BC-87FA-4A68B362C06F}"/>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0D29963F-2653-4199-86A0-C4D7B534DFFB}"/>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UART STUDENT LAB</a:t>
            </a:r>
          </a:p>
        </p:txBody>
      </p:sp>
      <p:sp>
        <p:nvSpPr>
          <p:cNvPr id="5" name="t5">
            <a:extLst xmlns:a="http://schemas.openxmlformats.org/drawingml/2006/main">
              <a:ext uri="{FF2B5EF4-FFF2-40B4-BE49-F238E27FC236}">
                <a16:creationId xmlns:a16="http://schemas.microsoft.com/office/drawing/2014/main" id="{1B3C72BE-F611-49AD-929A-B0E3025E5084}"/>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7E46585D-DD41-432C-8D6A-40A6B364E815}"/>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27/44</a:t>
            </a:r>
          </a:p>
        </p:txBody>
      </p:sp>
      <p:sp>
        <p:nvSpPr>
          <p:cNvPr id="7" name="lesson-title">
            <a:extLst xmlns:a="http://schemas.openxmlformats.org/drawingml/2006/main">
              <a:ext uri="{FF2B5EF4-FFF2-40B4-BE49-F238E27FC236}">
                <a16:creationId xmlns:a16="http://schemas.microsoft.com/office/drawing/2014/main" id="{7954EDD5-CC8E-4233-AB83-AFAEE1F9FFD4}"/>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Independent full-duplex testing</a:t>
            </a:r>
          </a:p>
        </p:txBody>
      </p:sp>
      <p:sp>
        <p:nvSpPr>
          <p:cNvPr id="8" name="explanation-0">
            <a:extLst xmlns:a="http://schemas.openxmlformats.org/drawingml/2006/main">
              <a:ext uri="{FF2B5EF4-FFF2-40B4-BE49-F238E27FC236}">
                <a16:creationId xmlns:a16="http://schemas.microsoft.com/office/drawing/2014/main" id="{76D515EE-336B-40EA-BFFB-9FF3A9A26EEF}"/>
              </a:ext>
            </a:extLst>
          </p:cNvPr>
          <p:cNvSpPr>
            <a:spLocks xmlns:a="http://schemas.openxmlformats.org/drawingml/2006/main" noGrp="1"/>
          </p:cNvSpPr>
          <p:nvPr/>
        </p:nvSpPr>
        <p:spPr>
          <a:xfrm xmlns:a="http://schemas.openxmlformats.org/drawingml/2006/main">
            <a:off x="609600" y="19240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F9529"/>
                </a:solidFill>
                <a:latin typeface="Segoe UI"/>
                <a:ea typeface="Segoe UI"/>
                <a:cs typeface="Segoe UI"/>
              </a:defRPr>
            </a:pPr>
            <a:r>
              <a:rPr sz="2175" b="0">
                <a:solidFill>
                  <a:srgbClr val="EF9529"/>
                </a:solidFill>
                <a:latin typeface="Segoe UI"/>
                <a:ea typeface="Segoe UI"/>
                <a:cs typeface="Segoe UI"/>
              </a:rPr>
              <a:t>One model observes the transmitted serial frame.</a:t>
            </a:r>
          </a:p>
        </p:txBody>
      </p:sp>
      <p:sp>
        <p:nvSpPr>
          <p:cNvPr id="9" name="explanation-1">
            <a:extLst xmlns:a="http://schemas.openxmlformats.org/drawingml/2006/main">
              <a:ext uri="{FF2B5EF4-FFF2-40B4-BE49-F238E27FC236}">
                <a16:creationId xmlns:a16="http://schemas.microsoft.com/office/drawing/2014/main" id="{0421C21F-7819-4C52-9DDB-E7D1E9AFF22F}"/>
              </a:ext>
            </a:extLst>
          </p:cNvPr>
          <p:cNvSpPr>
            <a:spLocks xmlns:a="http://schemas.openxmlformats.org/drawingml/2006/main" noGrp="1"/>
          </p:cNvSpPr>
          <p:nvPr/>
        </p:nvSpPr>
        <p:spPr>
          <a:xfrm xmlns:a="http://schemas.openxmlformats.org/drawingml/2006/main">
            <a:off x="609600" y="274320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Another generates a different incoming serial sequence.</a:t>
            </a:r>
          </a:p>
        </p:txBody>
      </p:sp>
      <p:sp>
        <p:nvSpPr>
          <p:cNvPr id="10" name="explanation-2">
            <a:extLst xmlns:a="http://schemas.openxmlformats.org/drawingml/2006/main">
              <a:ext uri="{FF2B5EF4-FFF2-40B4-BE49-F238E27FC236}">
                <a16:creationId xmlns:a16="http://schemas.microsoft.com/office/drawing/2014/main" id="{B0D38B21-77A0-46FB-A501-E705019FCCE0}"/>
              </a:ext>
            </a:extLst>
          </p:cNvPr>
          <p:cNvSpPr>
            <a:spLocks xmlns:a="http://schemas.openxmlformats.org/drawingml/2006/main" noGrp="1"/>
          </p:cNvSpPr>
          <p:nvPr/>
        </p:nvSpPr>
        <p:spPr>
          <a:xfrm xmlns:a="http://schemas.openxmlformats.org/drawingml/2006/main">
            <a:off x="609600" y="35623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Both directions run at the same time.</a:t>
            </a:r>
          </a:p>
        </p:txBody>
      </p:sp>
    </p:spTree>
    <p:extLst>
      <p:ext uri="{BB962C8B-B14F-4D97-AF65-F5344CB8AC3E}">
        <p14:creationId xmlns:p14="http://schemas.microsoft.com/office/powerpoint/2010/main" val="1426376253"/>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366FB3C3-5D1B-4F68-8DFC-2A62AA87F6EA}"/>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777FF1E7-DA09-49BC-87FA-4A68B362C06F}"/>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0D29963F-2653-4199-86A0-C4D7B534DFFB}"/>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UART STUDENT LAB</a:t>
            </a:r>
          </a:p>
        </p:txBody>
      </p:sp>
      <p:sp>
        <p:nvSpPr>
          <p:cNvPr id="5" name="t5">
            <a:extLst xmlns:a="http://schemas.openxmlformats.org/drawingml/2006/main">
              <a:ext uri="{FF2B5EF4-FFF2-40B4-BE49-F238E27FC236}">
                <a16:creationId xmlns:a16="http://schemas.microsoft.com/office/drawing/2014/main" id="{1B3C72BE-F611-49AD-929A-B0E3025E5084}"/>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7E46585D-DD41-432C-8D6A-40A6B364E815}"/>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28/44</a:t>
            </a:r>
          </a:p>
        </p:txBody>
      </p:sp>
      <p:sp>
        <p:nvSpPr>
          <p:cNvPr id="7" name="lesson-title">
            <a:extLst xmlns:a="http://schemas.openxmlformats.org/drawingml/2006/main">
              <a:ext uri="{FF2B5EF4-FFF2-40B4-BE49-F238E27FC236}">
                <a16:creationId xmlns:a16="http://schemas.microsoft.com/office/drawing/2014/main" id="{A1945A72-E004-4F77-B1CB-B1C9AC35CC1E}"/>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Measured UART trace: TX 0x53, independent RX</a:t>
            </a:r>
          </a:p>
        </p:txBody>
      </p:sp>
      <p:sp>
        <p:nvSpPr>
          <p:cNvPr id="8" name="explanation-0">
            <a:extLst xmlns:a="http://schemas.openxmlformats.org/drawingml/2006/main">
              <a:ext uri="{FF2B5EF4-FFF2-40B4-BE49-F238E27FC236}">
                <a16:creationId xmlns:a16="http://schemas.microsoft.com/office/drawing/2014/main" id="{40EEA6A0-8F2D-439F-801E-6932124CD675}"/>
              </a:ext>
            </a:extLst>
          </p:cNvPr>
          <p:cNvSpPr>
            <a:spLocks xmlns:a="http://schemas.openxmlformats.org/drawingml/2006/main" noGrp="1"/>
          </p:cNvSpPr>
          <p:nvPr/>
        </p:nvSpPr>
        <p:spPr>
          <a:xfrm xmlns:a="http://schemas.openxmlformats.org/drawingml/2006/main">
            <a:off x="609600" y="169545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F9529"/>
                </a:solidFill>
                <a:latin typeface="Segoe UI"/>
                <a:ea typeface="Segoe UI"/>
                <a:cs typeface="Segoe UI"/>
              </a:defRPr>
            </a:pPr>
            <a:r>
              <a:rPr sz="1800" b="0">
                <a:solidFill>
                  <a:srgbClr val="EF9529"/>
                </a:solidFill>
                <a:latin typeface="Segoe UI"/>
                <a:ea typeface="Segoe UI"/>
                <a:cs typeface="Segoe UI"/>
              </a:rPr>
              <a:t>Actual positive full-duplex regression: TX 0x53, independent RX 0xAC.</a:t>
            </a:r>
          </a:p>
        </p:txBody>
      </p:sp>
      <p:sp>
        <p:nvSpPr>
          <p:cNvPr id="9" name="explanation-1">
            <a:extLst xmlns:a="http://schemas.openxmlformats.org/drawingml/2006/main">
              <a:ext uri="{FF2B5EF4-FFF2-40B4-BE49-F238E27FC236}">
                <a16:creationId xmlns:a16="http://schemas.microsoft.com/office/drawing/2014/main" id="{1751E44A-2B5C-4D19-9D72-4ED4D5D554C6}"/>
              </a:ext>
            </a:extLst>
          </p:cNvPr>
          <p:cNvSpPr>
            <a:spLocks xmlns:a="http://schemas.openxmlformats.org/drawingml/2006/main" noGrp="1"/>
          </p:cNvSpPr>
          <p:nvPr/>
        </p:nvSpPr>
        <p:spPr>
          <a:xfrm xmlns:a="http://schemas.openxmlformats.org/drawingml/2006/main">
            <a:off x="609600" y="20574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DEDED"/>
                </a:solidFill>
                <a:latin typeface="Segoe UI"/>
                <a:ea typeface="Segoe UI"/>
                <a:cs typeface="Segoe UI"/>
              </a:defRPr>
            </a:pPr>
            <a:r>
              <a:rPr sz="1800" b="0">
                <a:solidFill>
                  <a:srgbClr val="EDEDED"/>
                </a:solidFill>
                <a:latin typeface="Segoe UI"/>
                <a:ea typeface="Segoe UI"/>
                <a:cs typeface="Segoe UI"/>
              </a:rPr>
              <a:t>Bit duration is 0.64 us, so the 8N1 frame is 6.4 us.</a:t>
            </a:r>
          </a:p>
        </p:txBody>
      </p:sp>
      <p:graphicFrame>
        <p:nvGraphicFramePr>
          <p:cNvPr id="21" name="Chart"/>
          <p:cNvGraphicFramePr/>
          <p:nvPr/>
        </p:nvGraphicFramePr>
        <p:xfrm>
          <a:off xmlns:a="http://schemas.openxmlformats.org/drawingml/2006/main" x="609600" y="2381250"/>
          <a:ext xmlns:a="http://schemas.openxmlformats.org/drawingml/2006/main" cx="10972800" cy="1476375"/>
        </p:xfrm>
        <a:graphic xmlns:a="http://schemas.openxmlformats.org/drawingml/2006/main">
          <a:graphicData uri="http://schemas.openxmlformats.org/drawingml/2006/chart">
            <c:chart xmlns:r="http://schemas.openxmlformats.org/officeDocument/2006/relationships" xmlns:c="http://schemas.openxmlformats.org/drawingml/2006/chart" r:id="R603bb06c3e644b09"/>
          </a:graphicData>
        </a:graphic>
      </p:graphicFrame>
      <p:graphicFrame>
        <p:nvGraphicFramePr>
          <p:cNvPr id="22" name="Chart"/>
          <p:cNvGraphicFramePr/>
          <p:nvPr/>
        </p:nvGraphicFramePr>
        <p:xfrm>
          <a:off xmlns:a="http://schemas.openxmlformats.org/drawingml/2006/main" x="609600" y="3857625"/>
          <a:ext xmlns:a="http://schemas.openxmlformats.org/drawingml/2006/main" cx="10972800" cy="1952625"/>
        </p:xfrm>
        <a:graphic xmlns:a="http://schemas.openxmlformats.org/drawingml/2006/main">
          <a:graphicData uri="http://schemas.openxmlformats.org/drawingml/2006/chart">
            <c:chart xmlns:r="http://schemas.openxmlformats.org/officeDocument/2006/relationships" xmlns:c="http://schemas.openxmlformats.org/drawingml/2006/chart" r:id="R8de05ca18d054b44"/>
          </a:graphicData>
        </a:graphic>
      </p:graphicFrame>
      <p:sp>
        <p:nvSpPr>
          <p:cNvPr id="12" name="trace-kind">
            <a:extLst xmlns:a="http://schemas.openxmlformats.org/drawingml/2006/main">
              <a:ext uri="{FF2B5EF4-FFF2-40B4-BE49-F238E27FC236}">
                <a16:creationId xmlns:a16="http://schemas.microsoft.com/office/drawing/2014/main" id="{2D5E8CF0-C86E-4550-8283-77AB07E98B7C}"/>
              </a:ext>
            </a:extLst>
          </p:cNvPr>
          <p:cNvSpPr>
            <a:spLocks xmlns:a="http://schemas.openxmlformats.org/drawingml/2006/main" noGrp="1"/>
          </p:cNvSpPr>
          <p:nvPr/>
        </p:nvSpPr>
        <p:spPr>
          <a:xfrm xmlns:a="http://schemas.openxmlformats.org/drawingml/2006/main">
            <a:off x="609600" y="6000750"/>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9A9AA2"/>
                </a:solidFill>
                <a:latin typeface="Segoe UI"/>
                <a:ea typeface="Segoe UI"/>
                <a:cs typeface="Segoe UI"/>
              </a:defRPr>
            </a:pPr>
            <a:r>
              <a:rPr sz="1350" b="0">
                <a:solidFill>
                  <a:srgbClr val="9A9AA2"/>
                </a:solidFill>
                <a:latin typeface="Segoe UI"/>
                <a:ea typeface="Segoe UI"/>
                <a:cs typeface="Segoe UI"/>
              </a:rPr>
              <a:t>Logic levels: HIGH=1, LOW=0. MEASURED: positive Icarus regression</a:t>
            </a:r>
          </a:p>
        </p:txBody>
      </p:sp>
    </p:spTree>
    <p:extLst>
      <p:ext uri="{BB962C8B-B14F-4D97-AF65-F5344CB8AC3E}">
        <p14:creationId xmlns:p14="http://schemas.microsoft.com/office/powerpoint/2010/main" val="1426376253"/>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366FB3C3-5D1B-4F68-8DFC-2A62AA87F6EA}"/>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777FF1E7-DA09-49BC-87FA-4A68B362C06F}"/>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0D29963F-2653-4199-86A0-C4D7B534DFFB}"/>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UART STUDENT LAB</a:t>
            </a:r>
          </a:p>
        </p:txBody>
      </p:sp>
      <p:sp>
        <p:nvSpPr>
          <p:cNvPr id="5" name="t5">
            <a:extLst xmlns:a="http://schemas.openxmlformats.org/drawingml/2006/main">
              <a:ext uri="{FF2B5EF4-FFF2-40B4-BE49-F238E27FC236}">
                <a16:creationId xmlns:a16="http://schemas.microsoft.com/office/drawing/2014/main" id="{1B3C72BE-F611-49AD-929A-B0E3025E5084}"/>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7E46585D-DD41-432C-8D6A-40A6B364E815}"/>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29/44</a:t>
            </a:r>
          </a:p>
        </p:txBody>
      </p:sp>
      <p:sp>
        <p:nvSpPr>
          <p:cNvPr id="7" name="lesson-title">
            <a:extLst xmlns:a="http://schemas.openxmlformats.org/drawingml/2006/main">
              <a:ext uri="{FF2B5EF4-FFF2-40B4-BE49-F238E27FC236}">
                <a16:creationId xmlns:a16="http://schemas.microsoft.com/office/drawing/2014/main" id="{DA52645B-99D9-441D-A9D3-C838A753BBFB}"/>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What the UART regression proves</a:t>
            </a:r>
          </a:p>
        </p:txBody>
      </p:sp>
      <p:sp>
        <p:nvSpPr>
          <p:cNvPr id="8" name="explanation-0">
            <a:extLst xmlns:a="http://schemas.openxmlformats.org/drawingml/2006/main">
              <a:ext uri="{FF2B5EF4-FFF2-40B4-BE49-F238E27FC236}">
                <a16:creationId xmlns:a16="http://schemas.microsoft.com/office/drawing/2014/main" id="{D92CDD84-E5C7-415C-AE5D-F4F0F27A54DC}"/>
              </a:ext>
            </a:extLst>
          </p:cNvPr>
          <p:cNvSpPr>
            <a:spLocks xmlns:a="http://schemas.openxmlformats.org/drawingml/2006/main" noGrp="1"/>
          </p:cNvSpPr>
          <p:nvPr/>
        </p:nvSpPr>
        <p:spPr>
          <a:xfrm xmlns:a="http://schemas.openxmlformats.org/drawingml/2006/main">
            <a:off x="609600" y="19240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F9529"/>
                </a:solidFill>
                <a:latin typeface="Segoe UI"/>
                <a:ea typeface="Segoe UI"/>
                <a:cs typeface="Segoe UI"/>
              </a:defRPr>
            </a:pPr>
            <a:r>
              <a:rPr sz="2175" b="0">
                <a:solidFill>
                  <a:srgbClr val="EF9529"/>
                </a:solidFill>
                <a:latin typeface="Segoe UI"/>
                <a:ea typeface="Segoe UI"/>
                <a:cs typeface="Segoe UI"/>
              </a:rPr>
              <a:t>All 256 byte values pass at prescale 4.</a:t>
            </a:r>
          </a:p>
        </p:txBody>
      </p:sp>
      <p:sp>
        <p:nvSpPr>
          <p:cNvPr id="9" name="explanation-1">
            <a:extLst xmlns:a="http://schemas.openxmlformats.org/drawingml/2006/main">
              <a:ext uri="{FF2B5EF4-FFF2-40B4-BE49-F238E27FC236}">
                <a16:creationId xmlns:a16="http://schemas.microsoft.com/office/drawing/2014/main" id="{B35DDC46-D81D-4454-9098-33F988C03A9B}"/>
              </a:ext>
            </a:extLst>
          </p:cNvPr>
          <p:cNvSpPr>
            <a:spLocks xmlns:a="http://schemas.openxmlformats.org/drawingml/2006/main" noGrp="1"/>
          </p:cNvSpPr>
          <p:nvPr/>
        </p:nvSpPr>
        <p:spPr>
          <a:xfrm xmlns:a="http://schemas.openxmlformats.org/drawingml/2006/main">
            <a:off x="609600" y="274320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The prescale 2..7 sweep checks TX 96 and independent RX 69.</a:t>
            </a:r>
          </a:p>
        </p:txBody>
      </p:sp>
      <p:sp>
        <p:nvSpPr>
          <p:cNvPr id="10" name="explanation-2">
            <a:extLst xmlns:a="http://schemas.openxmlformats.org/drawingml/2006/main">
              <a:ext uri="{FF2B5EF4-FFF2-40B4-BE49-F238E27FC236}">
                <a16:creationId xmlns:a16="http://schemas.microsoft.com/office/drawing/2014/main" id="{752AA0C2-4E30-4248-A81B-F7A221A1646C}"/>
              </a:ext>
            </a:extLst>
          </p:cNvPr>
          <p:cNvSpPr>
            <a:spLocks xmlns:a="http://schemas.openxmlformats.org/drawingml/2006/main" noGrp="1"/>
          </p:cNvSpPr>
          <p:nvPr/>
        </p:nvSpPr>
        <p:spPr>
          <a:xfrm xmlns:a="http://schemas.openxmlformats.org/drawingml/2006/main">
            <a:off x="609600" y="35623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Full duplex, error/reset checks and fatal mismatch control pass.</a:t>
            </a:r>
          </a:p>
        </p:txBody>
      </p:sp>
    </p:spTree>
    <p:extLst>
      <p:ext uri="{BB962C8B-B14F-4D97-AF65-F5344CB8AC3E}">
        <p14:creationId xmlns:p14="http://schemas.microsoft.com/office/powerpoint/2010/main" val="1426376253"/>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366FB3C3-5D1B-4F68-8DFC-2A62AA87F6EA}"/>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777FF1E7-DA09-49BC-87FA-4A68B362C06F}"/>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0D29963F-2653-4199-86A0-C4D7B534DFFB}"/>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UART STUDENT LAB</a:t>
            </a:r>
          </a:p>
        </p:txBody>
      </p:sp>
      <p:sp>
        <p:nvSpPr>
          <p:cNvPr id="5" name="t5">
            <a:extLst xmlns:a="http://schemas.openxmlformats.org/drawingml/2006/main">
              <a:ext uri="{FF2B5EF4-FFF2-40B4-BE49-F238E27FC236}">
                <a16:creationId xmlns:a16="http://schemas.microsoft.com/office/drawing/2014/main" id="{1B3C72BE-F611-49AD-929A-B0E3025E5084}"/>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7E46585D-DD41-432C-8D6A-40A6B364E815}"/>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30/44</a:t>
            </a:r>
          </a:p>
        </p:txBody>
      </p:sp>
      <p:sp>
        <p:nvSpPr>
          <p:cNvPr id="7" name="lesson-title">
            <a:extLst xmlns:a="http://schemas.openxmlformats.org/drawingml/2006/main">
              <a:ext uri="{FF2B5EF4-FFF2-40B4-BE49-F238E27FC236}">
                <a16:creationId xmlns:a16="http://schemas.microsoft.com/office/drawing/2014/main" id="{879CDD78-2351-4C9A-81B5-150763EC812D}"/>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Guided lab: frame, divider and fault</a:t>
            </a:r>
          </a:p>
        </p:txBody>
      </p:sp>
      <p:sp>
        <p:nvSpPr>
          <p:cNvPr id="8" name="explanation-0">
            <a:extLst xmlns:a="http://schemas.openxmlformats.org/drawingml/2006/main">
              <a:ext uri="{FF2B5EF4-FFF2-40B4-BE49-F238E27FC236}">
                <a16:creationId xmlns:a16="http://schemas.microsoft.com/office/drawing/2014/main" id="{66D38A17-CDEA-4814-BE10-AADD3AFAD633}"/>
              </a:ext>
            </a:extLst>
          </p:cNvPr>
          <p:cNvSpPr>
            <a:spLocks xmlns:a="http://schemas.openxmlformats.org/drawingml/2006/main" noGrp="1"/>
          </p:cNvSpPr>
          <p:nvPr/>
        </p:nvSpPr>
        <p:spPr>
          <a:xfrm xmlns:a="http://schemas.openxmlformats.org/drawingml/2006/main">
            <a:off x="609600" y="19240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F9529"/>
                </a:solidFill>
                <a:latin typeface="Segoe UI"/>
                <a:ea typeface="Segoe UI"/>
                <a:cs typeface="Segoe UI"/>
              </a:defRPr>
            </a:pPr>
            <a:r>
              <a:rPr sz="2175" b="0">
                <a:solidFill>
                  <a:srgbClr val="EF9529"/>
                </a:solidFill>
                <a:latin typeface="Segoe UI"/>
                <a:ea typeface="Segoe UI"/>
                <a:cs typeface="Segoe UI"/>
              </a:rPr>
              <a:t>Decode the 0x53 waveform in transmission order.</a:t>
            </a:r>
          </a:p>
        </p:txBody>
      </p:sp>
      <p:sp>
        <p:nvSpPr>
          <p:cNvPr id="9" name="explanation-1">
            <a:extLst xmlns:a="http://schemas.openxmlformats.org/drawingml/2006/main">
              <a:ext uri="{FF2B5EF4-FFF2-40B4-BE49-F238E27FC236}">
                <a16:creationId xmlns:a16="http://schemas.microsoft.com/office/drawing/2014/main" id="{F72774A4-2A11-4D84-B7D5-B7A21ADD0406}"/>
              </a:ext>
            </a:extLst>
          </p:cNvPr>
          <p:cNvSpPr>
            <a:spLocks xmlns:a="http://schemas.openxmlformats.org/drawingml/2006/main" noGrp="1"/>
          </p:cNvSpPr>
          <p:nvPr/>
        </p:nvSpPr>
        <p:spPr>
          <a:xfrm xmlns:a="http://schemas.openxmlformats.org/drawingml/2006/main">
            <a:off x="609600" y="274320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For 50 MHz and P=54, calculate baud and ten-bit frame time.</a:t>
            </a:r>
          </a:p>
        </p:txBody>
      </p:sp>
      <p:sp>
        <p:nvSpPr>
          <p:cNvPr id="10" name="explanation-2">
            <a:extLst xmlns:a="http://schemas.openxmlformats.org/drawingml/2006/main">
              <a:ext uri="{FF2B5EF4-FFF2-40B4-BE49-F238E27FC236}">
                <a16:creationId xmlns:a16="http://schemas.microsoft.com/office/drawing/2014/main" id="{ADCA064E-A42A-4AD1-BA2E-27589769B08E}"/>
              </a:ext>
            </a:extLst>
          </p:cNvPr>
          <p:cNvSpPr>
            <a:spLocks xmlns:a="http://schemas.openxmlformats.org/drawingml/2006/main" noGrp="1"/>
          </p:cNvSpPr>
          <p:nvPr/>
        </p:nvSpPr>
        <p:spPr>
          <a:xfrm xmlns:a="http://schemas.openxmlformats.org/drawingml/2006/main">
            <a:off x="609600" y="35623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Predict which error flag appears when STOP is low and when a pending byte is overwritten.</a:t>
            </a:r>
          </a:p>
        </p:txBody>
      </p:sp>
    </p:spTree>
    <p:extLst>
      <p:ext uri="{BB962C8B-B14F-4D97-AF65-F5344CB8AC3E}">
        <p14:creationId xmlns:p14="http://schemas.microsoft.com/office/powerpoint/2010/main" val="1426376253"/>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366FB3C3-5D1B-4F68-8DFC-2A62AA87F6EA}"/>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777FF1E7-DA09-49BC-87FA-4A68B362C06F}"/>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0D29963F-2653-4199-86A0-C4D7B534DFFB}"/>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UART STUDENT LAB</a:t>
            </a:r>
          </a:p>
        </p:txBody>
      </p:sp>
      <p:sp>
        <p:nvSpPr>
          <p:cNvPr id="5" name="t5">
            <a:extLst xmlns:a="http://schemas.openxmlformats.org/drawingml/2006/main">
              <a:ext uri="{FF2B5EF4-FFF2-40B4-BE49-F238E27FC236}">
                <a16:creationId xmlns:a16="http://schemas.microsoft.com/office/drawing/2014/main" id="{1B3C72BE-F611-49AD-929A-B0E3025E5084}"/>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7E46585D-DD41-432C-8D6A-40A6B364E815}"/>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31/44</a:t>
            </a:r>
          </a:p>
        </p:txBody>
      </p:sp>
      <p:sp>
        <p:nvSpPr>
          <p:cNvPr id="7" name="lesson-title">
            <a:extLst xmlns:a="http://schemas.openxmlformats.org/drawingml/2006/main">
              <a:ext uri="{FF2B5EF4-FFF2-40B4-BE49-F238E27FC236}">
                <a16:creationId xmlns:a16="http://schemas.microsoft.com/office/drawing/2014/main" id="{27571700-FC6D-414A-9FD3-CDDE0E7E2E95}"/>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Lab solution: byte order and framing</a:t>
            </a:r>
          </a:p>
        </p:txBody>
      </p:sp>
      <p:sp>
        <p:nvSpPr>
          <p:cNvPr id="8" name="explanation-0">
            <a:extLst xmlns:a="http://schemas.openxmlformats.org/drawingml/2006/main">
              <a:ext uri="{FF2B5EF4-FFF2-40B4-BE49-F238E27FC236}">
                <a16:creationId xmlns:a16="http://schemas.microsoft.com/office/drawing/2014/main" id="{594CF3A4-229E-43B7-AB45-80AB5BC058CC}"/>
              </a:ext>
            </a:extLst>
          </p:cNvPr>
          <p:cNvSpPr>
            <a:spLocks xmlns:a="http://schemas.openxmlformats.org/drawingml/2006/main" noGrp="1"/>
          </p:cNvSpPr>
          <p:nvPr/>
        </p:nvSpPr>
        <p:spPr>
          <a:xfrm xmlns:a="http://schemas.openxmlformats.org/drawingml/2006/main">
            <a:off x="609600" y="19240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F9529"/>
                </a:solidFill>
                <a:latin typeface="Segoe UI"/>
                <a:ea typeface="Segoe UI"/>
                <a:cs typeface="Segoe UI"/>
              </a:defRPr>
            </a:pPr>
            <a:r>
              <a:rPr sz="2175" b="0">
                <a:solidFill>
                  <a:srgbClr val="EF9529"/>
                </a:solidFill>
                <a:latin typeface="Segoe UI"/>
                <a:ea typeface="Segoe UI"/>
                <a:cs typeface="Segoe UI"/>
              </a:rPr>
              <a:t>Data order for 53 is 1 1 0 0 1 0 1 0 after the low START.</a:t>
            </a:r>
          </a:p>
        </p:txBody>
      </p:sp>
      <p:sp>
        <p:nvSpPr>
          <p:cNvPr id="9" name="explanation-1">
            <a:extLst xmlns:a="http://schemas.openxmlformats.org/drawingml/2006/main">
              <a:ext uri="{FF2B5EF4-FFF2-40B4-BE49-F238E27FC236}">
                <a16:creationId xmlns:a16="http://schemas.microsoft.com/office/drawing/2014/main" id="{1E310C6D-8F24-4DF7-89EE-96442884B128}"/>
              </a:ext>
            </a:extLst>
          </p:cNvPr>
          <p:cNvSpPr>
            <a:spLocks xmlns:a="http://schemas.openxmlformats.org/drawingml/2006/main" noGrp="1"/>
          </p:cNvSpPr>
          <p:nvPr/>
        </p:nvSpPr>
        <p:spPr>
          <a:xfrm xmlns:a="http://schemas.openxmlformats.org/drawingml/2006/main">
            <a:off x="609600" y="274320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P54 gives 115740.74 baud. 10-bit frame time is 86.4 us.</a:t>
            </a:r>
          </a:p>
        </p:txBody>
      </p:sp>
      <p:sp>
        <p:nvSpPr>
          <p:cNvPr id="10" name="explanation-2">
            <a:extLst xmlns:a="http://schemas.openxmlformats.org/drawingml/2006/main">
              <a:ext uri="{FF2B5EF4-FFF2-40B4-BE49-F238E27FC236}">
                <a16:creationId xmlns:a16="http://schemas.microsoft.com/office/drawing/2014/main" id="{220C3058-4274-406C-AF9E-3D2256E3F2BA}"/>
              </a:ext>
            </a:extLst>
          </p:cNvPr>
          <p:cNvSpPr>
            <a:spLocks xmlns:a="http://schemas.openxmlformats.org/drawingml/2006/main" noGrp="1"/>
          </p:cNvSpPr>
          <p:nvPr/>
        </p:nvSpPr>
        <p:spPr>
          <a:xfrm xmlns:a="http://schemas.openxmlformats.org/drawingml/2006/main">
            <a:off x="609600" y="35623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Low STOP raises frame_error. Pending output at another valid completion raises overrun.</a:t>
            </a:r>
          </a:p>
        </p:txBody>
      </p:sp>
    </p:spTree>
    <p:extLst>
      <p:ext uri="{BB962C8B-B14F-4D97-AF65-F5344CB8AC3E}">
        <p14:creationId xmlns:p14="http://schemas.microsoft.com/office/powerpoint/2010/main" val="1426376253"/>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366FB3C3-5D1B-4F68-8DFC-2A62AA87F6EA}"/>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777FF1E7-DA09-49BC-87FA-4A68B362C06F}"/>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0D29963F-2653-4199-86A0-C4D7B534DFFB}"/>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UART STUDENT LAB</a:t>
            </a:r>
          </a:p>
        </p:txBody>
      </p:sp>
      <p:sp>
        <p:nvSpPr>
          <p:cNvPr id="5" name="t5">
            <a:extLst xmlns:a="http://schemas.openxmlformats.org/drawingml/2006/main">
              <a:ext uri="{FF2B5EF4-FFF2-40B4-BE49-F238E27FC236}">
                <a16:creationId xmlns:a16="http://schemas.microsoft.com/office/drawing/2014/main" id="{1B3C72BE-F611-49AD-929A-B0E3025E5084}"/>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7E46585D-DD41-432C-8D6A-40A6B364E815}"/>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32/44</a:t>
            </a:r>
          </a:p>
        </p:txBody>
      </p:sp>
      <p:sp>
        <p:nvSpPr>
          <p:cNvPr id="7" name="lesson-title">
            <a:extLst xmlns:a="http://schemas.openxmlformats.org/drawingml/2006/main">
              <a:ext uri="{FF2B5EF4-FFF2-40B4-BE49-F238E27FC236}">
                <a16:creationId xmlns:a16="http://schemas.microsoft.com/office/drawing/2014/main" id="{675AEB9C-9F90-4E07-A3C7-C8FA2389C1A4}"/>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Where UART fits</a:t>
            </a:r>
          </a:p>
        </p:txBody>
      </p:sp>
      <p:sp>
        <p:nvSpPr>
          <p:cNvPr id="8" name="explanation-0">
            <a:extLst xmlns:a="http://schemas.openxmlformats.org/drawingml/2006/main">
              <a:ext uri="{FF2B5EF4-FFF2-40B4-BE49-F238E27FC236}">
                <a16:creationId xmlns:a16="http://schemas.microsoft.com/office/drawing/2014/main" id="{67D85B18-8C89-49B7-B363-34EB44B69F72}"/>
              </a:ext>
            </a:extLst>
          </p:cNvPr>
          <p:cNvSpPr>
            <a:spLocks xmlns:a="http://schemas.openxmlformats.org/drawingml/2006/main" noGrp="1"/>
          </p:cNvSpPr>
          <p:nvPr/>
        </p:nvSpPr>
        <p:spPr>
          <a:xfrm xmlns:a="http://schemas.openxmlformats.org/drawingml/2006/main">
            <a:off x="609600" y="19240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F9529"/>
                </a:solidFill>
                <a:latin typeface="Segoe UI"/>
                <a:ea typeface="Segoe UI"/>
                <a:cs typeface="Segoe UI"/>
              </a:defRPr>
            </a:pPr>
            <a:r>
              <a:rPr sz="2175" b="0">
                <a:solidFill>
                  <a:srgbClr val="EF9529"/>
                </a:solidFill>
                <a:latin typeface="Segoe UI"/>
                <a:ea typeface="Segoe UI"/>
                <a:cs typeface="Segoe UI"/>
              </a:rPr>
              <a:t>Debug consoles and simple point-to-point links use UART.</a:t>
            </a:r>
          </a:p>
        </p:txBody>
      </p:sp>
      <p:sp>
        <p:nvSpPr>
          <p:cNvPr id="9" name="explanation-1">
            <a:extLst xmlns:a="http://schemas.openxmlformats.org/drawingml/2006/main">
              <a:ext uri="{FF2B5EF4-FFF2-40B4-BE49-F238E27FC236}">
                <a16:creationId xmlns:a16="http://schemas.microsoft.com/office/drawing/2014/main" id="{28CC95C2-05C5-4E0F-8158-5F9928CB124A}"/>
              </a:ext>
            </a:extLst>
          </p:cNvPr>
          <p:cNvSpPr>
            <a:spLocks xmlns:a="http://schemas.openxmlformats.org/drawingml/2006/main" noGrp="1"/>
          </p:cNvSpPr>
          <p:nvPr/>
        </p:nvSpPr>
        <p:spPr>
          <a:xfrm xmlns:a="http://schemas.openxmlformats.org/drawingml/2006/main">
            <a:off x="609600" y="274320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A higher-level protocol may add packet length, checksums and retries.</a:t>
            </a:r>
          </a:p>
        </p:txBody>
      </p:sp>
      <p:sp>
        <p:nvSpPr>
          <p:cNvPr id="10" name="explanation-2">
            <a:extLst xmlns:a="http://schemas.openxmlformats.org/drawingml/2006/main">
              <a:ext uri="{FF2B5EF4-FFF2-40B4-BE49-F238E27FC236}">
                <a16:creationId xmlns:a16="http://schemas.microsoft.com/office/drawing/2014/main" id="{458AE509-D640-4B1B-85AC-2B08343FCB75}"/>
              </a:ext>
            </a:extLst>
          </p:cNvPr>
          <p:cNvSpPr>
            <a:spLocks xmlns:a="http://schemas.openxmlformats.org/drawingml/2006/main" noGrp="1"/>
          </p:cNvSpPr>
          <p:nvPr/>
        </p:nvSpPr>
        <p:spPr>
          <a:xfrm xmlns:a="http://schemas.openxmlformats.org/drawingml/2006/main">
            <a:off x="609600" y="35623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The byte stream alone does not define application messages.</a:t>
            </a:r>
          </a:p>
        </p:txBody>
      </p:sp>
    </p:spTree>
    <p:extLst>
      <p:ext uri="{BB962C8B-B14F-4D97-AF65-F5344CB8AC3E}">
        <p14:creationId xmlns:p14="http://schemas.microsoft.com/office/powerpoint/2010/main" val="1426376253"/>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366FB3C3-5D1B-4F68-8DFC-2A62AA87F6EA}"/>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777FF1E7-DA09-49BC-87FA-4A68B362C06F}"/>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0D29963F-2653-4199-86A0-C4D7B534DFFB}"/>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UART STUDENT LAB</a:t>
            </a:r>
          </a:p>
        </p:txBody>
      </p:sp>
      <p:sp>
        <p:nvSpPr>
          <p:cNvPr id="5" name="t5">
            <a:extLst xmlns:a="http://schemas.openxmlformats.org/drawingml/2006/main">
              <a:ext uri="{FF2B5EF4-FFF2-40B4-BE49-F238E27FC236}">
                <a16:creationId xmlns:a16="http://schemas.microsoft.com/office/drawing/2014/main" id="{1B3C72BE-F611-49AD-929A-B0E3025E5084}"/>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7E46585D-DD41-432C-8D6A-40A6B364E815}"/>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33/44</a:t>
            </a:r>
          </a:p>
        </p:txBody>
      </p:sp>
      <p:sp>
        <p:nvSpPr>
          <p:cNvPr id="7" name="lesson-title">
            <a:extLst xmlns:a="http://schemas.openxmlformats.org/drawingml/2006/main">
              <a:ext uri="{FF2B5EF4-FFF2-40B4-BE49-F238E27FC236}">
                <a16:creationId xmlns:a16="http://schemas.microsoft.com/office/drawing/2014/main" id="{6D9BB8E6-DF0F-4611-AD89-2899D9EFB243}"/>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RX control sequence: counter states</a:t>
            </a:r>
          </a:p>
        </p:txBody>
      </p:sp>
      <p:sp>
        <p:nvSpPr>
          <p:cNvPr id="8" name="explanation-0">
            <a:extLst xmlns:a="http://schemas.openxmlformats.org/drawingml/2006/main">
              <a:ext uri="{FF2B5EF4-FFF2-40B4-BE49-F238E27FC236}">
                <a16:creationId xmlns:a16="http://schemas.microsoft.com/office/drawing/2014/main" id="{4FE160BF-77D8-4924-BB26-EE1AA450038E}"/>
              </a:ext>
            </a:extLst>
          </p:cNvPr>
          <p:cNvSpPr>
            <a:spLocks xmlns:a="http://schemas.openxmlformats.org/drawingml/2006/main" noGrp="1"/>
          </p:cNvSpPr>
          <p:nvPr/>
        </p:nvSpPr>
        <p:spPr>
          <a:xfrm xmlns:a="http://schemas.openxmlformats.org/drawingml/2006/main">
            <a:off x="609600" y="1724025"/>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F9529"/>
                </a:solidFill>
                <a:latin typeface="Segoe UI"/>
                <a:ea typeface="Segoe UI"/>
                <a:cs typeface="Segoe UI"/>
              </a:defRPr>
            </a:pPr>
            <a:r>
              <a:rPr sz="1800" b="0">
                <a:solidFill>
                  <a:srgbClr val="EF9529"/>
                </a:solidFill>
                <a:latin typeface="Segoe UI"/>
                <a:ea typeface="Segoe UI"/>
                <a:cs typeface="Segoe UI"/>
              </a:rPr>
              <a:t>Actual 8-bit receiver starts bit_cnt at 10 after detecting low.</a:t>
            </a:r>
          </a:p>
        </p:txBody>
      </p:sp>
      <p:sp>
        <p:nvSpPr>
          <p:cNvPr id="9" name="explanation-1">
            <a:extLst xmlns:a="http://schemas.openxmlformats.org/drawingml/2006/main">
              <a:ext uri="{FF2B5EF4-FFF2-40B4-BE49-F238E27FC236}">
                <a16:creationId xmlns:a16="http://schemas.microsoft.com/office/drawing/2014/main" id="{2E540AFE-8F8C-45E5-B5BF-EBE00019A359}"/>
              </a:ext>
            </a:extLst>
          </p:cNvPr>
          <p:cNvSpPr>
            <a:spLocks xmlns:a="http://schemas.openxmlformats.org/drawingml/2006/main" noGrp="1"/>
          </p:cNvSpPr>
          <p:nvPr/>
        </p:nvSpPr>
        <p:spPr>
          <a:xfrm xmlns:a="http://schemas.openxmlformats.org/drawingml/2006/main">
            <a:off x="609600" y="2076450"/>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DEDED"/>
                </a:solidFill>
                <a:latin typeface="Segoe UI"/>
                <a:ea typeface="Segoe UI"/>
                <a:cs typeface="Segoe UI"/>
              </a:defRPr>
            </a:pPr>
            <a:r>
              <a:rPr sz="1800" b="0">
                <a:solidFill>
                  <a:srgbClr val="EDEDED"/>
                </a:solidFill>
                <a:latin typeface="Segoe UI"/>
                <a:ea typeface="Segoe UI"/>
                <a:cs typeface="Segoe UI"/>
              </a:rPr>
              <a:t>The count selects START confirmation, eight data samples and STOP check.</a:t>
            </a:r>
          </a:p>
        </p:txBody>
      </p:sp>
      <p:graphicFrame>
        <p:nvGraphicFramePr>
          <p:cNvPr id="19" name=""/>
          <p:cNvGraphicFramePr/>
          <p:nvPr/>
        </p:nvGraphicFramePr>
        <p:xfrm>
          <a:off xmlns:a="http://schemas.openxmlformats.org/drawingml/2006/main" x="609600" y="2914650"/>
          <a:ext xmlns:a="http://schemas.openxmlformats.org/drawingml/2006/main" cx="10972800" cy="3429000"/>
        </p:xfrm>
        <a:graphic xmlns:a="http://schemas.openxmlformats.org/drawingml/2006/main">
          <a:graphicData uri="http://schemas.openxmlformats.org/drawingml/2006/table">
            <a:tbl>
              <a:tblPr/>
              <a:tblGrid>
                <a:gridCol w="3657600"/>
                <a:gridCol w="3657600"/>
                <a:gridCol w="3657600"/>
              </a:tblGrid>
              <a:tr h="571500">
                <a:tc>
                  <a:txBody>
                    <a:bodyPr>
                      <a:noAutofit/>
                    </a:bodyPr>
                    <a:lstStyle/>
                    <a:p>
                      <a:r>
                        <a:rPr sz="1650" b="1">
                          <a:solidFill>
                            <a:srgbClr val="EF9529"/>
                          </a:solidFill>
                          <a:latin typeface="Segoe UI"/>
                          <a:ea typeface="Segoe UI"/>
                          <a:cs typeface="Segoe UI"/>
                        </a:rPr>
                        <a:t>bit_cnt</a:t>
                      </a:r>
                    </a:p>
                  </a:txBody>
                  <a:tcPr marL="91440" marR="91440" marT="45720" marB="45720">
                    <a:solidFill>
                      <a:srgbClr val="24242B"/>
                    </a:solidFill>
                  </a:tcPr>
                </a:tc>
                <a:tc>
                  <a:txBody>
                    <a:bodyPr>
                      <a:noAutofit/>
                    </a:bodyPr>
                    <a:lstStyle/>
                    <a:p>
                      <a:r>
                        <a:rPr sz="1650" b="1">
                          <a:solidFill>
                            <a:srgbClr val="EF9529"/>
                          </a:solidFill>
                          <a:latin typeface="Segoe UI"/>
                          <a:ea typeface="Segoe UI"/>
                          <a:cs typeface="Segoe UI"/>
                        </a:rPr>
                        <a:t>Phase</a:t>
                      </a:r>
                    </a:p>
                  </a:txBody>
                  <a:tcPr marL="91440" marR="91440" marT="45720" marB="45720">
                    <a:solidFill>
                      <a:srgbClr val="24242B"/>
                    </a:solidFill>
                  </a:tcPr>
                </a:tc>
                <a:tc>
                  <a:txBody>
                    <a:bodyPr>
                      <a:noAutofit/>
                    </a:bodyPr>
                    <a:lstStyle/>
                    <a:p>
                      <a:r>
                        <a:rPr sz="1650" b="1">
                          <a:solidFill>
                            <a:srgbClr val="EF9529"/>
                          </a:solidFill>
                          <a:latin typeface="Segoe UI"/>
                          <a:ea typeface="Segoe UI"/>
                          <a:cs typeface="Segoe UI"/>
                        </a:rPr>
                        <a:t>Action when timer expires</a:t>
                      </a:r>
                    </a:p>
                  </a:txBody>
                  <a:tcPr marL="91440" marR="91440" marT="45720" marB="45720">
                    <a:solidFill>
                      <a:srgbClr val="24242B"/>
                    </a:solidFill>
                  </a:tcPr>
                </a:tc>
              </a:tr>
              <a:tr h="571500">
                <a:tc>
                  <a:txBody>
                    <a:bodyPr>
                      <a:noAutofit/>
                    </a:bodyPr>
                    <a:lstStyle/>
                    <a:p>
                      <a:r>
                        <a:rPr sz="1650" b="0">
                          <a:solidFill>
                            <a:srgbClr val="EDEDED"/>
                          </a:solidFill>
                          <a:latin typeface="Segoe UI"/>
                          <a:ea typeface="Segoe UI"/>
                          <a:cs typeface="Segoe UI"/>
                        </a:rPr>
                        <a:t>0</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Idle</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Observe low candidate START</a:t>
                      </a:r>
                    </a:p>
                  </a:txBody>
                  <a:tcPr marL="91440" marR="91440" marT="45720" marB="45720">
                    <a:solidFill>
                      <a:srgbClr val="16161A"/>
                    </a:solidFill>
                  </a:tcPr>
                </a:tc>
              </a:tr>
              <a:tr h="571500">
                <a:tc>
                  <a:txBody>
                    <a:bodyPr>
                      <a:noAutofit/>
                    </a:bodyPr>
                    <a:lstStyle/>
                    <a:p>
                      <a:r>
                        <a:rPr sz="1650" b="0">
                          <a:solidFill>
                            <a:srgbClr val="EDEDED"/>
                          </a:solidFill>
                          <a:latin typeface="Segoe UI"/>
                          <a:ea typeface="Segoe UI"/>
                          <a:cs typeface="Segoe UI"/>
                        </a:rPr>
                        <a:t>10</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Confirm START</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Continue only if line stays low</a:t>
                      </a:r>
                    </a:p>
                  </a:txBody>
                  <a:tcPr marL="91440" marR="91440" marT="45720" marB="45720">
                    <a:solidFill>
                      <a:srgbClr val="16161A"/>
                    </a:solidFill>
                  </a:tcPr>
                </a:tc>
              </a:tr>
              <a:tr h="571500">
                <a:tc>
                  <a:txBody>
                    <a:bodyPr>
                      <a:noAutofit/>
                    </a:bodyPr>
                    <a:lstStyle/>
                    <a:p>
                      <a:r>
                        <a:rPr sz="1650" b="0">
                          <a:solidFill>
                            <a:srgbClr val="EDEDED"/>
                          </a:solidFill>
                          <a:latin typeface="Segoe UI"/>
                          <a:ea typeface="Segoe UI"/>
                          <a:cs typeface="Segoe UI"/>
                        </a:rPr>
                        <a:t>9 through 2</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Data b0 through b7</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Shift sampled RX into data register</a:t>
                      </a:r>
                    </a:p>
                  </a:txBody>
                  <a:tcPr marL="91440" marR="91440" marT="45720" marB="45720">
                    <a:solidFill>
                      <a:srgbClr val="16161A"/>
                    </a:solidFill>
                  </a:tcPr>
                </a:tc>
              </a:tr>
              <a:tr h="571500">
                <a:tc>
                  <a:txBody>
                    <a:bodyPr>
                      <a:noAutofit/>
                    </a:bodyPr>
                    <a:lstStyle/>
                    <a:p>
                      <a:r>
                        <a:rPr sz="1650" b="0">
                          <a:solidFill>
                            <a:srgbClr val="EDEDED"/>
                          </a:solidFill>
                          <a:latin typeface="Segoe UI"/>
                          <a:ea typeface="Segoe UI"/>
                          <a:cs typeface="Segoe UI"/>
                        </a:rPr>
                        <a:t>1</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STOP</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Accept data or flag framing error</a:t>
                      </a:r>
                    </a:p>
                  </a:txBody>
                  <a:tcPr marL="91440" marR="91440" marT="45720" marB="45720">
                    <a:solidFill>
                      <a:srgbClr val="16161A"/>
                    </a:solidFill>
                  </a:tcPr>
                </a:tc>
              </a:tr>
              <a:tr h="571500">
                <a:tc>
                  <a:txBody>
                    <a:bodyPr>
                      <a:noAutofit/>
                    </a:bodyPr>
                    <a:lstStyle/>
                    <a:p>
                      <a:r>
                        <a:rPr sz="1650" b="0">
                          <a:solidFill>
                            <a:srgbClr val="EDEDED"/>
                          </a:solidFill>
                          <a:latin typeface="Segoe UI"/>
                          <a:ea typeface="Segoe UI"/>
                          <a:cs typeface="Segoe UI"/>
                        </a:rPr>
                        <a:t>0 again</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Finish</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Return to idle detection</a:t>
                      </a:r>
                    </a:p>
                  </a:txBody>
                  <a:tcPr marL="91440" marR="91440" marT="45720" marB="45720">
                    <a:solidFill>
                      <a:srgbClr val="16161A"/>
                    </a:solidFill>
                  </a:tcPr>
                </a:tc>
              </a:tr>
            </a:tbl>
          </a:graphicData>
        </a:graphic>
      </p:graphicFrame>
    </p:spTree>
    <p:extLst>
      <p:ext uri="{BB962C8B-B14F-4D97-AF65-F5344CB8AC3E}">
        <p14:creationId xmlns:p14="http://schemas.microsoft.com/office/powerpoint/2010/main" val="1426376253"/>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366FB3C3-5D1B-4F68-8DFC-2A62AA87F6EA}"/>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777FF1E7-DA09-49BC-87FA-4A68B362C06F}"/>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0D29963F-2653-4199-86A0-C4D7B534DFFB}"/>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UART STUDENT LAB</a:t>
            </a:r>
          </a:p>
        </p:txBody>
      </p:sp>
      <p:sp>
        <p:nvSpPr>
          <p:cNvPr id="5" name="t5">
            <a:extLst xmlns:a="http://schemas.openxmlformats.org/drawingml/2006/main">
              <a:ext uri="{FF2B5EF4-FFF2-40B4-BE49-F238E27FC236}">
                <a16:creationId xmlns:a16="http://schemas.microsoft.com/office/drawing/2014/main" id="{1B3C72BE-F611-49AD-929A-B0E3025E5084}"/>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7E46585D-DD41-432C-8D6A-40A6B364E815}"/>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34/44</a:t>
            </a:r>
          </a:p>
        </p:txBody>
      </p:sp>
      <p:sp>
        <p:nvSpPr>
          <p:cNvPr id="7" name="lesson-title">
            <a:extLst xmlns:a="http://schemas.openxmlformats.org/drawingml/2006/main">
              <a:ext uri="{FF2B5EF4-FFF2-40B4-BE49-F238E27FC236}">
                <a16:creationId xmlns:a16="http://schemas.microsoft.com/office/drawing/2014/main" id="{2C07D3DC-C1E0-4B78-BF22-5AC9B6EF9036}"/>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Fault diagnosis: line, baud and buffer</a:t>
            </a:r>
          </a:p>
        </p:txBody>
      </p:sp>
      <p:sp>
        <p:nvSpPr>
          <p:cNvPr id="8" name="explanation-0">
            <a:extLst xmlns:a="http://schemas.openxmlformats.org/drawingml/2006/main">
              <a:ext uri="{FF2B5EF4-FFF2-40B4-BE49-F238E27FC236}">
                <a16:creationId xmlns:a16="http://schemas.microsoft.com/office/drawing/2014/main" id="{111982A2-6BD2-4EA8-A610-456A1B66168A}"/>
              </a:ext>
            </a:extLst>
          </p:cNvPr>
          <p:cNvSpPr>
            <a:spLocks xmlns:a="http://schemas.openxmlformats.org/drawingml/2006/main" noGrp="1"/>
          </p:cNvSpPr>
          <p:nvPr/>
        </p:nvSpPr>
        <p:spPr>
          <a:xfrm xmlns:a="http://schemas.openxmlformats.org/drawingml/2006/main">
            <a:off x="609600" y="1724025"/>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F9529"/>
                </a:solidFill>
                <a:latin typeface="Segoe UI"/>
                <a:ea typeface="Segoe UI"/>
                <a:cs typeface="Segoe UI"/>
              </a:defRPr>
            </a:pPr>
            <a:r>
              <a:rPr sz="1800" b="0">
                <a:solidFill>
                  <a:srgbClr val="EF9529"/>
                </a:solidFill>
                <a:latin typeface="Segoe UI"/>
                <a:ea typeface="Segoe UI"/>
                <a:cs typeface="Segoe UI"/>
              </a:rPr>
              <a:t>Correct voltage levels are necessary before timing debugging.</a:t>
            </a:r>
          </a:p>
        </p:txBody>
      </p:sp>
      <p:sp>
        <p:nvSpPr>
          <p:cNvPr id="9" name="explanation-1">
            <a:extLst xmlns:a="http://schemas.openxmlformats.org/drawingml/2006/main">
              <a:ext uri="{FF2B5EF4-FFF2-40B4-BE49-F238E27FC236}">
                <a16:creationId xmlns:a16="http://schemas.microsoft.com/office/drawing/2014/main" id="{76E4C4EC-8F94-48CC-82CA-54DCB26468AF}"/>
              </a:ext>
            </a:extLst>
          </p:cNvPr>
          <p:cNvSpPr>
            <a:spLocks xmlns:a="http://schemas.openxmlformats.org/drawingml/2006/main" noGrp="1"/>
          </p:cNvSpPr>
          <p:nvPr/>
        </p:nvSpPr>
        <p:spPr>
          <a:xfrm xmlns:a="http://schemas.openxmlformats.org/drawingml/2006/main">
            <a:off x="609600" y="2076450"/>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DEDED"/>
                </a:solidFill>
                <a:latin typeface="Segoe UI"/>
                <a:ea typeface="Segoe UI"/>
                <a:cs typeface="Segoe UI"/>
              </a:defRPr>
            </a:pPr>
            <a:r>
              <a:rPr sz="1800" b="0">
                <a:solidFill>
                  <a:srgbClr val="EDEDED"/>
                </a:solidFill>
                <a:latin typeface="Segoe UI"/>
                <a:ea typeface="Segoe UI"/>
                <a:cs typeface="Segoe UI"/>
              </a:rPr>
              <a:t>Framing failures and overruns point to different parts of the path.</a:t>
            </a:r>
          </a:p>
        </p:txBody>
      </p:sp>
      <p:graphicFrame>
        <p:nvGraphicFramePr>
          <p:cNvPr id="19" name=""/>
          <p:cNvGraphicFramePr/>
          <p:nvPr/>
        </p:nvGraphicFramePr>
        <p:xfrm>
          <a:off xmlns:a="http://schemas.openxmlformats.org/drawingml/2006/main" x="609600" y="2914650"/>
          <a:ext xmlns:a="http://schemas.openxmlformats.org/drawingml/2006/main" cx="10972800" cy="3238500"/>
        </p:xfrm>
        <a:graphic xmlns:a="http://schemas.openxmlformats.org/drawingml/2006/main">
          <a:graphicData uri="http://schemas.openxmlformats.org/drawingml/2006/table">
            <a:tbl>
              <a:tblPr/>
              <a:tblGrid>
                <a:gridCol w="3333750"/>
                <a:gridCol w="7639050"/>
              </a:tblGrid>
              <a:tr h="647700">
                <a:tc>
                  <a:txBody>
                    <a:bodyPr>
                      <a:noAutofit/>
                    </a:bodyPr>
                    <a:lstStyle/>
                    <a:p>
                      <a:r>
                        <a:rPr sz="1650" b="1">
                          <a:solidFill>
                            <a:srgbClr val="EF9529"/>
                          </a:solidFill>
                          <a:latin typeface="Segoe UI"/>
                          <a:ea typeface="Segoe UI"/>
                          <a:cs typeface="Segoe UI"/>
                        </a:rPr>
                        <a:t>Observation</a:t>
                      </a:r>
                    </a:p>
                  </a:txBody>
                  <a:tcPr marL="91440" marR="91440" marT="45720" marB="45720">
                    <a:solidFill>
                      <a:srgbClr val="24242B"/>
                    </a:solidFill>
                  </a:tcPr>
                </a:tc>
                <a:tc>
                  <a:txBody>
                    <a:bodyPr>
                      <a:noAutofit/>
                    </a:bodyPr>
                    <a:lstStyle/>
                    <a:p>
                      <a:r>
                        <a:rPr sz="1650" b="1">
                          <a:solidFill>
                            <a:srgbClr val="EF9529"/>
                          </a:solidFill>
                          <a:latin typeface="Segoe UI"/>
                          <a:ea typeface="Segoe UI"/>
                          <a:cs typeface="Segoe UI"/>
                        </a:rPr>
                        <a:t>First checks</a:t>
                      </a:r>
                    </a:p>
                  </a:txBody>
                  <a:tcPr marL="91440" marR="91440" marT="45720" marB="45720">
                    <a:solidFill>
                      <a:srgbClr val="24242B"/>
                    </a:solidFill>
                  </a:tcPr>
                </a:tc>
              </a:tr>
              <a:tr h="647700">
                <a:tc>
                  <a:txBody>
                    <a:bodyPr>
                      <a:noAutofit/>
                    </a:bodyPr>
                    <a:lstStyle/>
                    <a:p>
                      <a:r>
                        <a:rPr sz="1650" b="0">
                          <a:solidFill>
                            <a:srgbClr val="EDEDED"/>
                          </a:solidFill>
                          <a:latin typeface="Segoe UI"/>
                          <a:ea typeface="Segoe UI"/>
                          <a:cs typeface="Segoe UI"/>
                        </a:rPr>
                        <a:t>No START detected</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RX wiring, ground, inversion, reset</a:t>
                      </a:r>
                    </a:p>
                  </a:txBody>
                  <a:tcPr marL="91440" marR="91440" marT="45720" marB="45720">
                    <a:solidFill>
                      <a:srgbClr val="16161A"/>
                    </a:solidFill>
                  </a:tcPr>
                </a:tc>
              </a:tr>
              <a:tr h="647700">
                <a:tc>
                  <a:txBody>
                    <a:bodyPr>
                      <a:noAutofit/>
                    </a:bodyPr>
                    <a:lstStyle/>
                    <a:p>
                      <a:r>
                        <a:rPr sz="1650" b="0">
                          <a:solidFill>
                            <a:srgbClr val="EDEDED"/>
                          </a:solidFill>
                          <a:latin typeface="Segoe UI"/>
                          <a:ea typeface="Segoe UI"/>
                          <a:cs typeface="Segoe UI"/>
                        </a:rPr>
                        <a:t>Repeated frame_error</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Baud mismatch, STOP length, electrical distortion</a:t>
                      </a:r>
                    </a:p>
                  </a:txBody>
                  <a:tcPr marL="91440" marR="91440" marT="45720" marB="45720">
                    <a:solidFill>
                      <a:srgbClr val="16161A"/>
                    </a:solidFill>
                  </a:tcPr>
                </a:tc>
              </a:tr>
              <a:tr h="647700">
                <a:tc>
                  <a:txBody>
                    <a:bodyPr>
                      <a:noAutofit/>
                    </a:bodyPr>
                    <a:lstStyle/>
                    <a:p>
                      <a:r>
                        <a:rPr sz="1650" b="0">
                          <a:solidFill>
                            <a:srgbClr val="EDEDED"/>
                          </a:solidFill>
                          <a:latin typeface="Segoe UI"/>
                          <a:ea typeface="Segoe UI"/>
                          <a:cs typeface="Segoe UI"/>
                        </a:rPr>
                        <a:t>Overrun during bursts</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rx_ready latency, buffer depth, flow control</a:t>
                      </a:r>
                    </a:p>
                  </a:txBody>
                  <a:tcPr marL="91440" marR="91440" marT="45720" marB="45720">
                    <a:solidFill>
                      <a:srgbClr val="16161A"/>
                    </a:solidFill>
                  </a:tcPr>
                </a:tc>
              </a:tr>
              <a:tr h="647700">
                <a:tc>
                  <a:txBody>
                    <a:bodyPr>
                      <a:noAutofit/>
                    </a:bodyPr>
                    <a:lstStyle/>
                    <a:p>
                      <a:r>
                        <a:rPr sz="1650" b="0">
                          <a:solidFill>
                            <a:srgbClr val="EDEDED"/>
                          </a:solidFill>
                          <a:latin typeface="Segoe UI"/>
                          <a:ea typeface="Segoe UI"/>
                          <a:cs typeface="Segoe UI"/>
                        </a:rPr>
                        <a:t>Wrong byte with valid STOP</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Data corruption and application checks</a:t>
                      </a:r>
                    </a:p>
                  </a:txBody>
                  <a:tcPr marL="91440" marR="91440" marT="45720" marB="45720">
                    <a:solidFill>
                      <a:srgbClr val="16161A"/>
                    </a:solidFill>
                  </a:tcPr>
                </a:tc>
              </a:tr>
            </a:tbl>
          </a:graphicData>
        </a:graphic>
      </p:graphicFrame>
    </p:spTree>
    <p:extLst>
      <p:ext uri="{BB962C8B-B14F-4D97-AF65-F5344CB8AC3E}">
        <p14:creationId xmlns:p14="http://schemas.microsoft.com/office/powerpoint/2010/main" val="1426376253"/>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366FB3C3-5D1B-4F68-8DFC-2A62AA87F6EA}"/>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777FF1E7-DA09-49BC-87FA-4A68B362C06F}"/>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0D29963F-2653-4199-86A0-C4D7B534DFFB}"/>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UART STUDENT LAB</a:t>
            </a:r>
          </a:p>
        </p:txBody>
      </p:sp>
      <p:sp>
        <p:nvSpPr>
          <p:cNvPr id="5" name="t5">
            <a:extLst xmlns:a="http://schemas.openxmlformats.org/drawingml/2006/main">
              <a:ext uri="{FF2B5EF4-FFF2-40B4-BE49-F238E27FC236}">
                <a16:creationId xmlns:a16="http://schemas.microsoft.com/office/drawing/2014/main" id="{1B3C72BE-F611-49AD-929A-B0E3025E5084}"/>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7E46585D-DD41-432C-8D6A-40A6B364E815}"/>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35/44</a:t>
            </a:r>
          </a:p>
        </p:txBody>
      </p:sp>
      <p:sp>
        <p:nvSpPr>
          <p:cNvPr id="7" name="lesson-title">
            <a:extLst xmlns:a="http://schemas.openxmlformats.org/drawingml/2006/main">
              <a:ext uri="{FF2B5EF4-FFF2-40B4-BE49-F238E27FC236}">
                <a16:creationId xmlns:a16="http://schemas.microsoft.com/office/drawing/2014/main" id="{AAF559C4-09AC-4B0A-B4BD-D811C92D50F1}"/>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Source and reproducible workspace</a:t>
            </a:r>
          </a:p>
        </p:txBody>
      </p:sp>
      <p:sp>
        <p:nvSpPr>
          <p:cNvPr id="8" name="explanation-0">
            <a:extLst xmlns:a="http://schemas.openxmlformats.org/drawingml/2006/main">
              <a:ext uri="{FF2B5EF4-FFF2-40B4-BE49-F238E27FC236}">
                <a16:creationId xmlns:a16="http://schemas.microsoft.com/office/drawing/2014/main" id="{F1065A3D-82E5-44C5-8E1C-DFEF300AD8AB}"/>
              </a:ext>
            </a:extLst>
          </p:cNvPr>
          <p:cNvSpPr>
            <a:spLocks xmlns:a="http://schemas.openxmlformats.org/drawingml/2006/main" noGrp="1"/>
          </p:cNvSpPr>
          <p:nvPr/>
        </p:nvSpPr>
        <p:spPr>
          <a:xfrm xmlns:a="http://schemas.openxmlformats.org/drawingml/2006/main">
            <a:off x="609600" y="19240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F9529"/>
                </a:solidFill>
                <a:latin typeface="Segoe UI"/>
                <a:ea typeface="Segoe UI"/>
                <a:cs typeface="Segoe UI"/>
              </a:defRPr>
            </a:pPr>
            <a:r>
              <a:rPr sz="2175" b="0">
                <a:solidFill>
                  <a:srgbClr val="EF9529"/>
                </a:solidFill>
                <a:latin typeface="Segoe UI"/>
                <a:ea typeface="Segoe UI"/>
                <a:cs typeface="Segoe UI"/>
              </a:rPr>
              <a:t>alexforencich/verilog-uart at 1b867e53af738e4a8bc7c839ca2f1c07f40382dc</a:t>
            </a:r>
          </a:p>
        </p:txBody>
      </p:sp>
      <p:sp>
        <p:nvSpPr>
          <p:cNvPr id="9" name="explanation-1">
            <a:extLst xmlns:a="http://schemas.openxmlformats.org/drawingml/2006/main">
              <a:ext uri="{FF2B5EF4-FFF2-40B4-BE49-F238E27FC236}">
                <a16:creationId xmlns:a16="http://schemas.microsoft.com/office/drawing/2014/main" id="{9E3D40D9-4CE6-4B2C-889E-9CE46B8E3FE8}"/>
              </a:ext>
            </a:extLst>
          </p:cNvPr>
          <p:cNvSpPr>
            <a:spLocks xmlns:a="http://schemas.openxmlformats.org/drawingml/2006/main" noGrp="1"/>
          </p:cNvSpPr>
          <p:nvPr/>
        </p:nvSpPr>
        <p:spPr>
          <a:xfrm xmlns:a="http://schemas.openxmlformats.org/drawingml/2006/main">
            <a:off x="609600" y="274320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Original upstream notices and licences remain in the repository.</a:t>
            </a:r>
          </a:p>
        </p:txBody>
      </p:sp>
      <p:sp>
        <p:nvSpPr>
          <p:cNvPr id="10" name="explanation-2">
            <a:extLst xmlns:a="http://schemas.openxmlformats.org/drawingml/2006/main">
              <a:ext uri="{FF2B5EF4-FFF2-40B4-BE49-F238E27FC236}">
                <a16:creationId xmlns:a16="http://schemas.microsoft.com/office/drawing/2014/main" id="{8C7DB4A9-BC09-4FE2-86CE-E1B86FC8AD1F}"/>
              </a:ext>
            </a:extLst>
          </p:cNvPr>
          <p:cNvSpPr>
            <a:spLocks xmlns:a="http://schemas.openxmlformats.org/drawingml/2006/main" noGrp="1"/>
          </p:cNvSpPr>
          <p:nvPr/>
        </p:nvSpPr>
        <p:spPr>
          <a:xfrm xmlns:a="http://schemas.openxmlformats.org/drawingml/2006/main">
            <a:off x="609600" y="35623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crucible.toml selects the protocol environment and crucible.lock pins its tools.</a:t>
            </a:r>
          </a:p>
        </p:txBody>
      </p:sp>
    </p:spTree>
    <p:extLst>
      <p:ext uri="{BB962C8B-B14F-4D97-AF65-F5344CB8AC3E}">
        <p14:creationId xmlns:p14="http://schemas.microsoft.com/office/powerpoint/2010/main" val="1426376253"/>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366FB3C3-5D1B-4F68-8DFC-2A62AA87F6EA}"/>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777FF1E7-DA09-49BC-87FA-4A68B362C06F}"/>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0D29963F-2653-4199-86A0-C4D7B534DFFB}"/>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UART STUDENT LAB</a:t>
            </a:r>
          </a:p>
        </p:txBody>
      </p:sp>
      <p:sp>
        <p:nvSpPr>
          <p:cNvPr id="5" name="t5">
            <a:extLst xmlns:a="http://schemas.openxmlformats.org/drawingml/2006/main">
              <a:ext uri="{FF2B5EF4-FFF2-40B4-BE49-F238E27FC236}">
                <a16:creationId xmlns:a16="http://schemas.microsoft.com/office/drawing/2014/main" id="{1B3C72BE-F611-49AD-929A-B0E3025E5084}"/>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7E46585D-DD41-432C-8D6A-40A6B364E815}"/>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36/44</a:t>
            </a:r>
          </a:p>
        </p:txBody>
      </p:sp>
      <p:sp>
        <p:nvSpPr>
          <p:cNvPr id="7" name="lesson-title">
            <a:extLst xmlns:a="http://schemas.openxmlformats.org/drawingml/2006/main">
              <a:ext uri="{FF2B5EF4-FFF2-40B4-BE49-F238E27FC236}">
                <a16:creationId xmlns:a16="http://schemas.microsoft.com/office/drawing/2014/main" id="{578AF149-9C6B-457A-A037-A7FDC0D401E7}"/>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WSL Igny laboratory commands</a:t>
            </a:r>
          </a:p>
        </p:txBody>
      </p:sp>
      <p:sp>
        <p:nvSpPr>
          <p:cNvPr id="8" name="explanation-0">
            <a:extLst xmlns:a="http://schemas.openxmlformats.org/drawingml/2006/main">
              <a:ext uri="{FF2B5EF4-FFF2-40B4-BE49-F238E27FC236}">
                <a16:creationId xmlns:a16="http://schemas.microsoft.com/office/drawing/2014/main" id="{0975FF27-B702-4E38-8DC1-1B1F4D4FBF50}"/>
              </a:ext>
            </a:extLst>
          </p:cNvPr>
          <p:cNvSpPr>
            <a:spLocks xmlns:a="http://schemas.openxmlformats.org/drawingml/2006/main" noGrp="1"/>
          </p:cNvSpPr>
          <p:nvPr/>
        </p:nvSpPr>
        <p:spPr>
          <a:xfrm xmlns:a="http://schemas.openxmlformats.org/drawingml/2006/main">
            <a:off x="609600" y="19240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EF9529"/>
                </a:solidFill>
                <a:latin typeface="Consolas"/>
                <a:ea typeface="Consolas"/>
                <a:cs typeface="Consolas"/>
              </a:defRPr>
            </a:pPr>
            <a:r>
              <a:rPr sz="2100" b="0">
                <a:solidFill>
                  <a:srgbClr val="EF9529"/>
                </a:solidFill>
                <a:latin typeface="Consolas"/>
                <a:ea typeface="Consolas"/>
                <a:cs typeface="Consolas"/>
              </a:rPr>
              <a:t>igny init</a:t>
            </a:r>
          </a:p>
        </p:txBody>
      </p:sp>
      <p:sp>
        <p:nvSpPr>
          <p:cNvPr id="9" name="explanation-1">
            <a:extLst xmlns:a="http://schemas.openxmlformats.org/drawingml/2006/main">
              <a:ext uri="{FF2B5EF4-FFF2-40B4-BE49-F238E27FC236}">
                <a16:creationId xmlns:a16="http://schemas.microsoft.com/office/drawing/2014/main" id="{6F08FB92-D4EF-47F6-91C2-87D03DCB8C6D}"/>
              </a:ext>
            </a:extLst>
          </p:cNvPr>
          <p:cNvSpPr>
            <a:spLocks xmlns:a="http://schemas.openxmlformats.org/drawingml/2006/main" noGrp="1"/>
          </p:cNvSpPr>
          <p:nvPr/>
        </p:nvSpPr>
        <p:spPr>
          <a:xfrm xmlns:a="http://schemas.openxmlformats.org/drawingml/2006/main">
            <a:off x="609600" y="274320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EDEDED"/>
                </a:solidFill>
                <a:latin typeface="Consolas"/>
                <a:ea typeface="Consolas"/>
                <a:cs typeface="Consolas"/>
              </a:defRPr>
            </a:pPr>
            <a:r>
              <a:rPr sz="2100" b="0">
                <a:solidFill>
                  <a:srgbClr val="EDEDED"/>
                </a:solidFill>
                <a:latin typeface="Consolas"/>
                <a:ea typeface="Consolas"/>
                <a:cs typeface="Consolas"/>
              </a:rPr>
              <a:t>unset CRUCIBLE_ENV</a:t>
            </a:r>
          </a:p>
        </p:txBody>
      </p:sp>
      <p:sp>
        <p:nvSpPr>
          <p:cNvPr id="10" name="explanation-2">
            <a:extLst xmlns:a="http://schemas.openxmlformats.org/drawingml/2006/main">
              <a:ext uri="{FF2B5EF4-FFF2-40B4-BE49-F238E27FC236}">
                <a16:creationId xmlns:a16="http://schemas.microsoft.com/office/drawing/2014/main" id="{A72C22B0-E7AB-468C-BC96-F8C400F0A164}"/>
              </a:ext>
            </a:extLst>
          </p:cNvPr>
          <p:cNvSpPr>
            <a:spLocks xmlns:a="http://schemas.openxmlformats.org/drawingml/2006/main" noGrp="1"/>
          </p:cNvSpPr>
          <p:nvPr/>
        </p:nvSpPr>
        <p:spPr>
          <a:xfrm xmlns:a="http://schemas.openxmlformats.org/drawingml/2006/main">
            <a:off x="609600" y="35623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EDEDED"/>
                </a:solidFill>
                <a:latin typeface="Consolas"/>
                <a:ea typeface="Consolas"/>
                <a:cs typeface="Consolas"/>
              </a:defRPr>
            </a:pPr>
            <a:r>
              <a:rPr sz="2100" b="0">
                <a:solidFill>
                  <a:srgbClr val="EDEDED"/>
                </a:solidFill>
                <a:latin typeface="Consolas"/>
                <a:ea typeface="Consolas"/>
                <a:cs typeface="Consolas"/>
              </a:rPr>
              <a:t>cd &lt;repository&gt;/hw/protocols/uart</a:t>
            </a:r>
          </a:p>
        </p:txBody>
      </p:sp>
      <p:sp>
        <p:nvSpPr>
          <p:cNvPr id="11" name="explanation-3">
            <a:extLst xmlns:a="http://schemas.openxmlformats.org/drawingml/2006/main">
              <a:ext uri="{FF2B5EF4-FFF2-40B4-BE49-F238E27FC236}">
                <a16:creationId xmlns:a16="http://schemas.microsoft.com/office/drawing/2014/main" id="{373EA8B9-14E0-4F3F-AB7A-5A47081123E4}"/>
              </a:ext>
            </a:extLst>
          </p:cNvPr>
          <p:cNvSpPr>
            <a:spLocks xmlns:a="http://schemas.openxmlformats.org/drawingml/2006/main" noGrp="1"/>
          </p:cNvSpPr>
          <p:nvPr/>
        </p:nvSpPr>
        <p:spPr>
          <a:xfrm xmlns:a="http://schemas.openxmlformats.org/drawingml/2006/main">
            <a:off x="609600" y="438150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EDEDED"/>
                </a:solidFill>
                <a:latin typeface="Consolas"/>
                <a:ea typeface="Consolas"/>
                <a:cs typeface="Consolas"/>
              </a:defRPr>
            </a:pPr>
            <a:r>
              <a:rPr sz="2100" b="0">
                <a:solidFill>
                  <a:srgbClr val="EDEDED"/>
                </a:solidFill>
                <a:latin typeface="Consolas"/>
                <a:ea typeface="Consolas"/>
                <a:cs typeface="Consolas"/>
              </a:rPr>
              <a:t>make flow</a:t>
            </a:r>
          </a:p>
        </p:txBody>
      </p:sp>
    </p:spTree>
    <p:extLst>
      <p:ext uri="{BB962C8B-B14F-4D97-AF65-F5344CB8AC3E}">
        <p14:creationId xmlns:p14="http://schemas.microsoft.com/office/powerpoint/2010/main" val="1426376253"/>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366FB3C3-5D1B-4F68-8DFC-2A62AA87F6EA}"/>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777FF1E7-DA09-49BC-87FA-4A68B362C06F}"/>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0D29963F-2653-4199-86A0-C4D7B534DFFB}"/>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UART STUDENT LAB</a:t>
            </a:r>
          </a:p>
        </p:txBody>
      </p:sp>
      <p:sp>
        <p:nvSpPr>
          <p:cNvPr id="5" name="t5">
            <a:extLst xmlns:a="http://schemas.openxmlformats.org/drawingml/2006/main">
              <a:ext uri="{FF2B5EF4-FFF2-40B4-BE49-F238E27FC236}">
                <a16:creationId xmlns:a16="http://schemas.microsoft.com/office/drawing/2014/main" id="{1B3C72BE-F611-49AD-929A-B0E3025E5084}"/>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7E46585D-DD41-432C-8D6A-40A6B364E815}"/>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37/44</a:t>
            </a:r>
          </a:p>
        </p:txBody>
      </p:sp>
      <p:sp>
        <p:nvSpPr>
          <p:cNvPr id="7" name="lesson-title">
            <a:extLst xmlns:a="http://schemas.openxmlformats.org/drawingml/2006/main">
              <a:ext uri="{FF2B5EF4-FFF2-40B4-BE49-F238E27FC236}">
                <a16:creationId xmlns:a16="http://schemas.microsoft.com/office/drawing/2014/main" id="{B69D939F-D578-43AF-B722-1EAD6B170062}"/>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Lint and functional verification</a:t>
            </a:r>
          </a:p>
        </p:txBody>
      </p:sp>
      <p:sp>
        <p:nvSpPr>
          <p:cNvPr id="8" name="explanation-0">
            <a:extLst xmlns:a="http://schemas.openxmlformats.org/drawingml/2006/main">
              <a:ext uri="{FF2B5EF4-FFF2-40B4-BE49-F238E27FC236}">
                <a16:creationId xmlns:a16="http://schemas.microsoft.com/office/drawing/2014/main" id="{401E3376-D2BF-42BC-9E29-378416C9E5F8}"/>
              </a:ext>
            </a:extLst>
          </p:cNvPr>
          <p:cNvSpPr>
            <a:spLocks xmlns:a="http://schemas.openxmlformats.org/drawingml/2006/main" noGrp="1"/>
          </p:cNvSpPr>
          <p:nvPr/>
        </p:nvSpPr>
        <p:spPr>
          <a:xfrm xmlns:a="http://schemas.openxmlformats.org/drawingml/2006/main">
            <a:off x="609600" y="19240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F9529"/>
                </a:solidFill>
                <a:latin typeface="Segoe UI"/>
                <a:ea typeface="Segoe UI"/>
                <a:cs typeface="Segoe UI"/>
              </a:defRPr>
            </a:pPr>
            <a:r>
              <a:rPr sz="2175" b="0">
                <a:solidFill>
                  <a:srgbClr val="EF9529"/>
                </a:solidFill>
                <a:latin typeface="Segoe UI"/>
                <a:ea typeface="Segoe UI"/>
                <a:cs typeface="Segoe UI"/>
              </a:rPr>
              <a:t>make lint elaborates every RTL source for the selected top.</a:t>
            </a:r>
          </a:p>
        </p:txBody>
      </p:sp>
      <p:sp>
        <p:nvSpPr>
          <p:cNvPr id="9" name="explanation-1">
            <a:extLst xmlns:a="http://schemas.openxmlformats.org/drawingml/2006/main">
              <a:ext uri="{FF2B5EF4-FFF2-40B4-BE49-F238E27FC236}">
                <a16:creationId xmlns:a16="http://schemas.microsoft.com/office/drawing/2014/main" id="{15792857-A724-4445-BF97-79930A3939C9}"/>
              </a:ext>
            </a:extLst>
          </p:cNvPr>
          <p:cNvSpPr>
            <a:spLocks xmlns:a="http://schemas.openxmlformats.org/drawingml/2006/main" noGrp="1"/>
          </p:cNvSpPr>
          <p:nvPr/>
        </p:nvSpPr>
        <p:spPr>
          <a:xfrm xmlns:a="http://schemas.openxmlformats.org/drawingml/2006/main">
            <a:off x="609600" y="274320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make sim runs assertions and deliberate negative controls.</a:t>
            </a:r>
          </a:p>
        </p:txBody>
      </p:sp>
      <p:sp>
        <p:nvSpPr>
          <p:cNvPr id="10" name="explanation-2">
            <a:extLst xmlns:a="http://schemas.openxmlformats.org/drawingml/2006/main">
              <a:ext uri="{FF2B5EF4-FFF2-40B4-BE49-F238E27FC236}">
                <a16:creationId xmlns:a16="http://schemas.microsoft.com/office/drawing/2014/main" id="{A6F24509-41DE-4857-922A-C6A808440559}"/>
              </a:ext>
            </a:extLst>
          </p:cNvPr>
          <p:cNvSpPr>
            <a:spLocks xmlns:a="http://schemas.openxmlformats.org/drawingml/2006/main" noGrp="1"/>
          </p:cNvSpPr>
          <p:nvPr/>
        </p:nvSpPr>
        <p:spPr>
          <a:xfrm xmlns:a="http://schemas.openxmlformats.org/drawingml/2006/main">
            <a:off x="609600" y="35623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Warnings remain visible and need review.</a:t>
            </a:r>
          </a:p>
        </p:txBody>
      </p:sp>
    </p:spTree>
    <p:extLst>
      <p:ext uri="{BB962C8B-B14F-4D97-AF65-F5344CB8AC3E}">
        <p14:creationId xmlns:p14="http://schemas.microsoft.com/office/powerpoint/2010/main" val="1426376253"/>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366FB3C3-5D1B-4F68-8DFC-2A62AA87F6EA}"/>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777FF1E7-DA09-49BC-87FA-4A68B362C06F}"/>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0D29963F-2653-4199-86A0-C4D7B534DFFB}"/>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UART STUDENT LAB</a:t>
            </a:r>
          </a:p>
        </p:txBody>
      </p:sp>
      <p:sp>
        <p:nvSpPr>
          <p:cNvPr id="5" name="t5">
            <a:extLst xmlns:a="http://schemas.openxmlformats.org/drawingml/2006/main">
              <a:ext uri="{FF2B5EF4-FFF2-40B4-BE49-F238E27FC236}">
                <a16:creationId xmlns:a16="http://schemas.microsoft.com/office/drawing/2014/main" id="{1B3C72BE-F611-49AD-929A-B0E3025E5084}"/>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7E46585D-DD41-432C-8D6A-40A6B364E815}"/>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38/44</a:t>
            </a:r>
          </a:p>
        </p:txBody>
      </p:sp>
      <p:sp>
        <p:nvSpPr>
          <p:cNvPr id="7" name="lesson-title">
            <a:extLst xmlns:a="http://schemas.openxmlformats.org/drawingml/2006/main">
              <a:ext uri="{FF2B5EF4-FFF2-40B4-BE49-F238E27FC236}">
                <a16:creationId xmlns:a16="http://schemas.microsoft.com/office/drawing/2014/main" id="{24BC67E2-DFEA-45A2-A5E6-898C16BB4387}"/>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Technology-mapped synthesis</a:t>
            </a:r>
          </a:p>
        </p:txBody>
      </p:sp>
      <p:sp>
        <p:nvSpPr>
          <p:cNvPr id="8" name="explanation-0">
            <a:extLst xmlns:a="http://schemas.openxmlformats.org/drawingml/2006/main">
              <a:ext uri="{FF2B5EF4-FFF2-40B4-BE49-F238E27FC236}">
                <a16:creationId xmlns:a16="http://schemas.microsoft.com/office/drawing/2014/main" id="{B1742ED4-5141-46B6-8A82-8DDB21F9B588}"/>
              </a:ext>
            </a:extLst>
          </p:cNvPr>
          <p:cNvSpPr>
            <a:spLocks xmlns:a="http://schemas.openxmlformats.org/drawingml/2006/main" noGrp="1"/>
          </p:cNvSpPr>
          <p:nvPr/>
        </p:nvSpPr>
        <p:spPr>
          <a:xfrm xmlns:a="http://schemas.openxmlformats.org/drawingml/2006/main">
            <a:off x="609600" y="19240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F9529"/>
                </a:solidFill>
                <a:latin typeface="Segoe UI"/>
                <a:ea typeface="Segoe UI"/>
                <a:cs typeface="Segoe UI"/>
              </a:defRPr>
            </a:pPr>
            <a:r>
              <a:rPr sz="2175" b="0">
                <a:solidFill>
                  <a:srgbClr val="EF9529"/>
                </a:solidFill>
                <a:latin typeface="Segoe UI"/>
                <a:ea typeface="Segoe UI"/>
                <a:cs typeface="Segoe UI"/>
              </a:rPr>
              <a:t>make synth maps uart_core to SG13G2 standard cells.</a:t>
            </a:r>
          </a:p>
        </p:txBody>
      </p:sp>
      <p:sp>
        <p:nvSpPr>
          <p:cNvPr id="9" name="explanation-1">
            <a:extLst xmlns:a="http://schemas.openxmlformats.org/drawingml/2006/main">
              <a:ext uri="{FF2B5EF4-FFF2-40B4-BE49-F238E27FC236}">
                <a16:creationId xmlns:a16="http://schemas.microsoft.com/office/drawing/2014/main" id="{1EC573F7-8B58-409B-8826-FA023E0EA580}"/>
              </a:ext>
            </a:extLst>
          </p:cNvPr>
          <p:cNvSpPr>
            <a:spLocks xmlns:a="http://schemas.openxmlformats.org/drawingml/2006/main" noGrp="1"/>
          </p:cNvSpPr>
          <p:nvPr/>
        </p:nvSpPr>
        <p:spPr>
          <a:xfrm xmlns:a="http://schemas.openxmlformats.org/drawingml/2006/main">
            <a:off x="609600" y="274320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The mapped design contains 543 functional cells.</a:t>
            </a:r>
          </a:p>
        </p:txBody>
      </p:sp>
      <p:sp>
        <p:nvSpPr>
          <p:cNvPr id="10" name="explanation-2">
            <a:extLst xmlns:a="http://schemas.openxmlformats.org/drawingml/2006/main">
              <a:ext uri="{FF2B5EF4-FFF2-40B4-BE49-F238E27FC236}">
                <a16:creationId xmlns:a16="http://schemas.microsoft.com/office/drawing/2014/main" id="{57F6B1DD-E5C4-495C-B500-42BD2C93100C}"/>
              </a:ext>
            </a:extLst>
          </p:cNvPr>
          <p:cNvSpPr>
            <a:spLocks xmlns:a="http://schemas.openxmlformats.org/drawingml/2006/main" noGrp="1"/>
          </p:cNvSpPr>
          <p:nvPr/>
        </p:nvSpPr>
        <p:spPr>
          <a:xfrm xmlns:a="http://schemas.openxmlformats.org/drawingml/2006/main">
            <a:off x="609600" y="35623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The build inserts technology tie cells for constant nets.</a:t>
            </a:r>
          </a:p>
        </p:txBody>
      </p:sp>
    </p:spTree>
    <p:extLst>
      <p:ext uri="{BB962C8B-B14F-4D97-AF65-F5344CB8AC3E}">
        <p14:creationId xmlns:p14="http://schemas.microsoft.com/office/powerpoint/2010/main" val="1426376253"/>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366FB3C3-5D1B-4F68-8DFC-2A62AA87F6EA}"/>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777FF1E7-DA09-49BC-87FA-4A68B362C06F}"/>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0D29963F-2653-4199-86A0-C4D7B534DFFB}"/>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UART STUDENT LAB</a:t>
            </a:r>
          </a:p>
        </p:txBody>
      </p:sp>
      <p:sp>
        <p:nvSpPr>
          <p:cNvPr id="5" name="t5">
            <a:extLst xmlns:a="http://schemas.openxmlformats.org/drawingml/2006/main">
              <a:ext uri="{FF2B5EF4-FFF2-40B4-BE49-F238E27FC236}">
                <a16:creationId xmlns:a16="http://schemas.microsoft.com/office/drawing/2014/main" id="{1B3C72BE-F611-49AD-929A-B0E3025E5084}"/>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7E46585D-DD41-432C-8D6A-40A6B364E815}"/>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39/44</a:t>
            </a:r>
          </a:p>
        </p:txBody>
      </p:sp>
      <p:sp>
        <p:nvSpPr>
          <p:cNvPr id="7" name="lesson-title">
            <a:extLst xmlns:a="http://schemas.openxmlformats.org/drawingml/2006/main">
              <a:ext uri="{FF2B5EF4-FFF2-40B4-BE49-F238E27FC236}">
                <a16:creationId xmlns:a16="http://schemas.microsoft.com/office/drawing/2014/main" id="{7F4FE6D6-ED92-458E-AAB1-EA7B3DCF7270}"/>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Floorplan, placement and clock tree</a:t>
            </a:r>
          </a:p>
        </p:txBody>
      </p:sp>
      <p:sp>
        <p:nvSpPr>
          <p:cNvPr id="8" name="explanation-0">
            <a:extLst xmlns:a="http://schemas.openxmlformats.org/drawingml/2006/main">
              <a:ext uri="{FF2B5EF4-FFF2-40B4-BE49-F238E27FC236}">
                <a16:creationId xmlns:a16="http://schemas.microsoft.com/office/drawing/2014/main" id="{41389621-BCA1-45BD-A379-FD98B3DFE402}"/>
              </a:ext>
            </a:extLst>
          </p:cNvPr>
          <p:cNvSpPr>
            <a:spLocks xmlns:a="http://schemas.openxmlformats.org/drawingml/2006/main" noGrp="1"/>
          </p:cNvSpPr>
          <p:nvPr/>
        </p:nvSpPr>
        <p:spPr>
          <a:xfrm xmlns:a="http://schemas.openxmlformats.org/drawingml/2006/main">
            <a:off x="609600" y="19240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F9529"/>
                </a:solidFill>
                <a:latin typeface="Segoe UI"/>
                <a:ea typeface="Segoe UI"/>
                <a:cs typeface="Segoe UI"/>
              </a:defRPr>
            </a:pPr>
            <a:r>
              <a:rPr sz="2175" b="0">
                <a:solidFill>
                  <a:srgbClr val="EF9529"/>
                </a:solidFill>
                <a:latin typeface="Segoe UI"/>
                <a:ea typeface="Segoe UI"/>
                <a:cs typeface="Segoe UI"/>
              </a:rPr>
              <a:t>Reference die is 300 by 300 micrometres.</a:t>
            </a:r>
          </a:p>
        </p:txBody>
      </p:sp>
      <p:sp>
        <p:nvSpPr>
          <p:cNvPr id="9" name="explanation-1">
            <a:extLst xmlns:a="http://schemas.openxmlformats.org/drawingml/2006/main">
              <a:ext uri="{FF2B5EF4-FFF2-40B4-BE49-F238E27FC236}">
                <a16:creationId xmlns:a16="http://schemas.microsoft.com/office/drawing/2014/main" id="{A11D9FB4-3B7F-4C9B-B985-759EDDCE5CB9}"/>
              </a:ext>
            </a:extLst>
          </p:cNvPr>
          <p:cNvSpPr>
            <a:spLocks xmlns:a="http://schemas.openxmlformats.org/drawingml/2006/main" noGrp="1"/>
          </p:cNvSpPr>
          <p:nvPr/>
        </p:nvSpPr>
        <p:spPr>
          <a:xfrm xmlns:a="http://schemas.openxmlformats.org/drawingml/2006/main">
            <a:off x="609600" y="274320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Placement chooses legal cell locations and builds the power grid.</a:t>
            </a:r>
          </a:p>
        </p:txBody>
      </p:sp>
      <p:sp>
        <p:nvSpPr>
          <p:cNvPr id="10" name="explanation-2">
            <a:extLst xmlns:a="http://schemas.openxmlformats.org/drawingml/2006/main">
              <a:ext uri="{FF2B5EF4-FFF2-40B4-BE49-F238E27FC236}">
                <a16:creationId xmlns:a16="http://schemas.microsoft.com/office/drawing/2014/main" id="{03B616DA-E874-45A9-9647-052E1F487348}"/>
              </a:ext>
            </a:extLst>
          </p:cNvPr>
          <p:cNvSpPr>
            <a:spLocks xmlns:a="http://schemas.openxmlformats.org/drawingml/2006/main" noGrp="1"/>
          </p:cNvSpPr>
          <p:nvPr/>
        </p:nvSpPr>
        <p:spPr>
          <a:xfrm xmlns:a="http://schemas.openxmlformats.org/drawingml/2006/main">
            <a:off x="609600" y="35623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Clock-tree synthesis buffers the clock before detailed routing.</a:t>
            </a:r>
          </a:p>
        </p:txBody>
      </p:sp>
    </p:spTree>
    <p:extLst>
      <p:ext uri="{BB962C8B-B14F-4D97-AF65-F5344CB8AC3E}">
        <p14:creationId xmlns:p14="http://schemas.microsoft.com/office/powerpoint/2010/main" val="1426376253"/>
      </p:ext>
    </p:extLst>
  </p:cSld>
</p:sld>
</file>

<file path=ppt/slides/slide40.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366FB3C3-5D1B-4F68-8DFC-2A62AA87F6EA}"/>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777FF1E7-DA09-49BC-87FA-4A68B362C06F}"/>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0D29963F-2653-4199-86A0-C4D7B534DFFB}"/>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UART STUDENT LAB</a:t>
            </a:r>
          </a:p>
        </p:txBody>
      </p:sp>
      <p:sp>
        <p:nvSpPr>
          <p:cNvPr id="5" name="t5">
            <a:extLst xmlns:a="http://schemas.openxmlformats.org/drawingml/2006/main">
              <a:ext uri="{FF2B5EF4-FFF2-40B4-BE49-F238E27FC236}">
                <a16:creationId xmlns:a16="http://schemas.microsoft.com/office/drawing/2014/main" id="{1B3C72BE-F611-49AD-929A-B0E3025E5084}"/>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7E46585D-DD41-432C-8D6A-40A6B364E815}"/>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40/44</a:t>
            </a:r>
          </a:p>
        </p:txBody>
      </p:sp>
      <p:sp>
        <p:nvSpPr>
          <p:cNvPr id="7" name="lesson-title">
            <a:extLst xmlns:a="http://schemas.openxmlformats.org/drawingml/2006/main">
              <a:ext uri="{FF2B5EF4-FFF2-40B4-BE49-F238E27FC236}">
                <a16:creationId xmlns:a16="http://schemas.microsoft.com/office/drawing/2014/main" id="{38627CA1-A219-4715-8A3D-4332A698D2E5}"/>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Routing and extracted timing</a:t>
            </a:r>
          </a:p>
        </p:txBody>
      </p:sp>
      <p:sp>
        <p:nvSpPr>
          <p:cNvPr id="8" name="explanation-0">
            <a:extLst xmlns:a="http://schemas.openxmlformats.org/drawingml/2006/main">
              <a:ext uri="{FF2B5EF4-FFF2-40B4-BE49-F238E27FC236}">
                <a16:creationId xmlns:a16="http://schemas.microsoft.com/office/drawing/2014/main" id="{0EC903A7-D997-4EF8-9C18-EA6DF78062B9}"/>
              </a:ext>
            </a:extLst>
          </p:cNvPr>
          <p:cNvSpPr>
            <a:spLocks xmlns:a="http://schemas.openxmlformats.org/drawingml/2006/main" noGrp="1"/>
          </p:cNvSpPr>
          <p:nvPr/>
        </p:nvSpPr>
        <p:spPr>
          <a:xfrm xmlns:a="http://schemas.openxmlformats.org/drawingml/2006/main">
            <a:off x="609600" y="1724025"/>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F9529"/>
                </a:solidFill>
                <a:latin typeface="Segoe UI"/>
                <a:ea typeface="Segoe UI"/>
                <a:cs typeface="Segoe UI"/>
              </a:defRPr>
            </a:pPr>
            <a:r>
              <a:rPr sz="1800" b="0">
                <a:solidFill>
                  <a:srgbClr val="EF9529"/>
                </a:solidFill>
                <a:latin typeface="Segoe UI"/>
                <a:ea typeface="Segoe UI"/>
                <a:cs typeface="Segoe UI"/>
              </a:rPr>
              <a:t>Detailed routing connects placed cells using allowed layers.</a:t>
            </a:r>
          </a:p>
        </p:txBody>
      </p:sp>
      <p:sp>
        <p:nvSpPr>
          <p:cNvPr id="9" name="explanation-1">
            <a:extLst xmlns:a="http://schemas.openxmlformats.org/drawingml/2006/main">
              <a:ext uri="{FF2B5EF4-FFF2-40B4-BE49-F238E27FC236}">
                <a16:creationId xmlns:a16="http://schemas.microsoft.com/office/drawing/2014/main" id="{D92281A6-B9C9-49DC-8F21-BB7013AA5EB1}"/>
              </a:ext>
            </a:extLst>
          </p:cNvPr>
          <p:cNvSpPr>
            <a:spLocks xmlns:a="http://schemas.openxmlformats.org/drawingml/2006/main" noGrp="1"/>
          </p:cNvSpPr>
          <p:nvPr/>
        </p:nvSpPr>
        <p:spPr>
          <a:xfrm xmlns:a="http://schemas.openxmlformats.org/drawingml/2006/main">
            <a:off x="609600" y="2076450"/>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DEDED"/>
                </a:solidFill>
                <a:latin typeface="Segoe UI"/>
                <a:ea typeface="Segoe UI"/>
                <a:cs typeface="Segoe UI"/>
              </a:defRPr>
            </a:pPr>
            <a:r>
              <a:rPr sz="1800" b="0">
                <a:solidFill>
                  <a:srgbClr val="EDEDED"/>
                </a:solidFill>
                <a:latin typeface="Segoe UI"/>
                <a:ea typeface="Segoe UI"/>
                <a:cs typeface="Segoe UI"/>
              </a:rPr>
              <a:t>Extraction provides routed parasitic resistance and capacitance.</a:t>
            </a:r>
          </a:p>
        </p:txBody>
      </p:sp>
      <p:sp>
        <p:nvSpPr>
          <p:cNvPr id="10" name="explanation-2">
            <a:extLst xmlns:a="http://schemas.openxmlformats.org/drawingml/2006/main">
              <a:ext uri="{FF2B5EF4-FFF2-40B4-BE49-F238E27FC236}">
                <a16:creationId xmlns:a16="http://schemas.microsoft.com/office/drawing/2014/main" id="{A079A377-F08D-4C38-946B-ABC0E743C4A7}"/>
              </a:ext>
            </a:extLst>
          </p:cNvPr>
          <p:cNvSpPr>
            <a:spLocks xmlns:a="http://schemas.openxmlformats.org/drawingml/2006/main" noGrp="1"/>
          </p:cNvSpPr>
          <p:nvPr/>
        </p:nvSpPr>
        <p:spPr>
          <a:xfrm xmlns:a="http://schemas.openxmlformats.org/drawingml/2006/main">
            <a:off x="609600" y="2428875"/>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DEDED"/>
                </a:solidFill>
                <a:latin typeface="Segoe UI"/>
                <a:ea typeface="Segoe UI"/>
                <a:cs typeface="Segoe UI"/>
              </a:defRPr>
            </a:pPr>
            <a:r>
              <a:rPr sz="1800" b="0">
                <a:solidFill>
                  <a:srgbClr val="EDEDED"/>
                </a:solidFill>
                <a:latin typeface="Segoe UI"/>
                <a:ea typeface="Segoe UI"/>
                <a:cs typeface="Segoe UI"/>
              </a:rPr>
              <a:t>STA checks both typical and slow Liberty corners at 20 ns.</a:t>
            </a:r>
          </a:p>
        </p:txBody>
      </p:sp>
      <p:graphicFrame>
        <p:nvGraphicFramePr>
          <p:cNvPr id="21" name=""/>
          <p:cNvGraphicFramePr/>
          <p:nvPr/>
        </p:nvGraphicFramePr>
        <p:xfrm>
          <a:off xmlns:a="http://schemas.openxmlformats.org/drawingml/2006/main" x="609600" y="2914650"/>
          <a:ext xmlns:a="http://schemas.openxmlformats.org/drawingml/2006/main" cx="10972800" cy="1943100"/>
        </p:xfrm>
        <a:graphic xmlns:a="http://schemas.openxmlformats.org/drawingml/2006/main">
          <a:graphicData uri="http://schemas.openxmlformats.org/drawingml/2006/table">
            <a:tbl>
              <a:tblPr/>
              <a:tblGrid>
                <a:gridCol w="3657600"/>
                <a:gridCol w="3657600"/>
                <a:gridCol w="3657600"/>
              </a:tblGrid>
              <a:tr h="647700">
                <a:tc>
                  <a:txBody>
                    <a:bodyPr>
                      <a:noAutofit/>
                    </a:bodyPr>
                    <a:lstStyle/>
                    <a:p>
                      <a:r>
                        <a:rPr sz="1650" b="1">
                          <a:solidFill>
                            <a:srgbClr val="EF9529"/>
                          </a:solidFill>
                          <a:latin typeface="Segoe UI"/>
                          <a:ea typeface="Segoe UI"/>
                          <a:cs typeface="Segoe UI"/>
                        </a:rPr>
                        <a:t>Corner</a:t>
                      </a:r>
                    </a:p>
                  </a:txBody>
                  <a:tcPr marL="91440" marR="91440" marT="45720" marB="45720">
                    <a:solidFill>
                      <a:srgbClr val="24242B"/>
                    </a:solidFill>
                  </a:tcPr>
                </a:tc>
                <a:tc>
                  <a:txBody>
                    <a:bodyPr>
                      <a:noAutofit/>
                    </a:bodyPr>
                    <a:lstStyle/>
                    <a:p>
                      <a:r>
                        <a:rPr sz="1650" b="1">
                          <a:solidFill>
                            <a:srgbClr val="EF9529"/>
                          </a:solidFill>
                          <a:latin typeface="Segoe UI"/>
                          <a:ea typeface="Segoe UI"/>
                          <a:cs typeface="Segoe UI"/>
                        </a:rPr>
                        <a:t>Setup slack ns</a:t>
                      </a:r>
                    </a:p>
                  </a:txBody>
                  <a:tcPr marL="91440" marR="91440" marT="45720" marB="45720">
                    <a:solidFill>
                      <a:srgbClr val="24242B"/>
                    </a:solidFill>
                  </a:tcPr>
                </a:tc>
                <a:tc>
                  <a:txBody>
                    <a:bodyPr>
                      <a:noAutofit/>
                    </a:bodyPr>
                    <a:lstStyle/>
                    <a:p>
                      <a:r>
                        <a:rPr sz="1650" b="1">
                          <a:solidFill>
                            <a:srgbClr val="EF9529"/>
                          </a:solidFill>
                          <a:latin typeface="Segoe UI"/>
                          <a:ea typeface="Segoe UI"/>
                          <a:cs typeface="Segoe UI"/>
                        </a:rPr>
                        <a:t>Hold slack ns</a:t>
                      </a:r>
                    </a:p>
                  </a:txBody>
                  <a:tcPr marL="91440" marR="91440" marT="45720" marB="45720">
                    <a:solidFill>
                      <a:srgbClr val="24242B"/>
                    </a:solidFill>
                  </a:tcPr>
                </a:tc>
              </a:tr>
              <a:tr h="647700">
                <a:tc>
                  <a:txBody>
                    <a:bodyPr>
                      <a:noAutofit/>
                    </a:bodyPr>
                    <a:lstStyle/>
                    <a:p>
                      <a:r>
                        <a:rPr sz="1650" b="0">
                          <a:solidFill>
                            <a:srgbClr val="EDEDED"/>
                          </a:solidFill>
                          <a:latin typeface="Segoe UI"/>
                          <a:ea typeface="Segoe UI"/>
                          <a:cs typeface="Segoe UI"/>
                        </a:rPr>
                        <a:t>Typical</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15.75</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0.17</a:t>
                      </a:r>
                    </a:p>
                  </a:txBody>
                  <a:tcPr marL="91440" marR="91440" marT="45720" marB="45720">
                    <a:solidFill>
                      <a:srgbClr val="16161A"/>
                    </a:solidFill>
                  </a:tcPr>
                </a:tc>
              </a:tr>
              <a:tr h="647700">
                <a:tc>
                  <a:txBody>
                    <a:bodyPr>
                      <a:noAutofit/>
                    </a:bodyPr>
                    <a:lstStyle/>
                    <a:p>
                      <a:r>
                        <a:rPr sz="1650" b="0">
                          <a:solidFill>
                            <a:srgbClr val="EDEDED"/>
                          </a:solidFill>
                          <a:latin typeface="Segoe UI"/>
                          <a:ea typeface="Segoe UI"/>
                          <a:cs typeface="Segoe UI"/>
                        </a:rPr>
                        <a:t>Slow</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14.45</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0.24</a:t>
                      </a:r>
                    </a:p>
                  </a:txBody>
                  <a:tcPr marL="91440" marR="91440" marT="45720" marB="45720">
                    <a:solidFill>
                      <a:srgbClr val="16161A"/>
                    </a:solidFill>
                  </a:tcPr>
                </a:tc>
              </a:tr>
            </a:tbl>
          </a:graphicData>
        </a:graphic>
      </p:graphicFrame>
    </p:spTree>
    <p:extLst>
      <p:ext uri="{BB962C8B-B14F-4D97-AF65-F5344CB8AC3E}">
        <p14:creationId xmlns:p14="http://schemas.microsoft.com/office/powerpoint/2010/main" val="1426376253"/>
      </p:ext>
    </p:extLst>
  </p:cSld>
</p:sld>
</file>

<file path=ppt/slides/slide41.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366FB3C3-5D1B-4F68-8DFC-2A62AA87F6EA}"/>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777FF1E7-DA09-49BC-87FA-4A68B362C06F}"/>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0D29963F-2653-4199-86A0-C4D7B534DFFB}"/>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UART STUDENT LAB</a:t>
            </a:r>
          </a:p>
        </p:txBody>
      </p:sp>
      <p:sp>
        <p:nvSpPr>
          <p:cNvPr id="5" name="t5">
            <a:extLst xmlns:a="http://schemas.openxmlformats.org/drawingml/2006/main">
              <a:ext uri="{FF2B5EF4-FFF2-40B4-BE49-F238E27FC236}">
                <a16:creationId xmlns:a16="http://schemas.microsoft.com/office/drawing/2014/main" id="{1B3C72BE-F611-49AD-929A-B0E3025E5084}"/>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7E46585D-DD41-432C-8D6A-40A6B364E815}"/>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41/44</a:t>
            </a:r>
          </a:p>
        </p:txBody>
      </p:sp>
      <p:sp>
        <p:nvSpPr>
          <p:cNvPr id="7" name="lesson-title">
            <a:extLst xmlns:a="http://schemas.openxmlformats.org/drawingml/2006/main">
              <a:ext uri="{FF2B5EF4-FFF2-40B4-BE49-F238E27FC236}">
                <a16:creationId xmlns:a16="http://schemas.microsoft.com/office/drawing/2014/main" id="{D2D46690-270E-4577-BBDD-09AD4A1AD33F}"/>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The routed GDS result</a:t>
            </a:r>
          </a:p>
        </p:txBody>
      </p:sp>
      <p:sp>
        <p:nvSpPr>
          <p:cNvPr id="8" name="explanation-0">
            <a:extLst xmlns:a="http://schemas.openxmlformats.org/drawingml/2006/main">
              <a:ext uri="{FF2B5EF4-FFF2-40B4-BE49-F238E27FC236}">
                <a16:creationId xmlns:a16="http://schemas.microsoft.com/office/drawing/2014/main" id="{D299D58E-D23E-4722-B011-A131BF2A4FDA}"/>
              </a:ext>
            </a:extLst>
          </p:cNvPr>
          <p:cNvSpPr>
            <a:spLocks xmlns:a="http://schemas.openxmlformats.org/drawingml/2006/main" noGrp="1"/>
          </p:cNvSpPr>
          <p:nvPr/>
        </p:nvSpPr>
        <p:spPr>
          <a:xfrm xmlns:a="http://schemas.openxmlformats.org/drawingml/2006/main">
            <a:off x="609600" y="19240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F9529"/>
                </a:solidFill>
                <a:latin typeface="Segoe UI"/>
                <a:ea typeface="Segoe UI"/>
                <a:cs typeface="Segoe UI"/>
              </a:defRPr>
            </a:pPr>
            <a:r>
              <a:rPr sz="2175" b="0">
                <a:solidFill>
                  <a:srgbClr val="EF9529"/>
                </a:solidFill>
                <a:latin typeface="Segoe UI"/>
                <a:ea typeface="Segoe UI"/>
                <a:cs typeface="Segoe UI"/>
              </a:rPr>
              <a:t>10_gds/uart_core.gds contains 1,284,780 bytes.</a:t>
            </a:r>
          </a:p>
        </p:txBody>
      </p:sp>
      <p:sp>
        <p:nvSpPr>
          <p:cNvPr id="9" name="explanation-1">
            <a:extLst xmlns:a="http://schemas.openxmlformats.org/drawingml/2006/main">
              <a:ext uri="{FF2B5EF4-FFF2-40B4-BE49-F238E27FC236}">
                <a16:creationId xmlns:a16="http://schemas.microsoft.com/office/drawing/2014/main" id="{3156FF05-0936-4C20-8272-31954CF7AE58}"/>
              </a:ext>
            </a:extLst>
          </p:cNvPr>
          <p:cNvSpPr>
            <a:spLocks xmlns:a="http://schemas.openxmlformats.org/drawingml/2006/main" noGrp="1"/>
          </p:cNvSpPr>
          <p:nvPr/>
        </p:nvSpPr>
        <p:spPr>
          <a:xfrm xmlns:a="http://schemas.openxmlformats.org/drawingml/2006/main">
            <a:off x="609600" y="274320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The decoder resolves 45 structures and compares 16,512 placed cell instances.</a:t>
            </a:r>
          </a:p>
        </p:txBody>
      </p:sp>
      <p:sp>
        <p:nvSpPr>
          <p:cNvPr id="10" name="explanation-2">
            <a:extLst xmlns:a="http://schemas.openxmlformats.org/drawingml/2006/main">
              <a:ext uri="{FF2B5EF4-FFF2-40B4-BE49-F238E27FC236}">
                <a16:creationId xmlns:a16="http://schemas.microsoft.com/office/drawing/2014/main" id="{E3227A80-B61F-40D6-BD72-B2C4BB56C206}"/>
              </a:ext>
            </a:extLst>
          </p:cNvPr>
          <p:cNvSpPr>
            <a:spLocks xmlns:a="http://schemas.openxmlformats.org/drawingml/2006/main" noGrp="1"/>
          </p:cNvSpPr>
          <p:nvPr/>
        </p:nvSpPr>
        <p:spPr>
          <a:xfrm xmlns:a="http://schemas.openxmlformats.org/drawingml/2006/main">
            <a:off x="609600" y="35623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Coordinates, orientations and referenced cell identities agree with DEF.</a:t>
            </a:r>
          </a:p>
        </p:txBody>
      </p:sp>
    </p:spTree>
    <p:extLst>
      <p:ext uri="{BB962C8B-B14F-4D97-AF65-F5344CB8AC3E}">
        <p14:creationId xmlns:p14="http://schemas.microsoft.com/office/powerpoint/2010/main" val="1426376253"/>
      </p:ext>
    </p:extLst>
  </p:cSld>
</p:sld>
</file>

<file path=ppt/slides/slide42.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366FB3C3-5D1B-4F68-8DFC-2A62AA87F6EA}"/>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777FF1E7-DA09-49BC-87FA-4A68B362C06F}"/>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0D29963F-2653-4199-86A0-C4D7B534DFFB}"/>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UART STUDENT LAB</a:t>
            </a:r>
          </a:p>
        </p:txBody>
      </p:sp>
      <p:sp>
        <p:nvSpPr>
          <p:cNvPr id="5" name="t5">
            <a:extLst xmlns:a="http://schemas.openxmlformats.org/drawingml/2006/main">
              <a:ext uri="{FF2B5EF4-FFF2-40B4-BE49-F238E27FC236}">
                <a16:creationId xmlns:a16="http://schemas.microsoft.com/office/drawing/2014/main" id="{1B3C72BE-F611-49AD-929A-B0E3025E5084}"/>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7E46585D-DD41-432C-8D6A-40A6B364E815}"/>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42/44</a:t>
            </a:r>
          </a:p>
        </p:txBody>
      </p:sp>
      <p:sp>
        <p:nvSpPr>
          <p:cNvPr id="7" name="lesson-title">
            <a:extLst xmlns:a="http://schemas.openxmlformats.org/drawingml/2006/main">
              <a:ext uri="{FF2B5EF4-FFF2-40B4-BE49-F238E27FC236}">
                <a16:creationId xmlns:a16="http://schemas.microsoft.com/office/drawing/2014/main" id="{11F8E937-0527-4F4B-8EFD-A18E4B5EDF12}"/>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Evidence and signoff boundaries</a:t>
            </a:r>
          </a:p>
        </p:txBody>
      </p:sp>
      <p:sp>
        <p:nvSpPr>
          <p:cNvPr id="8" name="explanation-0">
            <a:extLst xmlns:a="http://schemas.openxmlformats.org/drawingml/2006/main">
              <a:ext uri="{FF2B5EF4-FFF2-40B4-BE49-F238E27FC236}">
                <a16:creationId xmlns:a16="http://schemas.microsoft.com/office/drawing/2014/main" id="{75A4A304-440B-43E4-BDE9-716E67CB3D7F}"/>
              </a:ext>
            </a:extLst>
          </p:cNvPr>
          <p:cNvSpPr>
            <a:spLocks xmlns:a="http://schemas.openxmlformats.org/drawingml/2006/main" noGrp="1"/>
          </p:cNvSpPr>
          <p:nvPr/>
        </p:nvSpPr>
        <p:spPr>
          <a:xfrm xmlns:a="http://schemas.openxmlformats.org/drawingml/2006/main">
            <a:off x="609600" y="19240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F9529"/>
                </a:solidFill>
                <a:latin typeface="Segoe UI"/>
                <a:ea typeface="Segoe UI"/>
                <a:cs typeface="Segoe UI"/>
              </a:defRPr>
            </a:pPr>
            <a:r>
              <a:rPr sz="2175" b="0">
                <a:solidFill>
                  <a:srgbClr val="EF9529"/>
                </a:solidFill>
                <a:latin typeface="Segoe UI"/>
                <a:ea typeface="Segoe UI"/>
                <a:cs typeface="Segoe UI"/>
              </a:rPr>
              <a:t>Functional tests, mapped synthesis and routed export have evidence.</a:t>
            </a:r>
          </a:p>
        </p:txBody>
      </p:sp>
      <p:sp>
        <p:nvSpPr>
          <p:cNvPr id="9" name="explanation-1">
            <a:extLst xmlns:a="http://schemas.openxmlformats.org/drawingml/2006/main">
              <a:ext uri="{FF2B5EF4-FFF2-40B4-BE49-F238E27FC236}">
                <a16:creationId xmlns:a16="http://schemas.microsoft.com/office/drawing/2014/main" id="{EFAB1307-039E-4A4C-94A8-8D4EAFF19F88}"/>
              </a:ext>
            </a:extLst>
          </p:cNvPr>
          <p:cNvSpPr>
            <a:spLocks xmlns:a="http://schemas.openxmlformats.org/drawingml/2006/main" noGrp="1"/>
          </p:cNvSpPr>
          <p:nvPr/>
        </p:nvSpPr>
        <p:spPr>
          <a:xfrm xmlns:a="http://schemas.openxmlformats.org/drawingml/2006/main">
            <a:off x="609600" y="274320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Foundry DRC, LVS, antenna and full-chip signoff have not run.</a:t>
            </a:r>
          </a:p>
        </p:txBody>
      </p:sp>
      <p:sp>
        <p:nvSpPr>
          <p:cNvPr id="10" name="explanation-2">
            <a:extLst xmlns:a="http://schemas.openxmlformats.org/drawingml/2006/main">
              <a:ext uri="{FF2B5EF4-FFF2-40B4-BE49-F238E27FC236}">
                <a16:creationId xmlns:a16="http://schemas.microsoft.com/office/drawing/2014/main" id="{181DF7AC-794C-4057-B1BC-6CD20D4E0DA8}"/>
              </a:ext>
            </a:extLst>
          </p:cNvPr>
          <p:cNvSpPr>
            <a:spLocks xmlns:a="http://schemas.openxmlformats.org/drawingml/2006/main" noGrp="1"/>
          </p:cNvSpPr>
          <p:nvPr/>
        </p:nvSpPr>
        <p:spPr>
          <a:xfrm xmlns:a="http://schemas.openxmlformats.org/drawingml/2006/main">
            <a:off x="609600" y="35623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Jane Street still requires a programmable emulator on its CMOS5L template.</a:t>
            </a:r>
          </a:p>
        </p:txBody>
      </p:sp>
    </p:spTree>
    <p:extLst>
      <p:ext uri="{BB962C8B-B14F-4D97-AF65-F5344CB8AC3E}">
        <p14:creationId xmlns:p14="http://schemas.microsoft.com/office/powerpoint/2010/main" val="1426376253"/>
      </p:ext>
    </p:extLst>
  </p:cSld>
</p:sld>
</file>

<file path=ppt/slides/slide43.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366FB3C3-5D1B-4F68-8DFC-2A62AA87F6EA}"/>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777FF1E7-DA09-49BC-87FA-4A68B362C06F}"/>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0D29963F-2653-4199-86A0-C4D7B534DFFB}"/>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UART STUDENT LAB</a:t>
            </a:r>
          </a:p>
        </p:txBody>
      </p:sp>
      <p:sp>
        <p:nvSpPr>
          <p:cNvPr id="5" name="t5">
            <a:extLst xmlns:a="http://schemas.openxmlformats.org/drawingml/2006/main">
              <a:ext uri="{FF2B5EF4-FFF2-40B4-BE49-F238E27FC236}">
                <a16:creationId xmlns:a16="http://schemas.microsoft.com/office/drawing/2014/main" id="{1B3C72BE-F611-49AD-929A-B0E3025E5084}"/>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7E46585D-DD41-432C-8D6A-40A6B364E815}"/>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43/44</a:t>
            </a:r>
          </a:p>
        </p:txBody>
      </p:sp>
      <p:sp>
        <p:nvSpPr>
          <p:cNvPr id="7" name="lesson-title">
            <a:extLst xmlns:a="http://schemas.openxmlformats.org/drawingml/2006/main">
              <a:ext uri="{FF2B5EF4-FFF2-40B4-BE49-F238E27FC236}">
                <a16:creationId xmlns:a16="http://schemas.microsoft.com/office/drawing/2014/main" id="{3424A873-7253-45DE-831F-108A87BC63A5}"/>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UART laboratory exercises</a:t>
            </a:r>
          </a:p>
        </p:txBody>
      </p:sp>
      <p:sp>
        <p:nvSpPr>
          <p:cNvPr id="8" name="explanation-0">
            <a:extLst xmlns:a="http://schemas.openxmlformats.org/drawingml/2006/main">
              <a:ext uri="{FF2B5EF4-FFF2-40B4-BE49-F238E27FC236}">
                <a16:creationId xmlns:a16="http://schemas.microsoft.com/office/drawing/2014/main" id="{14E38CCF-1D42-48D9-9988-554AC6DBEB77}"/>
              </a:ext>
            </a:extLst>
          </p:cNvPr>
          <p:cNvSpPr>
            <a:spLocks xmlns:a="http://schemas.openxmlformats.org/drawingml/2006/main" noGrp="1"/>
          </p:cNvSpPr>
          <p:nvPr/>
        </p:nvSpPr>
        <p:spPr>
          <a:xfrm xmlns:a="http://schemas.openxmlformats.org/drawingml/2006/main">
            <a:off x="609600" y="19240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F9529"/>
                </a:solidFill>
                <a:latin typeface="Segoe UI"/>
                <a:ea typeface="Segoe UI"/>
                <a:cs typeface="Segoe UI"/>
              </a:defRPr>
            </a:pPr>
            <a:r>
              <a:rPr sz="2175" b="0">
                <a:solidFill>
                  <a:srgbClr val="EF9529"/>
                </a:solidFill>
                <a:latin typeface="Segoe UI"/>
                <a:ea typeface="Segoe UI"/>
                <a:cs typeface="Segoe UI"/>
              </a:rPr>
              <a:t>Decode a byte using the protocol rules covered in this lesson.</a:t>
            </a:r>
          </a:p>
        </p:txBody>
      </p:sp>
      <p:sp>
        <p:nvSpPr>
          <p:cNvPr id="9" name="explanation-1">
            <a:extLst xmlns:a="http://schemas.openxmlformats.org/drawingml/2006/main">
              <a:ext uri="{FF2B5EF4-FFF2-40B4-BE49-F238E27FC236}">
                <a16:creationId xmlns:a16="http://schemas.microsoft.com/office/drawing/2014/main" id="{8EDDAB6E-A83B-477B-9AF5-9FDE96FF1046}"/>
              </a:ext>
            </a:extLst>
          </p:cNvPr>
          <p:cNvSpPr>
            <a:spLocks xmlns:a="http://schemas.openxmlformats.org/drawingml/2006/main" noGrp="1"/>
          </p:cNvSpPr>
          <p:nvPr/>
        </p:nvSpPr>
        <p:spPr>
          <a:xfrm xmlns:a="http://schemas.openxmlformats.org/drawingml/2006/main">
            <a:off x="609600" y="274320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Change one expected result and observe a fatal test failure.</a:t>
            </a:r>
          </a:p>
        </p:txBody>
      </p:sp>
      <p:sp>
        <p:nvSpPr>
          <p:cNvPr id="10" name="explanation-2">
            <a:extLst xmlns:a="http://schemas.openxmlformats.org/drawingml/2006/main">
              <a:ext uri="{FF2B5EF4-FFF2-40B4-BE49-F238E27FC236}">
                <a16:creationId xmlns:a16="http://schemas.microsoft.com/office/drawing/2014/main" id="{215DDB6E-F17D-4F1A-AE69-97EA5D4010AF}"/>
              </a:ext>
            </a:extLst>
          </p:cNvPr>
          <p:cNvSpPr>
            <a:spLocks xmlns:a="http://schemas.openxmlformats.org/drawingml/2006/main" noGrp="1"/>
          </p:cNvSpPr>
          <p:nvPr/>
        </p:nvSpPr>
        <p:spPr>
          <a:xfrm xmlns:a="http://schemas.openxmlformats.org/drawingml/2006/main">
            <a:off x="609600" y="35623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Compare functional cell count with physical filler/buffer counts.</a:t>
            </a:r>
          </a:p>
        </p:txBody>
      </p:sp>
      <p:sp>
        <p:nvSpPr>
          <p:cNvPr id="11" name="explanation-3">
            <a:extLst xmlns:a="http://schemas.openxmlformats.org/drawingml/2006/main">
              <a:ext uri="{FF2B5EF4-FFF2-40B4-BE49-F238E27FC236}">
                <a16:creationId xmlns:a16="http://schemas.microsoft.com/office/drawing/2014/main" id="{86616840-8CBC-4BA5-8B72-3CD181F06F93}"/>
              </a:ext>
            </a:extLst>
          </p:cNvPr>
          <p:cNvSpPr>
            <a:spLocks xmlns:a="http://schemas.openxmlformats.org/drawingml/2006/main" noGrp="1"/>
          </p:cNvSpPr>
          <p:nvPr/>
        </p:nvSpPr>
        <p:spPr>
          <a:xfrm xmlns:a="http://schemas.openxmlformats.org/drawingml/2006/main">
            <a:off x="609600" y="438150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Locate the worst setup and hold paths in both timing reports.</a:t>
            </a:r>
          </a:p>
        </p:txBody>
      </p:sp>
    </p:spTree>
    <p:extLst>
      <p:ext uri="{BB962C8B-B14F-4D97-AF65-F5344CB8AC3E}">
        <p14:creationId xmlns:p14="http://schemas.microsoft.com/office/powerpoint/2010/main" val="1426376253"/>
      </p:ext>
    </p:extLst>
  </p:cSld>
</p:sld>
</file>

<file path=ppt/slides/slide44.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366FB3C3-5D1B-4F68-8DFC-2A62AA87F6EA}"/>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777FF1E7-DA09-49BC-87FA-4A68B362C06F}"/>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0D29963F-2653-4199-86A0-C4D7B534DFFB}"/>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UART STUDENT LAB</a:t>
            </a:r>
          </a:p>
        </p:txBody>
      </p:sp>
      <p:sp>
        <p:nvSpPr>
          <p:cNvPr id="5" name="t5">
            <a:extLst xmlns:a="http://schemas.openxmlformats.org/drawingml/2006/main">
              <a:ext uri="{FF2B5EF4-FFF2-40B4-BE49-F238E27FC236}">
                <a16:creationId xmlns:a16="http://schemas.microsoft.com/office/drawing/2014/main" id="{1B3C72BE-F611-49AD-929A-B0E3025E5084}"/>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7E46585D-DD41-432C-8D6A-40A6B364E815}"/>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44/44</a:t>
            </a:r>
          </a:p>
        </p:txBody>
      </p:sp>
      <p:sp>
        <p:nvSpPr>
          <p:cNvPr id="7" name="lesson-title">
            <a:extLst xmlns:a="http://schemas.openxmlformats.org/drawingml/2006/main">
              <a:ext uri="{FF2B5EF4-FFF2-40B4-BE49-F238E27FC236}">
                <a16:creationId xmlns:a16="http://schemas.microsoft.com/office/drawing/2014/main" id="{C63B9F21-6CEA-4D45-B762-E172312EBBB5}"/>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Review questions and reading</a:t>
            </a:r>
          </a:p>
        </p:txBody>
      </p:sp>
      <p:sp>
        <p:nvSpPr>
          <p:cNvPr id="8" name="explanation-0">
            <a:extLst xmlns:a="http://schemas.openxmlformats.org/drawingml/2006/main">
              <a:ext uri="{FF2B5EF4-FFF2-40B4-BE49-F238E27FC236}">
                <a16:creationId xmlns:a16="http://schemas.microsoft.com/office/drawing/2014/main" id="{67169EDE-B075-490B-BA8C-4751AF4F4AC4}"/>
              </a:ext>
            </a:extLst>
          </p:cNvPr>
          <p:cNvSpPr>
            <a:spLocks xmlns:a="http://schemas.openxmlformats.org/drawingml/2006/main" noGrp="1"/>
          </p:cNvSpPr>
          <p:nvPr/>
        </p:nvSpPr>
        <p:spPr>
          <a:xfrm xmlns:a="http://schemas.openxmlformats.org/drawingml/2006/main">
            <a:off x="609600" y="19240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F9529"/>
                </a:solidFill>
                <a:latin typeface="Segoe UI"/>
                <a:ea typeface="Segoe UI"/>
                <a:cs typeface="Segoe UI"/>
              </a:defRPr>
            </a:pPr>
            <a:r>
              <a:rPr sz="2175" b="0">
                <a:solidFill>
                  <a:srgbClr val="EF9529"/>
                </a:solidFill>
                <a:latin typeface="Segoe UI"/>
                <a:ea typeface="Segoe UI"/>
                <a:cs typeface="Segoe UI"/>
              </a:rPr>
              <a:t>Which event establishes the first bit of a transfer?</a:t>
            </a:r>
          </a:p>
        </p:txBody>
      </p:sp>
      <p:sp>
        <p:nvSpPr>
          <p:cNvPr id="9" name="explanation-1">
            <a:extLst xmlns:a="http://schemas.openxmlformats.org/drawingml/2006/main">
              <a:ext uri="{FF2B5EF4-FFF2-40B4-BE49-F238E27FC236}">
                <a16:creationId xmlns:a16="http://schemas.microsoft.com/office/drawing/2014/main" id="{2B900DFA-EC1F-449D-B1B1-4F1F96371B86}"/>
              </a:ext>
            </a:extLst>
          </p:cNvPr>
          <p:cNvSpPr>
            <a:spLocks xmlns:a="http://schemas.openxmlformats.org/drawingml/2006/main" noGrp="1"/>
          </p:cNvSpPr>
          <p:nvPr/>
        </p:nvSpPr>
        <p:spPr>
          <a:xfrm xmlns:a="http://schemas.openxmlformats.org/drawingml/2006/main">
            <a:off x="609600" y="274320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Who owns the data wire at each stage?</a:t>
            </a:r>
          </a:p>
        </p:txBody>
      </p:sp>
      <p:sp>
        <p:nvSpPr>
          <p:cNvPr id="10" name="explanation-2">
            <a:extLst xmlns:a="http://schemas.openxmlformats.org/drawingml/2006/main">
              <a:ext uri="{FF2B5EF4-FFF2-40B4-BE49-F238E27FC236}">
                <a16:creationId xmlns:a16="http://schemas.microsoft.com/office/drawing/2014/main" id="{B1B5AA31-4969-4D1D-8CBD-9F9AD689B527}"/>
              </a:ext>
            </a:extLst>
          </p:cNvPr>
          <p:cNvSpPr>
            <a:spLocks xmlns:a="http://schemas.openxmlformats.org/drawingml/2006/main" noGrp="1"/>
          </p:cNvSpPr>
          <p:nvPr/>
        </p:nvSpPr>
        <p:spPr>
          <a:xfrm xmlns:a="http://schemas.openxmlformats.org/drawingml/2006/main">
            <a:off x="609600" y="35623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What does the current regression leave untested?</a:t>
            </a:r>
          </a:p>
        </p:txBody>
      </p:sp>
      <p:sp>
        <p:nvSpPr>
          <p:cNvPr id="11" name="explanation-3">
            <a:extLst xmlns:a="http://schemas.openxmlformats.org/drawingml/2006/main">
              <a:ext uri="{FF2B5EF4-FFF2-40B4-BE49-F238E27FC236}">
                <a16:creationId xmlns:a16="http://schemas.microsoft.com/office/drawing/2014/main" id="{8174F3C3-7B25-415F-8E08-097653BC7EDC}"/>
              </a:ext>
            </a:extLst>
          </p:cNvPr>
          <p:cNvSpPr>
            <a:spLocks xmlns:a="http://schemas.openxmlformats.org/drawingml/2006/main" noGrp="1"/>
          </p:cNvSpPr>
          <p:nvPr/>
        </p:nvSpPr>
        <p:spPr>
          <a:xfrm xmlns:a="http://schemas.openxmlformats.org/drawingml/2006/main">
            <a:off x="609600" y="438150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Why does an exported GDS not prove signoff?</a:t>
            </a:r>
          </a:p>
        </p:txBody>
      </p:sp>
    </p:spTree>
    <p:extLst>
      <p:ext uri="{BB962C8B-B14F-4D97-AF65-F5344CB8AC3E}">
        <p14:creationId xmlns:p14="http://schemas.microsoft.com/office/powerpoint/2010/main" val="1426376253"/>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2026-10-03T09:13:48.5000000Z</dcterms:created>
  <dcterms:modified xsi:type="dcterms:W3CDTF">2026-10-03T09:13:48.5000000Z</dcterms:modified>
</coreProperties>
</file>