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4346448a2c14ca0" /><Relationship Type="http://schemas.openxmlformats.org/officeDocument/2006/relationships/extended-properties" Target="/docProps/app.xml" Id="Rd263292b78d24979" /><Relationship Type="http://schemas.openxmlformats.org/officeDocument/2006/relationships/officeDocument" Target="/ppt/presentation.xml" Id="R6fea14fbece14f28" /></Relationships>
</file>

<file path=ppt/presentation.xml><?xml version="1.0" encoding="utf-8"?>
<p:presentation xmlns:p="http://schemas.openxmlformats.org/presentationml/2006/main">
  <p:sldMasterIdLst>
    <p:sldMasterId xmlns:r="http://schemas.openxmlformats.org/officeDocument/2006/relationships" id="2147483648" r:id="R019af1c96a2d44ec"/>
  </p:sldMasterIdLst>
  <p:notesMasterIdLst>
    <p:notesMasterId xmlns:r="http://schemas.openxmlformats.org/officeDocument/2006/relationships" r:id="Rced0ef50bd7646d1"/>
  </p:notesMasterIdLst>
  <p:sldIdLst>
    <p:sldId xmlns:r="http://schemas.openxmlformats.org/officeDocument/2006/relationships" id="256" r:id="R473a1002f71644e7"/>
    <p:sldId xmlns:r="http://schemas.openxmlformats.org/officeDocument/2006/relationships" id="257" r:id="R6ecbeb2c2fa2425b"/>
    <p:sldId xmlns:r="http://schemas.openxmlformats.org/officeDocument/2006/relationships" id="258" r:id="R01cf24c09f2149e8"/>
    <p:sldId xmlns:r="http://schemas.openxmlformats.org/officeDocument/2006/relationships" id="259" r:id="R6a5d322b633b4a2a"/>
    <p:sldId xmlns:r="http://schemas.openxmlformats.org/officeDocument/2006/relationships" id="260" r:id="R4ff552ca69d647d3"/>
    <p:sldId xmlns:r="http://schemas.openxmlformats.org/officeDocument/2006/relationships" id="261" r:id="R1653fdd793d94fd0"/>
    <p:sldId xmlns:r="http://schemas.openxmlformats.org/officeDocument/2006/relationships" id="262" r:id="R0643a84f2a514e91"/>
    <p:sldId xmlns:r="http://schemas.openxmlformats.org/officeDocument/2006/relationships" id="263" r:id="Rc106cb832b1d4782"/>
    <p:sldId xmlns:r="http://schemas.openxmlformats.org/officeDocument/2006/relationships" id="264" r:id="R187cbbeeb0034100"/>
    <p:sldId xmlns:r="http://schemas.openxmlformats.org/officeDocument/2006/relationships" id="265" r:id="Rdf988ea5ea094573"/>
    <p:sldId xmlns:r="http://schemas.openxmlformats.org/officeDocument/2006/relationships" id="266" r:id="R67d0a12bcfc84606"/>
    <p:sldId xmlns:r="http://schemas.openxmlformats.org/officeDocument/2006/relationships" id="267" r:id="R3bb52ee2e7ba4559"/>
    <p:sldId xmlns:r="http://schemas.openxmlformats.org/officeDocument/2006/relationships" id="268" r:id="Rf41ef2a6125f4cd2"/>
    <p:sldId xmlns:r="http://schemas.openxmlformats.org/officeDocument/2006/relationships" id="269" r:id="Rdfbaa3ea429b4465"/>
    <p:sldId xmlns:r="http://schemas.openxmlformats.org/officeDocument/2006/relationships" id="270" r:id="Ra0265386154a44fc"/>
    <p:sldId xmlns:r="http://schemas.openxmlformats.org/officeDocument/2006/relationships" id="271" r:id="R69c53d24bd2e42bb"/>
    <p:sldId xmlns:r="http://schemas.openxmlformats.org/officeDocument/2006/relationships" id="272" r:id="Rfe3ddada858d4b26"/>
    <p:sldId xmlns:r="http://schemas.openxmlformats.org/officeDocument/2006/relationships" id="273" r:id="Rf8a1528834a946e3"/>
    <p:sldId xmlns:r="http://schemas.openxmlformats.org/officeDocument/2006/relationships" id="274" r:id="R242fc10fbb8c4467"/>
    <p:sldId xmlns:r="http://schemas.openxmlformats.org/officeDocument/2006/relationships" id="275" r:id="Rf0700e23231d4fcc"/>
    <p:sldId xmlns:r="http://schemas.openxmlformats.org/officeDocument/2006/relationships" id="276" r:id="Rfb2132da13384951"/>
    <p:sldId xmlns:r="http://schemas.openxmlformats.org/officeDocument/2006/relationships" id="277" r:id="R4c2c1f3148484f78"/>
    <p:sldId xmlns:r="http://schemas.openxmlformats.org/officeDocument/2006/relationships" id="278" r:id="R33771a91a1434506"/>
    <p:sldId xmlns:r="http://schemas.openxmlformats.org/officeDocument/2006/relationships" id="279" r:id="R432ff8bff42e4d8c"/>
  </p:sldIdLst>
  <p:sldSz cx="7562850" cy="10688638"/>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6de36802dea413d" /><Relationship Type="http://schemas.openxmlformats.org/officeDocument/2006/relationships/slideMaster" Target="/ppt/slideMasters/slideMaster1.xml" Id="R019af1c96a2d44ec" /><Relationship Type="http://schemas.openxmlformats.org/officeDocument/2006/relationships/notesMaster" Target="/ppt/notesMasters/notesMaster1.xml" Id="Rced0ef50bd7646d1" /><Relationship Type="http://schemas.openxmlformats.org/officeDocument/2006/relationships/presProps" Target="/ppt/presProps.xml" Id="R72e44b65b27a42dc" /><Relationship Type="http://schemas.openxmlformats.org/officeDocument/2006/relationships/viewProps" Target="/ppt/viewProps.xml" Id="R662010b2d4d14a95" /><Relationship Type="http://schemas.openxmlformats.org/officeDocument/2006/relationships/tableStyles" Target="/ppt/tableStyles.xml" Id="Rcf2f43310c514e3b" /><Relationship Type="http://schemas.openxmlformats.org/officeDocument/2006/relationships/slide" Target="/ppt/slides/slide1.xml" Id="R473a1002f71644e7" /><Relationship Type="http://schemas.openxmlformats.org/officeDocument/2006/relationships/slide" Target="/ppt/slides/slide2.xml" Id="R6ecbeb2c2fa2425b" /><Relationship Type="http://schemas.openxmlformats.org/officeDocument/2006/relationships/slide" Target="/ppt/slides/slide3.xml" Id="R01cf24c09f2149e8" /><Relationship Type="http://schemas.openxmlformats.org/officeDocument/2006/relationships/slide" Target="/ppt/slides/slide4.xml" Id="R6a5d322b633b4a2a" /><Relationship Type="http://schemas.openxmlformats.org/officeDocument/2006/relationships/slide" Target="/ppt/slides/slide5.xml" Id="R4ff552ca69d647d3" /><Relationship Type="http://schemas.openxmlformats.org/officeDocument/2006/relationships/slide" Target="/ppt/slides/slide6.xml" Id="R1653fdd793d94fd0" /><Relationship Type="http://schemas.openxmlformats.org/officeDocument/2006/relationships/slide" Target="/ppt/slides/slide7.xml" Id="R0643a84f2a514e91" /><Relationship Type="http://schemas.openxmlformats.org/officeDocument/2006/relationships/slide" Target="/ppt/slides/slide8.xml" Id="Rc106cb832b1d4782" /><Relationship Type="http://schemas.openxmlformats.org/officeDocument/2006/relationships/slide" Target="/ppt/slides/slide9.xml" Id="R187cbbeeb0034100" /><Relationship Type="http://schemas.openxmlformats.org/officeDocument/2006/relationships/slide" Target="/ppt/slides/slide10.xml" Id="Rdf988ea5ea094573" /><Relationship Type="http://schemas.openxmlformats.org/officeDocument/2006/relationships/slide" Target="/ppt/slides/slide11.xml" Id="R67d0a12bcfc84606" /><Relationship Type="http://schemas.openxmlformats.org/officeDocument/2006/relationships/slide" Target="/ppt/slides/slide12.xml" Id="R3bb52ee2e7ba4559" /><Relationship Type="http://schemas.openxmlformats.org/officeDocument/2006/relationships/slide" Target="/ppt/slides/slide13.xml" Id="Rf41ef2a6125f4cd2" /><Relationship Type="http://schemas.openxmlformats.org/officeDocument/2006/relationships/slide" Target="/ppt/slides/slide14.xml" Id="Rdfbaa3ea429b4465" /><Relationship Type="http://schemas.openxmlformats.org/officeDocument/2006/relationships/slide" Target="/ppt/slides/slide15.xml" Id="Ra0265386154a44fc" /><Relationship Type="http://schemas.openxmlformats.org/officeDocument/2006/relationships/slide" Target="/ppt/slides/slide16.xml" Id="R69c53d24bd2e42bb" /><Relationship Type="http://schemas.openxmlformats.org/officeDocument/2006/relationships/slide" Target="/ppt/slides/slide17.xml" Id="Rfe3ddada858d4b26" /><Relationship Type="http://schemas.openxmlformats.org/officeDocument/2006/relationships/slide" Target="/ppt/slides/slide18.xml" Id="Rf8a1528834a946e3" /><Relationship Type="http://schemas.openxmlformats.org/officeDocument/2006/relationships/slide" Target="/ppt/slides/slide19.xml" Id="R242fc10fbb8c4467" /><Relationship Type="http://schemas.openxmlformats.org/officeDocument/2006/relationships/slide" Target="/ppt/slides/slide20.xml" Id="Rf0700e23231d4fcc" /><Relationship Type="http://schemas.openxmlformats.org/officeDocument/2006/relationships/slide" Target="/ppt/slides/slide21.xml" Id="Rfb2132da13384951" /><Relationship Type="http://schemas.openxmlformats.org/officeDocument/2006/relationships/slide" Target="/ppt/slides/slide22.xml" Id="R4c2c1f3148484f78" /><Relationship Type="http://schemas.openxmlformats.org/officeDocument/2006/relationships/slide" Target="/ppt/slides/slide23.xml" Id="R33771a91a1434506" /><Relationship Type="http://schemas.openxmlformats.org/officeDocument/2006/relationships/slide" Target="/ppt/slides/slide24.xml" Id="R432ff8bff42e4d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bbe6885dd940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4bd6decc9146c7" /><Relationship Type="http://schemas.openxmlformats.org/officeDocument/2006/relationships/notesMaster" Target="/ppt/notesMasters/notesMaster1.xml" Id="R68b31ff744944b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ce50e6bcae43c9" /><Relationship Type="http://schemas.openxmlformats.org/officeDocument/2006/relationships/notesMaster" Target="/ppt/notesMasters/notesMaster1.xml" Id="Rda2848c8bae945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25098fa3b74f79" /><Relationship Type="http://schemas.openxmlformats.org/officeDocument/2006/relationships/notesMaster" Target="/ppt/notesMasters/notesMaster1.xml" Id="R44744b761ddc42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76b8c3e9dc4bfd" /><Relationship Type="http://schemas.openxmlformats.org/officeDocument/2006/relationships/notesMaster" Target="/ppt/notesMasters/notesMaster1.xml" Id="R9acaf6a925ab43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e2749826b5460c" /><Relationship Type="http://schemas.openxmlformats.org/officeDocument/2006/relationships/notesMaster" Target="/ppt/notesMasters/notesMaster1.xml" Id="R3437e5602ca3486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6566cdc9354541" /><Relationship Type="http://schemas.openxmlformats.org/officeDocument/2006/relationships/notesMaster" Target="/ppt/notesMasters/notesMaster1.xml" Id="Re0a25f0efec9436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29ee43a90d47e5" /><Relationship Type="http://schemas.openxmlformats.org/officeDocument/2006/relationships/notesMaster" Target="/ppt/notesMasters/notesMaster1.xml" Id="R4c064aa3a35440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1bef097af04cb3" /><Relationship Type="http://schemas.openxmlformats.org/officeDocument/2006/relationships/notesMaster" Target="/ppt/notesMasters/notesMaster1.xml" Id="R933e5068a29f43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b5a2cc03464f95" /><Relationship Type="http://schemas.openxmlformats.org/officeDocument/2006/relationships/notesMaster" Target="/ppt/notesMasters/notesMaster1.xml" Id="R8afaa3450c4a48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c3e6724a184ed7" /><Relationship Type="http://schemas.openxmlformats.org/officeDocument/2006/relationships/notesMaster" Target="/ppt/notesMasters/notesMaster1.xml" Id="R24086ac8ec204e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f63cb56ebe4c16" /><Relationship Type="http://schemas.openxmlformats.org/officeDocument/2006/relationships/notesMaster" Target="/ppt/notesMasters/notesMaster1.xml" Id="Rbd78c4a9413546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a0b3c74a334c05" /><Relationship Type="http://schemas.openxmlformats.org/officeDocument/2006/relationships/notesMaster" Target="/ppt/notesMasters/notesMaster1.xml" Id="R4224c2d1910a43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58179969f24443d" /><Relationship Type="http://schemas.openxmlformats.org/officeDocument/2006/relationships/notesMaster" Target="/ppt/notesMasters/notesMaster1.xml" Id="R671debd3970e45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f1de74cc3004760" /><Relationship Type="http://schemas.openxmlformats.org/officeDocument/2006/relationships/notesMaster" Target="/ppt/notesMasters/notesMaster1.xml" Id="R0926a34db3904d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c5a74cd5ed4636" /><Relationship Type="http://schemas.openxmlformats.org/officeDocument/2006/relationships/notesMaster" Target="/ppt/notesMasters/notesMaster1.xml" Id="Rfc0af9799c27411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b01430f219e4173" /><Relationship Type="http://schemas.openxmlformats.org/officeDocument/2006/relationships/notesMaster" Target="/ppt/notesMasters/notesMaster1.xml" Id="R88a16e7e8091416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831a413ea2048f1" /><Relationship Type="http://schemas.openxmlformats.org/officeDocument/2006/relationships/notesMaster" Target="/ppt/notesMasters/notesMaster1.xml" Id="Rde8450db03374a1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0ee310769694499" /><Relationship Type="http://schemas.openxmlformats.org/officeDocument/2006/relationships/notesMaster" Target="/ppt/notesMasters/notesMaster1.xml" Id="R5939e1166b0f4ee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a47a614e3da4174" /><Relationship Type="http://schemas.openxmlformats.org/officeDocument/2006/relationships/notesMaster" Target="/ppt/notesMasters/notesMaster1.xml" Id="R24e80b74d9be407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6f4fc70fabc450f" /><Relationship Type="http://schemas.openxmlformats.org/officeDocument/2006/relationships/notesMaster" Target="/ppt/notesMasters/notesMaster1.xml" Id="R73768f7d5c24466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49576e79c3a4f6b" /><Relationship Type="http://schemas.openxmlformats.org/officeDocument/2006/relationships/notesMaster" Target="/ppt/notesMasters/notesMaster1.xml" Id="Rde4587cfe0be4fb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112e0ee471b4d5f" /><Relationship Type="http://schemas.openxmlformats.org/officeDocument/2006/relationships/notesMaster" Target="/ppt/notesMasters/notesMaster1.xml" Id="R64f6b82b43a4439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1ba1e07ff1b4faf" /><Relationship Type="http://schemas.openxmlformats.org/officeDocument/2006/relationships/notesMaster" Target="/ppt/notesMasters/notesMaster1.xml" Id="R4c1ac9f88dff465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4c9d4afa969428a" /><Relationship Type="http://schemas.openxmlformats.org/officeDocument/2006/relationships/notesMaster" Target="/ppt/notesMasters/notesMaster1.xml" Id="Rf78b0a3c25844a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Follow ethernet_core from its communication rules and Verilog source to a routed IHP SG13G2 layout. Worked calculations, measured digital traces and tool results are identified separately. This is an educational block, not a manufactured chip or a signoff-ready design.</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A Verilog description represents circuits, not software instructions running one after another. Registers remember values; combinational logic calculates the next values. A clock advances the registered state. The next pages first explain this protocol at its wires, then connect those rules to the actual reference RTL.</a:t>
            </a:r>
          </a:p>
          <a:p xmlns:a="http://schemas.openxmlformats.org/drawingml/2006/main">
            <a:r>
              <a:t/>
            </a:r>
          </a:p>
          <a:p xmlns:a="http://schemas.openxmlformats.org/drawingml/2006/main">
            <a:r>
              <a:t>The implemented unit is ethernet_core in hw/protocols/stretch/ethernet. It is a fixed reference block, not the Jane Street programmable combined emulator or a Tiny Tapeout submission top. No new competition architecture, instruction set, pin map or authority decision is implied by these documents.</a:t>
            </a:r>
          </a:p>
          <a:p xmlns:a="http://schemas.openxmlformats.org/drawingml/2006/main">
            <a:r>
              <a:t/>
            </a:r>
          </a:p>
          <a:p xmlns:a="http://schemas.openxmlformats.org/drawingml/2006/main">
            <a:r>
              <a:t>No external PHY, MDIO, collision handling or network stack. Test clocks are phase-offset at the same nominal frequency; drift is untested. Later pages give the exact stimulus and the implementation evidence rather than using a broad protocol-compliant label. A successful mapped netlist, routed DEF and decoded GDS establish concrete implementation/export results, not readiness to manufacture.</a:t>
            </a:r>
          </a:p>
          <a:p xmlns:a="http://schemas.openxmlformats.org/drawingml/2006/main">
            <a:r>
              <a:t/>
            </a:r>
          </a:p>
          <a:p xmlns:a="http://schemas.openxmlformats.org/drawingml/2006/main">
            <a:r>
              <a:t>The reading path starts with chip-design vocabulary, then develops the protocol, calculations, local interface and failure cases. Separate sections explain lint, simulation, synthesis, placement, routing, timing and GDS. The last two pages define design and physical terms. No prior ASIC-flow experience is assumed.</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RTL states what hardware should do. A simulator checks selected input sequences before any silicon exists. Synthesis replaces that description with gates from a process library. Physical tools choose positions and metal routes. Timing analysis checks the resulting delays; stream-out writes the mask-layout geometry.</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MII transfers four bits per clock. At 2.5 MHz the 400 ns clock period carries one nibble, giving 10 Mbit/s. Bytes cross the interface low nibble first, then high nibble. For byte A5 the visible nibbles are 5 followed by A. This ordering differs from simply reading a printed hexadecimal byte left to right.</a:t>
            </a:r>
          </a:p>
          <a:p xmlns:a="http://schemas.openxmlformats.org/drawingml/2006/main">
            <a:r>
              <a:t/>
            </a:r>
          </a:p>
          <a:p xmlns:a="http://schemas.openxmlformats.org/drawingml/2006/main">
            <a:r>
              <a:t>A real link still needs an external analogue PHY, suitable magnetics and connector circuitry. Manchester line coding, link negotiation, MDIO management and half-duplex collision/retry are not supplied by this digital reference. Ethernet addressing and FCS processing do not automatically provide an IP, TCP or UDP stack.</a:t>
            </a:r>
          </a:p>
          <a:p xmlns:a="http://schemas.openxmlformats.org/drawingml/2006/main">
            <a:r>
              <a:t/>
            </a:r>
          </a:p>
          <a:p xmlns:a="http://schemas.openxmlformats.org/drawingml/2006/main">
            <a:r>
              <a:t>The wrapper contains separate TX and RX clocks. TX data and handshake belong to mii_tx_clk; received output belongs to mii_rx_clk. The consumer cannot assume that simultaneous-looking frames share a safe common register domain.</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The transmitter emits the synchronising preamble and SFD before the supplied frame bytes. With padding enabled and a minimum 64-byte frame length including FCS, an input shorter than sixty frame bytes is extended before the four-byte FCS is appended. The local input bytes already contain whatever destination/source/type fields the application supplies.</a:t>
            </a:r>
          </a:p>
          <a:p xmlns:a="http://schemas.openxmlformats.org/drawingml/2006/main">
            <a:r>
              <a:t/>
            </a:r>
          </a:p>
          <a:p xmlns:a="http://schemas.openxmlformats.org/drawingml/2006/main">
            <a:r>
              <a:t>A fourteen-byte input therefore needs forty-six padding bytes to reach sixty, then four FCS bytes. A sixty-byte input needs no padding. A 256-byte input exceeds the minimum and retains its full body. The regression checks those three sizes and independently evaluates their transmitted CRC values.</a:t>
            </a:r>
          </a:p>
          <a:p xmlns:a="http://schemas.openxmlformats.org/drawingml/2006/main">
            <a:r>
              <a:t/>
            </a:r>
          </a:p>
          <a:p xmlns:a="http://schemas.openxmlformats.org/drawingml/2006/main">
            <a:r>
              <a:t>At 10 Mbit/s, the minimum 64-byte frame itself takes 51.2 us. Including eight preamble/SFD bytes and a twelve-byte inter-frame gap gives 84 byte-times, or 67.2 us of wire scheduling. These are calculated line-rate bounds, not measured application throughput or a payload efficiency claim.</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The byte update first XORs the eight data bits into the low end of the 32-bit state. Each of eight steps shifts right and conditionally XORs EDB88320 if the departing low bit is one. For the usual Ethernet convention the initial state is FFFFFFFF and the final result is complemented. ASCII 123456789 then gives CRC32 CBF43926.</a:t>
            </a:r>
          </a:p>
          <a:p xmlns:a="http://schemas.openxmlformats.org/drawingml/2006/main">
            <a:r>
              <a:t/>
            </a:r>
          </a:p>
          <a:p xmlns:a="http://schemas.openxmlformats.org/drawingml/2006/main">
            <a:r>
              <a:t>The earlier generic LFSR elaboration was expensive. The replacement narrows the implementation to this consumed byte/state contract. Its state_out is compared against the preserved upstream LFSR; its unused data_out is tied to zero. It is therefore not a drop-in generic LFSR replacement for other consumers.</a:t>
            </a:r>
          </a:p>
          <a:p xmlns:a="http://schemas.openxmlformats.org/drawingml/2006/main">
            <a:r>
              <a:t/>
            </a:r>
          </a:p>
          <a:p xmlns:a="http://schemas.openxmlformats.org/drawingml/2006/main">
            <a:r>
              <a:t>This mapping is a linear transformation of forty input bits: thirty-two state bits and eight data bits. Zero plus all forty one-hot basis vectors establish agreement for a truly linear implementation; 256 deterministic mixed vectors add a useful diagnostic cross-check. Fixed nonzero CRC initialisation and final complement occur around, not inside, that linear transform.</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On TX, the producer supplies data, valid, last and user and respects ready. These signals belong to the transmit clock. The wrapper fixes MII mode, padding enabled, minimum frame length 64 and a twelve-byte gap. Error-underflow remains available, but a passing normal-frame test is not an underflow regression.</a:t>
            </a:r>
          </a:p>
          <a:p xmlns:a="http://schemas.openxmlformats.org/drawingml/2006/main">
            <a:r>
              <a:t/>
            </a:r>
          </a:p>
          <a:p xmlns:a="http://schemas.openxmlformats.org/drawingml/2006/main">
            <a:r>
              <a:t>On RX, data, valid, last and user belong to the receive clock. There is no rx_ready input, so downstream must accept each valid output or provide a suitable buffer in the same domain. Crossing to a system clock requires an explicit CDC design such as a correctly sized asynchronous FIFO, not a casual combinational connection.</a:t>
            </a:r>
          </a:p>
          <a:p xmlns:a="http://schemas.openxmlformats.org/drawingml/2006/main">
            <a:r>
              <a:t/>
            </a:r>
          </a:p>
          <a:p xmlns:a="http://schemas.openxmlformats.org/drawingml/2006/main">
            <a:r>
              <a:t>Reset is synchronous active high in both domains. The integration layer must arrange safe assertion and release relative to each clock. The reference constraints apply reset budgets to both clock definitions; those constraints do not by themselves establish system reset reliability. The current SDC defines both MII clocks without set_clock_groups -asynchronous. It therefore retains a synchronous clock relationship in STA rather than modelling arbitrary external PHY phase and frequency. The common reset input has delays in both domains, but safe asynchronous reset delivery/release is not proved by those budgets.</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The bench runs TX with a 400 ns period and RX with the same nominal 400 ns period after an initial 73 ns offset. Their phases differ; their frequencies do not drift. This establishes separate stimulus scheduling and exercises the distinct MAC domains, but it is not a frequency-offset or asynchronous-FIFO stress test.</a:t>
            </a:r>
          </a:p>
          <a:p xmlns:a="http://schemas.openxmlformats.org/drawingml/2006/main">
            <a:r>
              <a:t/>
            </a:r>
          </a:p>
          <a:p xmlns:a="http://schemas.openxmlformats.org/drawingml/2006/main">
            <a:r>
              <a:t>The receive source creates its own frames and CRC values rather than wiring transmitted nibbles back to the DUT. Valid sixty- and 256-byte receive frames are checked. A corrupt-FCS frame must raise the expected receive error. The transmitter independently checks fourteen-, sixty- and 256-byte input frames, padding and FCS.</a:t>
            </a:r>
          </a:p>
          <a:p xmlns:a="http://schemas.openxmlformats.org/drawingml/2006/main">
            <a:r>
              <a:t/>
            </a:r>
          </a:p>
          <a:p xmlns:a="http://schemas.openxmlformats.org/drawingml/2006/main">
            <a:r>
              <a:t>The control path must keep last aligned with the final supplied frame byte. The FCS and pad extension are generated by the MAC. End-of-frame on MII and end-of-input on the local stream therefore occur at different times.</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A corrupted receive FCS is covered, but RXER, runt/oversize acceptance, transmit underflow and clock drift are not established. Half-duplex collisions cannot be claimed because this reference is full duplex and does not implement collision/retry logic. Physical link negotiation and board operation likewise belong to the external PHY integration.</a:t>
            </a:r>
          </a:p>
          <a:p xmlns:a="http://schemas.openxmlformats.org/drawingml/2006/main">
            <a:r>
              <a:t/>
            </a:r>
          </a:p>
          <a:p xmlns:a="http://schemas.openxmlformats.org/drawingml/2006/main">
            <a:r>
              <a:t>A consumer that cannot drain non-stallable RX output may lose data even when the incoming FCS is valid. A production integration needs a buffer-capacity budget based on maximum burst size and consumer latency. Declaring two clocks in STA is not a substitute for proving the cross-domain queue contract.</a:t>
            </a:r>
          </a:p>
          <a:p xmlns:a="http://schemas.openxmlformats.org/drawingml/2006/main">
            <a:r>
              <a:t/>
            </a:r>
          </a:p>
          <a:p xmlns:a="http://schemas.openxmlformats.org/drawingml/2006/main">
            <a:r>
              <a:t>The fixed CRC replacement has a deliberately limited compatibility promise. Preserving its unused data_out zero tie is acceptable for the checked consumers, but reusing the module under a different generic-LFSR interface would change the contract and require a new review.</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At a 2.5 MHz MII clock, each nibble occupies 400 ns and one byte occupies 800 ns. The byte A5 appears as data nibble 5 then nibble A while transmit-enable is asserted. A known preamble/SFD sequence is checked before the frame body so a correctly ordered payload is not accepted in an incorrectly framed transmission.</a:t>
            </a:r>
          </a:p>
          <a:p xmlns:a="http://schemas.openxmlformats.org/drawingml/2006/main">
            <a:r>
              <a:t/>
            </a:r>
          </a:p>
          <a:p xmlns:a="http://schemas.openxmlformats.org/drawingml/2006/main">
            <a:r>
              <a:t>The normal-frame tests compute FCS independently from the supplied frame and any generated zero padding. The low-nibble-first MII ordering must also hold for the FCS bytes. A local byte comparison alone would miss that serialisation error, which is why the bench observes the nibble interface.</a:t>
            </a:r>
          </a:p>
          <a:p xmlns:a="http://schemas.openxmlformats.org/drawingml/2006/main">
            <a:r>
              <a:t/>
            </a:r>
          </a:p>
          <a:p xmlns:a="http://schemas.openxmlformats.org/drawingml/2006/main">
            <a:r>
              <a:t>The current Ethernet bench retains decisive logs and source rather than a plotted positive VCD. The document therefore shows the explicit example as a table. A future board trace must identify PHY clock direction, enable timing and error lines before being described as a measured link result.</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The retained report contains 72 warning messages and 0 error messages. Categories present: CASEINCOMPLETE, PINCONNECTEMPTY, PINMISSING, PROCASSINIT, SELRANGE, UNUSEDPARAM, UNUSEDSIGNAL, WIDTHEXPAND, WIDTHTRUNC. These figures count report message headers; repeated warnings are not necessarily independent defects. The report is hashed in this document evidence manifest.</a:t>
            </a:r>
          </a:p>
          <a:p xmlns:a="http://schemas.openxmlformats.org/drawingml/2006/main">
            <a:r>
              <a:t/>
            </a:r>
          </a:p>
          <a:p xmlns:a="http://schemas.openxmlformats.org/drawingml/2006/main">
            <a:r>
              <a:t>The invocation deliberately uses -Wno-fatal so warnings remain visible while lint execution can complete. A successful command therefore does not mean every warning was resolved. Width changes, incomplete cases, reset use and unconnected ports need review against the wrapper contract and directed tests.</a:t>
            </a:r>
          </a:p>
          <a:p xmlns:a="http://schemas.openxmlformats.org/drawingml/2006/main">
            <a:r>
              <a:t/>
            </a:r>
          </a:p>
          <a:p xmlns:a="http://schemas.openxmlformats.org/drawingml/2006/main">
            <a:r>
              <a:t>Lint cannot show that a receive byte is correct, that a transaction finishes, or that an external electrical interface is safe. Those questions require a checking testbench, implementation evidence and separate board or signoff work.</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Directed frame tests assert preamble, SFD, low-nibble-first ordering, padding, payload and independent CRC32 for TX sizes fourteen, sixty and 256. RX uses independently generated sixty- and 256-byte frames and a corrupt-FCS case. Reset quiescence is checked, and a deliberately wrong expected receive byte must fail.</a:t>
            </a:r>
          </a:p>
          <a:p xmlns:a="http://schemas.openxmlformats.org/drawingml/2006/main">
            <a:r>
              <a:t/>
            </a:r>
          </a:p>
          <a:p xmlns:a="http://schemas.openxmlformats.org/drawingml/2006/main">
            <a:r>
              <a:t>The dedicated CRC regression compares the consumed state_out against the preserved upstream LFSR over zero, forty one-hot and 256 mixed vectors, checks the standard arithmetic anchor and rejects an injected mismatch. This addresses the local optimisation separately from frame-level behaviour.</a:t>
            </a:r>
          </a:p>
          <a:p xmlns:a="http://schemas.openxmlformats.org/drawingml/2006/main">
            <a:r>
              <a:t/>
            </a:r>
          </a:p>
          <a:p xmlns:a="http://schemas.openxmlformats.org/drawingml/2006/main">
            <a:r>
              <a:t>The result remains a full-duplex digital MAC reference. It is not a complete Ethernet device, a network stack, a frequency-drift regression or foundry signoff. Test coverage is documented per condition, so future work can add RXER and underflow without pretending the current normal-frame run already covers them.</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A process design kit, or PDK, contains the process-specific files used by implementation tools. This reference uses IHP SG13G2, not the SKY130 library used by the golden APB primer. Standard cells are predesigned gates and storage elements with characterised timing and physical views.</a:t>
            </a:r>
          </a:p>
          <a:p xmlns:a="http://schemas.openxmlformats.org/drawingml/2006/main">
            <a:r>
              <a:t/>
            </a:r>
          </a:p>
          <a:p xmlns:a="http://schemas.openxmlformats.org/drawingml/2006/main">
            <a:r>
              <a:t>The source is compiled and checked under the unit workspace before synthesis. Yosys maps the functional logic into the pinned IHP SG13G2 standard-cell library. The current netlist contains 1042 functional cells, excluding $scopeinfo metadata. The structural checker rejects remaining generic logic, latches or unresolved instances.</a:t>
            </a:r>
          </a:p>
          <a:p xmlns:a="http://schemas.openxmlformats.org/drawingml/2006/main">
            <a:r>
              <a:t/>
            </a:r>
          </a:p>
          <a:p xmlns:a="http://schemas.openxmlformats.org/drawingml/2006/main">
            <a:r>
              <a:t>The mapped count excludes $scopeinfo metadata. It is not the count of every placed instance after clock buffers, repair cells and fillers are added. It also does not mean that the original protocol has been independently proven for all possible transactions.</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The die outline for this standalone block is 500 x 500 um. The floorplan establishes rows and reference power/pin geometry. The placer must fit cells legally without overlaps and with room for routing. This is a block-level educational layout, not a complete padframe or package design.</a:t>
            </a:r>
          </a:p>
          <a:p xmlns:a="http://schemas.openxmlformats.org/drawingml/2006/main">
            <a:r>
              <a:t/>
            </a:r>
          </a:p>
          <a:p xmlns:a="http://schemas.openxmlformats.org/drawingml/2006/main">
            <a:r>
              <a:t>Mapped functional logic has 1042 cells. After physical additions and fillers, the routed DEF contains 53,628 placed standard-cell instances. A filler occupies empty row sites; it is not another functional logic gate. That distinction explains why the two counts differ so much.</a:t>
            </a:r>
          </a:p>
          <a:p xmlns:a="http://schemas.openxmlformats.org/drawingml/2006/main">
            <a:r>
              <a:t/>
            </a:r>
          </a:p>
          <a:p xmlns:a="http://schemas.openxmlformats.org/drawingml/2006/main">
            <a:r>
              <a:t>Utilisation is the fraction of core area occupied by placed cell area. It is not simply functional-cell count divided by die size, and it changes between stages. This note does not substitute APB utilisation, row count or I/O count for unavailable protocol-specific measurements.</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A register samples its input at a clock edge. Clock buffers distribute that edge across the block; the difference in arrival times is called skew. The reference is constrained at MII TX/RX: 2.5 MHz / 400 ns. TX and RX have separate MII clock definitions; their relationship is a reference assumption, not arbitrary external PHY CDC signoff.</a:t>
            </a:r>
          </a:p>
          <a:p xmlns:a="http://schemas.openxmlformats.org/drawingml/2006/main">
            <a:r>
              <a:t/>
            </a:r>
          </a:p>
          <a:p xmlns:a="http://schemas.openxmlformats.org/drawingml/2006/main">
            <a:r>
              <a:t>OpenROAD completes the staged physical flow. The reference die is 500 x 500 um. DEF records routed design geometry and cell placement; SPEF captures extracted parasitics used by the timing analysis. The scripts retain stage-specific output so the result can be investigated instead of relying on a final banner.</a:t>
            </a:r>
          </a:p>
          <a:p xmlns:a="http://schemas.openxmlformats.org/drawingml/2006/main">
            <a:r>
              <a:t/>
            </a:r>
          </a:p>
          <a:p xmlns:a="http://schemas.openxmlformats.org/drawingml/2006/main">
            <a:r>
              <a:t>Real interconnect has resistance and capacitance, called parasitics. Extraction writes these in SPEF for post-route timing. The retained router-rule DRC file is empty. That checks the router view of its work; it is not a full foundry-deck check of the exported polygons.</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The physical clock constraint is MII TX/RX: 2.5 MHz / 400 ns. Post-route timing uses the extracted design rather than an ideal pre-route wire estimate. The report at each corner must be inspected for worst setup and hold slack and for VIOLATED markers. The reported values are not a timing guarantee under unstated board, voltage or temperature conditions.</a:t>
            </a:r>
          </a:p>
          <a:p xmlns:a="http://schemas.openxmlformats.org/drawingml/2006/main">
            <a:r>
              <a:t/>
            </a:r>
          </a:p>
          <a:p xmlns:a="http://schemas.openxmlformats.org/drawingml/2006/main">
            <a:r>
              <a:t>Current TT setup/hold slack is +396.77 / +0.18 ns. The slow-corner values are +395.00 / +0.27 ns. Both reports contain no VIOLATED marker. These numbers are taken directly from the local report files at document build time; the evidence manifest retains their hashes.</a:t>
            </a:r>
          </a:p>
          <a:p xmlns:a="http://schemas.openxmlformats.org/drawingml/2006/main">
            <a:r>
              <a:t/>
            </a:r>
          </a:p>
          <a:p xmlns:a="http://schemas.openxmlformats.org/drawingml/2006/main">
            <a:r>
              <a:t>I/O delays are reference budgets, not a contract with an external target, transceiver or PHY. Bus synchronisation, reset recovery/removal, all additional corners and modes, signal integrity and board timing need their own analysis. Positive slack in these two reports is therefore called reference timing closure, not foundry or system signoff. For Ethernet specifically, the SDC does not declare the two MII domains asynchronous. The quoted slacks use that reference relationship and do not bound arbitrary inter-domain paths or reset behaviour for independent real PHY clocks. No asynchronous CDC or reset timing signoff is claimed.</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The GDS file contains 3,219,696 bytes and 47 structures. The independent decoder finds 53,628 placed standard-cell instances including fillers. That placement count is intentionally much larger than the 1042 mapped functional cells: filler instances occupy unused placement sites and structures are unique hierarchy definitions.</a:t>
            </a:r>
          </a:p>
          <a:p xmlns:a="http://schemas.openxmlformats.org/drawingml/2006/main">
            <a:r>
              <a:t/>
            </a:r>
          </a:p>
          <a:p xmlns:a="http://schemas.openxmlformats.org/drawingml/2006/main">
            <a:r>
              <a:t>The decoder compares exported cell identities, coordinates and orientations against the routed DEF. A deliberately altered placement/export expectation fails, including under Python optimisation, so acceptance is not implemented with removable assert-only checks. Raw file SHA256 is a run-specific fingerprint because stream-out timestamps can change.</a:t>
            </a:r>
          </a:p>
          <a:p xmlns:a="http://schemas.openxmlformats.org/drawingml/2006/main">
            <a:r>
              <a:t/>
            </a:r>
          </a:p>
          <a:p xmlns:a="http://schemas.openxmlformats.org/drawingml/2006/main">
            <a:r>
              <a:t>The OpenROAD router-rule DRC report is empty. It is not a foundry-deck DRC result. LVS, antenna, scan/DFT, power integrity, padframe, tap/endcap strategy and manufacturing signoff remain unperformed. No empty routing report is promoted into a DRC-clean tapeout claim.</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Foundry DRC requires the applicable, qualified rule deck and an inspected report on the final polygons. Typical checks include minimum widths, spacing and enclosure. No foundry-deck DRC result has been accepted for this protocol reference. The router report is narrower evidence.</a:t>
            </a:r>
          </a:p>
          <a:p xmlns:a="http://schemas.openxmlformats.org/drawingml/2006/main">
            <a:r>
              <a:t/>
            </a:r>
          </a:p>
          <a:p xmlns:a="http://schemas.openxmlformats.org/drawingml/2006/main">
            <a:r>
              <a:t>LVS requires extracting a circuit from the layout and comparing devices and connectivity with the intended circuit. A structural GDS decoder checking cell references, coordinates and orientations does not perform that extraction or connectivity comparison. No accepted LVS match is available.</a:t>
            </a:r>
          </a:p>
          <a:p xmlns:a="http://schemas.openxmlformats.org/drawingml/2006/main">
            <a:r>
              <a:t/>
            </a:r>
          </a:p>
          <a:p xmlns:a="http://schemas.openxmlformats.org/drawingml/2006/main">
            <a:r>
              <a:t>Antenna, scan/DFT, power integrity, padframe, tap/endcap strategy and manufacturing release remain unperformed. The golden APB primer reports its own separate checks; those results do not transfer to SG13G2 or to this design.</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The directed functional result and the physical export result are both useful, but they prove different things. The physical build uses the fixed wrapper configuration and reference constraints. Additional modes, external peripherals, arbitrary clock relationships and board operation require their own evidence.</a:t>
            </a:r>
          </a:p>
          <a:p xmlns:a="http://schemas.openxmlformats.org/drawingml/2006/main">
            <a:r>
              <a:t/>
            </a:r>
          </a:p>
          <a:p xmlns:a="http://schemas.openxmlformats.org/drawingml/2006/main">
            <a:r>
              <a:t>Important protocol boundary: No external PHY, MDIO, collision handling or network stack. Test clocks are phase-offset at the same nominal frequency; drift is untested.</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The proven entry point is a WSL login Bash shell. igny init prepares the packaging runtime. Unsetting CRUCIBLE_ENV after initialisation allows the unit crucible.toml workspace selection to control tool resolution rather than an inherited environment override. This is the observed workflow, not a change to Crucible internals.</a:t>
            </a:r>
          </a:p>
          <a:p xmlns:a="http://schemas.openxmlformats.org/drawingml/2006/main">
            <a:r>
              <a:t/>
            </a:r>
          </a:p>
          <a:p xmlns:a="http://schemas.openxmlformats.org/drawingml/2006/main">
            <a:r>
              <a:t>Each unit has its existing environment and lock. The common tool set includes Icarus, Verilator, Yosys, OpenROAD and klayout-stream. The separate PDK checkout is IHP SG13G2 revision 22f43352dd8219f9007eb659e422e0d5fe28c5fb. A tool lock does not pin that external PDK by itself; IHP_PDK_ROOT must point to the matching installation.</a:t>
            </a:r>
          </a:p>
          <a:p xmlns:a="http://schemas.openxmlformats.org/drawingml/2006/main">
            <a:r>
              <a:t/>
            </a:r>
          </a:p>
          <a:p xmlns:a="http://schemas.openxmlformats.org/drawingml/2006/main">
            <a:r>
              <a:t>The documented machine could not use the pip klayout package as the expected stream-out executable; igny tool install klayout-stream supplies the proven converter. make lint sim checks functional behaviour, make flow executes the staged implementation, and node verify_build.mjs all inspects artifacts. Review normal and intentionally failing logs before accepting the result.</a:t>
            </a:r>
          </a:p>
          <a:p xmlns:a="http://schemas.openxmlformats.org/drawingml/2006/main">
            <a:r>
              <a:t/>
            </a:r>
          </a:p>
          <a:p xmlns:a="http://schemas.openxmlformats.org/drawingml/2006/main">
            <a:r>
              <a:t>Re-running a simulation can replace its VCD and invalidate an earlier document trace hash. Retain a document evidence manifest or regenerate the measured figures after the positive run. Do not silently preserve an old chart while claiming it is the newly generated waveform.</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Upstream: https://github.com/alexforencich/verilog-ethernet</a:t>
            </a:r>
          </a:p>
          <a:p xmlns:a="http://schemas.openxmlformats.org/drawingml/2006/main">
            <a:r>
              <a:t>Pinned commit: 77320a9471d19c7dd383914bc049e02d9f4f1ffb</a:t>
            </a:r>
          </a:p>
          <a:p xmlns:a="http://schemas.openxmlformats.org/drawingml/2006/main">
            <a:r>
              <a:t>Licence: MIT, Alex Forencich; per-file notices retained. Original source notices remain in the RTL. The document is authored by Ignytion; this does not transfer ownership of upstream code or remove its licence obligations.</a:t>
            </a:r>
          </a:p>
          <a:p xmlns:a="http://schemas.openxmlformats.org/drawingml/2006/main">
            <a:r>
              <a:t/>
            </a:r>
          </a:p>
          <a:p xmlns:a="http://schemas.openxmlformats.org/drawingml/2006/main">
            <a:r>
              <a:t>Local modifications, directed test stimulus and source boundaries are recorded in hw/protocols/stretch/ethernet/README.md and the repository append-only .context.md. The first three protocol lessons have separate editable 16:9 student decks; this A4 technical note is a reading and evidence document, not a replacement for their instructor notes.</a:t>
            </a:r>
          </a:p>
          <a:p xmlns:a="http://schemas.openxmlformats.org/drawingml/2006/main">
            <a:r>
              <a:t/>
            </a:r>
          </a:p>
          <a:p xmlns:a="http://schemas.openxmlformats.org/drawingml/2006/main">
            <a:r>
              <a:t>Primary reading: The checked-in KSZ8081MLX PHY data sheet for MII, IEEE 802.3 as the canonical standard, and the pinned MAC RTL.</a:t>
            </a:r>
          </a:p>
          <a:p xmlns:a="http://schemas.openxmlformats.org/drawingml/2006/main">
            <a:r>
              <a:t>Canonical standard catalogue: https://standards.ieee.org/standard/802_3-2022.html; local PHY snapshot: specs/Ethernet_Specification.pdf</a:t>
            </a:r>
          </a:p>
          <a:p xmlns:a="http://schemas.openxmlformats.org/drawingml/2006/main">
            <a:r>
              <a:t/>
            </a:r>
          </a:p>
          <a:p xmlns:a="http://schemas.openxmlformats.org/drawingml/2006/main">
            <a:r>
              <a:t>Open work remains explicit: No external PHY, MDIO, collision handling or network stack. Test clocks are phase-offset at the same nominal frequency; drift is untested. Full-chip integration, manufacturing checks and board validation are not closed by the standalone reference flow. The reader can reproduce the listed evidence without assuming those larger obligations have already been completed.</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Ignytion IO - CRUCIBLE CORE</a:t>
            </a:r>
          </a:p>
          <a:p xmlns:a="http://schemas.openxmlformats.org/drawingml/2006/main">
            <a:r>
              <a:t>Copyright (c) 2026 Ignytion IO. All rights reserved.</a:t>
            </a:r>
          </a:p>
          <a:p xmlns:a="http://schemas.openxmlformats.org/drawingml/2006/main">
            <a:r>
              <a:t>Author: IGNYTION_TECH</a:t>
            </a:r>
          </a:p>
          <a:p xmlns:a="http://schemas.openxmlformats.org/drawingml/2006/main">
            <a:r>
              <a:t>File: docs/Ethernet_10M_Protocol_RTL_to_GDS_Ignytion_A4.pptx</a:t>
            </a:r>
          </a:p>
          <a:p xmlns:a="http://schemas.openxmlformats.org/drawingml/2006/main">
            <a:r>
              <a:t>Created: 2026-10-03</a:t>
            </a:r>
          </a:p>
          <a:p xmlns:a="http://schemas.openxmlformats.org/drawingml/2006/main">
            <a:r>
              <a:t/>
            </a:r>
          </a:p>
          <a:p xmlns:a="http://schemas.openxmlformats.org/drawingml/2006/main">
            <a:r>
              <a:t/>
            </a:r>
          </a:p>
          <a:p xmlns:a="http://schemas.openxmlformats.org/drawingml/2006/main">
            <a:r>
              <a:t/>
            </a:r>
          </a:p>
          <a:p xmlns:a="http://schemas.openxmlformats.org/drawingml/2006/main">
            <a:r>
              <a:t>Source area: hw/protocols/stretch/ethernet</a:t>
            </a:r>
          </a:p>
          <a:p xmlns:a="http://schemas.openxmlformats.org/drawingml/2006/main">
            <a:r>
              <a:t>https://github.com/alexforencich/verilog-ethernet</a:t>
            </a:r>
          </a:p>
          <a:p xmlns:a="http://schemas.openxmlformats.org/drawingml/2006/main">
            <a:r>
              <a:t>Pinned commit 77320a9471d19c7dd383914bc049e02d9f4f1ffb</a:t>
            </a:r>
          </a:p>
          <a:p xmlns:a="http://schemas.openxmlformats.org/drawingml/2006/main">
            <a:r>
              <a:t>Original upstream notice:</a:t>
            </a:r>
          </a:p>
          <a:p xmlns:a="http://schemas.openxmlformats.org/drawingml/2006/main">
            <a:r>
              <a:t>// ===============================================================================</a:t>
            </a:r>
          </a:p>
          <a:p xmlns:a="http://schemas.openxmlformats.org/drawingml/2006/main">
            <a:r>
              <a:t>// Ignytion IO - CRUCIBLE CORE</a:t>
            </a:r>
          </a:p>
          <a:p xmlns:a="http://schemas.openxmlformats.org/drawingml/2006/main">
            <a:r>
              <a:t>// Copyright (c) 2026 Ignytion IO. All rights reserved.</a:t>
            </a:r>
          </a:p>
          <a:p xmlns:a="http://schemas.openxmlformats.org/drawingml/2006/main">
            <a:r>
              <a:t>// Author      : IGNYTION_TECH</a:t>
            </a:r>
          </a:p>
          <a:p xmlns:a="http://schemas.openxmlformats.org/drawingml/2006/main">
            <a:r>
              <a:t>// File        : hw/protocols/stretch/ethernet/UPSTREAM_LICENSE.txt</a:t>
            </a:r>
          </a:p>
          <a:p xmlns:a="http://schemas.openxmlformats.org/drawingml/2006/main">
            <a:r>
              <a:t>// Created     : 2026-10-03</a:t>
            </a:r>
          </a:p>
          <a:p xmlns:a="http://schemas.openxmlformats.org/drawingml/2006/main">
            <a:r>
              <a:t>// Description : 10 Mbit MII MAC reference integration; original notices preserved.</a:t>
            </a:r>
          </a:p>
          <a:p xmlns:a="http://schemas.openxmlformats.org/drawingml/2006/main">
            <a:r>
              <a:t>// ===============================================================================</a:t>
            </a:r>
          </a:p>
          <a:p xmlns:a="http://schemas.openxmlformats.org/drawingml/2006/main">
            <a:r>
              <a:t>Copyright (c) 2014-2018 Alex Forencich</a:t>
            </a:r>
          </a:p>
          <a:p xmlns:a="http://schemas.openxmlformats.org/drawingml/2006/main">
            <a:r>
              <a:t/>
            </a:r>
          </a:p>
          <a:p xmlns:a="http://schemas.openxmlformats.org/drawingml/2006/main">
            <a:r>
              <a:t>Permission is hereby granted, free of charge, to any person obtaining a copy</a:t>
            </a:r>
          </a:p>
          <a:p xmlns:a="http://schemas.openxmlformats.org/drawingml/2006/main">
            <a:r>
              <a:t>of this software and associated documentation files (the "Software"), to deal</a:t>
            </a:r>
          </a:p>
          <a:p xmlns:a="http://schemas.openxmlformats.org/drawingml/2006/main">
            <a:r>
              <a:t>in the Software without restriction, including without limitation the rights</a:t>
            </a:r>
          </a:p>
          <a:p xmlns:a="http://schemas.openxmlformats.org/drawingml/2006/main">
            <a:r>
              <a:t>to use, copy, modify, merge, publish, distribute, sublicense, and/or sell</a:t>
            </a:r>
          </a:p>
          <a:p xmlns:a="http://schemas.openxmlformats.org/drawingml/2006/main">
            <a:r>
              <a:t>copies of the Software, and to permit persons to whom the Software is</a:t>
            </a:r>
          </a:p>
          <a:p xmlns:a="http://schemas.openxmlformats.org/drawingml/2006/main">
            <a:r>
              <a:t>furnished to do so, subject to the following conditions:</a:t>
            </a:r>
          </a:p>
          <a:p xmlns:a="http://schemas.openxmlformats.org/drawingml/2006/main">
            <a:r>
              <a:t/>
            </a:r>
          </a:p>
          <a:p xmlns:a="http://schemas.openxmlformats.org/drawingml/2006/main">
            <a:r>
              <a:t>The above copyright notice and this permission notice shall be included in</a:t>
            </a:r>
          </a:p>
          <a:p xmlns:a="http://schemas.openxmlformats.org/drawingml/2006/main">
            <a:r>
              <a:t>all copies or substantial portions of the Software.</a:t>
            </a:r>
          </a:p>
          <a:p xmlns:a="http://schemas.openxmlformats.org/drawingml/2006/main">
            <a:r>
              <a:t/>
            </a:r>
          </a:p>
          <a:p xmlns:a="http://schemas.openxmlformats.org/drawingml/2006/main">
            <a:r>
              <a:t>THE SOFTWARE IS PROVIDED "AS IS", WITHOUT WARRANTY OF ANY KIND, EXPRESS OR</a:t>
            </a:r>
          </a:p>
          <a:p xmlns:a="http://schemas.openxmlformats.org/drawingml/2006/main">
            <a:r>
              <a:t>IMPLIED, INCLUDING BUT NOT LIMITED TO THE WARRANTIES OF MERCHANTABILITY</a:t>
            </a:r>
          </a:p>
          <a:p xmlns:a="http://schemas.openxmlformats.org/drawingml/2006/main">
            <a:r>
              <a:t>FITNESS FOR A PARTICULAR PURPOSE AND NONINFRINGEMENT. IN NO EVENT SHALL THE</a:t>
            </a:r>
          </a:p>
          <a:p xmlns:a="http://schemas.openxmlformats.org/drawingml/2006/main">
            <a:r>
              <a:t>AUTHORS OR COPYRIGHT HOLDERS BE LIABLE FOR ANY CLAIM, DAMAGES OR OTHER</a:t>
            </a:r>
          </a:p>
          <a:p xmlns:a="http://schemas.openxmlformats.org/drawingml/2006/main">
            <a:r>
              <a:t>LIABILITY, WHETHER IN AN ACTION OF CONTRACT, TORT OR OTHERWISE, ARISING FROM,</a:t>
            </a:r>
          </a:p>
          <a:p xmlns:a="http://schemas.openxmlformats.org/drawingml/2006/main">
            <a:r>
              <a:t>OUT OF OR IN CONNECTION WITH THE SOFTWARE OR THE USE OR OTHER DEALINGS IN</a:t>
            </a:r>
          </a:p>
          <a:p xmlns:a="http://schemas.openxmlformats.org/drawingml/2006/main">
            <a:r>
              <a:t>THE SOFTWARE.</a:t>
            </a:r>
          </a:p>
          <a:p xmlns:a="http://schemas.openxmlformats.org/drawingml/2006/main">
            <a:r>
              <a:t/>
            </a:r>
          </a:p>
          <a:p xmlns:a="http://schemas.openxmlformats.org/drawingml/2006/main">
            <a:r>
              <a:t/>
            </a:r>
          </a:p>
          <a:p xmlns:a="http://schemas.openxmlformats.org/drawingml/2006/main">
            <a:r>
              <a:t/>
            </a:r>
          </a:p>
          <a:p xmlns:a="http://schemas.openxmlformats.org/drawingml/2006/main">
            <a:r>
              <a:t/>
            </a:r>
          </a:p>
          <a:p xmlns:a="http://schemas.openxmlformats.org/drawingml/2006/main">
            <a:r>
              <a:t>Reference build only; foundry DRC/LVS and full-chip signoff unperformed.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507f2ab32746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b11f681d9a45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cc0123ce18247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94f41974fc243f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36bd0df56f243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fd4309b5454f4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f70b7a00084443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7ae92cba9dc44a5"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77328ff987542c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ae6cc77ed5241e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e50f3155dcb4507"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5D52FAB-31D0-4A9A-A524-75EA502E7EAE}"/>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267B5C7D-89D3-4E47-B5FB-55DFE4451BB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D8149889-F7A9-4DE8-B003-C552F16DD9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C6E73341-F363-42F2-9228-8E93D40A2A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442104D-36CF-4447-81DF-87DE56E9BA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239C9FD-931E-466D-96E4-DAC27017F50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869BAE0-4A88-4F32-86FC-39310712DA81}"/>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41C7A6C-0FF3-461C-A202-4B2D5CA78A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D54E96EF-1194-4A45-B79A-978F8342471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0E51D7C-C148-45BF-984F-6F2087F820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9EBE55-16A7-4F6C-A282-FAF57D12AAC7}"/>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4805C8B-9153-4801-98D9-DF72BCC91058}"/>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148A44E-00F0-4B76-B71F-07CE717B52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52090B7A-B582-4F39-AAA4-D5BBECA20F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F401D03-F942-46D8-8BA5-9E45FB86CD7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AD0CA24-F202-417C-A059-F1633C22BF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7BFF19E-4D94-47EA-84CF-95A7996EE20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FF730108-0ED5-4E34-978B-B589F86EA45C}"/>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F243D22E-6E58-4000-BB5F-E5F3AD44B7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FCEE0D5F-7873-4A53-933B-CF81FC4DD5D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3A86D62-11DF-4BFB-A550-510AA46A06B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89C88B3-A6AC-4D66-BD80-AF380DC52B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2B21052-C266-410F-BC9F-1513F1B6D40B}"/>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4F10C6B-ED9B-401D-A6E8-097A1AC09B38}"/>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EF6AE95C-79C3-4A0B-B7C0-9FC806FF944E}"/>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673FD89-D8E5-4A93-9847-57805D0DE424}"/>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89117BAA-7B2A-4D44-A1E8-667FD82C4A0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8" name="Footer Placeholder 7">
            <a:extLst xmlns:a="http://schemas.openxmlformats.org/drawingml/2006/main">
              <a:ext uri="{FF2B5EF4-FFF2-40B4-BE49-F238E27FC236}">
                <a16:creationId xmlns:a16="http://schemas.microsoft.com/office/drawing/2014/main" id="{542064B4-E7CC-4180-A349-820E1689D87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16BA92B4-1051-413D-A352-D8478673DB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A1A47F8-E378-43D0-AA1E-D2060946D15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4F91222A-BA69-4582-A63A-E7549EC9A1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4" name="Footer Placeholder 3">
            <a:extLst xmlns:a="http://schemas.openxmlformats.org/drawingml/2006/main">
              <a:ext uri="{FF2B5EF4-FFF2-40B4-BE49-F238E27FC236}">
                <a16:creationId xmlns:a16="http://schemas.microsoft.com/office/drawing/2014/main" id="{EA61A414-0787-4AA3-A632-05C62DF4CF7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7790FD05-E9D6-4B49-92F6-DBAA60ED03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895D742-982D-4D9A-AD8A-E72B2A2AD5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3" name="Footer Placeholder 2">
            <a:extLst xmlns:a="http://schemas.openxmlformats.org/drawingml/2006/main">
              <a:ext uri="{FF2B5EF4-FFF2-40B4-BE49-F238E27FC236}">
                <a16:creationId xmlns:a16="http://schemas.microsoft.com/office/drawing/2014/main" id="{6CFA049B-EE93-40F0-9EC7-3F454AD7A1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ADCABBB8-35A8-4B00-9A38-92E7FFF596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6419B85-E3C3-4BE3-8AEF-AC05AFFB1AAE}"/>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5A50B76-DF30-460D-8C80-2FADBEE30FB9}"/>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F09584B1-2337-4F44-B7B6-B697EFE6F9BF}"/>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A0A7C61-3CDD-4B6A-B3B0-AD2DA39765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F89DBC24-2D88-427B-89EF-0B4A39BB7A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CFBA6A68-CD45-4ADE-97B0-D33968B9B26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197D22C-3B53-4B39-AD28-FD6AEECE2150}"/>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F88C32D0-DC37-4ACD-89B3-2970B9F6B917}"/>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5D123A58-621E-4124-A101-1F681657F35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3C5B182-5C08-4415-A0C9-0B54264EF57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6" name="Footer Placeholder 5">
            <a:extLst xmlns:a="http://schemas.openxmlformats.org/drawingml/2006/main">
              <a:ext uri="{FF2B5EF4-FFF2-40B4-BE49-F238E27FC236}">
                <a16:creationId xmlns:a16="http://schemas.microsoft.com/office/drawing/2014/main" id="{04D91144-1EDB-4F10-B783-51B2EAEF07C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2D0D3BA-F76A-46E2-9A24-890EC6A214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C624D73-7546-472F-B8C3-C4F04F48C4E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248CB41-6BD0-402A-948E-177F0525A29A}"/>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E9270B60-338D-4A94-84B8-3DB9D27D1AA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1F1B9EF5-15ED-4C7B-8130-4677558E11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35DBCF4-3939-47D5-92A3-1F5EFDFFA9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9E05F05-C041-45AF-8418-04CB3D3E61A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D3A11CB-06B8-4CC6-853E-FB54D481E495}"/>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5C8A5FF-F573-4AC2-B1BB-C4612F76D9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3414F947-91B0-4A68-9445-4A17B73886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2B8D0B2-AD85-4F86-A6DB-8849B4EBD4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0a59dfe1a74faf" /><Relationship Type="http://schemas.openxmlformats.org/officeDocument/2006/relationships/slideLayout" Target="/ppt/slideLayouts/slideLayout1.xml" Id="Rdb98c109201f4d3a" /><Relationship Type="http://schemas.openxmlformats.org/officeDocument/2006/relationships/slideLayout" Target="/ppt/slideLayouts/slideLayout2.xml" Id="R56761a4405c44e72" /><Relationship Type="http://schemas.openxmlformats.org/officeDocument/2006/relationships/slideLayout" Target="/ppt/slideLayouts/slideLayout3.xml" Id="Rdd604200c744406f" /><Relationship Type="http://schemas.openxmlformats.org/officeDocument/2006/relationships/slideLayout" Target="/ppt/slideLayouts/slideLayout4.xml" Id="R41c566e02b5a4466" /><Relationship Type="http://schemas.openxmlformats.org/officeDocument/2006/relationships/slideLayout" Target="/ppt/slideLayouts/slideLayout5.xml" Id="R2e766d8529d1406d" /><Relationship Type="http://schemas.openxmlformats.org/officeDocument/2006/relationships/slideLayout" Target="/ppt/slideLayouts/slideLayout6.xml" Id="Rf5a6057d475f4ea6" /><Relationship Type="http://schemas.openxmlformats.org/officeDocument/2006/relationships/slideLayout" Target="/ppt/slideLayouts/slideLayout7.xml" Id="R644bfc7d34374634" /><Relationship Type="http://schemas.openxmlformats.org/officeDocument/2006/relationships/slideLayout" Target="/ppt/slideLayouts/slideLayout8.xml" Id="R1ba639d5574c41d7" /><Relationship Type="http://schemas.openxmlformats.org/officeDocument/2006/relationships/slideLayout" Target="/ppt/slideLayouts/slideLayout9.xml" Id="R0850f5ccd2df45b0" /><Relationship Type="http://schemas.openxmlformats.org/officeDocument/2006/relationships/slideLayout" Target="/ppt/slideLayouts/slideLayout10.xml" Id="R9005ee9a56a24a1e" /><Relationship Type="http://schemas.openxmlformats.org/officeDocument/2006/relationships/slideLayout" Target="/ppt/slideLayouts/slideLayout11.xml" Id="Rb3bd5b6720d7487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A2C3310-C960-4C45-8566-87D995D21CE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D226DE0-F3FB-4F7F-9505-C7AB66EFE228}"/>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05A381B-48C1-482F-934D-A4C952CBDEA4}"/>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9/21/2026</a:t>
            </a:fld>
            <a:endParaRPr/>
          </a:p>
        </p:txBody>
      </p:sp>
      <p:sp>
        <p:nvSpPr>
          <p:cNvPr id="5" name="Footer Placeholder 4">
            <a:extLst xmlns:a="http://schemas.openxmlformats.org/drawingml/2006/main">
              <a:ext uri="{FF2B5EF4-FFF2-40B4-BE49-F238E27FC236}">
                <a16:creationId xmlns:a16="http://schemas.microsoft.com/office/drawing/2014/main" id="{617B880C-7C59-47E3-96F6-F0D38B6EA2E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5212F16-7E6A-4A26-9AE2-05EF40DCAE79}"/>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98c109201f4d3a"/>
    <p:sldLayoutId xmlns:r="http://schemas.openxmlformats.org/officeDocument/2006/relationships" id="2147483650" r:id="R56761a4405c44e72"/>
    <p:sldLayoutId xmlns:r="http://schemas.openxmlformats.org/officeDocument/2006/relationships" id="2147483651" r:id="Rdd604200c744406f"/>
    <p:sldLayoutId xmlns:r="http://schemas.openxmlformats.org/officeDocument/2006/relationships" id="2147483652" r:id="R41c566e02b5a4466"/>
    <p:sldLayoutId xmlns:r="http://schemas.openxmlformats.org/officeDocument/2006/relationships" id="2147483653" r:id="R2e766d8529d1406d"/>
    <p:sldLayoutId xmlns:r="http://schemas.openxmlformats.org/officeDocument/2006/relationships" id="2147483654" r:id="Rf5a6057d475f4ea6"/>
    <p:sldLayoutId xmlns:r="http://schemas.openxmlformats.org/officeDocument/2006/relationships" id="2147483655" r:id="R644bfc7d34374634"/>
    <p:sldLayoutId xmlns:r="http://schemas.openxmlformats.org/officeDocument/2006/relationships" id="2147483656" r:id="R1ba639d5574c41d7"/>
    <p:sldLayoutId xmlns:r="http://schemas.openxmlformats.org/officeDocument/2006/relationships" id="2147483657" r:id="R0850f5ccd2df45b0"/>
    <p:sldLayoutId xmlns:r="http://schemas.openxmlformats.org/officeDocument/2006/relationships" id="2147483658" r:id="R9005ee9a56a24a1e"/>
    <p:sldLayoutId xmlns:r="http://schemas.openxmlformats.org/officeDocument/2006/relationships" id="2147483659" r:id="Rb3bd5b6720d7487f"/>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e1cc677715694cab" /><Relationship Type="http://schemas.openxmlformats.org/officeDocument/2006/relationships/image" Target="/ppt/media/image.png" Id="Ra9d9538413da4f41" /><Relationship Type="http://schemas.openxmlformats.org/officeDocument/2006/relationships/notesSlide" Target="/ppt/notesSlides/notesSlide1.xml" Id="R3eb7b124e82e4c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40203deb850d4a1c" /><Relationship Type="http://schemas.openxmlformats.org/officeDocument/2006/relationships/image" Target="/ppt/media/image.png" Id="Rfb3bf6f84efa481e" /><Relationship Type="http://schemas.openxmlformats.org/officeDocument/2006/relationships/notesSlide" Target="/ppt/notesSlides/notesSlide2.xml" Id="R28b1bcbc14e84d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9716a31a16eb4182" /><Relationship Type="http://schemas.openxmlformats.org/officeDocument/2006/relationships/image" Target="/ppt/media/image.png" Id="Rf6b0e8a4d9df4053" /><Relationship Type="http://schemas.openxmlformats.org/officeDocument/2006/relationships/notesSlide" Target="/ppt/notesSlides/notesSlide3.xml" Id="Rc15d61c36b404e1d"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0b3a61ee87284182" /><Relationship Type="http://schemas.openxmlformats.org/officeDocument/2006/relationships/image" Target="/ppt/media/image.png" Id="R25a1a66d38664b46" /><Relationship Type="http://schemas.openxmlformats.org/officeDocument/2006/relationships/notesSlide" Target="/ppt/notesSlides/notesSlide4.xml" Id="R2d9219cf8d13479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45746193fa414d18" /><Relationship Type="http://schemas.openxmlformats.org/officeDocument/2006/relationships/image" Target="/ppt/media/image.png" Id="Ra95f28e3189a4c7b" /><Relationship Type="http://schemas.openxmlformats.org/officeDocument/2006/relationships/notesSlide" Target="/ppt/notesSlides/notesSlide5.xml" Id="R6fa14772cd4349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8859a55ba443420d" /><Relationship Type="http://schemas.openxmlformats.org/officeDocument/2006/relationships/image" Target="/ppt/media/image.png" Id="R11e46304ff924d1f" /><Relationship Type="http://schemas.openxmlformats.org/officeDocument/2006/relationships/notesSlide" Target="/ppt/notesSlides/notesSlide6.xml" Id="R6cb0214c883f40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b4c19846cca24c16" /><Relationship Type="http://schemas.openxmlformats.org/officeDocument/2006/relationships/image" Target="/ppt/media/image.png" Id="Rb3c44b1c346f4a22" /><Relationship Type="http://schemas.openxmlformats.org/officeDocument/2006/relationships/notesSlide" Target="/ppt/notesSlides/notesSlide7.xml" Id="R25012cd1ee4645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7c80a42088734fd8" /><Relationship Type="http://schemas.openxmlformats.org/officeDocument/2006/relationships/image" Target="/ppt/media/image.png" Id="Reee399a6b00442a4" /><Relationship Type="http://schemas.openxmlformats.org/officeDocument/2006/relationships/notesSlide" Target="/ppt/notesSlides/notesSlide8.xml" Id="Rf5234e326d8445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0b5369780347498a" /><Relationship Type="http://schemas.openxmlformats.org/officeDocument/2006/relationships/image" Target="/ppt/media/image.png" Id="Re074cf90747e4201" /><Relationship Type="http://schemas.openxmlformats.org/officeDocument/2006/relationships/notesSlide" Target="/ppt/notesSlides/notesSlide9.xml" Id="R659440cd0d0e4b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cf188a337cff414d" /><Relationship Type="http://schemas.openxmlformats.org/officeDocument/2006/relationships/image" Target="/ppt/media/image.png" Id="Rfe863ae39e3e4135" /><Relationship Type="http://schemas.openxmlformats.org/officeDocument/2006/relationships/notesSlide" Target="/ppt/notesSlides/notesSlide10.xml" Id="Rb890e9799af841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93532d73b63d471d" /><Relationship Type="http://schemas.openxmlformats.org/officeDocument/2006/relationships/image" Target="/ppt/media/image.png" Id="Rc81a43036dc746f3" /><Relationship Type="http://schemas.openxmlformats.org/officeDocument/2006/relationships/notesSlide" Target="/ppt/notesSlides/notesSlide11.xml" Id="Rb4f78f398b1443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8c01fc06d224473c" /><Relationship Type="http://schemas.openxmlformats.org/officeDocument/2006/relationships/image" Target="/ppt/media/image.png" Id="R080670c4fe2544d6" /><Relationship Type="http://schemas.openxmlformats.org/officeDocument/2006/relationships/notesSlide" Target="/ppt/notesSlides/notesSlide12.xml" Id="R80f34bf279b84b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a865b2eb6a0e44be" /><Relationship Type="http://schemas.openxmlformats.org/officeDocument/2006/relationships/image" Target="/ppt/media/image.png" Id="Rd75553641185426d" /><Relationship Type="http://schemas.openxmlformats.org/officeDocument/2006/relationships/notesSlide" Target="/ppt/notesSlides/notesSlide13.xml" Id="R9b2cfe9f0ec942d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281a066580ca47a4" /><Relationship Type="http://schemas.openxmlformats.org/officeDocument/2006/relationships/image" Target="/ppt/media/image.png" Id="R04f66af3f8c840ac" /><Relationship Type="http://schemas.openxmlformats.org/officeDocument/2006/relationships/notesSlide" Target="/ppt/notesSlides/notesSlide14.xml" Id="Rf7d091745c6b4c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5ba79ff6b4cb4e01" /><Relationship Type="http://schemas.openxmlformats.org/officeDocument/2006/relationships/image" Target="/ppt/media/image.png" Id="R428fee9c0cab4e67" /><Relationship Type="http://schemas.openxmlformats.org/officeDocument/2006/relationships/notesSlide" Target="/ppt/notesSlides/notesSlide15.xml" Id="Rceee80f75b85494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dd9591b5638d407b" /><Relationship Type="http://schemas.openxmlformats.org/officeDocument/2006/relationships/image" Target="/ppt/media/image.png" Id="R40de39ba421140fb" /><Relationship Type="http://schemas.openxmlformats.org/officeDocument/2006/relationships/notesSlide" Target="/ppt/notesSlides/notesSlide16.xml" Id="R8096cb814a9f4f0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1f02024571a945a0" /><Relationship Type="http://schemas.openxmlformats.org/officeDocument/2006/relationships/image" Target="/ppt/media/image.png" Id="R32d24e1d60914d01" /><Relationship Type="http://schemas.openxmlformats.org/officeDocument/2006/relationships/notesSlide" Target="/ppt/notesSlides/notesSlide17.xml" Id="Ra4993ecb261a49c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8e917734bb99425e" /><Relationship Type="http://schemas.openxmlformats.org/officeDocument/2006/relationships/image" Target="/ppt/media/image.png" Id="Rc5229e7f853647c3" /><Relationship Type="http://schemas.openxmlformats.org/officeDocument/2006/relationships/notesSlide" Target="/ppt/notesSlides/notesSlide18.xml" Id="Re6b564bd403c4f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03839ac35fd445d8" /><Relationship Type="http://schemas.openxmlformats.org/officeDocument/2006/relationships/image" Target="/ppt/media/image.png" Id="R73a917d3980046ca" /><Relationship Type="http://schemas.openxmlformats.org/officeDocument/2006/relationships/notesSlide" Target="/ppt/notesSlides/notesSlide19.xml" Id="R56a90ed977b0404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d7bf8763a2944db3" /><Relationship Type="http://schemas.openxmlformats.org/officeDocument/2006/relationships/image" Target="/ppt/media/image.png" Id="Rffcd06b7d975447e" /><Relationship Type="http://schemas.openxmlformats.org/officeDocument/2006/relationships/notesSlide" Target="/ppt/notesSlides/notesSlide20.xml" Id="Rd49d23396b83439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b41534eb2cc747c3" /><Relationship Type="http://schemas.openxmlformats.org/officeDocument/2006/relationships/image" Target="/ppt/media/image.png" Id="Rd896494751e147a4" /><Relationship Type="http://schemas.openxmlformats.org/officeDocument/2006/relationships/notesSlide" Target="/ppt/notesSlides/notesSlide21.xml" Id="Rb9ab6a95426d4ab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0f250bc4fdc942df" /><Relationship Type="http://schemas.openxmlformats.org/officeDocument/2006/relationships/image" Target="/ppt/media/image.png" Id="R1baf45a828bd4eed" /><Relationship Type="http://schemas.openxmlformats.org/officeDocument/2006/relationships/notesSlide" Target="/ppt/notesSlides/notesSlide22.xml" Id="R1b439d25ad7f496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b69144221cf94e03" /><Relationship Type="http://schemas.openxmlformats.org/officeDocument/2006/relationships/image" Target="/ppt/media/image.png" Id="Rb117502749f5496a" /><Relationship Type="http://schemas.openxmlformats.org/officeDocument/2006/relationships/notesSlide" Target="/ppt/notesSlides/notesSlide23.xml" Id="R05925fe2eb494ac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c74ad91f4a0946d5" /><Relationship Type="http://schemas.openxmlformats.org/officeDocument/2006/relationships/image" Target="/ppt/media/image.png" Id="R6b5149cee17041c5" /><Relationship Type="http://schemas.openxmlformats.org/officeDocument/2006/relationships/notesSlide" Target="/ppt/notesSlides/notesSlide24.xml" Id="Rad2452b40157483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F7DA732-9D5F-4894-BF9E-3984501793F4}"/>
              </a:ext>
            </a:extLst>
          </p:cNvPr>
          <p:cNvSpPr>
            <a:spLocks xmlns:a="http://schemas.openxmlformats.org/drawingml/2006/main" noGrp="1"/>
          </p:cNvSpPr>
          <p:nvPr/>
        </p:nvSpPr>
        <p:spPr>
          <a:xfrm xmlns:a="http://schemas.openxmlformats.org/drawingml/2006/main">
            <a:off x="0" y="0"/>
            <a:ext cx="7562088" cy="73152"/>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45" name="Picture 2"/>
          <p:cNvPicPr>
            <a:picLocks xmlns:a="http://schemas.openxmlformats.org/drawingml/2006/main" noChangeAspect="1"/>
          </p:cNvPicPr>
          <p:nvPr/>
        </p:nvPicPr>
        <p:blipFill>
          <a:blip xmlns:r="http://schemas.openxmlformats.org/officeDocument/2006/relationships" xmlns:a="http://schemas.openxmlformats.org/drawingml/2006/main" r:embed="Ra9d9538413da4f41"/>
          <a:stretch xmlns:a="http://schemas.openxmlformats.org/drawingml/2006/main">
            <a:fillRect l="0" t="0" r="0" b="0"/>
          </a:stretch>
        </p:blipFill>
        <p:spPr>
          <a:xfrm xmlns:a="http://schemas.openxmlformats.org/drawingml/2006/main">
            <a:off x="395935" y="425196"/>
            <a:ext cx="701344" cy="88699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2351C3AC-6661-4AC5-84E8-20E0C9F6B6F6}"/>
              </a:ext>
            </a:extLst>
          </p:cNvPr>
          <p:cNvSpPr>
            <a:spLocks xmlns:a="http://schemas.openxmlformats.org/drawingml/2006/main" noGrp="1"/>
          </p:cNvSpPr>
          <p:nvPr/>
        </p:nvSpPr>
        <p:spPr>
          <a:xfrm xmlns:a="http://schemas.openxmlformats.org/drawingml/2006/main">
            <a:off x="1188720" y="813816"/>
            <a:ext cx="1801368" cy="365760"/>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2400" b="1">
                <a:solidFill>
                  <a:srgbClr val="111111"/>
                </a:solidFill>
                <a:latin typeface="Segoe UI"/>
                <a:ea typeface="Segoe UI"/>
                <a:cs typeface="Segoe UI"/>
              </a:rPr>
              <a:t>Ignytion </a:t>
            </a:r>
            <a:r>
              <a:rPr sz="2400" b="1">
                <a:solidFill>
                  <a:srgbClr val="EF9529"/>
                </a:solidFill>
                <a:latin typeface="Segoe UI"/>
                <a:ea typeface="Segoe UI"/>
                <a:cs typeface="Segoe UI"/>
              </a:rPr>
              <a:t>io</a:t>
            </a:r>
          </a:p>
        </p:txBody>
      </p:sp>
      <p:sp>
        <p:nvSpPr>
          <p:cNvPr id="35" name="Rectangle 34">
            <a:extLst xmlns:a="http://schemas.openxmlformats.org/drawingml/2006/main">
              <a:ext uri="{FF2B5EF4-FFF2-40B4-BE49-F238E27FC236}">
                <a16:creationId xmlns:a16="http://schemas.microsoft.com/office/drawing/2014/main" id="{BFFDB78B-2900-45AA-86D9-2D4B3CFC44B3}"/>
              </a:ext>
            </a:extLst>
          </p:cNvPr>
          <p:cNvSpPr>
            <a:spLocks xmlns:a="http://schemas.openxmlformats.org/drawingml/2006/main" noGrp="1"/>
          </p:cNvSpPr>
          <p:nvPr/>
        </p:nvSpPr>
        <p:spPr>
          <a:xfrm xmlns:a="http://schemas.openxmlformats.org/drawingml/2006/main">
            <a:off x="502920" y="99669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9494B8F2-8618-4EF5-9195-3C5A9277FADC}"/>
              </a:ext>
            </a:extLst>
          </p:cNvPr>
          <p:cNvSpPr>
            <a:spLocks xmlns:a="http://schemas.openxmlformats.org/drawingml/2006/main" noGrp="1"/>
          </p:cNvSpPr>
          <p:nvPr/>
        </p:nvSpPr>
        <p:spPr>
          <a:xfrm xmlns:a="http://schemas.openxmlformats.org/drawingml/2006/main">
            <a:off x="502920" y="10040112"/>
            <a:ext cx="27432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Ignytion IO · ignytion.io</a:t>
            </a:r>
          </a:p>
        </p:txBody>
      </p:sp>
      <p:sp>
        <p:nvSpPr>
          <p:cNvPr id="37" name="TextBox 36">
            <a:extLst xmlns:a="http://schemas.openxmlformats.org/drawingml/2006/main">
              <a:ext uri="{FF2B5EF4-FFF2-40B4-BE49-F238E27FC236}">
                <a16:creationId xmlns:a16="http://schemas.microsoft.com/office/drawing/2014/main" id="{559D7EC6-8526-4416-B9A6-BDB89596914D}"/>
              </a:ext>
            </a:extLst>
          </p:cNvPr>
          <p:cNvSpPr>
            <a:spLocks xmlns:a="http://schemas.openxmlformats.org/drawingml/2006/main" noGrp="1"/>
          </p:cNvSpPr>
          <p:nvPr/>
        </p:nvSpPr>
        <p:spPr>
          <a:xfrm xmlns:a="http://schemas.openxmlformats.org/drawingml/2006/main">
            <a:off x="4315968" y="10040112"/>
            <a:ext cx="274320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10 MBIT ETHERNET PROTOCOL SERIES · OCTOBER 2026</a:t>
            </a:r>
          </a:p>
        </p:txBody>
      </p:sp>
      <p:sp>
        <p:nvSpPr>
          <p:cNvPr id="39" name="eyebrow">
            <a:extLst xmlns:a="http://schemas.openxmlformats.org/drawingml/2006/main">
              <a:ext uri="{FF2B5EF4-FFF2-40B4-BE49-F238E27FC236}">
                <a16:creationId xmlns:a16="http://schemas.microsoft.com/office/drawing/2014/main" id="{779414FD-F6E5-4AD8-BBD9-4AE8F9671D44}"/>
              </a:ext>
            </a:extLst>
          </p:cNvPr>
          <p:cNvSpPr>
            <a:spLocks xmlns:a="http://schemas.openxmlformats.org/drawingml/2006/main" noGrp="1"/>
          </p:cNvSpPr>
          <p:nvPr/>
        </p:nvSpPr>
        <p:spPr>
          <a:xfrm xmlns:a="http://schemas.openxmlformats.org/drawingml/2006/main">
            <a:off x="502920" y="1920240"/>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00" b="1">
                <a:solidFill>
                  <a:srgbClr val="EF9529"/>
                </a:solidFill>
                <a:latin typeface="Segoe UI"/>
                <a:ea typeface="Segoe UI"/>
                <a:cs typeface="Segoe UI"/>
              </a:defRPr>
            </a:pPr>
            <a:r>
              <a:rPr sz="1100" b="1">
                <a:solidFill>
                  <a:srgbClr val="EF9529"/>
                </a:solidFill>
                <a:latin typeface="Segoe UI"/>
                <a:ea typeface="Segoe UI"/>
                <a:cs typeface="Segoe UI"/>
              </a:rPr>
              <a:t>IGNYTION IO · TECHNICAL LAB NOTE</a:t>
            </a:r>
          </a:p>
        </p:txBody>
      </p:sp>
      <p:sp>
        <p:nvSpPr>
          <p:cNvPr id="40" name="cover-title">
            <a:extLst xmlns:a="http://schemas.openxmlformats.org/drawingml/2006/main">
              <a:ext uri="{FF2B5EF4-FFF2-40B4-BE49-F238E27FC236}">
                <a16:creationId xmlns:a16="http://schemas.microsoft.com/office/drawing/2014/main" id="{23E51A54-F868-4878-B457-CA56DB740B7B}"/>
              </a:ext>
            </a:extLst>
          </p:cNvPr>
          <p:cNvSpPr>
            <a:spLocks xmlns:a="http://schemas.openxmlformats.org/drawingml/2006/main" noGrp="1"/>
          </p:cNvSpPr>
          <p:nvPr/>
        </p:nvSpPr>
        <p:spPr>
          <a:xfrm xmlns:a="http://schemas.openxmlformats.org/drawingml/2006/main">
            <a:off x="502920" y="2468880"/>
            <a:ext cx="6556248" cy="2011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400" b="1">
                <a:solidFill>
                  <a:srgbClr val="111111"/>
                </a:solidFill>
                <a:latin typeface="Segoe UI"/>
                <a:ea typeface="Segoe UI"/>
                <a:cs typeface="Segoe UI"/>
              </a:defRPr>
            </a:pPr>
            <a:r>
              <a:rPr sz="3400" b="1">
                <a:solidFill>
                  <a:srgbClr val="111111"/>
                </a:solidFill>
                <a:latin typeface="Segoe UI"/>
                <a:ea typeface="Segoe UI"/>
                <a:cs typeface="Segoe UI"/>
              </a:rPr>
              <a:t>10 Mbit Ethernet protocol:</a:t>
            </a:r>
          </a:p>
          <a:p xmlns:a="http://schemas.openxmlformats.org/drawingml/2006/main">
            <a:pPr>
              <a:defRPr sz="3400" b="1">
                <a:solidFill>
                  <a:srgbClr val="111111"/>
                </a:solidFill>
                <a:latin typeface="Segoe UI"/>
                <a:ea typeface="Segoe UI"/>
                <a:cs typeface="Segoe UI"/>
              </a:defRPr>
            </a:pPr>
            <a:r>
              <a:rPr sz="3400" b="1">
                <a:solidFill>
                  <a:srgbClr val="111111"/>
                </a:solidFill>
                <a:latin typeface="Segoe UI"/>
                <a:ea typeface="Segoe UI"/>
                <a:cs typeface="Segoe UI"/>
              </a:rPr>
              <a:t>From RTL to routed GDS</a:t>
            </a:r>
          </a:p>
        </p:txBody>
      </p:sp>
      <p:sp>
        <p:nvSpPr>
          <p:cNvPr id="41" name="intro">
            <a:extLst xmlns:a="http://schemas.openxmlformats.org/drawingml/2006/main">
              <a:ext uri="{FF2B5EF4-FFF2-40B4-BE49-F238E27FC236}">
                <a16:creationId xmlns:a16="http://schemas.microsoft.com/office/drawing/2014/main" id="{8A7F3D70-497D-48F5-9764-6C79C9899588}"/>
              </a:ext>
            </a:extLst>
          </p:cNvPr>
          <p:cNvSpPr>
            <a:spLocks xmlns:a="http://schemas.openxmlformats.org/drawingml/2006/main" noGrp="1"/>
          </p:cNvSpPr>
          <p:nvPr/>
        </p:nvSpPr>
        <p:spPr>
          <a:xfrm xmlns:a="http://schemas.openxmlformats.org/drawingml/2006/main">
            <a:off x="502920" y="4754880"/>
            <a:ext cx="6556248"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400" b="0">
                <a:solidFill>
                  <a:srgbClr val="EF9529"/>
                </a:solidFill>
                <a:latin typeface="Segoe UI"/>
                <a:ea typeface="Segoe UI"/>
                <a:cs typeface="Segoe UI"/>
              </a:defRPr>
            </a:pPr>
            <a:r>
              <a:rPr sz="1400" b="0">
                <a:solidFill>
                  <a:srgbClr val="EF9529"/>
                </a:solidFill>
                <a:latin typeface="Segoe UI"/>
                <a:ea typeface="Segoe UI"/>
                <a:cs typeface="Segoe UI"/>
              </a:rPr>
              <a:t>A beginner's walkthrough of a checked open-source reference build</a:t>
            </a:r>
          </a:p>
        </p:txBody>
      </p:sp>
      <p:sp>
        <p:nvSpPr>
          <p:cNvPr id="42" name="body-0">
            <a:extLst xmlns:a="http://schemas.openxmlformats.org/drawingml/2006/main">
              <a:ext uri="{FF2B5EF4-FFF2-40B4-BE49-F238E27FC236}">
                <a16:creationId xmlns:a16="http://schemas.microsoft.com/office/drawing/2014/main" id="{4A5F332C-C114-4CF2-8890-48EED14B083A}"/>
              </a:ext>
            </a:extLst>
          </p:cNvPr>
          <p:cNvSpPr>
            <a:spLocks xmlns:a="http://schemas.openxmlformats.org/drawingml/2006/main" noGrp="1"/>
          </p:cNvSpPr>
          <p:nvPr/>
        </p:nvSpPr>
        <p:spPr>
          <a:xfrm xmlns:a="http://schemas.openxmlformats.org/drawingml/2006/main">
            <a:off x="502920" y="5486400"/>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Follow ethernet_core from its communication rules and Verilog </a:t>
            </a:r>
            <a:r>
              <a:rPr b="1"/>
              <a:t>source</a:t>
            </a:r>
            <a:r>
              <a:t> to a routed IHP SG13G2
layout. Worked calculations, measured digital traces and tool results are identified separately. This
is an educational block, not a manufactured chip or a signoff-ready design.</a:t>
            </a:r>
          </a:p>
        </p:txBody>
      </p:sp>
      <p:graphicFrame>
        <p:nvGraphicFramePr>
          <p:cNvPr id="54" name=""/>
          <p:cNvGraphicFramePr/>
          <p:nvPr/>
        </p:nvGraphicFramePr>
        <p:xfrm>
          <a:off xmlns:a="http://schemas.openxmlformats.org/drawingml/2006/main" x="502920" y="6492240"/>
          <a:ext xmlns:a="http://schemas.openxmlformats.org/drawingml/2006/main" cx="6556248" cy="2122488"/>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STAGE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PRODUCED</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RESULT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Simulation</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Listed directed checks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directed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1042 mapped functional cells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mapping</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Routing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Routed DEF and extracted SPEF</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Timing</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TT and slow setup / hold</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GDS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Decoded placement agreement</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export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Foundry DRC / LVS</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 accepted result</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0888221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fb3bf6f84efa481e"/>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1AB6DC2A-713C-4D3E-91C4-CE89C313FD89}"/>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CONTENTS</a:t>
            </a:r>
          </a:p>
        </p:txBody>
      </p:sp>
      <p:sp>
        <p:nvSpPr>
          <p:cNvPr id="51" name="page-title">
            <a:extLst xmlns:a="http://schemas.openxmlformats.org/drawingml/2006/main">
              <a:ext uri="{FF2B5EF4-FFF2-40B4-BE49-F238E27FC236}">
                <a16:creationId xmlns:a16="http://schemas.microsoft.com/office/drawing/2014/main" id="{9C904B56-BE4E-4FF3-920E-A685CB803597}"/>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What is in this document</a:t>
            </a:r>
          </a:p>
        </p:txBody>
      </p:sp>
      <p:sp>
        <p:nvSpPr>
          <p:cNvPr id="52" name="intro">
            <a:extLst xmlns:a="http://schemas.openxmlformats.org/drawingml/2006/main">
              <a:ext uri="{FF2B5EF4-FFF2-40B4-BE49-F238E27FC236}">
                <a16:creationId xmlns:a16="http://schemas.microsoft.com/office/drawing/2014/main" id="{9A5872ED-A93F-444A-97F0-E0911E627B98}"/>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Start with the wire-level rules, then follow the same circuit through the tools. Each section has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specific evidence boundary.</a:t>
            </a:r>
          </a:p>
        </p:txBody>
      </p:sp>
      <p:sp>
        <p:nvSpPr>
          <p:cNvPr id="53" name="component-label-246.26666666666665">
            <a:extLst xmlns:a="http://schemas.openxmlformats.org/drawingml/2006/main">
              <a:ext uri="{FF2B5EF4-FFF2-40B4-BE49-F238E27FC236}">
                <a16:creationId xmlns:a16="http://schemas.microsoft.com/office/drawing/2014/main" id="{B14A1FA8-98B8-4A67-8C6D-07E3A1ACBC00}"/>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A D I N G   M A P</a:t>
            </a:r>
          </a:p>
        </p:txBody>
      </p:sp>
      <p:graphicFrame>
        <p:nvGraphicFramePr>
          <p:cNvPr id="68" name=""/>
          <p:cNvGraphicFramePr/>
          <p:nvPr/>
        </p:nvGraphicFramePr>
        <p:xfrm>
          <a:off xmlns:a="http://schemas.openxmlformats.org/drawingml/2006/main" x="502920" y="2610866"/>
          <a:ext xmlns:a="http://schemas.openxmlformats.org/drawingml/2006/main" cx="6556248" cy="6670675"/>
        </p:xfrm>
        <a:graphic xmlns:a="http://schemas.openxmlformats.org/drawingml/2006/main">
          <a:graphicData uri="http://schemas.openxmlformats.org/drawingml/2006/table">
            <a:tbl>
              <a:tblPr/>
              <a:tblGrid>
                <a:gridCol w="5507248"/>
                <a:gridCol w="1049000"/>
              </a:tblGrid>
              <a:tr h="303213">
                <a:tc>
                  <a:txBody>
                    <a:bodyPr lIns="76200" tIns="57150" rIns="76200" bIns="57150">
                      <a:noAutofit/>
                    </a:bodyPr>
                    <a:lstStyle/>
                    <a:p>
                      <a:r>
                        <a:rPr sz="950" b="1">
                          <a:solidFill>
                            <a:srgbClr val="EDEDED"/>
                          </a:solidFill>
                          <a:latin typeface="Segoe UI"/>
                          <a:ea typeface="Segoe UI"/>
                          <a:cs typeface="Segoe UI"/>
                        </a:rPr>
                        <a:t>SECTION</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PAGE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Start here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03</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Chip design in ten minutes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04</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A MAC is not a 10BASE-T PHY</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05</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Preamble, padding and FCS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06</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A reflected eight-step transform</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Stream input, non-stallable receive output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08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Two domains and phase-offset tests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09</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CRC success does not cover every fault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Byte A5 becomes nibbles 5, A</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Lint: read code before running it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Independent frame and CRC checks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13</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 a description becomes gates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14</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Floorplan and 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15</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Clock tree and routing</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16</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Two measured reference corners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Count the right objects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18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DRC and LVS: what is still missing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19</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Everything at a glance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20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Run it yourself in WSL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21</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Sources, ownership and remaining work</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 22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Design and physical glossary</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 23–24</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7162774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1" name="Picture 2"/>
          <p:cNvPicPr>
            <a:picLocks xmlns:a="http://schemas.openxmlformats.org/drawingml/2006/main" noChangeAspect="1"/>
          </p:cNvPicPr>
          <p:nvPr/>
        </p:nvPicPr>
        <p:blipFill>
          <a:blip xmlns:r="http://schemas.openxmlformats.org/officeDocument/2006/relationships" xmlns:a="http://schemas.openxmlformats.org/drawingml/2006/main" r:embed="Rf6b0e8a4d9df4053"/>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36226E8D-E9A4-4EC5-928B-157C8B6DE686}"/>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 · START HERE</a:t>
            </a:r>
          </a:p>
        </p:txBody>
      </p:sp>
      <p:sp>
        <p:nvSpPr>
          <p:cNvPr id="51" name="page-title">
            <a:extLst xmlns:a="http://schemas.openxmlformats.org/drawingml/2006/main">
              <a:ext uri="{FF2B5EF4-FFF2-40B4-BE49-F238E27FC236}">
                <a16:creationId xmlns:a16="http://schemas.microsoft.com/office/drawing/2014/main" id="{B87229C8-95B3-4199-B514-0E8F5F3AE6D3}"/>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Start here</a:t>
            </a:r>
          </a:p>
        </p:txBody>
      </p:sp>
      <p:sp>
        <p:nvSpPr>
          <p:cNvPr id="52" name="intro">
            <a:extLst xmlns:a="http://schemas.openxmlformats.org/drawingml/2006/main">
              <a:ext uri="{FF2B5EF4-FFF2-40B4-BE49-F238E27FC236}">
                <a16:creationId xmlns:a16="http://schemas.microsoft.com/office/drawing/2014/main" id="{B545A837-C382-4F68-9451-6E53B52490D9}"/>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protocol is an agreement about how connected devices exchange information: which wire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carries each bit, when to sample it, and how to recognise a complete transfer.</a:t>
            </a:r>
          </a:p>
        </p:txBody>
      </p:sp>
      <p:sp>
        <p:nvSpPr>
          <p:cNvPr id="53" name="component-label-246.26666666666665">
            <a:extLst xmlns:a="http://schemas.openxmlformats.org/drawingml/2006/main">
              <a:ext uri="{FF2B5EF4-FFF2-40B4-BE49-F238E27FC236}">
                <a16:creationId xmlns:a16="http://schemas.microsoft.com/office/drawing/2014/main" id="{6D9F22E1-B1ED-4BB4-B8D6-7DE49A0036A0}"/>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W H A T   W E   B U I L T   A N D   W H A T   I T   P R O V E S</a:t>
            </a:r>
          </a:p>
        </p:txBody>
      </p:sp>
      <p:sp>
        <p:nvSpPr>
          <p:cNvPr id="54" name="body-0">
            <a:extLst xmlns:a="http://schemas.openxmlformats.org/drawingml/2006/main">
              <a:ext uri="{FF2B5EF4-FFF2-40B4-BE49-F238E27FC236}">
                <a16:creationId xmlns:a16="http://schemas.microsoft.com/office/drawing/2014/main" id="{F780F078-C991-40A1-AEF8-53A0501552AF}"/>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Verilog description represents circuits, not software instructions running one after another.
Registers remember values; combinational logic calculates the next values. A </a:t>
            </a:r>
            <a:r>
              <a:rPr b="1"/>
              <a:t>clock</a:t>
            </a:r>
            <a:r>
              <a:t> advances the
registered state. The next pages first explain this protocol at its wires, then connect those rules to
the actual reference RTL.</a:t>
            </a:r>
          </a:p>
        </p:txBody>
      </p:sp>
      <p:sp>
        <p:nvSpPr>
          <p:cNvPr id="55" name="body-1">
            <a:extLst xmlns:a="http://schemas.openxmlformats.org/drawingml/2006/main">
              <a:ext uri="{FF2B5EF4-FFF2-40B4-BE49-F238E27FC236}">
                <a16:creationId xmlns:a16="http://schemas.microsoft.com/office/drawing/2014/main" id="{AA9A24B8-A8D0-4EC4-AB17-6187156A5375}"/>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implemented unit is ethernet_core in hw/protocols/stretch/ethernet. It is a fixed </a:t>
            </a:r>
            <a:r>
              <a:rPr b="1"/>
              <a:t>reference</a:t>
            </a:r>
            <a:r>
              <a:t>
block, not the Jane Street programmable combined emulator or a Tiny Tapeout submission top.
No new competition architecture, instruction set, pin map or authority decision is implied by these
documents.</a:t>
            </a:r>
          </a:p>
        </p:txBody>
      </p:sp>
      <p:sp>
        <p:nvSpPr>
          <p:cNvPr id="56" name="body-2">
            <a:extLst xmlns:a="http://schemas.openxmlformats.org/drawingml/2006/main">
              <a:ext uri="{FF2B5EF4-FFF2-40B4-BE49-F238E27FC236}">
                <a16:creationId xmlns:a16="http://schemas.microsoft.com/office/drawing/2014/main" id="{BAE50138-6126-41BE-9B5C-E5BC2AF92102}"/>
              </a:ext>
            </a:extLst>
          </p:cNvPr>
          <p:cNvSpPr>
            <a:spLocks xmlns:a="http://schemas.openxmlformats.org/drawingml/2006/main" noGrp="1"/>
          </p:cNvSpPr>
          <p:nvPr/>
        </p:nvSpPr>
        <p:spPr>
          <a:xfrm xmlns:a="http://schemas.openxmlformats.org/drawingml/2006/main">
            <a:off x="502920" y="4406646"/>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No external PHY, MDIO, collision handling or network stack. Test clocks are phase-offset at the
same nominal frequency; drift is untested. Later pages give the exact stimulus and the
implementation evidence rather than using a broad protocol-compliant label. A successful
mapped netlist, routed DEF and decoded </a:t>
            </a:r>
            <a:r>
              <a:rPr b="1"/>
              <a:t>GDS</a:t>
            </a:r>
            <a:r>
              <a:t> establish concrete implementation/export results,
not readiness to manufacture.</a:t>
            </a:r>
          </a:p>
        </p:txBody>
      </p:sp>
      <p:sp>
        <p:nvSpPr>
          <p:cNvPr id="57" name="body-3">
            <a:extLst xmlns:a="http://schemas.openxmlformats.org/drawingml/2006/main">
              <a:ext uri="{FF2B5EF4-FFF2-40B4-BE49-F238E27FC236}">
                <a16:creationId xmlns:a16="http://schemas.microsoft.com/office/drawing/2014/main" id="{57E6B0F7-42AF-455F-BEE9-B44A483B36B9}"/>
              </a:ext>
            </a:extLst>
          </p:cNvPr>
          <p:cNvSpPr>
            <a:spLocks xmlns:a="http://schemas.openxmlformats.org/drawingml/2006/main" noGrp="1"/>
          </p:cNvSpPr>
          <p:nvPr/>
        </p:nvSpPr>
        <p:spPr>
          <a:xfrm xmlns:a="http://schemas.openxmlformats.org/drawingml/2006/main">
            <a:off x="502920" y="5482717"/>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reading path starts with chip-design vocabulary, then develops the protocol, calculations,
local interface and failure cases. Separate sections explain lint, simulation, synthesis, placement,
routing, timing and </a:t>
            </a:r>
            <a:r>
              <a:rPr b="1"/>
              <a:t>GDS</a:t>
            </a:r>
            <a:r>
              <a:t>. The last two pages define design and physical terms. No prior ASIC-flow
experience is assumed.</a:t>
            </a:r>
          </a:p>
        </p:txBody>
      </p:sp>
      <p:sp>
        <p:nvSpPr>
          <p:cNvPr id="58" name="component-label-669.8800000000001">
            <a:extLst xmlns:a="http://schemas.openxmlformats.org/drawingml/2006/main">
              <a:ext uri="{FF2B5EF4-FFF2-40B4-BE49-F238E27FC236}">
                <a16:creationId xmlns:a16="http://schemas.microsoft.com/office/drawing/2014/main" id="{D6B6A09E-319F-4B91-8B81-81343F791BB8}"/>
              </a:ext>
            </a:extLst>
          </p:cNvPr>
          <p:cNvSpPr>
            <a:spLocks xmlns:a="http://schemas.openxmlformats.org/drawingml/2006/main" noGrp="1"/>
          </p:cNvSpPr>
          <p:nvPr/>
        </p:nvSpPr>
        <p:spPr>
          <a:xfrm xmlns:a="http://schemas.openxmlformats.org/drawingml/2006/main">
            <a:off x="502920" y="6380607"/>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E V I D E N C E   V O C A B U L A R Y</a:t>
            </a:r>
          </a:p>
        </p:txBody>
      </p:sp>
      <p:graphicFrame>
        <p:nvGraphicFramePr>
          <p:cNvPr id="78" name=""/>
          <p:cNvGraphicFramePr/>
          <p:nvPr/>
        </p:nvGraphicFramePr>
        <p:xfrm>
          <a:off xmlns:a="http://schemas.openxmlformats.org/drawingml/2006/main" x="502920" y="6645783"/>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Label</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Meaning in this document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Worked example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Explicit assumptions; independently calculated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Measured trace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Positive digital regression VCD, where present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Directed PASS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Listed assertions and negative controls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Routed / decoded 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Physical export and structural agreement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Signoff</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performed or claimed</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7162774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8" name="Picture 2"/>
          <p:cNvPicPr>
            <a:picLocks xmlns:a="http://schemas.openxmlformats.org/drawingml/2006/main" noChangeAspect="1"/>
          </p:cNvPicPr>
          <p:nvPr/>
        </p:nvPicPr>
        <p:blipFill>
          <a:blip xmlns:r="http://schemas.openxmlformats.org/officeDocument/2006/relationships" xmlns:a="http://schemas.openxmlformats.org/drawingml/2006/main" r:embed="R25a1a66d38664b46"/>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2178E038-203E-4284-81D9-E45FC2A6BF93}"/>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 · CHIP DESIGN</a:t>
            </a:r>
          </a:p>
        </p:txBody>
      </p:sp>
      <p:sp>
        <p:nvSpPr>
          <p:cNvPr id="51" name="page-title">
            <a:extLst xmlns:a="http://schemas.openxmlformats.org/drawingml/2006/main">
              <a:ext uri="{FF2B5EF4-FFF2-40B4-BE49-F238E27FC236}">
                <a16:creationId xmlns:a16="http://schemas.microsoft.com/office/drawing/2014/main" id="{C4D358DC-A09C-414B-AE24-0BDB87A22936}"/>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Chip design in ten minutes</a:t>
            </a:r>
          </a:p>
        </p:txBody>
      </p:sp>
      <p:sp>
        <p:nvSpPr>
          <p:cNvPr id="52" name="intro">
            <a:extLst xmlns:a="http://schemas.openxmlformats.org/drawingml/2006/main">
              <a:ext uri="{FF2B5EF4-FFF2-40B4-BE49-F238E27FC236}">
                <a16:creationId xmlns:a16="http://schemas.microsoft.com/office/drawing/2014/main" id="{3018B2FF-0209-47F7-86F8-A51442C10A5C}"/>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Each stage makes the same circuit more concrete. The folders below are the actual unit</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layout, not a copied APB command list.</a:t>
            </a:r>
          </a:p>
        </p:txBody>
      </p:sp>
      <p:sp>
        <p:nvSpPr>
          <p:cNvPr id="53" name="component-label-246.26666666666665">
            <a:extLst xmlns:a="http://schemas.openxmlformats.org/drawingml/2006/main">
              <a:ext uri="{FF2B5EF4-FFF2-40B4-BE49-F238E27FC236}">
                <a16:creationId xmlns:a16="http://schemas.microsoft.com/office/drawing/2014/main" id="{176A692C-C54E-46AD-8836-6AA8E597F1DE}"/>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H I P   D E S I G N</a:t>
            </a:r>
          </a:p>
        </p:txBody>
      </p:sp>
      <p:sp>
        <p:nvSpPr>
          <p:cNvPr id="54" name="body-0">
            <a:extLst xmlns:a="http://schemas.openxmlformats.org/drawingml/2006/main">
              <a:ext uri="{FF2B5EF4-FFF2-40B4-BE49-F238E27FC236}">
                <a16:creationId xmlns:a16="http://schemas.microsoft.com/office/drawing/2014/main" id="{C127F563-B883-4BB5-9C89-D61527EFC2F5}"/>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RTL states what hardware should do. A simulator checks selected input sequences before any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silicon exists. Synthesis replaces that description with gates from a process library. Physical tools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choose positions and metal routes. Timing analysis checks the resulting delays; stream-out writes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mask-layout geometry.</a:t>
            </a:r>
          </a:p>
        </p:txBody>
      </p:sp>
      <p:sp>
        <p:nvSpPr>
          <p:cNvPr id="55" name="component-label-368.3733333333333">
            <a:extLst xmlns:a="http://schemas.openxmlformats.org/drawingml/2006/main">
              <a:ext uri="{FF2B5EF4-FFF2-40B4-BE49-F238E27FC236}">
                <a16:creationId xmlns:a16="http://schemas.microsoft.com/office/drawing/2014/main" id="{7E9776CC-BE4D-4B9F-948E-76C721698C5C}"/>
              </a:ext>
            </a:extLst>
          </p:cNvPr>
          <p:cNvSpPr>
            <a:spLocks xmlns:a="http://schemas.openxmlformats.org/drawingml/2006/main" noGrp="1"/>
          </p:cNvSpPr>
          <p:nvPr/>
        </p:nvSpPr>
        <p:spPr>
          <a:xfrm xmlns:a="http://schemas.openxmlformats.org/drawingml/2006/main">
            <a:off x="502920" y="350875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T H E   P I P E L I N E ,   S T A G E   B Y   S T A G E</a:t>
            </a:r>
          </a:p>
        </p:txBody>
      </p:sp>
      <p:graphicFrame>
        <p:nvGraphicFramePr>
          <p:cNvPr id="72" name=""/>
          <p:cNvGraphicFramePr/>
          <p:nvPr/>
        </p:nvGraphicFramePr>
        <p:xfrm>
          <a:off xmlns:a="http://schemas.openxmlformats.org/drawingml/2006/main" x="502920" y="3773932"/>
          <a:ext xmlns:a="http://schemas.openxmlformats.org/drawingml/2006/main" cx="6556248" cy="3941762"/>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FOLDER</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HAPPENS HERE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00_lint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Read code for risky patterns; retained warnings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01_rtl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Pinned source and the local wrapper</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02_sim</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Independent stimulus, comparisons and fatal controls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03_verification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Supplemental checks; not a universal UVM PASS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04_synthesis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Map functional logic to SG13G2 cells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05_dft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Manufacturing test work remains unperformed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06_floorplanning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Die outline, rows, power and pin locations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07_placement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Choose legal positions for mapped cells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09_place_and_route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Clock tree, routing and SPEF extraction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08_sta</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Read post-route TT and slow timing reports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10_gds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Stream-out and independent placement decoder</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11_physical_verification</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Foundry DRC / LVS remain 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17162774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a95f28e3189a4c7b"/>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05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3839D77C-7C85-428C-A5CC-45CACEF4061B}"/>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3 · INTERFACE BOUNDARY</a:t>
            </a:r>
          </a:p>
        </p:txBody>
      </p:sp>
      <p:sp>
        <p:nvSpPr>
          <p:cNvPr id="51" name="page-title">
            <a:extLst xmlns:a="http://schemas.openxmlformats.org/drawingml/2006/main">
              <a:ext uri="{FF2B5EF4-FFF2-40B4-BE49-F238E27FC236}">
                <a16:creationId xmlns:a16="http://schemas.microsoft.com/office/drawing/2014/main" id="{8B436B2A-643E-4EB5-80F0-5C4F2B4C7D49}"/>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A MAC is not a 10BASE-T PHY</a:t>
            </a:r>
          </a:p>
        </p:txBody>
      </p:sp>
      <p:sp>
        <p:nvSpPr>
          <p:cNvPr id="52" name="intro">
            <a:extLst xmlns:a="http://schemas.openxmlformats.org/drawingml/2006/main">
              <a:ext uri="{FF2B5EF4-FFF2-40B4-BE49-F238E27FC236}">
                <a16:creationId xmlns:a16="http://schemas.microsoft.com/office/drawing/2014/main" id="{B8025EB8-6C23-44BD-B8C1-92539DF6426B}"/>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block implements full-duplex digital MII frame processing.</a:t>
            </a:r>
          </a:p>
        </p:txBody>
      </p:sp>
      <p:sp>
        <p:nvSpPr>
          <p:cNvPr id="53" name="component-label-225.93333333333334">
            <a:extLst xmlns:a="http://schemas.openxmlformats.org/drawingml/2006/main">
              <a:ext uri="{FF2B5EF4-FFF2-40B4-BE49-F238E27FC236}">
                <a16:creationId xmlns:a16="http://schemas.microsoft.com/office/drawing/2014/main" id="{C29F8B90-EDD8-44F2-B86D-F3CEF4F3AB7A}"/>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I N T E R F A C E   B O U N D A R Y</a:t>
            </a:r>
          </a:p>
        </p:txBody>
      </p:sp>
      <p:sp>
        <p:nvSpPr>
          <p:cNvPr id="54" name="body-0">
            <a:extLst xmlns:a="http://schemas.openxmlformats.org/drawingml/2006/main">
              <a:ext uri="{FF2B5EF4-FFF2-40B4-BE49-F238E27FC236}">
                <a16:creationId xmlns:a16="http://schemas.microsoft.com/office/drawing/2014/main" id="{4F6B050A-B65A-4CB6-ACDF-638AF687480F}"/>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
            </a:r>
            <a:r>
              <a:rPr b="1"/>
              <a:t>MII</a:t>
            </a:r>
            <a:r>
              <a:t> transfers four bits per clock. At 2.5 MHz the 400 ns clock period carries one nibble, giving 10
Mbit/s. Bytes cross the interface low nibble first, then high nibble. For byte A5 the visible nibbles
are 5 followed by A. This ordering differs from simply reading a printed hexadecimal byte left to
right.</a:t>
            </a:r>
          </a:p>
        </p:txBody>
      </p:sp>
      <p:sp>
        <p:nvSpPr>
          <p:cNvPr id="55" name="body-1">
            <a:extLst xmlns:a="http://schemas.openxmlformats.org/drawingml/2006/main">
              <a:ext uri="{FF2B5EF4-FFF2-40B4-BE49-F238E27FC236}">
                <a16:creationId xmlns:a16="http://schemas.microsoft.com/office/drawing/2014/main" id="{4C4FBC17-1C73-42E7-B329-5F13545C14BA}"/>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real link still needs an external analogue PHY, suitable magnetics and connector circuitry.
Manchester line coding, link negotiation, MDIO management and half-duplex collision/retry are
not supplied by this digital </a:t>
            </a:r>
            <a:r>
              <a:rPr b="1"/>
              <a:t>reference</a:t>
            </a:r>
            <a:r>
              <a:t>. Ethernet addressing and FCS processing do not
automatically provide an IP, TCP or UDP stack.</a:t>
            </a:r>
          </a:p>
        </p:txBody>
      </p:sp>
      <p:sp>
        <p:nvSpPr>
          <p:cNvPr id="56" name="body-2">
            <a:extLst xmlns:a="http://schemas.openxmlformats.org/drawingml/2006/main">
              <a:ext uri="{FF2B5EF4-FFF2-40B4-BE49-F238E27FC236}">
                <a16:creationId xmlns:a16="http://schemas.microsoft.com/office/drawing/2014/main" id="{750962A0-EBEB-4E80-9E27-EDB95E08B011}"/>
              </a:ext>
            </a:extLst>
          </p:cNvPr>
          <p:cNvSpPr>
            <a:spLocks xmlns:a="http://schemas.openxmlformats.org/drawingml/2006/main" noGrp="1"/>
          </p:cNvSpPr>
          <p:nvPr/>
        </p:nvSpPr>
        <p:spPr>
          <a:xfrm xmlns:a="http://schemas.openxmlformats.org/drawingml/2006/main">
            <a:off x="502920" y="421297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wrapper contains separate TX and RX clocks. TX data and handshake belong to mii_tx_clk;</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received output belongs to mii_rx_clk. The consumer cannot assume that simultaneous-looking</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frames share a safe common register domain.</a:t>
            </a:r>
          </a:p>
        </p:txBody>
      </p:sp>
      <p:sp>
        <p:nvSpPr>
          <p:cNvPr id="57" name="component-label-517.8666666666667">
            <a:extLst xmlns:a="http://schemas.openxmlformats.org/drawingml/2006/main">
              <a:ext uri="{FF2B5EF4-FFF2-40B4-BE49-F238E27FC236}">
                <a16:creationId xmlns:a16="http://schemas.microsoft.com/office/drawing/2014/main" id="{F3BF51E6-E3BB-4BE2-A959-CE8EAA137AD4}"/>
              </a:ext>
            </a:extLst>
          </p:cNvPr>
          <p:cNvSpPr>
            <a:spLocks xmlns:a="http://schemas.openxmlformats.org/drawingml/2006/main" noGrp="1"/>
          </p:cNvSpPr>
          <p:nvPr/>
        </p:nvSpPr>
        <p:spPr>
          <a:xfrm xmlns:a="http://schemas.openxmlformats.org/drawingml/2006/main">
            <a:off x="502920" y="493268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M I I   O W N E R S H I P</a:t>
            </a:r>
          </a:p>
        </p:txBody>
      </p:sp>
      <p:graphicFrame>
        <p:nvGraphicFramePr>
          <p:cNvPr id="76" name=""/>
          <p:cNvGraphicFramePr/>
          <p:nvPr/>
        </p:nvGraphicFramePr>
        <p:xfrm>
          <a:off xmlns:a="http://schemas.openxmlformats.org/drawingml/2006/main" x="502920" y="5197856"/>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Signal group</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Clock / owner</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mii_txd, tx_en, tx_er</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TX clock; MAC drives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mii_rxd, rx_dv, rx_er</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RX clock; external PHY drives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tx_data / ready-valid</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TX clock local producer</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rx_data / valid / last / user</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RX clock local consumer</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17162774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11e46304ff924d1f"/>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06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E4CBB86A-75B3-4DBB-85F5-4AB9CEBEB928}"/>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4 · FRAME FORMAT</a:t>
            </a:r>
          </a:p>
        </p:txBody>
      </p:sp>
      <p:sp>
        <p:nvSpPr>
          <p:cNvPr id="51" name="page-title">
            <a:extLst xmlns:a="http://schemas.openxmlformats.org/drawingml/2006/main">
              <a:ext uri="{FF2B5EF4-FFF2-40B4-BE49-F238E27FC236}">
                <a16:creationId xmlns:a16="http://schemas.microsoft.com/office/drawing/2014/main" id="{6B506304-B332-42BD-8977-16D1BB912594}"/>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Preamble, padding and FCS</a:t>
            </a:r>
          </a:p>
        </p:txBody>
      </p:sp>
      <p:sp>
        <p:nvSpPr>
          <p:cNvPr id="52" name="intro">
            <a:extLst xmlns:a="http://schemas.openxmlformats.org/drawingml/2006/main">
              <a:ext uri="{FF2B5EF4-FFF2-40B4-BE49-F238E27FC236}">
                <a16:creationId xmlns:a16="http://schemas.microsoft.com/office/drawing/2014/main" id="{330D7862-F9F0-4C2C-8EDD-B59D26444E07}"/>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test checks frame structure separately from the local payload stream.</a:t>
            </a:r>
          </a:p>
        </p:txBody>
      </p:sp>
      <p:sp>
        <p:nvSpPr>
          <p:cNvPr id="53" name="component-label-225.93333333333334">
            <a:extLst xmlns:a="http://schemas.openxmlformats.org/drawingml/2006/main">
              <a:ext uri="{FF2B5EF4-FFF2-40B4-BE49-F238E27FC236}">
                <a16:creationId xmlns:a16="http://schemas.microsoft.com/office/drawing/2014/main" id="{2236258F-9DA4-4AAC-91FB-08631E8EAAAB}"/>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F R A M E   F O R M A T</a:t>
            </a:r>
          </a:p>
        </p:txBody>
      </p:sp>
      <p:sp>
        <p:nvSpPr>
          <p:cNvPr id="54" name="body-0">
            <a:extLst xmlns:a="http://schemas.openxmlformats.org/drawingml/2006/main">
              <a:ext uri="{FF2B5EF4-FFF2-40B4-BE49-F238E27FC236}">
                <a16:creationId xmlns:a16="http://schemas.microsoft.com/office/drawing/2014/main" id="{A2EC1C39-DD21-4C02-803E-EC4ADA673B3A}"/>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transmitter emits the synchronising preamble and SFD before the supplied frame bytes. With
padding enabled and a minimum 64-byte frame length including FCS, an input shorter than sixty
frame bytes is extended before the four-byte FCS is appended. The local input bytes already
contain whatever destination/</a:t>
            </a:r>
            <a:r>
              <a:rPr b="1"/>
              <a:t>source</a:t>
            </a:r>
            <a:r>
              <a:t>/type fields the application supplies.</a:t>
            </a:r>
          </a:p>
        </p:txBody>
      </p:sp>
      <p:sp>
        <p:nvSpPr>
          <p:cNvPr id="55" name="body-1">
            <a:extLst xmlns:a="http://schemas.openxmlformats.org/drawingml/2006/main">
              <a:ext uri="{FF2B5EF4-FFF2-40B4-BE49-F238E27FC236}">
                <a16:creationId xmlns:a16="http://schemas.microsoft.com/office/drawing/2014/main" id="{F3DBA273-9C0B-4DAA-9FA0-B25785F4C79C}"/>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fourteen-byte input therefore needs forty-six padding bytes to reach sixty, then four FCS bytes.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sixty-byte input needs no padding. A 256-byte input exceeds the minimum and retains its full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body. The regression checks those three sizes and independently evaluates their transmitted CRC</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values.</a:t>
            </a:r>
          </a:p>
        </p:txBody>
      </p:sp>
      <p:sp>
        <p:nvSpPr>
          <p:cNvPr id="56" name="body-2">
            <a:extLst xmlns:a="http://schemas.openxmlformats.org/drawingml/2006/main">
              <a:ext uri="{FF2B5EF4-FFF2-40B4-BE49-F238E27FC236}">
                <a16:creationId xmlns:a16="http://schemas.microsoft.com/office/drawing/2014/main" id="{1316C378-7ADB-4ECB-A6F7-BC801E016070}"/>
              </a:ext>
            </a:extLst>
          </p:cNvPr>
          <p:cNvSpPr>
            <a:spLocks xmlns:a="http://schemas.openxmlformats.org/drawingml/2006/main" noGrp="1"/>
          </p:cNvSpPr>
          <p:nvPr/>
        </p:nvSpPr>
        <p:spPr>
          <a:xfrm xmlns:a="http://schemas.openxmlformats.org/drawingml/2006/main">
            <a:off x="502920" y="421297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At 10 Mbit/s, the minimum 64-byte frame itself takes 51.2 us. Including eight preamble/SFD bytes
and a twelve-byte inter-frame gap gives 84 byte-times, or 67.2 us of wire scheduling. These are
calculated line-rate bounds, not measured application throughput or a </a:t>
            </a:r>
            <a:r>
              <a:rPr b="1"/>
              <a:t>payload</a:t>
            </a:r>
            <a:r>
              <a:t> efficiency claim.</a:t>
            </a:r>
          </a:p>
        </p:txBody>
      </p:sp>
      <p:sp>
        <p:nvSpPr>
          <p:cNvPr id="57" name="component-label-517.8666666666667">
            <a:extLst xmlns:a="http://schemas.openxmlformats.org/drawingml/2006/main">
              <a:ext uri="{FF2B5EF4-FFF2-40B4-BE49-F238E27FC236}">
                <a16:creationId xmlns:a16="http://schemas.microsoft.com/office/drawing/2014/main" id="{C6E27944-EC2A-4703-8556-DC72633FCF39}"/>
              </a:ext>
            </a:extLst>
          </p:cNvPr>
          <p:cNvSpPr>
            <a:spLocks xmlns:a="http://schemas.openxmlformats.org/drawingml/2006/main" noGrp="1"/>
          </p:cNvSpPr>
          <p:nvPr/>
        </p:nvSpPr>
        <p:spPr>
          <a:xfrm xmlns:a="http://schemas.openxmlformats.org/drawingml/2006/main">
            <a:off x="502920" y="493268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W O R K E D   S I Z E   B U D G E T</a:t>
            </a:r>
          </a:p>
        </p:txBody>
      </p:sp>
      <p:graphicFrame>
        <p:nvGraphicFramePr>
          <p:cNvPr id="76" name=""/>
          <p:cNvGraphicFramePr/>
          <p:nvPr/>
        </p:nvGraphicFramePr>
        <p:xfrm>
          <a:off xmlns:a="http://schemas.openxmlformats.org/drawingml/2006/main" x="502920" y="5197856"/>
          <a:ext xmlns:a="http://schemas.openxmlformats.org/drawingml/2006/main" cx="6556248" cy="1212850"/>
        </p:xfrm>
        <a:graphic xmlns:a="http://schemas.openxmlformats.org/drawingml/2006/main">
          <a:graphicData uri="http://schemas.openxmlformats.org/drawingml/2006/table">
            <a:tbl>
              <a:tblPr/>
              <a:tblGrid>
                <a:gridCol w="1639062"/>
                <a:gridCol w="1639062"/>
                <a:gridCol w="1639062"/>
                <a:gridCol w="1639062"/>
              </a:tblGrid>
              <a:tr h="303213">
                <a:tc>
                  <a:txBody>
                    <a:bodyPr lIns="76200" tIns="57150" rIns="76200" bIns="57150">
                      <a:noAutofit/>
                    </a:bodyPr>
                    <a:lstStyle/>
                    <a:p>
                      <a:r>
                        <a:rPr sz="950" b="1">
                          <a:solidFill>
                            <a:srgbClr val="EDEDED"/>
                          </a:solidFill>
                          <a:latin typeface="Segoe UI"/>
                          <a:ea typeface="Segoe UI"/>
                          <a:cs typeface="Segoe UI"/>
                        </a:rPr>
                        <a:t>Input frame bytes</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Padding</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FCS</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Result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14</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46</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4</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64 bytes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60</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4</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64 bytes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256</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4</a:t>
                      </a:r>
                    </a:p>
                  </a:txBody>
                  <a:tcPr marL="91440" marR="91440" marT="45720" marB="45720">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260 bytes</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7162774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2" name="Picture 2"/>
          <p:cNvPicPr>
            <a:picLocks xmlns:a="http://schemas.openxmlformats.org/drawingml/2006/main" noChangeAspect="1"/>
          </p:cNvPicPr>
          <p:nvPr/>
        </p:nvPicPr>
        <p:blipFill>
          <a:blip xmlns:r="http://schemas.openxmlformats.org/officeDocument/2006/relationships" xmlns:a="http://schemas.openxmlformats.org/drawingml/2006/main" r:embed="Rb3c44b1c346f4a22"/>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07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CD11B4BD-9030-4530-BDEA-D5C6141FB3F4}"/>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5 · CRC CALCULATION</a:t>
            </a:r>
          </a:p>
        </p:txBody>
      </p:sp>
      <p:sp>
        <p:nvSpPr>
          <p:cNvPr id="51" name="page-title">
            <a:extLst xmlns:a="http://schemas.openxmlformats.org/drawingml/2006/main">
              <a:ext uri="{FF2B5EF4-FFF2-40B4-BE49-F238E27FC236}">
                <a16:creationId xmlns:a16="http://schemas.microsoft.com/office/drawing/2014/main" id="{C6510083-0A3A-4093-B906-DC57BDA123F3}"/>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A reflected eight-step transform</a:t>
            </a:r>
          </a:p>
        </p:txBody>
      </p:sp>
      <p:sp>
        <p:nvSpPr>
          <p:cNvPr id="52" name="intro">
            <a:extLst xmlns:a="http://schemas.openxmlformats.org/drawingml/2006/main">
              <a:ext uri="{FF2B5EF4-FFF2-40B4-BE49-F238E27FC236}">
                <a16:creationId xmlns:a16="http://schemas.microsoft.com/office/drawing/2014/main" id="{3D25C771-18E5-40D7-97F6-FFA1BFFA3957}"/>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integrated replacement updates the exact state output consumed by these two MAC</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engines.</a:t>
            </a:r>
          </a:p>
        </p:txBody>
      </p:sp>
      <p:sp>
        <p:nvSpPr>
          <p:cNvPr id="53" name="component-label-246.26666666666665">
            <a:extLst xmlns:a="http://schemas.openxmlformats.org/drawingml/2006/main">
              <a:ext uri="{FF2B5EF4-FFF2-40B4-BE49-F238E27FC236}">
                <a16:creationId xmlns:a16="http://schemas.microsoft.com/office/drawing/2014/main" id="{F59CB3CD-9220-4302-982B-895D91932300}"/>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R C   C A L C U L A T I O N</a:t>
            </a:r>
          </a:p>
        </p:txBody>
      </p:sp>
      <p:sp>
        <p:nvSpPr>
          <p:cNvPr id="54" name="body-0">
            <a:extLst xmlns:a="http://schemas.openxmlformats.org/drawingml/2006/main">
              <a:ext uri="{FF2B5EF4-FFF2-40B4-BE49-F238E27FC236}">
                <a16:creationId xmlns:a16="http://schemas.microsoft.com/office/drawing/2014/main" id="{51415519-22C2-48A7-AB84-16EB23BCFC76}"/>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byte update first XORs the eight data bits into the low end of the 32-bit state. Each of eight
steps shifts right and conditionally XORs EDB88320 if the departing low bit is one. For the usual
Ethernet convention the initial state is FFFFFFFF and the final result is complemented. ASCII
123456789 then gives </a:t>
            </a:r>
            <a:r>
              <a:rPr b="1"/>
              <a:t>CRC32</a:t>
            </a:r>
            <a:r>
              <a:t> CBF43926.</a:t>
            </a:r>
          </a:p>
        </p:txBody>
      </p:sp>
      <p:sp>
        <p:nvSpPr>
          <p:cNvPr id="55" name="body-1">
            <a:extLst xmlns:a="http://schemas.openxmlformats.org/drawingml/2006/main">
              <a:ext uri="{FF2B5EF4-FFF2-40B4-BE49-F238E27FC236}">
                <a16:creationId xmlns:a16="http://schemas.microsoft.com/office/drawing/2014/main" id="{AF47FD81-D48D-4D2F-A8FE-8B466F5B578B}"/>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earlier generic LFSR elaboration was expensive. The replacement narrows the implementation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to this consumed byte/state contract. Its state_out is compared against the preserved upstream</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LFSR; its unused data_out is tied to zero. It is therefore not a drop-in generic LFSR replacement for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other consumers.</a:t>
            </a:r>
          </a:p>
        </p:txBody>
      </p:sp>
      <p:sp>
        <p:nvSpPr>
          <p:cNvPr id="56" name="body-2">
            <a:extLst xmlns:a="http://schemas.openxmlformats.org/drawingml/2006/main">
              <a:ext uri="{FF2B5EF4-FFF2-40B4-BE49-F238E27FC236}">
                <a16:creationId xmlns:a16="http://schemas.microsoft.com/office/drawing/2014/main" id="{53627DD1-D119-4E8A-9D85-A088C44B2A4F}"/>
              </a:ext>
            </a:extLst>
          </p:cNvPr>
          <p:cNvSpPr>
            <a:spLocks xmlns:a="http://schemas.openxmlformats.org/drawingml/2006/main" noGrp="1"/>
          </p:cNvSpPr>
          <p:nvPr/>
        </p:nvSpPr>
        <p:spPr>
          <a:xfrm xmlns:a="http://schemas.openxmlformats.org/drawingml/2006/main">
            <a:off x="502920" y="440664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This mapping is a linear transformation of forty input bits: thirty-two state bits and eight data bits.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Zero plus all forty one-hot basis vectors establish agreement for a truly linear implementation; 256</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deterministic mixed vectors add a useful diagnostic cross-check. Fixed nonzero CRC initialisation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and final complement occur around, not inside, that linear transform.</a:t>
            </a:r>
          </a:p>
        </p:txBody>
      </p:sp>
      <p:sp>
        <p:nvSpPr>
          <p:cNvPr id="57" name="component-label-556.9066666666666">
            <a:extLst xmlns:a="http://schemas.openxmlformats.org/drawingml/2006/main">
              <a:ext uri="{FF2B5EF4-FFF2-40B4-BE49-F238E27FC236}">
                <a16:creationId xmlns:a16="http://schemas.microsoft.com/office/drawing/2014/main" id="{597D3E8F-7B9D-409C-8DC4-C4A94AC02F1B}"/>
              </a:ext>
            </a:extLst>
          </p:cNvPr>
          <p:cNvSpPr>
            <a:spLocks xmlns:a="http://schemas.openxmlformats.org/drawingml/2006/main" noGrp="1"/>
          </p:cNvSpPr>
          <p:nvPr/>
        </p:nvSpPr>
        <p:spPr>
          <a:xfrm xmlns:a="http://schemas.openxmlformats.org/drawingml/2006/main">
            <a:off x="502920" y="530453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58" name="code-panel">
            <a:extLst xmlns:a="http://schemas.openxmlformats.org/drawingml/2006/main">
              <a:ext uri="{FF2B5EF4-FFF2-40B4-BE49-F238E27FC236}">
                <a16:creationId xmlns:a16="http://schemas.microsoft.com/office/drawing/2014/main" id="{7B62B24C-3F24-40AB-A32F-4D869C3DDADA}"/>
              </a:ext>
            </a:extLst>
          </p:cNvPr>
          <p:cNvSpPr>
            <a:spLocks xmlns:a="http://schemas.openxmlformats.org/drawingml/2006/main" noGrp="1"/>
          </p:cNvSpPr>
          <p:nvPr/>
        </p:nvSpPr>
        <p:spPr>
          <a:xfrm xmlns:a="http://schemas.openxmlformats.org/drawingml/2006/main">
            <a:off x="502920" y="5569712"/>
            <a:ext cx="6556248" cy="115824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59" name="code">
            <a:extLst xmlns:a="http://schemas.openxmlformats.org/drawingml/2006/main">
              <a:ext uri="{FF2B5EF4-FFF2-40B4-BE49-F238E27FC236}">
                <a16:creationId xmlns:a16="http://schemas.microsoft.com/office/drawing/2014/main" id="{DE1DB754-524E-4207-AAD1-000FA18DE3CA}"/>
              </a:ext>
            </a:extLst>
          </p:cNvPr>
          <p:cNvSpPr>
            <a:spLocks xmlns:a="http://schemas.openxmlformats.org/drawingml/2006/main" noGrp="1"/>
          </p:cNvSpPr>
          <p:nvPr/>
        </p:nvSpPr>
        <p:spPr>
          <a:xfrm xmlns:a="http://schemas.openxmlformats.org/drawingml/2006/main">
            <a:off x="617220" y="5664962"/>
            <a:ext cx="6327648"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DEDED"/>
                </a:solidFill>
              </a:rPr>
              <a:t>assign stage[0]=state_in^{24'b0,data_in};</a:t>
            </a:r>
            <a:r>
              <a:rPr>
                <a:solidFill>
                  <a:srgbClr val="EDEDED"/>
                </a:solidFill>
              </a:rPr>
              <a:t>
genvar b;</a:t>
            </a:r>
            <a:r>
              <a:rPr>
                <a:solidFill>
                  <a:srgbClr val="EDEDED"/>
                </a:solidFill>
              </a:rPr>
              <a:t>
generate for(b=0;b&lt;8;b=b+1)begin: crc_bit</a:t>
            </a:r>
            <a:r>
              <a:rPr>
                <a:solidFill>
                  <a:srgbClr val="EDEDED"/>
                </a:solidFill>
              </a:rPr>
              <a:t>
assign stage[b+1]=(stage[b]&gt;&gt;1)^(stage[b][0]?32'hedb88320:32'b0);</a:t>
            </a:r>
            <a:r>
              <a:rPr>
                <a:solidFill>
                  <a:srgbClr val="EDEDED"/>
                </a:solidFill>
              </a:rPr>
              <a:t>
end endgenerate</a:t>
            </a:r>
            <a:r>
              <a:rPr>
                <a:solidFill>
                  <a:srgbClr val="EDEDED"/>
                </a:solidFill>
              </a:rPr>
              <a:t>
assign state_out=stage[8];</a:t>
            </a:r>
          </a:p>
        </p:txBody>
      </p:sp>
      <p:sp>
        <p:nvSpPr>
          <p:cNvPr id="60" name="code-source">
            <a:extLst xmlns:a="http://schemas.openxmlformats.org/drawingml/2006/main">
              <a:ext uri="{FF2B5EF4-FFF2-40B4-BE49-F238E27FC236}">
                <a16:creationId xmlns:a16="http://schemas.microsoft.com/office/drawing/2014/main" id="{DDC44C14-CDED-47F2-9A13-37CF71F23578}"/>
              </a:ext>
            </a:extLst>
          </p:cNvPr>
          <p:cNvSpPr>
            <a:spLocks xmlns:a="http://schemas.openxmlformats.org/drawingml/2006/main" noGrp="1"/>
          </p:cNvSpPr>
          <p:nvPr/>
        </p:nvSpPr>
        <p:spPr>
          <a:xfrm xmlns:a="http://schemas.openxmlformats.org/drawingml/2006/main">
            <a:off x="502920" y="6785102"/>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01_rtl/ethernet_crc32.v:18; exact contiguous source excerpt</a:t>
            </a:r>
          </a:p>
        </p:txBody>
      </p:sp>
    </p:spTree>
    <p:extLst>
      <p:ext uri="{BB962C8B-B14F-4D97-AF65-F5344CB8AC3E}">
        <p14:creationId xmlns:p14="http://schemas.microsoft.com/office/powerpoint/2010/main" val="117162774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8" name="Picture 2"/>
          <p:cNvPicPr>
            <a:picLocks xmlns:a="http://schemas.openxmlformats.org/drawingml/2006/main" noChangeAspect="1"/>
          </p:cNvPicPr>
          <p:nvPr/>
        </p:nvPicPr>
        <p:blipFill>
          <a:blip xmlns:r="http://schemas.openxmlformats.org/officeDocument/2006/relationships" xmlns:a="http://schemas.openxmlformats.org/drawingml/2006/main" r:embed="Reee399a6b00442a4"/>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08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312FC45C-43C8-4225-8BED-F1004211B4B0}"/>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6 · RTL INTERFACE</a:t>
            </a:r>
          </a:p>
        </p:txBody>
      </p:sp>
      <p:sp>
        <p:nvSpPr>
          <p:cNvPr id="51" name="page-title">
            <a:extLst xmlns:a="http://schemas.openxmlformats.org/drawingml/2006/main">
              <a:ext uri="{FF2B5EF4-FFF2-40B4-BE49-F238E27FC236}">
                <a16:creationId xmlns:a16="http://schemas.microsoft.com/office/drawing/2014/main" id="{EFE26FDF-83B1-4BB2-BF29-4BA78C71ACD9}"/>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Stream input, non-stallable receive output</a:t>
            </a:r>
          </a:p>
        </p:txBody>
      </p:sp>
      <p:sp>
        <p:nvSpPr>
          <p:cNvPr id="52" name="intro">
            <a:extLst xmlns:a="http://schemas.openxmlformats.org/drawingml/2006/main">
              <a:ext uri="{FF2B5EF4-FFF2-40B4-BE49-F238E27FC236}">
                <a16:creationId xmlns:a16="http://schemas.microsoft.com/office/drawing/2014/main" id="{478EC8E2-7592-491C-BE44-F1B19180F65E}"/>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same-looking byte ports have different buffering obligations.</a:t>
            </a:r>
          </a:p>
        </p:txBody>
      </p:sp>
      <p:sp>
        <p:nvSpPr>
          <p:cNvPr id="53" name="component-label-225.93333333333334">
            <a:extLst xmlns:a="http://schemas.openxmlformats.org/drawingml/2006/main">
              <a:ext uri="{FF2B5EF4-FFF2-40B4-BE49-F238E27FC236}">
                <a16:creationId xmlns:a16="http://schemas.microsoft.com/office/drawing/2014/main" id="{8FB17B90-4102-4C72-B7C6-0CD3232AD917}"/>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T L   I N T E R F A C E</a:t>
            </a:r>
          </a:p>
        </p:txBody>
      </p:sp>
      <p:sp>
        <p:nvSpPr>
          <p:cNvPr id="54" name="body-0">
            <a:extLst xmlns:a="http://schemas.openxmlformats.org/drawingml/2006/main">
              <a:ext uri="{FF2B5EF4-FFF2-40B4-BE49-F238E27FC236}">
                <a16:creationId xmlns:a16="http://schemas.microsoft.com/office/drawing/2014/main" id="{2BC74969-C837-44DE-B435-3121F9F6F451}"/>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On TX, the producer supplies data, valid, last and user and respects ready. These signals belong to
the transmit </a:t>
            </a:r>
            <a:r>
              <a:rPr b="1"/>
              <a:t>clock</a:t>
            </a:r>
            <a:r>
              <a:t>. The wrapper fixes MII mode, padding enabled, minimum frame length 64 and a
twelve-byte gap. Error-underflow remains available, but a passing normal-frame test is not an
underflow regression.</a:t>
            </a:r>
          </a:p>
        </p:txBody>
      </p:sp>
      <p:sp>
        <p:nvSpPr>
          <p:cNvPr id="55" name="body-1">
            <a:extLst xmlns:a="http://schemas.openxmlformats.org/drawingml/2006/main">
              <a:ext uri="{FF2B5EF4-FFF2-40B4-BE49-F238E27FC236}">
                <a16:creationId xmlns:a16="http://schemas.microsoft.com/office/drawing/2014/main" id="{D8A3F6A7-F18B-423A-92AC-0C5B8AE2CE10}"/>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On RX, data, valid, last and user belong to the receive </a:t>
            </a:r>
            <a:r>
              <a:rPr b="1"/>
              <a:t>clock</a:t>
            </a:r>
            <a:r>
              <a:t>. There is no rx_ready input, so
downstream must accept each valid output or provide a suitable buffer in the same domain.
Crossing to a system clock requires an explicit CDC design such as a correctly sized asynchronous
FIFO, not a casual combinational connection.</a:t>
            </a:r>
          </a:p>
        </p:txBody>
      </p:sp>
      <p:sp>
        <p:nvSpPr>
          <p:cNvPr id="56" name="body-2">
            <a:extLst xmlns:a="http://schemas.openxmlformats.org/drawingml/2006/main">
              <a:ext uri="{FF2B5EF4-FFF2-40B4-BE49-F238E27FC236}">
                <a16:creationId xmlns:a16="http://schemas.microsoft.com/office/drawing/2014/main" id="{A01CFFED-FDF4-4E54-938F-D5F3642E1C75}"/>
              </a:ext>
            </a:extLst>
          </p:cNvPr>
          <p:cNvSpPr>
            <a:spLocks xmlns:a="http://schemas.openxmlformats.org/drawingml/2006/main" noGrp="1"/>
          </p:cNvSpPr>
          <p:nvPr/>
        </p:nvSpPr>
        <p:spPr>
          <a:xfrm xmlns:a="http://schemas.openxmlformats.org/drawingml/2006/main">
            <a:off x="502920" y="4212971"/>
            <a:ext cx="6556248" cy="13044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
            </a:r>
            <a:r>
              <a:rPr b="1"/>
              <a:t>Reset</a:t>
            </a:r>
            <a:r>
              <a:t> is synchronous active high in both domains. The integration layer must arrange safe
assertion and release relative to each clock. The reference constraints apply reset budgets to both
clock definitions; those constraints do not by themselves establish system reset reliability. The
current SDC defines both MII clocks without set_clock_groups -asynchronous. It therefore retains a
synchronous clock relationship in STA rather than modelling arbitrary external PHY phase and
frequency. The common reset input has delays in both domains, but safe asynchronous reset
delivery/release is not proved by those budgets.</a:t>
            </a:r>
          </a:p>
        </p:txBody>
      </p:sp>
    </p:spTree>
    <p:extLst>
      <p:ext uri="{BB962C8B-B14F-4D97-AF65-F5344CB8AC3E}">
        <p14:creationId xmlns:p14="http://schemas.microsoft.com/office/powerpoint/2010/main" val="117162774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e074cf90747e4201"/>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09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394E119F-080E-42D6-9384-43F81BAEEDF7}"/>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7 · CONTROL SEQUENCE</a:t>
            </a:r>
          </a:p>
        </p:txBody>
      </p:sp>
      <p:sp>
        <p:nvSpPr>
          <p:cNvPr id="51" name="page-title">
            <a:extLst xmlns:a="http://schemas.openxmlformats.org/drawingml/2006/main">
              <a:ext uri="{FF2B5EF4-FFF2-40B4-BE49-F238E27FC236}">
                <a16:creationId xmlns:a16="http://schemas.microsoft.com/office/drawing/2014/main" id="{04D414E3-9F39-4387-9573-D5DE0CAB40CA}"/>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Two domains and phase-offset tests</a:t>
            </a:r>
          </a:p>
        </p:txBody>
      </p:sp>
      <p:sp>
        <p:nvSpPr>
          <p:cNvPr id="52" name="intro">
            <a:extLst xmlns:a="http://schemas.openxmlformats.org/drawingml/2006/main">
              <a:ext uri="{FF2B5EF4-FFF2-40B4-BE49-F238E27FC236}">
                <a16:creationId xmlns:a16="http://schemas.microsoft.com/office/drawing/2014/main" id="{8BE381AD-6DE5-4291-8C4E-F7265D8D5C81}"/>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Independent receive stimuli avoid a self-confirming TX-to-RX loop.</a:t>
            </a:r>
          </a:p>
        </p:txBody>
      </p:sp>
      <p:sp>
        <p:nvSpPr>
          <p:cNvPr id="53" name="component-label-225.93333333333334">
            <a:extLst xmlns:a="http://schemas.openxmlformats.org/drawingml/2006/main">
              <a:ext uri="{FF2B5EF4-FFF2-40B4-BE49-F238E27FC236}">
                <a16:creationId xmlns:a16="http://schemas.microsoft.com/office/drawing/2014/main" id="{097A3BC3-759F-4A9C-8E6C-A4FA0D09B174}"/>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O N T R O L   S E Q U E N C E</a:t>
            </a:r>
          </a:p>
        </p:txBody>
      </p:sp>
      <p:sp>
        <p:nvSpPr>
          <p:cNvPr id="54" name="body-0">
            <a:extLst xmlns:a="http://schemas.openxmlformats.org/drawingml/2006/main">
              <a:ext uri="{FF2B5EF4-FFF2-40B4-BE49-F238E27FC236}">
                <a16:creationId xmlns:a16="http://schemas.microsoft.com/office/drawing/2014/main" id="{A8DD1046-7C27-4B5D-BA50-56F99621A55F}"/>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bench runs TX with a 400 ns period and RX with the same nominal 400 ns period after an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initial 73 ns offset. Their phases differ; their frequencies do not drift. This establishes separate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stimulus scheduling and exercises the distinct MAC domains, but it is not a frequency-offset or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asynchronous-FIFO stress test.</a:t>
            </a:r>
          </a:p>
        </p:txBody>
      </p:sp>
      <p:sp>
        <p:nvSpPr>
          <p:cNvPr id="55" name="body-1">
            <a:extLst xmlns:a="http://schemas.openxmlformats.org/drawingml/2006/main">
              <a:ext uri="{FF2B5EF4-FFF2-40B4-BE49-F238E27FC236}">
                <a16:creationId xmlns:a16="http://schemas.microsoft.com/office/drawing/2014/main" id="{948FBC5F-1591-4CF1-A576-8F45B9135C2C}"/>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receive </a:t>
            </a:r>
            <a:r>
              <a:rPr b="1"/>
              <a:t>source</a:t>
            </a:r>
            <a:r>
              <a:t> creates its own frames and CRC values rather than wiring transmitted nibbles
back to the DUT. Valid sixty- and 256-byte receive frames are checked. A corrupt-FCS frame must
raise the expected receive error. The transmitter independently checks fourteen-, sixty- and
256-byte input frames, padding and FCS.</a:t>
            </a:r>
          </a:p>
        </p:txBody>
      </p:sp>
      <p:sp>
        <p:nvSpPr>
          <p:cNvPr id="56" name="body-2">
            <a:extLst xmlns:a="http://schemas.openxmlformats.org/drawingml/2006/main">
              <a:ext uri="{FF2B5EF4-FFF2-40B4-BE49-F238E27FC236}">
                <a16:creationId xmlns:a16="http://schemas.microsoft.com/office/drawing/2014/main" id="{2361990F-988F-4983-AD0F-E8A893893588}"/>
              </a:ext>
            </a:extLst>
          </p:cNvPr>
          <p:cNvSpPr>
            <a:spLocks xmlns:a="http://schemas.openxmlformats.org/drawingml/2006/main" noGrp="1"/>
          </p:cNvSpPr>
          <p:nvPr/>
        </p:nvSpPr>
        <p:spPr>
          <a:xfrm xmlns:a="http://schemas.openxmlformats.org/drawingml/2006/main">
            <a:off x="502920" y="421297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control path must keep last aligned with the final supplied frame byte. The FCS and pad
extension are generated by the MAC. End-of-frame on </a:t>
            </a:r>
            <a:r>
              <a:rPr b="1"/>
              <a:t>MII</a:t>
            </a:r>
            <a:r>
              <a:t> and end-of-input on the local stream
therefore occur at different times.</a:t>
            </a:r>
          </a:p>
        </p:txBody>
      </p:sp>
      <p:sp>
        <p:nvSpPr>
          <p:cNvPr id="57" name="component-label-517.8666666666667">
            <a:extLst xmlns:a="http://schemas.openxmlformats.org/drawingml/2006/main">
              <a:ext uri="{FF2B5EF4-FFF2-40B4-BE49-F238E27FC236}">
                <a16:creationId xmlns:a16="http://schemas.microsoft.com/office/drawing/2014/main" id="{F4F2BABE-9CEE-4BA3-87F9-DAAFABCF34E5}"/>
              </a:ext>
            </a:extLst>
          </p:cNvPr>
          <p:cNvSpPr>
            <a:spLocks xmlns:a="http://schemas.openxmlformats.org/drawingml/2006/main" noGrp="1"/>
          </p:cNvSpPr>
          <p:nvPr/>
        </p:nvSpPr>
        <p:spPr>
          <a:xfrm xmlns:a="http://schemas.openxmlformats.org/drawingml/2006/main">
            <a:off x="502920" y="493268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D O M A I N - S P E C I F I C   T R A N S A C T I O N S</a:t>
            </a:r>
          </a:p>
        </p:txBody>
      </p:sp>
      <p:graphicFrame>
        <p:nvGraphicFramePr>
          <p:cNvPr id="76" name=""/>
          <p:cNvGraphicFramePr/>
          <p:nvPr/>
        </p:nvGraphicFramePr>
        <p:xfrm>
          <a:off xmlns:a="http://schemas.openxmlformats.org/drawingml/2006/main" x="502920" y="5197856"/>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Path</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Independent directed cases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TX</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14, 60 and 256 input frame bytes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RX</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60 and 256 valid frame bytes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RX fault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Corrupt FCS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Clock relation</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400 ns each; 73 ns phase offset</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17162774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fe863ae39e3e4135"/>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10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F9F58C10-C4C0-4A49-A51B-B565F5B23134}"/>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8 · FAILURE ANALYSIS</a:t>
            </a:r>
          </a:p>
        </p:txBody>
      </p:sp>
      <p:sp>
        <p:nvSpPr>
          <p:cNvPr id="51" name="page-title">
            <a:extLst xmlns:a="http://schemas.openxmlformats.org/drawingml/2006/main">
              <a:ext uri="{FF2B5EF4-FFF2-40B4-BE49-F238E27FC236}">
                <a16:creationId xmlns:a16="http://schemas.microsoft.com/office/drawing/2014/main" id="{5DAC155D-F66F-445D-9AD8-46217AA26361}"/>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CRC success does not cover every fault</a:t>
            </a:r>
          </a:p>
        </p:txBody>
      </p:sp>
      <p:sp>
        <p:nvSpPr>
          <p:cNvPr id="52" name="intro">
            <a:extLst xmlns:a="http://schemas.openxmlformats.org/drawingml/2006/main">
              <a:ext uri="{FF2B5EF4-FFF2-40B4-BE49-F238E27FC236}">
                <a16:creationId xmlns:a16="http://schemas.microsoft.com/office/drawing/2014/main" id="{6F232ADC-1830-489C-BB94-7E6D77238537}"/>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untested conditions define the next regression work.</a:t>
            </a:r>
          </a:p>
        </p:txBody>
      </p:sp>
      <p:sp>
        <p:nvSpPr>
          <p:cNvPr id="53" name="component-label-225.93333333333334">
            <a:extLst xmlns:a="http://schemas.openxmlformats.org/drawingml/2006/main">
              <a:ext uri="{FF2B5EF4-FFF2-40B4-BE49-F238E27FC236}">
                <a16:creationId xmlns:a16="http://schemas.microsoft.com/office/drawing/2014/main" id="{089644DC-A8CD-4892-9A3F-A4C97D669D84}"/>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F A I L U R E   A N A L Y S I S</a:t>
            </a:r>
          </a:p>
        </p:txBody>
      </p:sp>
      <p:sp>
        <p:nvSpPr>
          <p:cNvPr id="54" name="body-0">
            <a:extLst xmlns:a="http://schemas.openxmlformats.org/drawingml/2006/main">
              <a:ext uri="{FF2B5EF4-FFF2-40B4-BE49-F238E27FC236}">
                <a16:creationId xmlns:a16="http://schemas.microsoft.com/office/drawing/2014/main" id="{794DB059-E9B1-44DF-9856-CAF59C8F8A07}"/>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corrupted receive FCS is covered, but RXER, runt/oversize acceptance, transmit underflow and
</a:t>
            </a:r>
            <a:r>
              <a:rPr b="1"/>
              <a:t>clock</a:t>
            </a:r>
            <a:r>
              <a:t> drift are not established. Half-duplex collisions cannot be claimed because this reference is
full duplex and does not implement collision/retry logic. Physical link negotiation and board
operation likewise belong to the external PHY integration.</a:t>
            </a:r>
          </a:p>
        </p:txBody>
      </p:sp>
      <p:sp>
        <p:nvSpPr>
          <p:cNvPr id="55" name="body-1">
            <a:extLst xmlns:a="http://schemas.openxmlformats.org/drawingml/2006/main">
              <a:ext uri="{FF2B5EF4-FFF2-40B4-BE49-F238E27FC236}">
                <a16:creationId xmlns:a16="http://schemas.microsoft.com/office/drawing/2014/main" id="{4E6F01C2-145B-41B8-AE77-AF8DCD007583}"/>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consumer that cannot drain non-stallable RX output may lose data even when the incoming FCS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is valid. A production integration needs a buffer-capacity budget based on maximum burst size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and consumer latency. Declaring two clocks in STA is not a substitute for proving the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cross-domain queue contract.</a:t>
            </a:r>
          </a:p>
        </p:txBody>
      </p:sp>
      <p:sp>
        <p:nvSpPr>
          <p:cNvPr id="56" name="body-2">
            <a:extLst xmlns:a="http://schemas.openxmlformats.org/drawingml/2006/main">
              <a:ext uri="{FF2B5EF4-FFF2-40B4-BE49-F238E27FC236}">
                <a16:creationId xmlns:a16="http://schemas.microsoft.com/office/drawing/2014/main" id="{6EF7DC81-7803-4453-9F5D-C380FC375E78}"/>
              </a:ext>
            </a:extLst>
          </p:cNvPr>
          <p:cNvSpPr>
            <a:spLocks xmlns:a="http://schemas.openxmlformats.org/drawingml/2006/main" noGrp="1"/>
          </p:cNvSpPr>
          <p:nvPr/>
        </p:nvSpPr>
        <p:spPr>
          <a:xfrm xmlns:a="http://schemas.openxmlformats.org/drawingml/2006/main">
            <a:off x="502920" y="421297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fixed CRC replacement has a deliberately limited compatibility promise. Preserving its unused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data_out zero tie is acceptable for the checked consumers, but reusing the module under a</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different generic-LFSR interface would change the contract and require a new review.</a:t>
            </a:r>
          </a:p>
        </p:txBody>
      </p:sp>
      <p:sp>
        <p:nvSpPr>
          <p:cNvPr id="57" name="component-label-517.8666666666667">
            <a:extLst xmlns:a="http://schemas.openxmlformats.org/drawingml/2006/main">
              <a:ext uri="{FF2B5EF4-FFF2-40B4-BE49-F238E27FC236}">
                <a16:creationId xmlns:a16="http://schemas.microsoft.com/office/drawing/2014/main" id="{754B6CE3-E9E5-4C0E-BE7C-69C7046A38C9}"/>
              </a:ext>
            </a:extLst>
          </p:cNvPr>
          <p:cNvSpPr>
            <a:spLocks xmlns:a="http://schemas.openxmlformats.org/drawingml/2006/main" noGrp="1"/>
          </p:cNvSpPr>
          <p:nvPr/>
        </p:nvSpPr>
        <p:spPr>
          <a:xfrm xmlns:a="http://schemas.openxmlformats.org/drawingml/2006/main">
            <a:off x="502920" y="493268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N E X T   R E G R E S S I O N   O B L I G A T I O N S</a:t>
            </a:r>
          </a:p>
        </p:txBody>
      </p:sp>
      <p:graphicFrame>
        <p:nvGraphicFramePr>
          <p:cNvPr id="76" name=""/>
          <p:cNvGraphicFramePr/>
          <p:nvPr/>
        </p:nvGraphicFramePr>
        <p:xfrm>
          <a:off xmlns:a="http://schemas.openxmlformats.org/drawingml/2006/main" x="502920" y="5197856"/>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Area</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Unclosed condition</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Receive faults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RXER, runt / oversize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Transmit flow</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Underflow and error injection</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Clock crossing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Frequency drift and buffer stress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PHY / board</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MDIO, negotiation, actual link</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Half duplex</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implemented</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7162774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c81a43036dc746f3"/>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11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76A495A3-A7BD-4213-8D21-F03D94F8721D}"/>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9 · WORKED EXAMPLE</a:t>
            </a:r>
          </a:p>
        </p:txBody>
      </p:sp>
      <p:sp>
        <p:nvSpPr>
          <p:cNvPr id="51" name="page-title">
            <a:extLst xmlns:a="http://schemas.openxmlformats.org/drawingml/2006/main">
              <a:ext uri="{FF2B5EF4-FFF2-40B4-BE49-F238E27FC236}">
                <a16:creationId xmlns:a16="http://schemas.microsoft.com/office/drawing/2014/main" id="{45EAE6A6-6D4F-45AF-B266-88ED849F8BC0}"/>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Byte A5 becomes nibbles 5, A</a:t>
            </a:r>
          </a:p>
        </p:txBody>
      </p:sp>
      <p:sp>
        <p:nvSpPr>
          <p:cNvPr id="52" name="intro">
            <a:extLst xmlns:a="http://schemas.openxmlformats.org/drawingml/2006/main">
              <a:ext uri="{FF2B5EF4-FFF2-40B4-BE49-F238E27FC236}">
                <a16:creationId xmlns:a16="http://schemas.microsoft.com/office/drawing/2014/main" id="{24453593-C2B2-4D82-B677-33B5A69DDF93}"/>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This is a labelled ideal MII sequence, not an exported waveform measurement.</a:t>
            </a:r>
          </a:p>
        </p:txBody>
      </p:sp>
      <p:sp>
        <p:nvSpPr>
          <p:cNvPr id="53" name="component-label-225.93333333333334">
            <a:extLst xmlns:a="http://schemas.openxmlformats.org/drawingml/2006/main">
              <a:ext uri="{FF2B5EF4-FFF2-40B4-BE49-F238E27FC236}">
                <a16:creationId xmlns:a16="http://schemas.microsoft.com/office/drawing/2014/main" id="{B9540AF1-108A-4B48-85FC-BD7588BF05DC}"/>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W O R K E D   E X A M P L E</a:t>
            </a:r>
          </a:p>
        </p:txBody>
      </p:sp>
      <p:sp>
        <p:nvSpPr>
          <p:cNvPr id="54" name="body-0">
            <a:extLst xmlns:a="http://schemas.openxmlformats.org/drawingml/2006/main">
              <a:ext uri="{FF2B5EF4-FFF2-40B4-BE49-F238E27FC236}">
                <a16:creationId xmlns:a16="http://schemas.microsoft.com/office/drawing/2014/main" id="{5BF9D5D4-5E73-43BB-9FE5-5D184DD03851}"/>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At a 2.5 MHz </a:t>
            </a:r>
            <a:r>
              <a:rPr b="1"/>
              <a:t>MII</a:t>
            </a:r>
            <a:r>
              <a:t> clock, each nibble occupies 400 ns and one byte occupies 800 ns. The byte A5
appears as data nibble 5 then nibble A while transmit-enable is asserted. A known preamble/SFD
sequence is checked before the frame body so a correctly ordered payload is not accepted in an
incorrectly framed transmission.</a:t>
            </a:r>
          </a:p>
        </p:txBody>
      </p:sp>
      <p:sp>
        <p:nvSpPr>
          <p:cNvPr id="55" name="body-1">
            <a:extLst xmlns:a="http://schemas.openxmlformats.org/drawingml/2006/main">
              <a:ext uri="{FF2B5EF4-FFF2-40B4-BE49-F238E27FC236}">
                <a16:creationId xmlns:a16="http://schemas.microsoft.com/office/drawing/2014/main" id="{43457791-2952-4FD9-A24F-327CF6C3BC8E}"/>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normal-frame tests compute FCS independently from the supplied frame and any generated
zero padding. The low-nibble-first </a:t>
            </a:r>
            <a:r>
              <a:rPr b="1"/>
              <a:t>MII</a:t>
            </a:r>
            <a:r>
              <a:t> ordering must also hold for the FCS bytes. A local byte
comparison alone would miss that serialisation error, which is why the bench observes the nibble
interface.</a:t>
            </a:r>
          </a:p>
        </p:txBody>
      </p:sp>
      <p:sp>
        <p:nvSpPr>
          <p:cNvPr id="56" name="body-2">
            <a:extLst xmlns:a="http://schemas.openxmlformats.org/drawingml/2006/main">
              <a:ext uri="{FF2B5EF4-FFF2-40B4-BE49-F238E27FC236}">
                <a16:creationId xmlns:a16="http://schemas.microsoft.com/office/drawing/2014/main" id="{51A1ADF7-CA0C-4267-9ABA-68A5F305D135}"/>
              </a:ext>
            </a:extLst>
          </p:cNvPr>
          <p:cNvSpPr>
            <a:spLocks xmlns:a="http://schemas.openxmlformats.org/drawingml/2006/main" noGrp="1"/>
          </p:cNvSpPr>
          <p:nvPr/>
        </p:nvSpPr>
        <p:spPr>
          <a:xfrm xmlns:a="http://schemas.openxmlformats.org/drawingml/2006/main">
            <a:off x="502920" y="421297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current Ethernet bench retains decisive logs and </a:t>
            </a:r>
            <a:r>
              <a:rPr b="1"/>
              <a:t>source</a:t>
            </a:r>
            <a:r>
              <a:t> rather than a plotted positive VCD.
The document therefore shows the explicit example as a table. A future board trace must identify
PHY clock direction, enable timing and error lines before being described as a measured link
result.</a:t>
            </a:r>
          </a:p>
        </p:txBody>
      </p:sp>
      <p:sp>
        <p:nvSpPr>
          <p:cNvPr id="57" name="component-label-536.5733333333334">
            <a:extLst xmlns:a="http://schemas.openxmlformats.org/drawingml/2006/main">
              <a:ext uri="{FF2B5EF4-FFF2-40B4-BE49-F238E27FC236}">
                <a16:creationId xmlns:a16="http://schemas.microsoft.com/office/drawing/2014/main" id="{DBE3F097-0101-4C78-AED9-94118951038D}"/>
              </a:ext>
            </a:extLst>
          </p:cNvPr>
          <p:cNvSpPr>
            <a:spLocks xmlns:a="http://schemas.openxmlformats.org/drawingml/2006/main" noGrp="1"/>
          </p:cNvSpPr>
          <p:nvPr/>
        </p:nvSpPr>
        <p:spPr>
          <a:xfrm xmlns:a="http://schemas.openxmlformats.org/drawingml/2006/main">
            <a:off x="502920" y="5110861"/>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I D E A L   T I M I N G   F O R   B Y T E   A 5</a:t>
            </a:r>
          </a:p>
        </p:txBody>
      </p:sp>
      <p:graphicFrame>
        <p:nvGraphicFramePr>
          <p:cNvPr id="76" name=""/>
          <p:cNvGraphicFramePr/>
          <p:nvPr/>
        </p:nvGraphicFramePr>
        <p:xfrm>
          <a:off xmlns:a="http://schemas.openxmlformats.org/drawingml/2006/main" x="502920" y="5376037"/>
          <a:ext xmlns:a="http://schemas.openxmlformats.org/drawingml/2006/main" cx="6556248" cy="1212850"/>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MII cycle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Relative interval</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Nibble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First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0..400 ns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5</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Second</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400..800 ns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Recovered byte</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After two cycles</a:t>
                      </a:r>
                    </a:p>
                  </a:txBody>
                  <a:tcPr marL="91440" marR="91440" marT="45720" marB="45720">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A5</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7162774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080670c4fe2544d6"/>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E0E760D8-7F67-4424-BBBE-D344C7D76956}"/>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10 · LINT</a:t>
            </a:r>
          </a:p>
        </p:txBody>
      </p:sp>
      <p:sp>
        <p:nvSpPr>
          <p:cNvPr id="51" name="page-title">
            <a:extLst xmlns:a="http://schemas.openxmlformats.org/drawingml/2006/main">
              <a:ext uri="{FF2B5EF4-FFF2-40B4-BE49-F238E27FC236}">
                <a16:creationId xmlns:a16="http://schemas.microsoft.com/office/drawing/2014/main" id="{B2935B09-36C4-4422-A6BF-D91752784108}"/>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Lint: read code before running it</a:t>
            </a:r>
          </a:p>
        </p:txBody>
      </p:sp>
      <p:sp>
        <p:nvSpPr>
          <p:cNvPr id="52" name="intro">
            <a:extLst xmlns:a="http://schemas.openxmlformats.org/drawingml/2006/main">
              <a:ext uri="{FF2B5EF4-FFF2-40B4-BE49-F238E27FC236}">
                <a16:creationId xmlns:a16="http://schemas.microsoft.com/office/drawing/2014/main" id="{E6BDC421-6400-459F-9764-A61E8BB7C4FD}"/>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Verilator checks legal but suspicious code patterns without exercising transactions. A warning</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count is a review starting point, not proof of correctness.</a:t>
            </a:r>
          </a:p>
        </p:txBody>
      </p:sp>
      <p:sp>
        <p:nvSpPr>
          <p:cNvPr id="53" name="component-label-246.26666666666665">
            <a:extLst xmlns:a="http://schemas.openxmlformats.org/drawingml/2006/main">
              <a:ext uri="{FF2B5EF4-FFF2-40B4-BE49-F238E27FC236}">
                <a16:creationId xmlns:a16="http://schemas.microsoft.com/office/drawing/2014/main" id="{B860589F-EB44-453F-811F-562B242AC15D}"/>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N T</a:t>
            </a:r>
          </a:p>
        </p:txBody>
      </p:sp>
      <p:sp>
        <p:nvSpPr>
          <p:cNvPr id="54" name="body-0">
            <a:extLst xmlns:a="http://schemas.openxmlformats.org/drawingml/2006/main">
              <a:ext uri="{FF2B5EF4-FFF2-40B4-BE49-F238E27FC236}">
                <a16:creationId xmlns:a16="http://schemas.microsoft.com/office/drawing/2014/main" id="{88851998-5BCB-4525-BFAD-479508880C85}"/>
              </a:ext>
            </a:extLst>
          </p:cNvPr>
          <p:cNvSpPr>
            <a:spLocks xmlns:a="http://schemas.openxmlformats.org/drawingml/2006/main" noGrp="1"/>
          </p:cNvSpPr>
          <p:nvPr/>
        </p:nvSpPr>
        <p:spPr>
          <a:xfrm xmlns:a="http://schemas.openxmlformats.org/drawingml/2006/main">
            <a:off x="502920" y="2610866"/>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retained report contains 72 warning messages and 0 error messages. Categories present: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CASEINCOMPLETE, PINCONNECTEMPTY, PINMISSING, PROCASSINIT, SELRANGE, UNUSEDPARAM,</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UNUSEDSIGNAL, WIDTHEXPAND, WIDTHTRUNC. These figures count report message headers;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repeated warnings are not necessarily independent defects. The report is hashed in this document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evidence manifest.</a:t>
            </a:r>
          </a:p>
        </p:txBody>
      </p:sp>
      <p:sp>
        <p:nvSpPr>
          <p:cNvPr id="55" name="body-1">
            <a:extLst xmlns:a="http://schemas.openxmlformats.org/drawingml/2006/main">
              <a:ext uri="{FF2B5EF4-FFF2-40B4-BE49-F238E27FC236}">
                <a16:creationId xmlns:a16="http://schemas.microsoft.com/office/drawing/2014/main" id="{8A0E080F-E4BE-432A-B3F7-3CDF40970256}"/>
              </a:ext>
            </a:extLst>
          </p:cNvPr>
          <p:cNvSpPr>
            <a:spLocks xmlns:a="http://schemas.openxmlformats.org/drawingml/2006/main" noGrp="1"/>
          </p:cNvSpPr>
          <p:nvPr/>
        </p:nvSpPr>
        <p:spPr>
          <a:xfrm xmlns:a="http://schemas.openxmlformats.org/drawingml/2006/main">
            <a:off x="502920" y="3686937"/>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invocation deliberately uses -Wno-fatal so warnings remain visible while lint execution can
complete. A successful command therefore does not mean every warning was resolved. Width
changes, incomplete cases, </a:t>
            </a:r>
            <a:r>
              <a:rPr b="1"/>
              <a:t>reset</a:t>
            </a:r>
            <a:r>
              <a:t> use and unconnected ports need review against the wrapper
contract and directed tests.</a:t>
            </a:r>
          </a:p>
        </p:txBody>
      </p:sp>
      <p:sp>
        <p:nvSpPr>
          <p:cNvPr id="56" name="body-2">
            <a:extLst xmlns:a="http://schemas.openxmlformats.org/drawingml/2006/main">
              <a:ext uri="{FF2B5EF4-FFF2-40B4-BE49-F238E27FC236}">
                <a16:creationId xmlns:a16="http://schemas.microsoft.com/office/drawing/2014/main" id="{42D0232F-97EC-4B56-9183-76E3341BC1CB}"/>
              </a:ext>
            </a:extLst>
          </p:cNvPr>
          <p:cNvSpPr>
            <a:spLocks xmlns:a="http://schemas.openxmlformats.org/drawingml/2006/main" noGrp="1"/>
          </p:cNvSpPr>
          <p:nvPr/>
        </p:nvSpPr>
        <p:spPr>
          <a:xfrm xmlns:a="http://schemas.openxmlformats.org/drawingml/2006/main">
            <a:off x="502920" y="4584827"/>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Lint cannot show that a receive byte is correct, that a transaction finishes, or that an external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electrical interface is safe. Those questions require a checking testbench, implementation evidence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and separate board or signoff work.</a:t>
            </a:r>
          </a:p>
        </p:txBody>
      </p:sp>
      <p:sp>
        <p:nvSpPr>
          <p:cNvPr id="57" name="component-label-556.9066666666666">
            <a:extLst xmlns:a="http://schemas.openxmlformats.org/drawingml/2006/main">
              <a:ext uri="{FF2B5EF4-FFF2-40B4-BE49-F238E27FC236}">
                <a16:creationId xmlns:a16="http://schemas.microsoft.com/office/drawing/2014/main" id="{69A21A5C-BEE9-4EAE-AC80-4AF4E030DE61}"/>
              </a:ext>
            </a:extLst>
          </p:cNvPr>
          <p:cNvSpPr>
            <a:spLocks xmlns:a="http://schemas.openxmlformats.org/drawingml/2006/main" noGrp="1"/>
          </p:cNvSpPr>
          <p:nvPr/>
        </p:nvSpPr>
        <p:spPr>
          <a:xfrm xmlns:a="http://schemas.openxmlformats.org/drawingml/2006/main">
            <a:off x="502920" y="530453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T A I N E D   W A R N I N G   R E V I E W</a:t>
            </a:r>
          </a:p>
        </p:txBody>
      </p:sp>
      <p:graphicFrame>
        <p:nvGraphicFramePr>
          <p:cNvPr id="80" name=""/>
          <p:cNvGraphicFramePr/>
          <p:nvPr/>
        </p:nvGraphicFramePr>
        <p:xfrm>
          <a:off xmlns:a="http://schemas.openxmlformats.org/drawingml/2006/main" x="502920" y="5569712"/>
          <a:ext xmlns:a="http://schemas.openxmlformats.org/drawingml/2006/main" cx="6556248" cy="16668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Warning message headers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72</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Error message headers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Clean warning-free RTL?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claimed</a:t>
                      </a:r>
                    </a:p>
                  </a:txBody>
                  <a:tcPr marL="91440" marR="91440" marT="45720" marB="45720">
                    <a:lnR w="0">
                      <a:noFill/>
                    </a:lnR>
                    <a:lnB w="4763">
                      <a:solidFill>
                        <a:srgbClr val="EAEAEA"/>
                      </a:solidFill>
                      <a:prstDash val="solid"/>
                    </a:lnB>
                    <a:solidFill>
                      <a:srgbClr val="FFFFFF"/>
                    </a:solidFill>
                  </a:tcPr>
                </a:tc>
              </a:tr>
              <a:tr h="454025">
                <a:tc>
                  <a:txBody>
                    <a:bodyPr lIns="76200" tIns="57150" rIns="76200" bIns="57150">
                      <a:noAutofit/>
                    </a:bodyPr>
                    <a:lstStyle/>
                    <a:p>
                      <a:r>
                        <a:rPr sz="950" b="0">
                          <a:solidFill>
                            <a:srgbClr val="444444"/>
                          </a:solidFill>
                          <a:latin typeface="Segoe UI"/>
                          <a:ea typeface="Segoe UI"/>
                          <a:cs typeface="Segoe UI"/>
                        </a:rPr>
                        <a:t>Protocol behaviour proved by</a:t>
                      </a:r>
                    </a:p>
                    <a:p>
                      <a:r>
                        <a:rPr sz="950" b="0">
                          <a:solidFill>
                            <a:srgbClr val="444444"/>
                          </a:solidFill>
                          <a:latin typeface="Segoe UI"/>
                          <a:ea typeface="Segoe UI"/>
                          <a:cs typeface="Segoe UI"/>
                        </a:rPr>
                        <a:t>lint?</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a:t>
                      </a:r>
                    </a:p>
                  </a:txBody>
                  <a:tcPr marL="91440" marR="91440" marT="45720" marB="45720">
                    <a:lnR w="0">
                      <a:noFill/>
                    </a:lnR>
                    <a:lnB w="0">
                      <a:noFill/>
                    </a:lnB>
                    <a:solidFill>
                      <a:srgbClr val="FAFAFA"/>
                    </a:solidFill>
                  </a:tcPr>
                </a:tc>
              </a:tr>
            </a:tbl>
          </a:graphicData>
        </a:graphic>
      </p:graphicFrame>
      <p:sp>
        <p:nvSpPr>
          <p:cNvPr id="59" name="component-label-778.9466666666667">
            <a:extLst xmlns:a="http://schemas.openxmlformats.org/drawingml/2006/main">
              <a:ext uri="{FF2B5EF4-FFF2-40B4-BE49-F238E27FC236}">
                <a16:creationId xmlns:a16="http://schemas.microsoft.com/office/drawing/2014/main" id="{7B2D4BEE-5EC5-4F99-8F99-243344B010F6}"/>
              </a:ext>
            </a:extLst>
          </p:cNvPr>
          <p:cNvSpPr>
            <a:spLocks xmlns:a="http://schemas.openxmlformats.org/drawingml/2006/main" noGrp="1"/>
          </p:cNvSpPr>
          <p:nvPr/>
        </p:nvSpPr>
        <p:spPr>
          <a:xfrm xmlns:a="http://schemas.openxmlformats.org/drawingml/2006/main">
            <a:off x="502920" y="7419467"/>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60" name="code-panel">
            <a:extLst xmlns:a="http://schemas.openxmlformats.org/drawingml/2006/main">
              <a:ext uri="{FF2B5EF4-FFF2-40B4-BE49-F238E27FC236}">
                <a16:creationId xmlns:a16="http://schemas.microsoft.com/office/drawing/2014/main" id="{2C18F4E1-90AA-43F9-846D-3B5BE54070AB}"/>
              </a:ext>
            </a:extLst>
          </p:cNvPr>
          <p:cNvSpPr>
            <a:spLocks xmlns:a="http://schemas.openxmlformats.org/drawingml/2006/main" noGrp="1"/>
          </p:cNvSpPr>
          <p:nvPr/>
        </p:nvSpPr>
        <p:spPr>
          <a:xfrm xmlns:a="http://schemas.openxmlformats.org/drawingml/2006/main">
            <a:off x="502920" y="7684643"/>
            <a:ext cx="6556248" cy="69342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1" name="code">
            <a:extLst xmlns:a="http://schemas.openxmlformats.org/drawingml/2006/main">
              <a:ext uri="{FF2B5EF4-FFF2-40B4-BE49-F238E27FC236}">
                <a16:creationId xmlns:a16="http://schemas.microsoft.com/office/drawing/2014/main" id="{64C947CB-77DC-4766-B88F-3DD241FA66B0}"/>
              </a:ext>
            </a:extLst>
          </p:cNvPr>
          <p:cNvSpPr>
            <a:spLocks xmlns:a="http://schemas.openxmlformats.org/drawingml/2006/main" noGrp="1"/>
          </p:cNvSpPr>
          <p:nvPr/>
        </p:nvSpPr>
        <p:spPr>
          <a:xfrm xmlns:a="http://schemas.openxmlformats.org/drawingml/2006/main">
            <a:off x="617220" y="7779893"/>
            <a:ext cx="6327648" cy="541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make lint</a:t>
            </a:r>
            <a:r>
              <a:rPr>
                <a:solidFill>
                  <a:srgbClr val="9A9AA0"/>
                </a:solidFill>
              </a:rPr>
              <a:t>
# inspect, do not just count</a:t>
            </a:r>
            <a:r>
              <a:rPr>
                <a:solidFill>
                  <a:srgbClr val="9A9AA0"/>
                </a:solidFill>
              </a:rPr>
              <a:t>
# 00_lint/lint_report.txt</a:t>
            </a:r>
          </a:p>
        </p:txBody>
      </p:sp>
      <p:sp>
        <p:nvSpPr>
          <p:cNvPr id="62" name="code-source">
            <a:extLst xmlns:a="http://schemas.openxmlformats.org/drawingml/2006/main">
              <a:ext uri="{FF2B5EF4-FFF2-40B4-BE49-F238E27FC236}">
                <a16:creationId xmlns:a16="http://schemas.microsoft.com/office/drawing/2014/main" id="{C6483368-2E9B-4D8B-8C17-A585E1F5F59F}"/>
              </a:ext>
            </a:extLst>
          </p:cNvPr>
          <p:cNvSpPr>
            <a:spLocks xmlns:a="http://schemas.openxmlformats.org/drawingml/2006/main" noGrp="1"/>
          </p:cNvSpPr>
          <p:nvPr/>
        </p:nvSpPr>
        <p:spPr>
          <a:xfrm xmlns:a="http://schemas.openxmlformats.org/drawingml/2006/main">
            <a:off x="502920" y="8435213"/>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00_lint/Makefile and run_flow.sh: retained Verilator report</a:t>
            </a:r>
          </a:p>
        </p:txBody>
      </p:sp>
    </p:spTree>
    <p:extLst>
      <p:ext uri="{BB962C8B-B14F-4D97-AF65-F5344CB8AC3E}">
        <p14:creationId xmlns:p14="http://schemas.microsoft.com/office/powerpoint/2010/main" val="117162774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d75553641185426d"/>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B439057B-B0C5-4C33-940D-03F1258B18EA}"/>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11 · SIMULATION AND VERIFICATION</a:t>
            </a:r>
          </a:p>
        </p:txBody>
      </p:sp>
      <p:sp>
        <p:nvSpPr>
          <p:cNvPr id="51" name="page-title">
            <a:extLst xmlns:a="http://schemas.openxmlformats.org/drawingml/2006/main">
              <a:ext uri="{FF2B5EF4-FFF2-40B4-BE49-F238E27FC236}">
                <a16:creationId xmlns:a16="http://schemas.microsoft.com/office/drawing/2014/main" id="{F53A63FD-7AC2-4D18-87E1-C70EF378A1CD}"/>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Independent frame and CRC checks</a:t>
            </a:r>
          </a:p>
        </p:txBody>
      </p:sp>
      <p:sp>
        <p:nvSpPr>
          <p:cNvPr id="52" name="intro">
            <a:extLst xmlns:a="http://schemas.openxmlformats.org/drawingml/2006/main">
              <a:ext uri="{FF2B5EF4-FFF2-40B4-BE49-F238E27FC236}">
                <a16:creationId xmlns:a16="http://schemas.microsoft.com/office/drawing/2014/main" id="{151E382F-3457-46FA-B1F7-488710F80AA9}"/>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testbench is code that drives the circuit and judges its outputs. These directed checks use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independent expected data and deliberately failing controls.</a:t>
            </a:r>
          </a:p>
        </p:txBody>
      </p:sp>
      <p:sp>
        <p:nvSpPr>
          <p:cNvPr id="53" name="component-label-246.26666666666665">
            <a:extLst xmlns:a="http://schemas.openxmlformats.org/drawingml/2006/main">
              <a:ext uri="{FF2B5EF4-FFF2-40B4-BE49-F238E27FC236}">
                <a16:creationId xmlns:a16="http://schemas.microsoft.com/office/drawing/2014/main" id="{F2B7D52E-8299-4460-9BF0-446210D8B430}"/>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I M U L A T I O N   A N D   V E R I F I C A T I O N</a:t>
            </a:r>
          </a:p>
        </p:txBody>
      </p:sp>
      <p:sp>
        <p:nvSpPr>
          <p:cNvPr id="54" name="body-0">
            <a:extLst xmlns:a="http://schemas.openxmlformats.org/drawingml/2006/main">
              <a:ext uri="{FF2B5EF4-FFF2-40B4-BE49-F238E27FC236}">
                <a16:creationId xmlns:a16="http://schemas.microsoft.com/office/drawing/2014/main" id="{28FE6486-1762-4E46-ABCD-BFC5D80D13ED}"/>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Directed frame tests assert preamble, SFD, low-nibble-first ordering, padding, </a:t>
            </a:r>
            <a:r>
              <a:rPr b="1"/>
              <a:t>payload</a:t>
            </a:r>
            <a:r>
              <a:t> and
independent CRC32 for TX sizes fourteen, sixty and 256. RX uses independently generated sixty-
and 256-byte frames and a corrupt-FCS case. Reset quiescence is checked, and a deliberately
wrong expected receive byte must fail.</a:t>
            </a:r>
          </a:p>
        </p:txBody>
      </p:sp>
      <p:sp>
        <p:nvSpPr>
          <p:cNvPr id="55" name="body-1">
            <a:extLst xmlns:a="http://schemas.openxmlformats.org/drawingml/2006/main">
              <a:ext uri="{FF2B5EF4-FFF2-40B4-BE49-F238E27FC236}">
                <a16:creationId xmlns:a16="http://schemas.microsoft.com/office/drawing/2014/main" id="{6FF3414D-1227-4C2C-BE61-3CF2D202A9D6}"/>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dedicated CRC regression compares the consumed state_out against the preserved upstream</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LFSR over zero, forty one-hot and 256 mixed vectors, checks the standard arithmetic anchor and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rejects an injected mismatch. This addresses the local optimisation separately from frame-level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behaviour.</a:t>
            </a:r>
          </a:p>
        </p:txBody>
      </p:sp>
      <p:sp>
        <p:nvSpPr>
          <p:cNvPr id="56" name="body-2">
            <a:extLst xmlns:a="http://schemas.openxmlformats.org/drawingml/2006/main">
              <a:ext uri="{FF2B5EF4-FFF2-40B4-BE49-F238E27FC236}">
                <a16:creationId xmlns:a16="http://schemas.microsoft.com/office/drawing/2014/main" id="{4D3EAEC0-DBC6-4C68-8A60-B6AD56ECC185}"/>
              </a:ext>
            </a:extLst>
          </p:cNvPr>
          <p:cNvSpPr>
            <a:spLocks xmlns:a="http://schemas.openxmlformats.org/drawingml/2006/main" noGrp="1"/>
          </p:cNvSpPr>
          <p:nvPr/>
        </p:nvSpPr>
        <p:spPr>
          <a:xfrm xmlns:a="http://schemas.openxmlformats.org/drawingml/2006/main">
            <a:off x="502920" y="440664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result remains a full-duplex digital MAC </a:t>
            </a:r>
            <a:r>
              <a:rPr b="1"/>
              <a:t>reference</a:t>
            </a:r>
            <a:r>
              <a:t>. It is not a complete Ethernet device, a
network stack, a frequency-drift regression or foundry signoff. Test coverage is documented per
condition, so future work can add RXER and underflow without pretending the current
normal-frame run already covers them.</a:t>
            </a:r>
          </a:p>
        </p:txBody>
      </p:sp>
      <p:sp>
        <p:nvSpPr>
          <p:cNvPr id="57" name="component-label-556.9066666666666">
            <a:extLst xmlns:a="http://schemas.openxmlformats.org/drawingml/2006/main">
              <a:ext uri="{FF2B5EF4-FFF2-40B4-BE49-F238E27FC236}">
                <a16:creationId xmlns:a16="http://schemas.microsoft.com/office/drawing/2014/main" id="{38EE5135-03F4-4D5F-B47C-DB5CC343AACD}"/>
              </a:ext>
            </a:extLst>
          </p:cNvPr>
          <p:cNvSpPr>
            <a:spLocks xmlns:a="http://schemas.openxmlformats.org/drawingml/2006/main" noGrp="1"/>
          </p:cNvSpPr>
          <p:nvPr/>
        </p:nvSpPr>
        <p:spPr>
          <a:xfrm xmlns:a="http://schemas.openxmlformats.org/drawingml/2006/main">
            <a:off x="502920" y="5304536"/>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A C C E P T E D   P R O O F   L A Y E R S</a:t>
            </a:r>
          </a:p>
        </p:txBody>
      </p:sp>
      <p:graphicFrame>
        <p:nvGraphicFramePr>
          <p:cNvPr id="80" name=""/>
          <p:cNvGraphicFramePr/>
          <p:nvPr/>
        </p:nvGraphicFramePr>
        <p:xfrm>
          <a:off xmlns:a="http://schemas.openxmlformats.org/drawingml/2006/main" x="502920" y="5569712"/>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Layer</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Evidence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Frame behaviour</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Independent TX / RX checks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CRC transform</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297 direct comparisons plus anchor</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Checker sensitivity</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Deliberate fatal mismatches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Not established</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All faults, PHY operation, signoff</a:t>
                      </a:r>
                    </a:p>
                  </a:txBody>
                  <a:tcPr marL="91440" marR="91440" marT="45720" marB="45720">
                    <a:lnR w="0">
                      <a:noFill/>
                    </a:lnR>
                    <a:lnB w="0">
                      <a:noFill/>
                    </a:lnB>
                    <a:solidFill>
                      <a:srgbClr val="FAFAFA"/>
                    </a:solidFill>
                  </a:tcPr>
                </a:tc>
              </a:tr>
            </a:tbl>
          </a:graphicData>
        </a:graphic>
      </p:graphicFrame>
      <p:sp>
        <p:nvSpPr>
          <p:cNvPr id="59" name="boundary-card">
            <a:extLst xmlns:a="http://schemas.openxmlformats.org/drawingml/2006/main">
              <a:ext uri="{FF2B5EF4-FFF2-40B4-BE49-F238E27FC236}">
                <a16:creationId xmlns:a16="http://schemas.microsoft.com/office/drawing/2014/main" id="{453822FD-CC2E-4AAD-AAAD-D994526C3267}"/>
              </a:ext>
            </a:extLst>
          </p:cNvPr>
          <p:cNvSpPr>
            <a:spLocks xmlns:a="http://schemas.openxmlformats.org/drawingml/2006/main" noGrp="1"/>
          </p:cNvSpPr>
          <p:nvPr/>
        </p:nvSpPr>
        <p:spPr>
          <a:xfrm xmlns:a="http://schemas.openxmlformats.org/drawingml/2006/main">
            <a:off x="502920" y="7268655"/>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0ACFDA21-914A-4D70-95B0-F535B49A585C}"/>
              </a:ext>
            </a:extLst>
          </p:cNvPr>
          <p:cNvSpPr>
            <a:spLocks xmlns:a="http://schemas.openxmlformats.org/drawingml/2006/main" noGrp="1"/>
          </p:cNvSpPr>
          <p:nvPr/>
        </p:nvSpPr>
        <p:spPr>
          <a:xfrm xmlns:a="http://schemas.openxmlformats.org/drawingml/2006/main">
            <a:off x="502920" y="7268655"/>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CCB77FA0-7DEB-489F-BE99-C3C8B3123CDF}"/>
              </a:ext>
            </a:extLst>
          </p:cNvPr>
          <p:cNvSpPr>
            <a:spLocks xmlns:a="http://schemas.openxmlformats.org/drawingml/2006/main" noGrp="1"/>
          </p:cNvSpPr>
          <p:nvPr/>
        </p:nvSpPr>
        <p:spPr>
          <a:xfrm xmlns:a="http://schemas.openxmlformats.org/drawingml/2006/main">
            <a:off x="674370" y="7363905"/>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A checker must be able to fail</a:t>
            </a:r>
          </a:p>
        </p:txBody>
      </p:sp>
      <p:sp>
        <p:nvSpPr>
          <p:cNvPr id="62" name="boundary-text">
            <a:extLst xmlns:a="http://schemas.openxmlformats.org/drawingml/2006/main">
              <a:ext uri="{FF2B5EF4-FFF2-40B4-BE49-F238E27FC236}">
                <a16:creationId xmlns:a16="http://schemas.microsoft.com/office/drawing/2014/main" id="{BD7A9FA6-E124-48A9-AE19-3E0F242AF6DD}"/>
              </a:ext>
            </a:extLst>
          </p:cNvPr>
          <p:cNvSpPr>
            <a:spLocks xmlns:a="http://schemas.openxmlformats.org/drawingml/2006/main" noGrp="1"/>
          </p:cNvSpPr>
          <p:nvPr/>
        </p:nvSpPr>
        <p:spPr>
          <a:xfrm xmlns:a="http://schemas.openxmlformats.org/drawingml/2006/main">
            <a:off x="674370" y="7630605"/>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Completion alone is insufficient. Read the successful log and the expected fatal rejection together;</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neither is a protocol-compliance certificate.</a:t>
            </a:r>
          </a:p>
        </p:txBody>
      </p:sp>
    </p:spTree>
    <p:extLst>
      <p:ext uri="{BB962C8B-B14F-4D97-AF65-F5344CB8AC3E}">
        <p14:creationId xmlns:p14="http://schemas.microsoft.com/office/powerpoint/2010/main" val="117162774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04f66af3f8c840ac"/>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BBB9A703-E33C-4FEB-91C1-11023717A161}"/>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12 · SYNTHESIS</a:t>
            </a:r>
          </a:p>
        </p:txBody>
      </p:sp>
      <p:sp>
        <p:nvSpPr>
          <p:cNvPr id="51" name="page-title">
            <a:extLst xmlns:a="http://schemas.openxmlformats.org/drawingml/2006/main">
              <a:ext uri="{FF2B5EF4-FFF2-40B4-BE49-F238E27FC236}">
                <a16:creationId xmlns:a16="http://schemas.microsoft.com/office/drawing/2014/main" id="{84692A53-6D3F-44B6-98E6-958AB6B4E7B6}"/>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Synthesis: a description becomes gates</a:t>
            </a:r>
          </a:p>
        </p:txBody>
      </p:sp>
      <p:sp>
        <p:nvSpPr>
          <p:cNvPr id="52" name="intro">
            <a:extLst xmlns:a="http://schemas.openxmlformats.org/drawingml/2006/main">
              <a:ext uri="{FF2B5EF4-FFF2-40B4-BE49-F238E27FC236}">
                <a16:creationId xmlns:a16="http://schemas.microsoft.com/office/drawing/2014/main" id="{8764E0A7-CA2F-4435-83F0-16BE91D9F35F}"/>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A netlist is a list of logic cells and their connections. Yosys translates the RTL into cells from</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IHP SG13G2 library.</a:t>
            </a:r>
          </a:p>
        </p:txBody>
      </p:sp>
      <p:sp>
        <p:nvSpPr>
          <p:cNvPr id="53" name="component-label-246.26666666666665">
            <a:extLst xmlns:a="http://schemas.openxmlformats.org/drawingml/2006/main">
              <a:ext uri="{FF2B5EF4-FFF2-40B4-BE49-F238E27FC236}">
                <a16:creationId xmlns:a16="http://schemas.microsoft.com/office/drawing/2014/main" id="{EED5108C-5B93-45CA-ACF0-02ACA361B5AE}"/>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Y N T H E S I S</a:t>
            </a:r>
          </a:p>
        </p:txBody>
      </p:sp>
      <p:sp>
        <p:nvSpPr>
          <p:cNvPr id="54" name="body-0">
            <a:extLst xmlns:a="http://schemas.openxmlformats.org/drawingml/2006/main">
              <a:ext uri="{FF2B5EF4-FFF2-40B4-BE49-F238E27FC236}">
                <a16:creationId xmlns:a16="http://schemas.microsoft.com/office/drawing/2014/main" id="{FAFA596D-92F6-40E7-87C7-8D8A2F127C1E}"/>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process design kit, or PDK, contains the process-specific files used by implementation tools. This
</a:t>
            </a:r>
            <a:r>
              <a:rPr b="1"/>
              <a:t>reference</a:t>
            </a:r>
            <a:r>
              <a:t> uses IHP SG13G2, not the SKY130 library used by the golden APB primer. Standard cells
are predesigned gates and storage elements with characterised timing and physical views.</a:t>
            </a:r>
          </a:p>
        </p:txBody>
      </p:sp>
      <p:sp>
        <p:nvSpPr>
          <p:cNvPr id="55" name="body-1">
            <a:extLst xmlns:a="http://schemas.openxmlformats.org/drawingml/2006/main">
              <a:ext uri="{FF2B5EF4-FFF2-40B4-BE49-F238E27FC236}">
                <a16:creationId xmlns:a16="http://schemas.microsoft.com/office/drawing/2014/main" id="{A5C814DB-D531-4CB0-9035-15BA6C38C0CD}"/>
              </a:ext>
            </a:extLst>
          </p:cNvPr>
          <p:cNvSpPr>
            <a:spLocks xmlns:a="http://schemas.openxmlformats.org/drawingml/2006/main" noGrp="1"/>
          </p:cNvSpPr>
          <p:nvPr/>
        </p:nvSpPr>
        <p:spPr>
          <a:xfrm xmlns:a="http://schemas.openxmlformats.org/drawingml/2006/main">
            <a:off x="502920" y="3330575"/>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a:t>
            </a:r>
            <a:r>
              <a:rPr b="1"/>
              <a:t>source</a:t>
            </a:r>
            <a:r>
              <a:t> is compiled and checked under the unit workspace before synthesis. Yosys maps the
functional logic into the pinned IHP SG13G2 standard-cell library. The current netlist contains
1042 functional cells, excluding $scopeinfo metadata. The structural checker rejects remaining
generic logic, latches or unresolved instances.</a:t>
            </a:r>
          </a:p>
        </p:txBody>
      </p:sp>
      <p:sp>
        <p:nvSpPr>
          <p:cNvPr id="56" name="body-2">
            <a:extLst xmlns:a="http://schemas.openxmlformats.org/drawingml/2006/main">
              <a:ext uri="{FF2B5EF4-FFF2-40B4-BE49-F238E27FC236}">
                <a16:creationId xmlns:a16="http://schemas.microsoft.com/office/drawing/2014/main" id="{B5EC2F0E-5D1E-4730-9495-4A0B45CD0CA5}"/>
              </a:ext>
            </a:extLst>
          </p:cNvPr>
          <p:cNvSpPr>
            <a:spLocks xmlns:a="http://schemas.openxmlformats.org/drawingml/2006/main" noGrp="1"/>
          </p:cNvSpPr>
          <p:nvPr/>
        </p:nvSpPr>
        <p:spPr>
          <a:xfrm xmlns:a="http://schemas.openxmlformats.org/drawingml/2006/main">
            <a:off x="502920" y="422846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mapped count excludes $scopeinfo metadata. It is not the count of every placed instance
after </a:t>
            </a:r>
            <a:r>
              <a:rPr b="1"/>
              <a:t>clock</a:t>
            </a:r>
            <a:r>
              <a:t> buffers, repair cells and fillers are added. It also does not mean that the original
protocol has been independently proven for all possible transactions.</a:t>
            </a:r>
          </a:p>
        </p:txBody>
      </p:sp>
      <p:sp>
        <p:nvSpPr>
          <p:cNvPr id="57" name="component-label-519.4933333333333">
            <a:extLst xmlns:a="http://schemas.openxmlformats.org/drawingml/2006/main">
              <a:ext uri="{FF2B5EF4-FFF2-40B4-BE49-F238E27FC236}">
                <a16:creationId xmlns:a16="http://schemas.microsoft.com/office/drawing/2014/main" id="{DC869C9A-DE88-422C-96C2-E315B5ED79A0}"/>
              </a:ext>
            </a:extLst>
          </p:cNvPr>
          <p:cNvSpPr>
            <a:spLocks xmlns:a="http://schemas.openxmlformats.org/drawingml/2006/main" noGrp="1"/>
          </p:cNvSpPr>
          <p:nvPr/>
        </p:nvSpPr>
        <p:spPr>
          <a:xfrm xmlns:a="http://schemas.openxmlformats.org/drawingml/2006/main">
            <a:off x="502920" y="494817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M A P P I N G   R E S U L T</a:t>
            </a:r>
          </a:p>
        </p:txBody>
      </p:sp>
      <p:graphicFrame>
        <p:nvGraphicFramePr>
          <p:cNvPr id="80" name=""/>
          <p:cNvGraphicFramePr/>
          <p:nvPr/>
        </p:nvGraphicFramePr>
        <p:xfrm>
          <a:off xmlns:a="http://schemas.openxmlformats.org/drawingml/2006/main" x="502920" y="5213350"/>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CURRENT RESULT</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Top module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ethernet_core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1042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Technology</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IHP SG13G2</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Unresolved generic logic / latches</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Rejected by structural checker</a:t>
                      </a:r>
                    </a:p>
                  </a:txBody>
                  <a:tcPr marL="91440" marR="91440" marT="45720" marB="45720">
                    <a:lnR w="0">
                      <a:noFill/>
                    </a:lnR>
                    <a:lnB w="0">
                      <a:noFill/>
                    </a:lnB>
                    <a:solidFill>
                      <a:srgbClr val="FAFAFA"/>
                    </a:solidFill>
                  </a:tcPr>
                </a:tc>
              </a:tr>
            </a:tbl>
          </a:graphicData>
        </a:graphic>
      </p:graphicFrame>
      <p:sp>
        <p:nvSpPr>
          <p:cNvPr id="59" name="component-label-725.7">
            <a:extLst xmlns:a="http://schemas.openxmlformats.org/drawingml/2006/main">
              <a:ext uri="{FF2B5EF4-FFF2-40B4-BE49-F238E27FC236}">
                <a16:creationId xmlns:a16="http://schemas.microsoft.com/office/drawing/2014/main" id="{6B56CFAD-E7E0-4B3D-8A30-31AED3127856}"/>
              </a:ext>
            </a:extLst>
          </p:cNvPr>
          <p:cNvSpPr>
            <a:spLocks xmlns:a="http://schemas.openxmlformats.org/drawingml/2006/main" noGrp="1"/>
          </p:cNvSpPr>
          <p:nvPr/>
        </p:nvSpPr>
        <p:spPr>
          <a:xfrm xmlns:a="http://schemas.openxmlformats.org/drawingml/2006/main">
            <a:off x="502920" y="69122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60" name="code-panel">
            <a:extLst xmlns:a="http://schemas.openxmlformats.org/drawingml/2006/main">
              <a:ext uri="{FF2B5EF4-FFF2-40B4-BE49-F238E27FC236}">
                <a16:creationId xmlns:a16="http://schemas.microsoft.com/office/drawing/2014/main" id="{77972FB8-880F-41C2-B855-2BF0DBAFEB6B}"/>
              </a:ext>
            </a:extLst>
          </p:cNvPr>
          <p:cNvSpPr>
            <a:spLocks xmlns:a="http://schemas.openxmlformats.org/drawingml/2006/main" noGrp="1"/>
          </p:cNvSpPr>
          <p:nvPr/>
        </p:nvSpPr>
        <p:spPr>
          <a:xfrm xmlns:a="http://schemas.openxmlformats.org/drawingml/2006/main">
            <a:off x="502920" y="7177469"/>
            <a:ext cx="6556248" cy="53848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1" name="code">
            <a:extLst xmlns:a="http://schemas.openxmlformats.org/drawingml/2006/main">
              <a:ext uri="{FF2B5EF4-FFF2-40B4-BE49-F238E27FC236}">
                <a16:creationId xmlns:a16="http://schemas.microsoft.com/office/drawing/2014/main" id="{3C137ED7-5EE3-4C1C-9D2B-37910FDDABC8}"/>
              </a:ext>
            </a:extLst>
          </p:cNvPr>
          <p:cNvSpPr>
            <a:spLocks xmlns:a="http://schemas.openxmlformats.org/drawingml/2006/main" noGrp="1"/>
          </p:cNvSpPr>
          <p:nvPr/>
        </p:nvSpPr>
        <p:spPr>
          <a:xfrm xmlns:a="http://schemas.openxmlformats.org/drawingml/2006/main">
            <a:off x="617220" y="7272719"/>
            <a:ext cx="6327648" cy="386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make synth</a:t>
            </a:r>
            <a:r>
              <a:rPr>
                <a:solidFill>
                  <a:srgbClr val="EF9529"/>
                </a:solidFill>
              </a:rPr>
              <a:t>
node verify_build.mjs synth</a:t>
            </a:r>
          </a:p>
        </p:txBody>
      </p:sp>
      <p:sp>
        <p:nvSpPr>
          <p:cNvPr id="62" name="code-source">
            <a:extLst xmlns:a="http://schemas.openxmlformats.org/drawingml/2006/main">
              <a:ext uri="{FF2B5EF4-FFF2-40B4-BE49-F238E27FC236}">
                <a16:creationId xmlns:a16="http://schemas.microsoft.com/office/drawing/2014/main" id="{11A31BF1-AEA8-4C71-BB6E-58B86573DC52}"/>
              </a:ext>
            </a:extLst>
          </p:cNvPr>
          <p:cNvSpPr>
            <a:spLocks xmlns:a="http://schemas.openxmlformats.org/drawingml/2006/main" noGrp="1"/>
          </p:cNvSpPr>
          <p:nvPr/>
        </p:nvSpPr>
        <p:spPr>
          <a:xfrm xmlns:a="http://schemas.openxmlformats.org/drawingml/2006/main">
            <a:off x="502920" y="7773099"/>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04_synthesis/synth.tcl; verify_build.mjs synthesis checks</a:t>
            </a:r>
          </a:p>
        </p:txBody>
      </p:sp>
    </p:spTree>
    <p:extLst>
      <p:ext uri="{BB962C8B-B14F-4D97-AF65-F5344CB8AC3E}">
        <p14:creationId xmlns:p14="http://schemas.microsoft.com/office/powerpoint/2010/main" val="1171627743"/>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428fee9c0cab4e67"/>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15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128568C9-9734-4D25-9670-F66A18E04F34}"/>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13 · PHYSICAL IMPLEMENTATION</a:t>
            </a:r>
          </a:p>
        </p:txBody>
      </p:sp>
      <p:sp>
        <p:nvSpPr>
          <p:cNvPr id="51" name="page-title">
            <a:extLst xmlns:a="http://schemas.openxmlformats.org/drawingml/2006/main">
              <a:ext uri="{FF2B5EF4-FFF2-40B4-BE49-F238E27FC236}">
                <a16:creationId xmlns:a16="http://schemas.microsoft.com/office/drawing/2014/main" id="{8641F452-F40E-4AAA-9BD5-0BB364A77C45}"/>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Floorplan and placement</a:t>
            </a:r>
          </a:p>
        </p:txBody>
      </p:sp>
      <p:sp>
        <p:nvSpPr>
          <p:cNvPr id="52" name="intro">
            <a:extLst xmlns:a="http://schemas.openxmlformats.org/drawingml/2006/main">
              <a:ext uri="{FF2B5EF4-FFF2-40B4-BE49-F238E27FC236}">
                <a16:creationId xmlns:a16="http://schemas.microsoft.com/office/drawing/2014/main" id="{87D0BBF2-5A50-4235-A932-BADE88C7DA96}"/>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floorplan gives the circuit a physical outline. Placement chooses where its cells sit inside</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that outline.</a:t>
            </a:r>
          </a:p>
        </p:txBody>
      </p:sp>
      <p:sp>
        <p:nvSpPr>
          <p:cNvPr id="53" name="component-label-246.26666666666665">
            <a:extLst xmlns:a="http://schemas.openxmlformats.org/drawingml/2006/main">
              <a:ext uri="{FF2B5EF4-FFF2-40B4-BE49-F238E27FC236}">
                <a16:creationId xmlns:a16="http://schemas.microsoft.com/office/drawing/2014/main" id="{C9DC948A-BBC6-4F6D-B943-4D510D3592F2}"/>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P H Y S I C A L   I M P L E M E N T A T I O N</a:t>
            </a:r>
          </a:p>
        </p:txBody>
      </p:sp>
      <p:sp>
        <p:nvSpPr>
          <p:cNvPr id="54" name="body-0">
            <a:extLst xmlns:a="http://schemas.openxmlformats.org/drawingml/2006/main">
              <a:ext uri="{FF2B5EF4-FFF2-40B4-BE49-F238E27FC236}">
                <a16:creationId xmlns:a16="http://schemas.microsoft.com/office/drawing/2014/main" id="{A1EE0749-7391-4D1A-A9A2-1E4614787511}"/>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die outline for this standalone block is 500 x 500 um. The floorplan establishes rows and
</a:t>
            </a:r>
            <a:r>
              <a:rPr b="1"/>
              <a:t>reference</a:t>
            </a:r>
            <a:r>
              <a:t> power/pin geometry. The placer must fit cells legally without overlaps and with room for
routing. This is a block-level educational layout, not a complete padframe or package design.</a:t>
            </a:r>
          </a:p>
        </p:txBody>
      </p:sp>
      <p:sp>
        <p:nvSpPr>
          <p:cNvPr id="55" name="body-1">
            <a:extLst xmlns:a="http://schemas.openxmlformats.org/drawingml/2006/main">
              <a:ext uri="{FF2B5EF4-FFF2-40B4-BE49-F238E27FC236}">
                <a16:creationId xmlns:a16="http://schemas.microsoft.com/office/drawing/2014/main" id="{1F146ED5-9029-4195-86E8-574CBD58EDEB}"/>
              </a:ext>
            </a:extLst>
          </p:cNvPr>
          <p:cNvSpPr>
            <a:spLocks xmlns:a="http://schemas.openxmlformats.org/drawingml/2006/main" noGrp="1"/>
          </p:cNvSpPr>
          <p:nvPr/>
        </p:nvSpPr>
        <p:spPr>
          <a:xfrm xmlns:a="http://schemas.openxmlformats.org/drawingml/2006/main">
            <a:off x="502920" y="333057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Mapped functional logic has 1042 cells. After physical additions and fillers, the routed DEF</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contains 53,628 placed standard-cell instances. A filler occupies empty row sites; it is not another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functional logic gate. That distinction explains why the two counts differ so much.</a:t>
            </a:r>
          </a:p>
        </p:txBody>
      </p:sp>
      <p:sp>
        <p:nvSpPr>
          <p:cNvPr id="56" name="body-2">
            <a:extLst xmlns:a="http://schemas.openxmlformats.org/drawingml/2006/main">
              <a:ext uri="{FF2B5EF4-FFF2-40B4-BE49-F238E27FC236}">
                <a16:creationId xmlns:a16="http://schemas.microsoft.com/office/drawing/2014/main" id="{D201F5DC-A07C-4290-A1CD-2876F93A45A0}"/>
              </a:ext>
            </a:extLst>
          </p:cNvPr>
          <p:cNvSpPr>
            <a:spLocks xmlns:a="http://schemas.openxmlformats.org/drawingml/2006/main" noGrp="1"/>
          </p:cNvSpPr>
          <p:nvPr/>
        </p:nvSpPr>
        <p:spPr>
          <a:xfrm xmlns:a="http://schemas.openxmlformats.org/drawingml/2006/main">
            <a:off x="502920" y="405028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Utilisation is the fraction of core area occupied by placed cell area. It is not simply functional-cell</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count divided by die size, and it changes between stages. This note does not substitute APB</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utilisation, row count or I/O count for unavailable protocol-specific measurements.</a:t>
            </a:r>
          </a:p>
        </p:txBody>
      </p:sp>
      <p:sp>
        <p:nvSpPr>
          <p:cNvPr id="57" name="component-label-500.78666666666663">
            <a:extLst xmlns:a="http://schemas.openxmlformats.org/drawingml/2006/main">
              <a:ext uri="{FF2B5EF4-FFF2-40B4-BE49-F238E27FC236}">
                <a16:creationId xmlns:a16="http://schemas.microsoft.com/office/drawing/2014/main" id="{84C9B6D3-81F4-485A-B536-B1B335AF563B}"/>
              </a:ext>
            </a:extLst>
          </p:cNvPr>
          <p:cNvSpPr>
            <a:spLocks xmlns:a="http://schemas.openxmlformats.org/drawingml/2006/main" noGrp="1"/>
          </p:cNvSpPr>
          <p:nvPr/>
        </p:nvSpPr>
        <p:spPr>
          <a:xfrm xmlns:a="http://schemas.openxmlformats.org/drawingml/2006/main">
            <a:off x="502920" y="47699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A C T U A L   P H Y S I C A L   R E F E R E N C E</a:t>
            </a:r>
          </a:p>
        </p:txBody>
      </p:sp>
      <p:graphicFrame>
        <p:nvGraphicFramePr>
          <p:cNvPr id="76" name=""/>
          <p:cNvGraphicFramePr/>
          <p:nvPr/>
        </p:nvGraphicFramePr>
        <p:xfrm>
          <a:off xmlns:a="http://schemas.openxmlformats.org/drawingml/2006/main" x="502920" y="5035169"/>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MEASURE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Die outline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500 x 500 um</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1042</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Placed standard-cell instances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53,628</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Physical inputs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06_floorplanning; 07_placement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Placement agreement</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DEF compared with decoded GDS</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7162774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40de39ba421140fb"/>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16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C089180C-A313-41B3-A885-DED2099D0E7D}"/>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14 · CLOCK AND WIRES</a:t>
            </a:r>
          </a:p>
        </p:txBody>
      </p:sp>
      <p:sp>
        <p:nvSpPr>
          <p:cNvPr id="51" name="page-title">
            <a:extLst xmlns:a="http://schemas.openxmlformats.org/drawingml/2006/main">
              <a:ext uri="{FF2B5EF4-FFF2-40B4-BE49-F238E27FC236}">
                <a16:creationId xmlns:a16="http://schemas.microsoft.com/office/drawing/2014/main" id="{6148B7F7-6DB8-407E-BF64-CB457852ABB3}"/>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Clock tree and routing</a:t>
            </a:r>
          </a:p>
        </p:txBody>
      </p:sp>
      <p:sp>
        <p:nvSpPr>
          <p:cNvPr id="52" name="intro">
            <a:extLst xmlns:a="http://schemas.openxmlformats.org/drawingml/2006/main">
              <a:ext uri="{FF2B5EF4-FFF2-40B4-BE49-F238E27FC236}">
                <a16:creationId xmlns:a16="http://schemas.microsoft.com/office/drawing/2014/main" id="{F2F5B11E-A939-4006-BFE3-E4711A794D57}"/>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Clock-tree synthesis distributes clocks to registers. Routing draws the metal connections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between placed cells.</a:t>
            </a:r>
          </a:p>
        </p:txBody>
      </p:sp>
      <p:sp>
        <p:nvSpPr>
          <p:cNvPr id="53" name="component-label-246.26666666666665">
            <a:extLst xmlns:a="http://schemas.openxmlformats.org/drawingml/2006/main">
              <a:ext uri="{FF2B5EF4-FFF2-40B4-BE49-F238E27FC236}">
                <a16:creationId xmlns:a16="http://schemas.microsoft.com/office/drawing/2014/main" id="{51761224-1A07-44EF-B9E6-E3EC49C0CCDB}"/>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C L O C K   A N D   W I R E S</a:t>
            </a:r>
          </a:p>
        </p:txBody>
      </p:sp>
      <p:sp>
        <p:nvSpPr>
          <p:cNvPr id="54" name="body-0">
            <a:extLst xmlns:a="http://schemas.openxmlformats.org/drawingml/2006/main">
              <a:ext uri="{FF2B5EF4-FFF2-40B4-BE49-F238E27FC236}">
                <a16:creationId xmlns:a16="http://schemas.microsoft.com/office/drawing/2014/main" id="{3B325F0C-D68B-4E4D-AD17-C75BDA7C452F}"/>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A register samples its input at a </a:t>
            </a:r>
            <a:r>
              <a:rPr b="1"/>
              <a:t>clock</a:t>
            </a:r>
            <a:r>
              <a:t> edge. Clock buffers distribute that edge across the block;
the difference in arrival times is called skew. The reference is constrained at MII TX/RX: 2.5 MHz /
400 ns. TX and RX have separate MII clock definitions; their relationship is a reference assumption,
not arbitrary external PHY CDC signoff.</a:t>
            </a:r>
          </a:p>
        </p:txBody>
      </p:sp>
      <p:sp>
        <p:nvSpPr>
          <p:cNvPr id="55" name="body-1">
            <a:extLst xmlns:a="http://schemas.openxmlformats.org/drawingml/2006/main">
              <a:ext uri="{FF2B5EF4-FFF2-40B4-BE49-F238E27FC236}">
                <a16:creationId xmlns:a16="http://schemas.microsoft.com/office/drawing/2014/main" id="{DB2715EA-D50E-475B-8821-4AD21028B805}"/>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OpenROAD completes the staged physical flow. The </a:t>
            </a:r>
            <a:r>
              <a:rPr b="1"/>
              <a:t>reference</a:t>
            </a:r>
            <a:r>
              <a:t> die is 500 x 500 um. DEF records
routed design geometry and cell placement; SPEF captures extracted parasitics used by the timing
analysis. The scripts retain stage-specific output so the result can be investigated instead of
relying on a final banner.</a:t>
            </a:r>
          </a:p>
        </p:txBody>
      </p:sp>
      <p:sp>
        <p:nvSpPr>
          <p:cNvPr id="56" name="body-2">
            <a:extLst xmlns:a="http://schemas.openxmlformats.org/drawingml/2006/main">
              <a:ext uri="{FF2B5EF4-FFF2-40B4-BE49-F238E27FC236}">
                <a16:creationId xmlns:a16="http://schemas.microsoft.com/office/drawing/2014/main" id="{15901945-475A-4682-9EB1-77EA62A53601}"/>
              </a:ext>
            </a:extLst>
          </p:cNvPr>
          <p:cNvSpPr>
            <a:spLocks xmlns:a="http://schemas.openxmlformats.org/drawingml/2006/main" noGrp="1"/>
          </p:cNvSpPr>
          <p:nvPr/>
        </p:nvSpPr>
        <p:spPr>
          <a:xfrm xmlns:a="http://schemas.openxmlformats.org/drawingml/2006/main">
            <a:off x="502920" y="440664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Real interconnect has resistance and capacitance, called parasitics. Extraction writes these in </a:t>
            </a:r>
            <a:r>
              <a:rPr b="1"/>
              <a:t>SPEF</a:t>
            </a:r>
            <a:r>
              <a:t>
for post-route timing. The retained router-rule DRC file is empty. That checks the router view of its
work; it is not a full foundry-deck check of the exported polygons.</a:t>
            </a:r>
          </a:p>
        </p:txBody>
      </p:sp>
      <p:sp>
        <p:nvSpPr>
          <p:cNvPr id="57" name="component-label-538.1999999999999">
            <a:extLst xmlns:a="http://schemas.openxmlformats.org/drawingml/2006/main">
              <a:ext uri="{FF2B5EF4-FFF2-40B4-BE49-F238E27FC236}">
                <a16:creationId xmlns:a16="http://schemas.microsoft.com/office/drawing/2014/main" id="{9078479B-BEEB-48AC-9ED3-C0B4A4F4B4D0}"/>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A D   T H E   P H Y S I C A L   E V I D E N C E</a:t>
            </a:r>
          </a:p>
        </p:txBody>
      </p:sp>
      <p:graphicFrame>
        <p:nvGraphicFramePr>
          <p:cNvPr id="80" name=""/>
          <p:cNvGraphicFramePr/>
          <p:nvPr/>
        </p:nvGraphicFramePr>
        <p:xfrm>
          <a:off xmlns:a="http://schemas.openxmlformats.org/drawingml/2006/main" x="502920" y="5391531"/>
          <a:ext xmlns:a="http://schemas.openxmlformats.org/drawingml/2006/main" cx="6556248" cy="1516063"/>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ARTIFACT</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QUESTION IT ANSWERS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09_place_and_route/route.def</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Where are cells and routed connections?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09_place_and_route/route.spef</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Which parasitics were extracted?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Router-rule DRC report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Any reported routing-rule violations?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08_sta/timing_report.txt</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What does extracted reference timing report?</a:t>
                      </a:r>
                    </a:p>
                  </a:txBody>
                  <a:tcPr marL="91440" marR="91440" marT="45720" marB="45720">
                    <a:lnR w="0">
                      <a:noFill/>
                    </a:lnR>
                    <a:lnB w="0">
                      <a:noFill/>
                    </a:lnB>
                    <a:solidFill>
                      <a:srgbClr val="FAFAFA"/>
                    </a:solidFill>
                  </a:tcPr>
                </a:tc>
              </a:tr>
            </a:tbl>
          </a:graphicData>
        </a:graphic>
      </p:graphicFrame>
      <p:sp>
        <p:nvSpPr>
          <p:cNvPr id="59" name="boundary-card">
            <a:extLst xmlns:a="http://schemas.openxmlformats.org/drawingml/2006/main">
              <a:ext uri="{FF2B5EF4-FFF2-40B4-BE49-F238E27FC236}">
                <a16:creationId xmlns:a16="http://schemas.microsoft.com/office/drawing/2014/main" id="{424737A0-F2D0-4E4B-8FDD-039A2B65DF70}"/>
              </a:ext>
            </a:extLst>
          </p:cNvPr>
          <p:cNvSpPr>
            <a:spLocks xmlns:a="http://schemas.openxmlformats.org/drawingml/2006/main" noGrp="1"/>
          </p:cNvSpPr>
          <p:nvPr/>
        </p:nvSpPr>
        <p:spPr>
          <a:xfrm xmlns:a="http://schemas.openxmlformats.org/drawingml/2006/main">
            <a:off x="502920" y="7090474"/>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040AF35E-C9FB-4E90-976B-855DCB6FF4B6}"/>
              </a:ext>
            </a:extLst>
          </p:cNvPr>
          <p:cNvSpPr>
            <a:spLocks xmlns:a="http://schemas.openxmlformats.org/drawingml/2006/main" noGrp="1"/>
          </p:cNvSpPr>
          <p:nvPr/>
        </p:nvSpPr>
        <p:spPr>
          <a:xfrm xmlns:a="http://schemas.openxmlformats.org/drawingml/2006/main">
            <a:off x="502920" y="7090474"/>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CDAC149A-CE44-438E-9C20-4FA4CDE42813}"/>
              </a:ext>
            </a:extLst>
          </p:cNvPr>
          <p:cNvSpPr>
            <a:spLocks xmlns:a="http://schemas.openxmlformats.org/drawingml/2006/main" noGrp="1"/>
          </p:cNvSpPr>
          <p:nvPr/>
        </p:nvSpPr>
        <p:spPr>
          <a:xfrm xmlns:a="http://schemas.openxmlformats.org/drawingml/2006/main">
            <a:off x="674370" y="7185724"/>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Two checks can both be called DRC</a:t>
            </a:r>
          </a:p>
        </p:txBody>
      </p:sp>
      <p:sp>
        <p:nvSpPr>
          <p:cNvPr id="62" name="boundary-text">
            <a:extLst xmlns:a="http://schemas.openxmlformats.org/drawingml/2006/main">
              <a:ext uri="{FF2B5EF4-FFF2-40B4-BE49-F238E27FC236}">
                <a16:creationId xmlns:a16="http://schemas.microsoft.com/office/drawing/2014/main" id="{D184BF7C-3ACF-4C57-93B3-27041DC8EA23}"/>
              </a:ext>
            </a:extLst>
          </p:cNvPr>
          <p:cNvSpPr>
            <a:spLocks xmlns:a="http://schemas.openxmlformats.org/drawingml/2006/main" noGrp="1"/>
          </p:cNvSpPr>
          <p:nvPr/>
        </p:nvSpPr>
        <p:spPr>
          <a:xfrm xmlns:a="http://schemas.openxmlformats.org/drawingml/2006/main">
            <a:off x="674370" y="7452424"/>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The empty router report is accepted routing evidence. Foundry DRC is a separate unperformed</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obligation; one result cannot stand in for the other.</a:t>
            </a:r>
          </a:p>
        </p:txBody>
      </p:sp>
    </p:spTree>
    <p:extLst>
      <p:ext uri="{BB962C8B-B14F-4D97-AF65-F5344CB8AC3E}">
        <p14:creationId xmlns:p14="http://schemas.microsoft.com/office/powerpoint/2010/main" val="117162774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32d24e1d60914d01"/>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17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DEB7883C-3FA6-4D1D-8DB1-8DF7CC48D9D9}"/>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15 · REFERENCE TIMING</a:t>
            </a:r>
          </a:p>
        </p:txBody>
      </p:sp>
      <p:sp>
        <p:nvSpPr>
          <p:cNvPr id="51" name="page-title">
            <a:extLst xmlns:a="http://schemas.openxmlformats.org/drawingml/2006/main">
              <a:ext uri="{FF2B5EF4-FFF2-40B4-BE49-F238E27FC236}">
                <a16:creationId xmlns:a16="http://schemas.microsoft.com/office/drawing/2014/main" id="{689B1455-F00B-4C62-8D5C-D6FFB443E694}"/>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Two measured reference corners</a:t>
            </a:r>
          </a:p>
        </p:txBody>
      </p:sp>
      <p:sp>
        <p:nvSpPr>
          <p:cNvPr id="52" name="intro">
            <a:extLst xmlns:a="http://schemas.openxmlformats.org/drawingml/2006/main">
              <a:ext uri="{FF2B5EF4-FFF2-40B4-BE49-F238E27FC236}">
                <a16:creationId xmlns:a16="http://schemas.microsoft.com/office/drawing/2014/main" id="{65D364F5-DCF5-46AC-BBA8-4207160BB3F1}"/>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Static timing analysis adds cell and wire delays without simulating input patterns. Setup asks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whether data arrives early enough; hold asks whether it stays stable long enough.</a:t>
            </a:r>
          </a:p>
        </p:txBody>
      </p:sp>
      <p:sp>
        <p:nvSpPr>
          <p:cNvPr id="53" name="component-label-246.26666666666665">
            <a:extLst xmlns:a="http://schemas.openxmlformats.org/drawingml/2006/main">
              <a:ext uri="{FF2B5EF4-FFF2-40B4-BE49-F238E27FC236}">
                <a16:creationId xmlns:a16="http://schemas.microsoft.com/office/drawing/2014/main" id="{394A5FEC-0189-4A32-AC49-14CA74E601C1}"/>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F E R E N C E   T I M I N G</a:t>
            </a:r>
          </a:p>
        </p:txBody>
      </p:sp>
      <p:sp>
        <p:nvSpPr>
          <p:cNvPr id="54" name="body-0">
            <a:extLst xmlns:a="http://schemas.openxmlformats.org/drawingml/2006/main">
              <a:ext uri="{FF2B5EF4-FFF2-40B4-BE49-F238E27FC236}">
                <a16:creationId xmlns:a16="http://schemas.microsoft.com/office/drawing/2014/main" id="{179868F5-3AD8-429D-94AA-47F8CC1AD19C}"/>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physical </a:t>
            </a:r>
            <a:r>
              <a:rPr b="1"/>
              <a:t>clock</a:t>
            </a:r>
            <a:r>
              <a:t> constraint is MII TX/RX: 2.5 MHz / 400 ns. Post-route timing uses the extracted
design rather than an ideal pre-route wire estimate. The report at each corner must be inspected
for worst setup and hold slack and for VIOLATED markers. The reported values are not a timing
guarantee under unstated board, voltage or temperature conditions.</a:t>
            </a:r>
          </a:p>
        </p:txBody>
      </p:sp>
      <p:sp>
        <p:nvSpPr>
          <p:cNvPr id="55" name="body-1">
            <a:extLst xmlns:a="http://schemas.openxmlformats.org/drawingml/2006/main">
              <a:ext uri="{FF2B5EF4-FFF2-40B4-BE49-F238E27FC236}">
                <a16:creationId xmlns:a16="http://schemas.microsoft.com/office/drawing/2014/main" id="{7F801BC7-2E35-472D-80FA-B515EDB98119}"/>
              </a:ext>
            </a:extLst>
          </p:cNvPr>
          <p:cNvSpPr>
            <a:spLocks xmlns:a="http://schemas.openxmlformats.org/drawingml/2006/main" noGrp="1"/>
          </p:cNvSpPr>
          <p:nvPr/>
        </p:nvSpPr>
        <p:spPr>
          <a:xfrm xmlns:a="http://schemas.openxmlformats.org/drawingml/2006/main">
            <a:off x="502920" y="350875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Current TT setup/hold slack is +396.77 / +0.18 ns. The slow-corner values are +395.00 / +0.27 ns.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Both reports contain no VIOLATED marker. These numbers are taken directly from the local report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files at document build time; the evidence manifest retains their hashes.</a:t>
            </a:r>
          </a:p>
        </p:txBody>
      </p:sp>
      <p:sp>
        <p:nvSpPr>
          <p:cNvPr id="56" name="body-2">
            <a:extLst xmlns:a="http://schemas.openxmlformats.org/drawingml/2006/main">
              <a:ext uri="{FF2B5EF4-FFF2-40B4-BE49-F238E27FC236}">
                <a16:creationId xmlns:a16="http://schemas.microsoft.com/office/drawing/2014/main" id="{35F31679-AA00-4755-8432-36F34D29A615}"/>
              </a:ext>
            </a:extLst>
          </p:cNvPr>
          <p:cNvSpPr>
            <a:spLocks xmlns:a="http://schemas.openxmlformats.org/drawingml/2006/main" noGrp="1"/>
          </p:cNvSpPr>
          <p:nvPr/>
        </p:nvSpPr>
        <p:spPr>
          <a:xfrm xmlns:a="http://schemas.openxmlformats.org/drawingml/2006/main">
            <a:off x="502920" y="4228465"/>
            <a:ext cx="6556248" cy="13044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I/O delays are </a:t>
            </a:r>
            <a:r>
              <a:rPr b="1"/>
              <a:t>reference</a:t>
            </a:r>
            <a:r>
              <a:t> budgets, not a contract with an external target, transceiver or PHY. Bus
synchronisation, reset recovery/removal, all additional corners and modes, signal integrity and
board timing need their own analysis. Positive slack in these two reports is therefore called
reference timing closure, not foundry or system signoff. For Ethernet specifically, the SDC does not
declare the two MII domains asynchronous. The quoted slacks use that reference relationship and
do not bound arbitrary inter-domain paths or reset behaviour for independent real PHY clocks. No
asynchronous CDC or reset timing signoff is claimed.</a:t>
            </a:r>
          </a:p>
        </p:txBody>
      </p:sp>
      <p:sp>
        <p:nvSpPr>
          <p:cNvPr id="57" name="component-label-594.32">
            <a:extLst xmlns:a="http://schemas.openxmlformats.org/drawingml/2006/main">
              <a:ext uri="{FF2B5EF4-FFF2-40B4-BE49-F238E27FC236}">
                <a16:creationId xmlns:a16="http://schemas.microsoft.com/office/drawing/2014/main" id="{E38B6A0A-39E7-4198-89CF-8B2FDE118C40}"/>
              </a:ext>
            </a:extLst>
          </p:cNvPr>
          <p:cNvSpPr>
            <a:spLocks xmlns:a="http://schemas.openxmlformats.org/drawingml/2006/main" noGrp="1"/>
          </p:cNvSpPr>
          <p:nvPr/>
        </p:nvSpPr>
        <p:spPr>
          <a:xfrm xmlns:a="http://schemas.openxmlformats.org/drawingml/2006/main">
            <a:off x="502920" y="5660898"/>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V E   E X T R A C T E D   S L A C K ,   N S</a:t>
            </a:r>
          </a:p>
        </p:txBody>
      </p:sp>
      <p:graphicFrame>
        <p:nvGraphicFramePr>
          <p:cNvPr id="80" name=""/>
          <p:cNvGraphicFramePr/>
          <p:nvPr/>
        </p:nvGraphicFramePr>
        <p:xfrm>
          <a:off xmlns:a="http://schemas.openxmlformats.org/drawingml/2006/main" x="502920" y="5926074"/>
          <a:ext xmlns:a="http://schemas.openxmlformats.org/drawingml/2006/main" cx="6556248" cy="1212850"/>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Corner</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Worst setup</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Worst hold</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TT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396.77</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0.18</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Slow</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395.00</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0.27</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Status</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 reports</a:t>
                      </a:r>
                    </a:p>
                  </a:txBody>
                  <a:tcPr marL="91440" marR="91440" marT="45720" marB="45720">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 VIOLATED markers</a:t>
                      </a:r>
                    </a:p>
                  </a:txBody>
                  <a:tcPr marL="91440" marR="91440" marT="45720" marB="45720">
                    <a:lnR w="0">
                      <a:noFill/>
                    </a:lnR>
                    <a:lnB w="0">
                      <a:noFill/>
                    </a:lnB>
                    <a:solidFill>
                      <a:srgbClr val="FFFFFF"/>
                    </a:solidFill>
                  </a:tcPr>
                </a:tc>
              </a:tr>
            </a:tbl>
          </a:graphicData>
        </a:graphic>
      </p:graphicFrame>
      <p:sp>
        <p:nvSpPr>
          <p:cNvPr id="59" name="boundary-card">
            <a:extLst xmlns:a="http://schemas.openxmlformats.org/drawingml/2006/main">
              <a:ext uri="{FF2B5EF4-FFF2-40B4-BE49-F238E27FC236}">
                <a16:creationId xmlns:a16="http://schemas.microsoft.com/office/drawing/2014/main" id="{2037979E-2CB8-4FF0-BC66-D7C19DFDEFDD}"/>
              </a:ext>
            </a:extLst>
          </p:cNvPr>
          <p:cNvSpPr>
            <a:spLocks xmlns:a="http://schemas.openxmlformats.org/drawingml/2006/main" noGrp="1"/>
          </p:cNvSpPr>
          <p:nvPr/>
        </p:nvSpPr>
        <p:spPr>
          <a:xfrm xmlns:a="http://schemas.openxmlformats.org/drawingml/2006/main">
            <a:off x="502920" y="7321804"/>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3890E90B-63B5-414F-9ACF-9D9540EB9442}"/>
              </a:ext>
            </a:extLst>
          </p:cNvPr>
          <p:cNvSpPr>
            <a:spLocks xmlns:a="http://schemas.openxmlformats.org/drawingml/2006/main" noGrp="1"/>
          </p:cNvSpPr>
          <p:nvPr/>
        </p:nvSpPr>
        <p:spPr>
          <a:xfrm xmlns:a="http://schemas.openxmlformats.org/drawingml/2006/main">
            <a:off x="502920" y="7321804"/>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202DE582-C7DA-4962-85FD-4BB8D72591BC}"/>
              </a:ext>
            </a:extLst>
          </p:cNvPr>
          <p:cNvSpPr>
            <a:spLocks xmlns:a="http://schemas.openxmlformats.org/drawingml/2006/main" noGrp="1"/>
          </p:cNvSpPr>
          <p:nvPr/>
        </p:nvSpPr>
        <p:spPr>
          <a:xfrm xmlns:a="http://schemas.openxmlformats.org/drawingml/2006/main">
            <a:off x="674370" y="7417054"/>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Positive slack has a stated boundary</a:t>
            </a:r>
          </a:p>
        </p:txBody>
      </p:sp>
      <p:sp>
        <p:nvSpPr>
          <p:cNvPr id="62" name="boundary-text">
            <a:extLst xmlns:a="http://schemas.openxmlformats.org/drawingml/2006/main">
              <a:ext uri="{FF2B5EF4-FFF2-40B4-BE49-F238E27FC236}">
                <a16:creationId xmlns:a16="http://schemas.microsoft.com/office/drawing/2014/main" id="{449B5360-A352-42E0-B631-42ACB4094E60}"/>
              </a:ext>
            </a:extLst>
          </p:cNvPr>
          <p:cNvSpPr>
            <a:spLocks xmlns:a="http://schemas.openxmlformats.org/drawingml/2006/main" noGrp="1"/>
          </p:cNvSpPr>
          <p:nvPr/>
        </p:nvSpPr>
        <p:spPr>
          <a:xfrm xmlns:a="http://schemas.openxmlformats.org/drawingml/2006/main">
            <a:off x="674370" y="7683754"/>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Slack is remaining timing margin. These values apply to the listed clocks, I/O budgets and two library</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corners; they are not a board-timing or manufacturing signoff guarantee.</a:t>
            </a:r>
          </a:p>
        </p:txBody>
      </p:sp>
    </p:spTree>
    <p:extLst>
      <p:ext uri="{BB962C8B-B14F-4D97-AF65-F5344CB8AC3E}">
        <p14:creationId xmlns:p14="http://schemas.microsoft.com/office/powerpoint/2010/main" val="117162774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0" name="Picture 2"/>
          <p:cNvPicPr>
            <a:picLocks xmlns:a="http://schemas.openxmlformats.org/drawingml/2006/main" noChangeAspect="1"/>
          </p:cNvPicPr>
          <p:nvPr/>
        </p:nvPicPr>
        <p:blipFill>
          <a:blip xmlns:r="http://schemas.openxmlformats.org/officeDocument/2006/relationships" xmlns:a="http://schemas.openxmlformats.org/drawingml/2006/main" r:embed="Rc5229e7f853647c3"/>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18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BFD5607C-BE97-4F53-B224-A469C3E4D2FF}"/>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16 · GDS STREAM-OUT</a:t>
            </a:r>
          </a:p>
        </p:txBody>
      </p:sp>
      <p:sp>
        <p:nvSpPr>
          <p:cNvPr id="51" name="page-title">
            <a:extLst xmlns:a="http://schemas.openxmlformats.org/drawingml/2006/main">
              <a:ext uri="{FF2B5EF4-FFF2-40B4-BE49-F238E27FC236}">
                <a16:creationId xmlns:a16="http://schemas.microsoft.com/office/drawing/2014/main" id="{EC22EA4C-A041-4056-964B-A64E0C3299FB}"/>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Count the right objects</a:t>
            </a:r>
          </a:p>
        </p:txBody>
      </p:sp>
      <p:sp>
        <p:nvSpPr>
          <p:cNvPr id="52" name="intro">
            <a:extLst xmlns:a="http://schemas.openxmlformats.org/drawingml/2006/main">
              <a:ext uri="{FF2B5EF4-FFF2-40B4-BE49-F238E27FC236}">
                <a16:creationId xmlns:a16="http://schemas.microsoft.com/office/drawing/2014/main" id="{941E3F7D-4BBE-4CB5-8DA4-39ADBFE19D68}"/>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GDS stores layout polygons and hierarchical cell references. Stream-out combines routed</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geometry with the real standard-cell layouts from the PDK.</a:t>
            </a:r>
          </a:p>
        </p:txBody>
      </p:sp>
      <p:sp>
        <p:nvSpPr>
          <p:cNvPr id="53" name="component-label-246.26666666666665">
            <a:extLst xmlns:a="http://schemas.openxmlformats.org/drawingml/2006/main">
              <a:ext uri="{FF2B5EF4-FFF2-40B4-BE49-F238E27FC236}">
                <a16:creationId xmlns:a16="http://schemas.microsoft.com/office/drawing/2014/main" id="{29F11DB1-B97B-4C16-8737-01DC31E7867E}"/>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G D S   S T R E A M - O U T</a:t>
            </a:r>
          </a:p>
        </p:txBody>
      </p:sp>
      <p:sp>
        <p:nvSpPr>
          <p:cNvPr id="54" name="body-0">
            <a:extLst xmlns:a="http://schemas.openxmlformats.org/drawingml/2006/main">
              <a:ext uri="{FF2B5EF4-FFF2-40B4-BE49-F238E27FC236}">
                <a16:creationId xmlns:a16="http://schemas.microsoft.com/office/drawing/2014/main" id="{A6DDEB47-67CD-42DE-8B26-CB3F2BFD7332}"/>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a:t>
            </a:r>
            <a:r>
              <a:rPr b="1"/>
              <a:t>GDS</a:t>
            </a:r>
            <a:r>
              <a:t> file contains 3,219,696 bytes and 47 structures. The independent decoder finds 53,628
placed standard-cell instances including fillers. That placement count is intentionally much larger
than the 1042 mapped functional cells: filler instances occupy unused placement sites and
structures are unique hierarchy definitions.</a:t>
            </a:r>
          </a:p>
        </p:txBody>
      </p:sp>
      <p:sp>
        <p:nvSpPr>
          <p:cNvPr id="55" name="body-1">
            <a:extLst xmlns:a="http://schemas.openxmlformats.org/drawingml/2006/main">
              <a:ext uri="{FF2B5EF4-FFF2-40B4-BE49-F238E27FC236}">
                <a16:creationId xmlns:a16="http://schemas.microsoft.com/office/drawing/2014/main" id="{6E0D5C7A-9B87-4467-B8D6-40C2D4C6DF5A}"/>
              </a:ext>
            </a:extLst>
          </p:cNvPr>
          <p:cNvSpPr>
            <a:spLocks xmlns:a="http://schemas.openxmlformats.org/drawingml/2006/main" noGrp="1"/>
          </p:cNvSpPr>
          <p:nvPr/>
        </p:nvSpPr>
        <p:spPr>
          <a:xfrm xmlns:a="http://schemas.openxmlformats.org/drawingml/2006/main">
            <a:off x="502920" y="350875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decoder compares exported cell identities, coordinates and orientations against the routed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DEF. A deliberately altered placement/export expectation fails, including under Python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optimisation, so acceptance is not implemented with removable assert-only checks. Raw file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SHA256 is a run-specific fingerprint because stream-out timestamps can change.</a:t>
            </a:r>
          </a:p>
        </p:txBody>
      </p:sp>
      <p:sp>
        <p:nvSpPr>
          <p:cNvPr id="56" name="body-2">
            <a:extLst xmlns:a="http://schemas.openxmlformats.org/drawingml/2006/main">
              <a:ext uri="{FF2B5EF4-FFF2-40B4-BE49-F238E27FC236}">
                <a16:creationId xmlns:a16="http://schemas.microsoft.com/office/drawing/2014/main" id="{5148DE38-5831-40E7-8F0F-7732CC2CC573}"/>
              </a:ext>
            </a:extLst>
          </p:cNvPr>
          <p:cNvSpPr>
            <a:spLocks xmlns:a="http://schemas.openxmlformats.org/drawingml/2006/main" noGrp="1"/>
          </p:cNvSpPr>
          <p:nvPr/>
        </p:nvSpPr>
        <p:spPr>
          <a:xfrm xmlns:a="http://schemas.openxmlformats.org/drawingml/2006/main">
            <a:off x="502920" y="440664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OpenROAD router-rule DRC report is empty. It is not a foundry-deck DRC result. LVS, antenna,</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scan/DFT, power integrity, padframe, tap/endcap strategy and manufacturing signoff remain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unperformed. No empty routing report is promoted into a DRC-clean tapeout claim.</a:t>
            </a:r>
          </a:p>
        </p:txBody>
      </p:sp>
      <p:sp>
        <p:nvSpPr>
          <p:cNvPr id="57" name="component-label-538.1999999999999">
            <a:extLst xmlns:a="http://schemas.openxmlformats.org/drawingml/2006/main">
              <a:ext uri="{FF2B5EF4-FFF2-40B4-BE49-F238E27FC236}">
                <a16:creationId xmlns:a16="http://schemas.microsoft.com/office/drawing/2014/main" id="{7E3D83DF-3BC1-4EFF-A924-40D2D50FBF7F}"/>
              </a:ext>
            </a:extLst>
          </p:cNvPr>
          <p:cNvSpPr>
            <a:spLocks xmlns:a="http://schemas.openxmlformats.org/drawingml/2006/main" noGrp="1"/>
          </p:cNvSpPr>
          <p:nvPr/>
        </p:nvSpPr>
        <p:spPr>
          <a:xfrm xmlns:a="http://schemas.openxmlformats.org/drawingml/2006/main">
            <a:off x="502920" y="512635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L I V E   E X P O R T   M E A S U R E M E N T S</a:t>
            </a:r>
          </a:p>
        </p:txBody>
      </p:sp>
      <p:graphicFrame>
        <p:nvGraphicFramePr>
          <p:cNvPr id="76" name=""/>
          <p:cNvGraphicFramePr/>
          <p:nvPr/>
        </p:nvGraphicFramePr>
        <p:xfrm>
          <a:off xmlns:a="http://schemas.openxmlformats.org/drawingml/2006/main" x="502920" y="5391531"/>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Quantity</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Current value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Mapped functional cells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1042</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GDS bytes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3,219,696</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GDS structures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47</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Placed standard-cell instances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53,628</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Die</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500 x 500 um</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7162774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4" name="Picture 2"/>
          <p:cNvPicPr>
            <a:picLocks xmlns:a="http://schemas.openxmlformats.org/drawingml/2006/main" noChangeAspect="1"/>
          </p:cNvPicPr>
          <p:nvPr/>
        </p:nvPicPr>
        <p:blipFill>
          <a:blip xmlns:r="http://schemas.openxmlformats.org/officeDocument/2006/relationships" xmlns:a="http://schemas.openxmlformats.org/drawingml/2006/main" r:embed="R73a917d3980046ca"/>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19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6E55481D-10C4-4AB8-AA9E-07F8844F805E}"/>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17 · UNPERFORMED SIGNOFF</a:t>
            </a:r>
          </a:p>
        </p:txBody>
      </p:sp>
      <p:sp>
        <p:nvSpPr>
          <p:cNvPr id="51" name="page-title">
            <a:extLst xmlns:a="http://schemas.openxmlformats.org/drawingml/2006/main">
              <a:ext uri="{FF2B5EF4-FFF2-40B4-BE49-F238E27FC236}">
                <a16:creationId xmlns:a16="http://schemas.microsoft.com/office/drawing/2014/main" id="{38FC6CFF-7534-4449-96BC-B6106333157B}"/>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DRC and LVS: what is still missing</a:t>
            </a:r>
          </a:p>
        </p:txBody>
      </p:sp>
      <p:sp>
        <p:nvSpPr>
          <p:cNvPr id="52" name="intro">
            <a:extLst xmlns:a="http://schemas.openxmlformats.org/drawingml/2006/main">
              <a:ext uri="{FF2B5EF4-FFF2-40B4-BE49-F238E27FC236}">
                <a16:creationId xmlns:a16="http://schemas.microsoft.com/office/drawing/2014/main" id="{FB760CC7-70EE-41CF-8578-31AB08F7C430}"/>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Design rule checking asks whether geometry follows the process rules. Layout versus</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schematic asks whether the extracted layout circuit matches the intended netlist.</a:t>
            </a:r>
          </a:p>
        </p:txBody>
      </p:sp>
      <p:sp>
        <p:nvSpPr>
          <p:cNvPr id="53" name="component-label-246.26666666666665">
            <a:extLst xmlns:a="http://schemas.openxmlformats.org/drawingml/2006/main">
              <a:ext uri="{FF2B5EF4-FFF2-40B4-BE49-F238E27FC236}">
                <a16:creationId xmlns:a16="http://schemas.microsoft.com/office/drawing/2014/main" id="{5C9FBC34-9662-4121-9928-1EEE6E256DFF}"/>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U N P E R F O R M E D   S I G N O F F</a:t>
            </a:r>
          </a:p>
        </p:txBody>
      </p:sp>
      <p:sp>
        <p:nvSpPr>
          <p:cNvPr id="54" name="body-0">
            <a:extLst xmlns:a="http://schemas.openxmlformats.org/drawingml/2006/main">
              <a:ext uri="{FF2B5EF4-FFF2-40B4-BE49-F238E27FC236}">
                <a16:creationId xmlns:a16="http://schemas.microsoft.com/office/drawing/2014/main" id="{544D51B4-45BC-4EA0-8C2A-85A3DDD5CEDE}"/>
              </a:ext>
            </a:extLst>
          </p:cNvPr>
          <p:cNvSpPr>
            <a:spLocks xmlns:a="http://schemas.openxmlformats.org/drawingml/2006/main" noGrp="1"/>
          </p:cNvSpPr>
          <p:nvPr/>
        </p:nvSpPr>
        <p:spPr>
          <a:xfrm xmlns:a="http://schemas.openxmlformats.org/drawingml/2006/main">
            <a:off x="502920" y="2610866"/>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Foundry DRC requires the applicable, qualified rule deck and an inspected report on the final
polygons. Typical checks include minimum widths, spacing and enclosure. No foundry-deck DRC
result has been accepted for this protocol </a:t>
            </a:r>
            <a:r>
              <a:rPr b="1"/>
              <a:t>reference</a:t>
            </a:r>
            <a:r>
              <a:t>. The router report is narrower evidence.</a:t>
            </a:r>
          </a:p>
        </p:txBody>
      </p:sp>
      <p:sp>
        <p:nvSpPr>
          <p:cNvPr id="55" name="body-1">
            <a:extLst xmlns:a="http://schemas.openxmlformats.org/drawingml/2006/main">
              <a:ext uri="{FF2B5EF4-FFF2-40B4-BE49-F238E27FC236}">
                <a16:creationId xmlns:a16="http://schemas.microsoft.com/office/drawing/2014/main" id="{A63701E1-C02A-4353-8C41-0D904474949F}"/>
              </a:ext>
            </a:extLst>
          </p:cNvPr>
          <p:cNvSpPr>
            <a:spLocks xmlns:a="http://schemas.openxmlformats.org/drawingml/2006/main" noGrp="1"/>
          </p:cNvSpPr>
          <p:nvPr/>
        </p:nvSpPr>
        <p:spPr>
          <a:xfrm xmlns:a="http://schemas.openxmlformats.org/drawingml/2006/main">
            <a:off x="502920" y="3330575"/>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LVS requires extracting a circuit from the layout and comparing devices and connectivity with the
intended circuit. A structural </a:t>
            </a:r>
            <a:r>
              <a:rPr b="1"/>
              <a:t>GDS</a:t>
            </a:r>
            <a:r>
              <a:t> decoder checking cell references, coordinates and orientations
does not perform that extraction or connectivity comparison. No accepted LVS match is available.</a:t>
            </a:r>
          </a:p>
        </p:txBody>
      </p:sp>
      <p:sp>
        <p:nvSpPr>
          <p:cNvPr id="56" name="body-2">
            <a:extLst xmlns:a="http://schemas.openxmlformats.org/drawingml/2006/main">
              <a:ext uri="{FF2B5EF4-FFF2-40B4-BE49-F238E27FC236}">
                <a16:creationId xmlns:a16="http://schemas.microsoft.com/office/drawing/2014/main" id="{E667600D-6B60-445F-8047-B635208B7E07}"/>
              </a:ext>
            </a:extLst>
          </p:cNvPr>
          <p:cNvSpPr>
            <a:spLocks xmlns:a="http://schemas.openxmlformats.org/drawingml/2006/main" noGrp="1"/>
          </p:cNvSpPr>
          <p:nvPr/>
        </p:nvSpPr>
        <p:spPr>
          <a:xfrm xmlns:a="http://schemas.openxmlformats.org/drawingml/2006/main">
            <a:off x="502920" y="4050284"/>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Antenna, scan/DFT, power integrity, padframe, tap/endcap strategy and manufacturing release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remain unperformed. The golden APB primer reports its own separate checks; those results do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transfer to SG13G2 or to this design.</a:t>
            </a:r>
          </a:p>
        </p:txBody>
      </p:sp>
      <p:sp>
        <p:nvSpPr>
          <p:cNvPr id="57" name="component-label-500.78666666666663">
            <a:extLst xmlns:a="http://schemas.openxmlformats.org/drawingml/2006/main">
              <a:ext uri="{FF2B5EF4-FFF2-40B4-BE49-F238E27FC236}">
                <a16:creationId xmlns:a16="http://schemas.microsoft.com/office/drawing/2014/main" id="{F8A1529E-236F-4ADB-A203-1E6DD03A6055}"/>
              </a:ext>
            </a:extLst>
          </p:cNvPr>
          <p:cNvSpPr>
            <a:spLocks xmlns:a="http://schemas.openxmlformats.org/drawingml/2006/main" noGrp="1"/>
          </p:cNvSpPr>
          <p:nvPr/>
        </p:nvSpPr>
        <p:spPr>
          <a:xfrm xmlns:a="http://schemas.openxmlformats.org/drawingml/2006/main">
            <a:off x="502920" y="4769993"/>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E P A R A T E   A C C E P T E D   E X P O R T   F R O M   M I S S I N G   S I G N O F F</a:t>
            </a:r>
          </a:p>
        </p:txBody>
      </p:sp>
      <p:graphicFrame>
        <p:nvGraphicFramePr>
          <p:cNvPr id="80" name=""/>
          <p:cNvGraphicFramePr/>
          <p:nvPr/>
        </p:nvGraphicFramePr>
        <p:xfrm>
          <a:off xmlns:a="http://schemas.openxmlformats.org/drawingml/2006/main" x="502920" y="5035169"/>
          <a:ext xmlns:a="http://schemas.openxmlformats.org/drawingml/2006/main" cx="6556248" cy="181927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CHECK</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THIS REFERENCE</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Router-rule report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Empty; narrower routing evidence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Decoded GDS placement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structural/export agreement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Foundry-deck DRC</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Extracted-layout LVS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Manufacturing readiness</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Not claimed</a:t>
                      </a:r>
                    </a:p>
                  </a:txBody>
                  <a:tcPr marL="91440" marR="91440" marT="45720" marB="45720">
                    <a:lnR w="0">
                      <a:noFill/>
                    </a:lnR>
                    <a:lnB w="0">
                      <a:noFill/>
                    </a:lnB>
                    <a:solidFill>
                      <a:srgbClr val="FFFFFF"/>
                    </a:solidFill>
                  </a:tcPr>
                </a:tc>
              </a:tr>
            </a:tbl>
          </a:graphicData>
        </a:graphic>
      </p:graphicFrame>
      <p:sp>
        <p:nvSpPr>
          <p:cNvPr id="59" name="boundary-card">
            <a:extLst xmlns:a="http://schemas.openxmlformats.org/drawingml/2006/main">
              <a:ext uri="{FF2B5EF4-FFF2-40B4-BE49-F238E27FC236}">
                <a16:creationId xmlns:a16="http://schemas.microsoft.com/office/drawing/2014/main" id="{2E85C388-71DE-4162-897F-F98BEC3179B4}"/>
              </a:ext>
            </a:extLst>
          </p:cNvPr>
          <p:cNvSpPr>
            <a:spLocks xmlns:a="http://schemas.openxmlformats.org/drawingml/2006/main" noGrp="1"/>
          </p:cNvSpPr>
          <p:nvPr/>
        </p:nvSpPr>
        <p:spPr>
          <a:xfrm xmlns:a="http://schemas.openxmlformats.org/drawingml/2006/main">
            <a:off x="502920" y="7037324"/>
            <a:ext cx="6556248" cy="709041"/>
          </a:xfrm>
          <a:prstGeom xmlns:a="http://schemas.openxmlformats.org/drawingml/2006/main" prst="rect">
            <a:avLst/>
          </a:prstGeom>
          <a:solidFill xmlns:a="http://schemas.openxmlformats.org/drawingml/2006/main">
            <a:srgbClr val="FAFAFA"/>
          </a:solidFill>
          <a:ln xmlns:a="http://schemas.openxmlformats.org/drawingml/2006/main" w="0">
            <a:noFill/>
          </a:ln>
        </p:spPr>
      </p:sp>
      <p:sp>
        <p:nvSpPr>
          <p:cNvPr id="60" name="boundary-accent">
            <a:extLst xmlns:a="http://schemas.openxmlformats.org/drawingml/2006/main">
              <a:ext uri="{FF2B5EF4-FFF2-40B4-BE49-F238E27FC236}">
                <a16:creationId xmlns:a16="http://schemas.microsoft.com/office/drawing/2014/main" id="{1709A5AF-3739-4B57-BB28-046C3FE48A4F}"/>
              </a:ext>
            </a:extLst>
          </p:cNvPr>
          <p:cNvSpPr>
            <a:spLocks xmlns:a="http://schemas.openxmlformats.org/drawingml/2006/main" noGrp="1"/>
          </p:cNvSpPr>
          <p:nvPr/>
        </p:nvSpPr>
        <p:spPr>
          <a:xfrm xmlns:a="http://schemas.openxmlformats.org/drawingml/2006/main">
            <a:off x="502920" y="7037324"/>
            <a:ext cx="38100" cy="709041"/>
          </a:xfrm>
          <a:prstGeom xmlns:a="http://schemas.openxmlformats.org/drawingml/2006/main" prst="rect">
            <a:avLst/>
          </a:prstGeom>
          <a:solidFill xmlns:a="http://schemas.openxmlformats.org/drawingml/2006/main">
            <a:srgbClr val="EF9529"/>
          </a:solidFill>
          <a:ln xmlns:a="http://schemas.openxmlformats.org/drawingml/2006/main" w="0">
            <a:noFill/>
          </a:ln>
        </p:spPr>
      </p:sp>
      <p:sp>
        <p:nvSpPr>
          <p:cNvPr id="61" name="boundary-title">
            <a:extLst xmlns:a="http://schemas.openxmlformats.org/drawingml/2006/main">
              <a:ext uri="{FF2B5EF4-FFF2-40B4-BE49-F238E27FC236}">
                <a16:creationId xmlns:a16="http://schemas.microsoft.com/office/drawing/2014/main" id="{10E901EC-0F02-4BCE-95F2-C6895112BA6D}"/>
              </a:ext>
            </a:extLst>
          </p:cNvPr>
          <p:cNvSpPr>
            <a:spLocks xmlns:a="http://schemas.openxmlformats.org/drawingml/2006/main" noGrp="1"/>
          </p:cNvSpPr>
          <p:nvPr/>
        </p:nvSpPr>
        <p:spPr>
          <a:xfrm xmlns:a="http://schemas.openxmlformats.org/drawingml/2006/main">
            <a:off x="674370" y="7132574"/>
            <a:ext cx="62133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00" b="1">
                <a:solidFill>
                  <a:srgbClr val="111111"/>
                </a:solidFill>
                <a:latin typeface="Segoe UI"/>
                <a:ea typeface="Segoe UI"/>
                <a:cs typeface="Segoe UI"/>
              </a:defRPr>
            </a:pPr>
            <a:r>
              <a:rPr sz="1200" b="1">
                <a:solidFill>
                  <a:srgbClr val="111111"/>
                </a:solidFill>
                <a:latin typeface="Segoe UI"/>
                <a:ea typeface="Segoe UI"/>
                <a:cs typeface="Segoe UI"/>
              </a:rPr>
              <a:t>A GDS file is not tapeout approval</a:t>
            </a:r>
          </a:p>
        </p:txBody>
      </p:sp>
      <p:sp>
        <p:nvSpPr>
          <p:cNvPr id="62" name="boundary-text">
            <a:extLst xmlns:a="http://schemas.openxmlformats.org/drawingml/2006/main">
              <a:ext uri="{FF2B5EF4-FFF2-40B4-BE49-F238E27FC236}">
                <a16:creationId xmlns:a16="http://schemas.microsoft.com/office/drawing/2014/main" id="{181A55ED-AEC8-4CBC-9257-E66A64B4C6A3}"/>
              </a:ext>
            </a:extLst>
          </p:cNvPr>
          <p:cNvSpPr>
            <a:spLocks xmlns:a="http://schemas.openxmlformats.org/drawingml/2006/main" noGrp="1"/>
          </p:cNvSpPr>
          <p:nvPr/>
        </p:nvSpPr>
        <p:spPr>
          <a:xfrm xmlns:a="http://schemas.openxmlformats.org/drawingml/2006/main">
            <a:off x="674370" y="7399274"/>
            <a:ext cx="6213348" cy="3470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This package is suitable for studying and reproducing a block implementation. Do not hand it off as a</a:t>
            </a:r>
          </a:p>
          <a:p xmlns:a="http://schemas.openxmlformats.org/drawingml/2006/main">
            <a:pPr>
              <a:defRPr sz="1050" b="0">
                <a:solidFill>
                  <a:srgbClr val="444444"/>
                </a:solidFill>
                <a:latin typeface="Segoe UI"/>
                <a:ea typeface="Segoe UI"/>
                <a:cs typeface="Segoe UI"/>
              </a:defRPr>
            </a:pPr>
            <a:r>
              <a:rPr sz="1050" b="0">
                <a:solidFill>
                  <a:srgbClr val="444444"/>
                </a:solidFill>
                <a:latin typeface="Segoe UI"/>
                <a:ea typeface="Segoe UI"/>
                <a:cs typeface="Segoe UI"/>
              </a:rPr>
              <a:t>signoff-clean manufacturing design.</a:t>
            </a:r>
          </a:p>
        </p:txBody>
      </p:sp>
    </p:spTree>
    <p:extLst>
      <p:ext uri="{BB962C8B-B14F-4D97-AF65-F5344CB8AC3E}">
        <p14:creationId xmlns:p14="http://schemas.microsoft.com/office/powerpoint/2010/main" val="117162774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9" name="Picture 2"/>
          <p:cNvPicPr>
            <a:picLocks xmlns:a="http://schemas.openxmlformats.org/drawingml/2006/main" noChangeAspect="1"/>
          </p:cNvPicPr>
          <p:nvPr/>
        </p:nvPicPr>
        <p:blipFill>
          <a:blip xmlns:r="http://schemas.openxmlformats.org/officeDocument/2006/relationships" xmlns:a="http://schemas.openxmlformats.org/drawingml/2006/main" r:embed="Rffcd06b7d975447e"/>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20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B3491970-C8AE-4E93-A413-1CF627817F83}"/>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18 · RESULTS SUMMARY</a:t>
            </a:r>
          </a:p>
        </p:txBody>
      </p:sp>
      <p:sp>
        <p:nvSpPr>
          <p:cNvPr id="51" name="page-title">
            <a:extLst xmlns:a="http://schemas.openxmlformats.org/drawingml/2006/main">
              <a:ext uri="{FF2B5EF4-FFF2-40B4-BE49-F238E27FC236}">
                <a16:creationId xmlns:a16="http://schemas.microsoft.com/office/drawing/2014/main" id="{3C728A6B-921C-4854-8895-C72DCFA35B0E}"/>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Everything at a glance</a:t>
            </a:r>
          </a:p>
        </p:txBody>
      </p:sp>
      <p:sp>
        <p:nvSpPr>
          <p:cNvPr id="52" name="intro">
            <a:extLst xmlns:a="http://schemas.openxmlformats.org/drawingml/2006/main">
              <a:ext uri="{FF2B5EF4-FFF2-40B4-BE49-F238E27FC236}">
                <a16:creationId xmlns:a16="http://schemas.microsoft.com/office/drawing/2014/main" id="{02C6E058-D79A-4E50-9746-715B40AB5D34}"/>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Read each result together with the question it actually answers. The same PASS label never</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implies every protocol or manufacturing obligation is closed.</a:t>
            </a:r>
          </a:p>
        </p:txBody>
      </p:sp>
      <p:sp>
        <p:nvSpPr>
          <p:cNvPr id="53" name="component-label-246.26666666666665">
            <a:extLst xmlns:a="http://schemas.openxmlformats.org/drawingml/2006/main">
              <a:ext uri="{FF2B5EF4-FFF2-40B4-BE49-F238E27FC236}">
                <a16:creationId xmlns:a16="http://schemas.microsoft.com/office/drawing/2014/main" id="{C840AC06-4DCA-4C30-B3BA-927FD34FB11B}"/>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E S U L T S   S U M M A R Y</a:t>
            </a:r>
          </a:p>
        </p:txBody>
      </p:sp>
      <p:sp>
        <p:nvSpPr>
          <p:cNvPr id="54" name="body-0">
            <a:extLst xmlns:a="http://schemas.openxmlformats.org/drawingml/2006/main">
              <a:ext uri="{FF2B5EF4-FFF2-40B4-BE49-F238E27FC236}">
                <a16:creationId xmlns:a16="http://schemas.microsoft.com/office/drawing/2014/main" id="{CDABDD67-9BA7-43AF-A468-429A495B77A5}"/>
              </a:ext>
            </a:extLst>
          </p:cNvPr>
          <p:cNvSpPr>
            <a:spLocks xmlns:a="http://schemas.openxmlformats.org/drawingml/2006/main" noGrp="1"/>
          </p:cNvSpPr>
          <p:nvPr/>
        </p:nvSpPr>
        <p:spPr>
          <a:xfrm xmlns:a="http://schemas.openxmlformats.org/drawingml/2006/main">
            <a:off x="502920" y="2610866"/>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The directed functional result and the physical export result are both useful, but they prove
different things. The physical build uses the fixed wrapper configuration and </a:t>
            </a:r>
            <a:r>
              <a:rPr b="1"/>
              <a:t>reference</a:t>
            </a:r>
            <a:r>
              <a:t> constraints.
Additional modes, external peripherals, arbitrary clock relationships and board operation require
their own evidence.</a:t>
            </a:r>
          </a:p>
        </p:txBody>
      </p:sp>
      <p:sp>
        <p:nvSpPr>
          <p:cNvPr id="55" name="body-1">
            <a:extLst xmlns:a="http://schemas.openxmlformats.org/drawingml/2006/main">
              <a:ext uri="{FF2B5EF4-FFF2-40B4-BE49-F238E27FC236}">
                <a16:creationId xmlns:a16="http://schemas.microsoft.com/office/drawing/2014/main" id="{AFDF4165-AD46-4462-B82A-251FBE038CC1}"/>
              </a:ext>
            </a:extLst>
          </p:cNvPr>
          <p:cNvSpPr>
            <a:spLocks xmlns:a="http://schemas.openxmlformats.org/drawingml/2006/main" noGrp="1"/>
          </p:cNvSpPr>
          <p:nvPr/>
        </p:nvSpPr>
        <p:spPr>
          <a:xfrm xmlns:a="http://schemas.openxmlformats.org/drawingml/2006/main">
            <a:off x="502920" y="3508756"/>
            <a:ext cx="6556248" cy="41351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Important protocol boundary: No external PHY, MDIO, collision handling or network stack. Test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clocks are phase-offset at the same nominal frequency; drift is untested.</a:t>
            </a:r>
          </a:p>
        </p:txBody>
      </p:sp>
      <p:sp>
        <p:nvSpPr>
          <p:cNvPr id="56" name="component-label-425.22666666666663">
            <a:extLst xmlns:a="http://schemas.openxmlformats.org/drawingml/2006/main">
              <a:ext uri="{FF2B5EF4-FFF2-40B4-BE49-F238E27FC236}">
                <a16:creationId xmlns:a16="http://schemas.microsoft.com/office/drawing/2014/main" id="{B30F5481-3566-48B8-9D59-356447CED4D2}"/>
              </a:ext>
            </a:extLst>
          </p:cNvPr>
          <p:cNvSpPr>
            <a:spLocks xmlns:a="http://schemas.openxmlformats.org/drawingml/2006/main" noGrp="1"/>
          </p:cNvSpPr>
          <p:nvPr/>
        </p:nvSpPr>
        <p:spPr>
          <a:xfrm xmlns:a="http://schemas.openxmlformats.org/drawingml/2006/main">
            <a:off x="502920" y="4050284"/>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F U L L   R E F E R E N C E   F L O W</a:t>
            </a:r>
          </a:p>
        </p:txBody>
      </p:sp>
      <p:graphicFrame>
        <p:nvGraphicFramePr>
          <p:cNvPr id="74" name=""/>
          <p:cNvGraphicFramePr/>
          <p:nvPr/>
        </p:nvGraphicFramePr>
        <p:xfrm>
          <a:off xmlns:a="http://schemas.openxmlformats.org/drawingml/2006/main" x="502920" y="4315460"/>
          <a:ext xmlns:a="http://schemas.openxmlformats.org/drawingml/2006/main" cx="6556248" cy="3335337"/>
        </p:xfrm>
        <a:graphic xmlns:a="http://schemas.openxmlformats.org/drawingml/2006/main">
          <a:graphicData uri="http://schemas.openxmlformats.org/drawingml/2006/table">
            <a:tbl>
              <a:tblPr/>
              <a:tblGrid>
                <a:gridCol w="1704624"/>
                <a:gridCol w="3212562"/>
                <a:gridCol w="1639062"/>
              </a:tblGrid>
              <a:tr h="303213">
                <a:tc>
                  <a:txBody>
                    <a:bodyPr lIns="76200" tIns="57150" rIns="76200" bIns="57150">
                      <a:noAutofit/>
                    </a:bodyPr>
                    <a:lstStyle/>
                    <a:p>
                      <a:r>
                        <a:rPr sz="950" b="1">
                          <a:solidFill>
                            <a:srgbClr val="EDEDED"/>
                          </a:solidFill>
                          <a:latin typeface="Segoe UI"/>
                          <a:ea typeface="Segoe UI"/>
                          <a:cs typeface="Segoe UI"/>
                        </a:rPr>
                        <a:t>STAGE</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TOOL / EVIDENCE</a:t>
                      </a:r>
                    </a:p>
                  </a:txBody>
                  <a:tcPr marL="91440" marR="91440" marT="45720" marB="45720">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STATUS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Verilator; 72 retained warnings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Review</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Simulation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Independent directed expectations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directed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Negative controls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Deliberate fatal mismatches</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rejection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Yosys; 1042 mapped cells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mapping</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Floorplan / 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OpenROAD; 500 x 500 um</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Routing / extraction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DEF and SPEF retained</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Timing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TT and slow setup / hold</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146B34"/>
                          </a:solidFill>
                          <a:latin typeface="Segoe UI"/>
                          <a:ea typeface="Segoe UI"/>
                          <a:cs typeface="Segoe UI"/>
                        </a:rPr>
                        <a:t>PASS reference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KLayout; 3,219,696 bytes</a:t>
                      </a:r>
                    </a:p>
                  </a:txBody>
                  <a:tcPr marL="91440" marR="91440" marT="45720" marB="45720">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146B34"/>
                          </a:solidFill>
                          <a:latin typeface="Segoe UI"/>
                          <a:ea typeface="Segoe UI"/>
                          <a:cs typeface="Segoe UI"/>
                        </a:rPr>
                        <a:t>PASS export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Foundry DRC / LVS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No accepted report</a:t>
                      </a:r>
                    </a:p>
                  </a:txBody>
                  <a:tcPr marL="91440" marR="91440" marT="45720" marB="45720">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Full-chip / board</a:t>
                      </a:r>
                    </a:p>
                  </a:txBody>
                  <a:tcPr marL="91440" marR="91440" marT="45720" marB="45720">
                    <a:lnL w="0">
                      <a:noFill/>
                    </a:lnL>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No accepted integration proof</a:t>
                      </a:r>
                    </a:p>
                  </a:txBody>
                  <a:tcPr marL="91440" marR="91440" marT="45720" marB="45720">
                    <a:lnR w="0">
                      <a:noFill/>
                    </a:lnR>
                    <a:lnB w="0">
                      <a:noFill/>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UNPERFORMED</a:t>
                      </a:r>
                    </a:p>
                  </a:txBody>
                  <a:tcPr marL="91440" marR="91440" marT="45720" marB="45720">
                    <a:lnR w="0">
                      <a:noFill/>
                    </a:lnR>
                    <a:lnB w="0">
                      <a:noFill/>
                    </a:lnB>
                    <a:solidFill>
                      <a:srgbClr val="FAFAFA"/>
                    </a:solidFill>
                  </a:tcPr>
                </a:tc>
              </a:tr>
            </a:tbl>
          </a:graphicData>
        </a:graphic>
      </p:graphicFrame>
    </p:spTree>
    <p:extLst>
      <p:ext uri="{BB962C8B-B14F-4D97-AF65-F5344CB8AC3E}">
        <p14:creationId xmlns:p14="http://schemas.microsoft.com/office/powerpoint/2010/main" val="117162774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63" name="Picture 2"/>
          <p:cNvPicPr>
            <a:picLocks xmlns:a="http://schemas.openxmlformats.org/drawingml/2006/main" noChangeAspect="1"/>
          </p:cNvPicPr>
          <p:nvPr/>
        </p:nvPicPr>
        <p:blipFill>
          <a:blip xmlns:r="http://schemas.openxmlformats.org/officeDocument/2006/relationships" xmlns:a="http://schemas.openxmlformats.org/drawingml/2006/main" r:embed="Rd896494751e147a4"/>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21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563AF365-83CD-42F2-A60C-074709CAB530}"/>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19 · RUN IT YOURSELF</a:t>
            </a:r>
          </a:p>
        </p:txBody>
      </p:sp>
      <p:sp>
        <p:nvSpPr>
          <p:cNvPr id="51" name="page-title">
            <a:extLst xmlns:a="http://schemas.openxmlformats.org/drawingml/2006/main">
              <a:ext uri="{FF2B5EF4-FFF2-40B4-BE49-F238E27FC236}">
                <a16:creationId xmlns:a16="http://schemas.microsoft.com/office/drawing/2014/main" id="{31D37166-63FC-4200-AA45-199DFA54C1CD}"/>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Run it yourself in WSL</a:t>
            </a:r>
          </a:p>
        </p:txBody>
      </p:sp>
      <p:sp>
        <p:nvSpPr>
          <p:cNvPr id="52" name="intro">
            <a:extLst xmlns:a="http://schemas.openxmlformats.org/drawingml/2006/main">
              <a:ext uri="{FF2B5EF4-FFF2-40B4-BE49-F238E27FC236}">
                <a16:creationId xmlns:a16="http://schemas.microsoft.com/office/drawing/2014/main" id="{2E4C9ADF-83D4-4589-BDFC-C6F8C7933898}"/>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Use the pinned source, the unit tool lock and the external PDK revision together.</a:t>
            </a:r>
          </a:p>
        </p:txBody>
      </p:sp>
      <p:sp>
        <p:nvSpPr>
          <p:cNvPr id="53" name="component-label-225.93333333333334">
            <a:extLst xmlns:a="http://schemas.openxmlformats.org/drawingml/2006/main">
              <a:ext uri="{FF2B5EF4-FFF2-40B4-BE49-F238E27FC236}">
                <a16:creationId xmlns:a16="http://schemas.microsoft.com/office/drawing/2014/main" id="{93FCEB9B-2B24-4DDF-8A4F-B4F1E4CC51EB}"/>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R U N   I T   Y O U R S E L F</a:t>
            </a:r>
          </a:p>
        </p:txBody>
      </p:sp>
      <p:sp>
        <p:nvSpPr>
          <p:cNvPr id="54" name="body-0">
            <a:extLst xmlns:a="http://schemas.openxmlformats.org/drawingml/2006/main">
              <a:ext uri="{FF2B5EF4-FFF2-40B4-BE49-F238E27FC236}">
                <a16:creationId xmlns:a16="http://schemas.microsoft.com/office/drawing/2014/main" id="{16B859E4-9C7B-44C3-9505-E570C96D94FD}"/>
              </a:ext>
            </a:extLst>
          </p:cNvPr>
          <p:cNvSpPr>
            <a:spLocks xmlns:a="http://schemas.openxmlformats.org/drawingml/2006/main" noGrp="1"/>
          </p:cNvSpPr>
          <p:nvPr/>
        </p:nvSpPr>
        <p:spPr>
          <a:xfrm xmlns:a="http://schemas.openxmlformats.org/drawingml/2006/main">
            <a:off x="502920" y="241719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proven entry point is a WSL login Bash shell. igny init prepares the packaging runtime.</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Unsetting CRUCIBLE_ENV after initialisation allows the unit crucible.toml workspace selection to</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control tool resolution rather than an inherited environment override. This is the observed</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workflow, not a change to Crucible internals.</a:t>
            </a:r>
          </a:p>
        </p:txBody>
      </p:sp>
      <p:sp>
        <p:nvSpPr>
          <p:cNvPr id="55" name="body-1">
            <a:extLst xmlns:a="http://schemas.openxmlformats.org/drawingml/2006/main">
              <a:ext uri="{FF2B5EF4-FFF2-40B4-BE49-F238E27FC236}">
                <a16:creationId xmlns:a16="http://schemas.microsoft.com/office/drawing/2014/main" id="{1E2176BA-2DBC-49C6-A7B6-02E05412786B}"/>
              </a:ext>
            </a:extLst>
          </p:cNvPr>
          <p:cNvSpPr>
            <a:spLocks xmlns:a="http://schemas.openxmlformats.org/drawingml/2006/main" noGrp="1"/>
          </p:cNvSpPr>
          <p:nvPr/>
        </p:nvSpPr>
        <p:spPr>
          <a:xfrm xmlns:a="http://schemas.openxmlformats.org/drawingml/2006/main">
            <a:off x="502920" y="331508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Each unit has its existing environment and lock. The common tool set includes Icarus, Verilator,</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Yosys, OpenROAD and klayout-stream. The separate PDK checkout is IHP SG13G2 revision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22f43352dd8219f9007eb659e422e0d5fe28c5fb. A tool lock does not pin that external PDK by</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itself; IHP_PDK_ROOT must point to the matching installation.</a:t>
            </a:r>
          </a:p>
        </p:txBody>
      </p:sp>
      <p:sp>
        <p:nvSpPr>
          <p:cNvPr id="56" name="body-2">
            <a:extLst xmlns:a="http://schemas.openxmlformats.org/drawingml/2006/main">
              <a:ext uri="{FF2B5EF4-FFF2-40B4-BE49-F238E27FC236}">
                <a16:creationId xmlns:a16="http://schemas.microsoft.com/office/drawing/2014/main" id="{8AE0D855-185A-4BFC-9D83-FE85519BCD33}"/>
              </a:ext>
            </a:extLst>
          </p:cNvPr>
          <p:cNvSpPr>
            <a:spLocks xmlns:a="http://schemas.openxmlformats.org/drawingml/2006/main" noGrp="1"/>
          </p:cNvSpPr>
          <p:nvPr/>
        </p:nvSpPr>
        <p:spPr>
          <a:xfrm xmlns:a="http://schemas.openxmlformats.org/drawingml/2006/main">
            <a:off x="502920" y="4212971"/>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The documented machine could not use the pip klayout package as the expected stream-out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executable; igny tool install klayout-stream supplies the proven converter. make lint sim checks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functional behaviour, make flow executes the staged implementation, and node verify_build.mjs</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all inspects artifacts. Review normal and intentionally failing logs before accepting the result.</a:t>
            </a:r>
          </a:p>
        </p:txBody>
      </p:sp>
      <p:sp>
        <p:nvSpPr>
          <p:cNvPr id="57" name="body-3">
            <a:extLst xmlns:a="http://schemas.openxmlformats.org/drawingml/2006/main">
              <a:ext uri="{FF2B5EF4-FFF2-40B4-BE49-F238E27FC236}">
                <a16:creationId xmlns:a16="http://schemas.microsoft.com/office/drawing/2014/main" id="{4468F3C0-6A21-453C-A023-EBDC7F80DC36}"/>
              </a:ext>
            </a:extLst>
          </p:cNvPr>
          <p:cNvSpPr>
            <a:spLocks xmlns:a="http://schemas.openxmlformats.org/drawingml/2006/main" noGrp="1"/>
          </p:cNvSpPr>
          <p:nvPr/>
        </p:nvSpPr>
        <p:spPr>
          <a:xfrm xmlns:a="http://schemas.openxmlformats.org/drawingml/2006/main">
            <a:off x="502920" y="5110861"/>
            <a:ext cx="6556248" cy="5916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Re-running a simulation can replace its VCD and invalidate an earlier document trace hash. Retain</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a document evidence manifest or regenerate the measured figures after the positive run. Do not</a:t>
            </a:r>
          </a:p>
          <a:p xmlns:a="http://schemas.openxmlformats.org/drawingml/2006/main">
            <a:pPr>
              <a:defRPr sz="1150" b="0">
                <a:solidFill>
                  <a:srgbClr val="444444"/>
                </a:solidFill>
                <a:latin typeface="Segoe UI"/>
                <a:ea typeface="Segoe UI"/>
                <a:cs typeface="Segoe UI"/>
              </a:defRPr>
            </a:pPr>
            <a:r>
              <a:rPr sz="1150" b="0">
                <a:solidFill>
                  <a:srgbClr val="444444"/>
                </a:solidFill>
                <a:latin typeface="Segoe UI"/>
                <a:ea typeface="Segoe UI"/>
                <a:cs typeface="Segoe UI"/>
              </a:rPr>
              <a:t>silently preserve an old chart while claiming it is the newly generated waveform.</a:t>
            </a:r>
          </a:p>
        </p:txBody>
      </p:sp>
      <p:sp>
        <p:nvSpPr>
          <p:cNvPr id="58" name="component-label-612.1333333333334">
            <a:extLst xmlns:a="http://schemas.openxmlformats.org/drawingml/2006/main">
              <a:ext uri="{FF2B5EF4-FFF2-40B4-BE49-F238E27FC236}">
                <a16:creationId xmlns:a16="http://schemas.microsoft.com/office/drawing/2014/main" id="{8F3ADBDE-5DF6-453B-800C-4336D28DD46D}"/>
              </a:ext>
            </a:extLst>
          </p:cNvPr>
          <p:cNvSpPr>
            <a:spLocks xmlns:a="http://schemas.openxmlformats.org/drawingml/2006/main" noGrp="1"/>
          </p:cNvSpPr>
          <p:nvPr/>
        </p:nvSpPr>
        <p:spPr>
          <a:xfrm xmlns:a="http://schemas.openxmlformats.org/drawingml/2006/main">
            <a:off x="502920" y="583057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   C O M M A N D S</a:t>
            </a:r>
          </a:p>
        </p:txBody>
      </p:sp>
      <p:sp>
        <p:nvSpPr>
          <p:cNvPr id="59" name="code-panel">
            <a:extLst xmlns:a="http://schemas.openxmlformats.org/drawingml/2006/main">
              <a:ext uri="{FF2B5EF4-FFF2-40B4-BE49-F238E27FC236}">
                <a16:creationId xmlns:a16="http://schemas.microsoft.com/office/drawing/2014/main" id="{7905B73D-D6E0-4964-9CEF-7B7D402AE623}"/>
              </a:ext>
            </a:extLst>
          </p:cNvPr>
          <p:cNvSpPr>
            <a:spLocks xmlns:a="http://schemas.openxmlformats.org/drawingml/2006/main" noGrp="1"/>
          </p:cNvSpPr>
          <p:nvPr/>
        </p:nvSpPr>
        <p:spPr>
          <a:xfrm xmlns:a="http://schemas.openxmlformats.org/drawingml/2006/main">
            <a:off x="502920" y="6095746"/>
            <a:ext cx="6556248" cy="1468120"/>
          </a:xfrm>
          <a:prstGeom xmlns:a="http://schemas.openxmlformats.org/drawingml/2006/main" prst="rect">
            <a:avLst/>
          </a:prstGeom>
          <a:solidFill xmlns:a="http://schemas.openxmlformats.org/drawingml/2006/main">
            <a:srgbClr val="0B0B0C"/>
          </a:solidFill>
          <a:ln xmlns:a="http://schemas.openxmlformats.org/drawingml/2006/main" w="0">
            <a:noFill/>
          </a:ln>
        </p:spPr>
      </p:sp>
      <p:sp>
        <p:nvSpPr>
          <p:cNvPr id="60" name="code">
            <a:extLst xmlns:a="http://schemas.openxmlformats.org/drawingml/2006/main">
              <a:ext uri="{FF2B5EF4-FFF2-40B4-BE49-F238E27FC236}">
                <a16:creationId xmlns:a16="http://schemas.microsoft.com/office/drawing/2014/main" id="{B07EFAEB-E3B4-4DEC-A43D-5E005BAC4031}"/>
              </a:ext>
            </a:extLst>
          </p:cNvPr>
          <p:cNvSpPr>
            <a:spLocks xmlns:a="http://schemas.openxmlformats.org/drawingml/2006/main" noGrp="1"/>
          </p:cNvSpPr>
          <p:nvPr/>
        </p:nvSpPr>
        <p:spPr>
          <a:xfrm xmlns:a="http://schemas.openxmlformats.org/drawingml/2006/main">
            <a:off x="617220" y="6190996"/>
            <a:ext cx="6327648" cy="1315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000" b="0">
                <a:solidFill>
                  <a:srgbClr val="EDEDED"/>
                </a:solidFill>
                <a:latin typeface="Consolas"/>
                <a:ea typeface="Consolas"/>
                <a:cs typeface="Consolas"/>
              </a:defRPr>
            </a:pPr>
            <a:r>
              <a:rPr>
                <a:solidFill>
                  <a:srgbClr val="EF9529"/>
                </a:solidFill>
              </a:rPr>
              <a:t>igny init</a:t>
            </a:r>
            <a:r>
              <a:rPr>
                <a:solidFill>
                  <a:srgbClr val="EF9529"/>
                </a:solidFill>
              </a:rPr>
              <a:t>
unset CRUCIBLE_ENV</a:t>
            </a:r>
            <a:r>
              <a:rPr>
                <a:solidFill>
                  <a:srgbClr val="EF9529"/>
                </a:solidFill>
              </a:rPr>
              <a:t>
cd hw/protocols/stretch/ethernet</a:t>
            </a:r>
            <a:r>
              <a:rPr>
                <a:solidFill>
                  <a:srgbClr val="EF9529"/>
                </a:solidFill>
              </a:rPr>
              <a:t>
igny workspace sync</a:t>
            </a:r>
            <a:r>
              <a:rPr>
                <a:solidFill>
                  <a:srgbClr val="EF9529"/>
                </a:solidFill>
              </a:rPr>
              <a:t>
igny tool install klayout-stream</a:t>
            </a:r>
            <a:r>
              <a:rPr>
                <a:solidFill>
                  <a:srgbClr val="EF9529"/>
                </a:solidFill>
              </a:rPr>
              <a:t>
make lint sim</a:t>
            </a:r>
            <a:r>
              <a:rPr>
                <a:solidFill>
                  <a:srgbClr val="EF9529"/>
                </a:solidFill>
              </a:rPr>
              <a:t>
make flow</a:t>
            </a:r>
            <a:r>
              <a:rPr>
                <a:solidFill>
                  <a:srgbClr val="EF9529"/>
                </a:solidFill>
              </a:rPr>
              <a:t>
node verify_build.mjs all</a:t>
            </a:r>
          </a:p>
        </p:txBody>
      </p:sp>
      <p:sp>
        <p:nvSpPr>
          <p:cNvPr id="61" name="code-source">
            <a:extLst xmlns:a="http://schemas.openxmlformats.org/drawingml/2006/main">
              <a:ext uri="{FF2B5EF4-FFF2-40B4-BE49-F238E27FC236}">
                <a16:creationId xmlns:a16="http://schemas.microsoft.com/office/drawing/2014/main" id="{2AA38611-C2D7-41AF-AC42-8C8D0F6588DF}"/>
              </a:ext>
            </a:extLst>
          </p:cNvPr>
          <p:cNvSpPr>
            <a:spLocks xmlns:a="http://schemas.openxmlformats.org/drawingml/2006/main" noGrp="1"/>
          </p:cNvSpPr>
          <p:nvPr/>
        </p:nvSpPr>
        <p:spPr>
          <a:xfrm xmlns:a="http://schemas.openxmlformats.org/drawingml/2006/main">
            <a:off x="502920" y="7621016"/>
            <a:ext cx="6556248"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0">
                <a:solidFill>
                  <a:srgbClr val="777777"/>
                </a:solidFill>
                <a:latin typeface="Segoe UI"/>
                <a:ea typeface="Segoe UI"/>
                <a:cs typeface="Segoe UI"/>
              </a:defRPr>
            </a:pPr>
            <a:r>
              <a:rPr sz="850" b="0">
                <a:solidFill>
                  <a:srgbClr val="777777"/>
                </a:solidFill>
                <a:latin typeface="Segoe UI"/>
                <a:ea typeface="Segoe UI"/>
                <a:cs typeface="Segoe UI"/>
              </a:rPr>
              <a:t>Run after entering the repository in WSL login Bash; PDK required.</a:t>
            </a:r>
          </a:p>
        </p:txBody>
      </p:sp>
    </p:spTree>
    <p:extLst>
      <p:ext uri="{BB962C8B-B14F-4D97-AF65-F5344CB8AC3E}">
        <p14:creationId xmlns:p14="http://schemas.microsoft.com/office/powerpoint/2010/main" val="117162774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9" name="Picture 2"/>
          <p:cNvPicPr>
            <a:picLocks xmlns:a="http://schemas.openxmlformats.org/drawingml/2006/main" noChangeAspect="1"/>
          </p:cNvPicPr>
          <p:nvPr/>
        </p:nvPicPr>
        <p:blipFill>
          <a:blip xmlns:r="http://schemas.openxmlformats.org/officeDocument/2006/relationships" xmlns:a="http://schemas.openxmlformats.org/drawingml/2006/main" r:embed="R1baf45a828bd4eed"/>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22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BAE1E8DA-2AFF-4024-B139-EC024445C4E7}"/>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20 · SOURCES AND REMAINING WORK</a:t>
            </a:r>
          </a:p>
        </p:txBody>
      </p:sp>
      <p:sp>
        <p:nvSpPr>
          <p:cNvPr id="51" name="page-title">
            <a:extLst xmlns:a="http://schemas.openxmlformats.org/drawingml/2006/main">
              <a:ext uri="{FF2B5EF4-FFF2-40B4-BE49-F238E27FC236}">
                <a16:creationId xmlns:a16="http://schemas.microsoft.com/office/drawing/2014/main" id="{43A8AABA-D07F-496B-89BF-32A9B2D43B94}"/>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Sources, ownership and remaining work</a:t>
            </a:r>
          </a:p>
        </p:txBody>
      </p:sp>
      <p:sp>
        <p:nvSpPr>
          <p:cNvPr id="52" name="intro">
            <a:extLst xmlns:a="http://schemas.openxmlformats.org/drawingml/2006/main">
              <a:ext uri="{FF2B5EF4-FFF2-40B4-BE49-F238E27FC236}">
                <a16:creationId xmlns:a16="http://schemas.microsoft.com/office/drawing/2014/main" id="{69EB11A4-26AA-46D1-8A7D-DB66F61460F3}"/>
              </a:ext>
            </a:extLst>
          </p:cNvPr>
          <p:cNvSpPr>
            <a:spLocks xmlns:a="http://schemas.openxmlformats.org/drawingml/2006/main" noGrp="1"/>
          </p:cNvSpPr>
          <p:nvPr/>
        </p:nvSpPr>
        <p:spPr>
          <a:xfrm xmlns:a="http://schemas.openxmlformats.org/drawingml/2006/main">
            <a:off x="502920" y="1719072"/>
            <a:ext cx="6556248" cy="231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 pinned revision identifies the baseline; local integration changes are described separately.</a:t>
            </a:r>
          </a:p>
        </p:txBody>
      </p:sp>
      <p:sp>
        <p:nvSpPr>
          <p:cNvPr id="53" name="component-label-225.93333333333334">
            <a:extLst xmlns:a="http://schemas.openxmlformats.org/drawingml/2006/main">
              <a:ext uri="{FF2B5EF4-FFF2-40B4-BE49-F238E27FC236}">
                <a16:creationId xmlns:a16="http://schemas.microsoft.com/office/drawing/2014/main" id="{0DB80F16-4D30-47EB-882A-07FEFF1F326D}"/>
              </a:ext>
            </a:extLst>
          </p:cNvPr>
          <p:cNvSpPr>
            <a:spLocks xmlns:a="http://schemas.openxmlformats.org/drawingml/2006/main" noGrp="1"/>
          </p:cNvSpPr>
          <p:nvPr/>
        </p:nvSpPr>
        <p:spPr>
          <a:xfrm xmlns:a="http://schemas.openxmlformats.org/drawingml/2006/main">
            <a:off x="502920" y="2152015"/>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S O U R C E S   A N D   R E M A I N I N G   W O R K</a:t>
            </a:r>
          </a:p>
        </p:txBody>
      </p:sp>
      <p:sp>
        <p:nvSpPr>
          <p:cNvPr id="54" name="body-0">
            <a:extLst xmlns:a="http://schemas.openxmlformats.org/drawingml/2006/main">
              <a:ext uri="{FF2B5EF4-FFF2-40B4-BE49-F238E27FC236}">
                <a16:creationId xmlns:a16="http://schemas.microsoft.com/office/drawing/2014/main" id="{05BF3C6E-7582-419B-9E0F-25FF8BCBE7A4}"/>
              </a:ext>
            </a:extLst>
          </p:cNvPr>
          <p:cNvSpPr>
            <a:spLocks xmlns:a="http://schemas.openxmlformats.org/drawingml/2006/main" noGrp="1"/>
          </p:cNvSpPr>
          <p:nvPr/>
        </p:nvSpPr>
        <p:spPr>
          <a:xfrm xmlns:a="http://schemas.openxmlformats.org/drawingml/2006/main">
            <a:off x="502920" y="2417191"/>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Upstream: https://github.com/alexforencich/verilog-ethernet
Pinned commit: 77320a9471d19c7dd383914bc049e02d9f4f1ffb
Licence: MIT, Alex Forencich; per-file notices retained. Original </a:t>
            </a:r>
            <a:r>
              <a:rPr b="1"/>
              <a:t>source</a:t>
            </a:r>
            <a:r>
              <a:t> notices remain in the RTL.
The document is authored by Ignytion; this does not transfer ownership of upstream code or
remove its licence obligations.</a:t>
            </a:r>
          </a:p>
        </p:txBody>
      </p:sp>
      <p:sp>
        <p:nvSpPr>
          <p:cNvPr id="55" name="body-1">
            <a:extLst xmlns:a="http://schemas.openxmlformats.org/drawingml/2006/main">
              <a:ext uri="{FF2B5EF4-FFF2-40B4-BE49-F238E27FC236}">
                <a16:creationId xmlns:a16="http://schemas.microsoft.com/office/drawing/2014/main" id="{B91FD14A-6D67-41BC-89DD-3739201D2C05}"/>
              </a:ext>
            </a:extLst>
          </p:cNvPr>
          <p:cNvSpPr>
            <a:spLocks xmlns:a="http://schemas.openxmlformats.org/drawingml/2006/main" noGrp="1"/>
          </p:cNvSpPr>
          <p:nvPr/>
        </p:nvSpPr>
        <p:spPr>
          <a:xfrm xmlns:a="http://schemas.openxmlformats.org/drawingml/2006/main">
            <a:off x="502920" y="3493262"/>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Local modifications, directed test stimulus and </a:t>
            </a:r>
            <a:r>
              <a:rPr b="1"/>
              <a:t>source</a:t>
            </a:r>
            <a:r>
              <a:t> boundaries are recorded in
hw/protocols/stretch/ethernet/README.md and the repository append-only .context.md. The first
three protocol lessons have separate editable 16:9 student decks; this A4 technical note is a
reading and evidence document, not a replacement for their instructor notes.</a:t>
            </a:r>
          </a:p>
        </p:txBody>
      </p:sp>
      <p:sp>
        <p:nvSpPr>
          <p:cNvPr id="56" name="body-2">
            <a:extLst xmlns:a="http://schemas.openxmlformats.org/drawingml/2006/main">
              <a:ext uri="{FF2B5EF4-FFF2-40B4-BE49-F238E27FC236}">
                <a16:creationId xmlns:a16="http://schemas.microsoft.com/office/drawing/2014/main" id="{577A9115-F790-4824-93A7-C01AA3BFEF7C}"/>
              </a:ext>
            </a:extLst>
          </p:cNvPr>
          <p:cNvSpPr>
            <a:spLocks xmlns:a="http://schemas.openxmlformats.org/drawingml/2006/main" noGrp="1"/>
          </p:cNvSpPr>
          <p:nvPr/>
        </p:nvSpPr>
        <p:spPr>
          <a:xfrm xmlns:a="http://schemas.openxmlformats.org/drawingml/2006/main">
            <a:off x="502920" y="4391152"/>
            <a:ext cx="6556248" cy="7698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Primary reading: The checked-in KSZ8081MLX PHY data sheet for </a:t>
            </a:r>
            <a:r>
              <a:rPr b="1"/>
              <a:t>MII</a:t>
            </a:r>
            <a:r>
              <a:t>, IEEE 802.3 as the canonical
standard, and the pinned MAC RTL.
Canonical standard catalogue: https://standards.ieee.org/standard/802_3-2022.html; local PHY
snapshot: specs/Ethernet_Specification.pdf</a:t>
            </a:r>
          </a:p>
        </p:txBody>
      </p:sp>
      <p:sp>
        <p:nvSpPr>
          <p:cNvPr id="57" name="body-3">
            <a:extLst xmlns:a="http://schemas.openxmlformats.org/drawingml/2006/main">
              <a:ext uri="{FF2B5EF4-FFF2-40B4-BE49-F238E27FC236}">
                <a16:creationId xmlns:a16="http://schemas.microsoft.com/office/drawing/2014/main" id="{E555063F-CB11-41A2-9535-BBA9495A47AE}"/>
              </a:ext>
            </a:extLst>
          </p:cNvPr>
          <p:cNvSpPr>
            <a:spLocks xmlns:a="http://schemas.openxmlformats.org/drawingml/2006/main" noGrp="1"/>
          </p:cNvSpPr>
          <p:nvPr/>
        </p:nvSpPr>
        <p:spPr>
          <a:xfrm xmlns:a="http://schemas.openxmlformats.org/drawingml/2006/main">
            <a:off x="502920" y="5289042"/>
            <a:ext cx="6556248" cy="948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150" b="0">
                <a:solidFill>
                  <a:srgbClr val="444444"/>
                </a:solidFill>
                <a:latin typeface="Segoe UI"/>
                <a:ea typeface="Segoe UI"/>
                <a:cs typeface="Segoe UI"/>
              </a:defRPr>
            </a:pPr>
            <a:r>
              <a:t>Open work remains explicit: No external PHY, MDIO, collision handling or network stack. Test
clocks are phase-offset at the same nominal frequency; drift is untested. Full-chip integration,
manufacturing checks and board validation are not closed by the standalone </a:t>
            </a:r>
            <a:r>
              <a:rPr b="1"/>
              <a:t>reference</a:t>
            </a:r>
            <a:r>
              <a:t> flow. The
reader can reproduce the listed evidence without assuming those larger obligations have already
been completed.</a:t>
            </a:r>
          </a:p>
        </p:txBody>
      </p:sp>
    </p:spTree>
    <p:extLst>
      <p:ext uri="{BB962C8B-B14F-4D97-AF65-F5344CB8AC3E}">
        <p14:creationId xmlns:p14="http://schemas.microsoft.com/office/powerpoint/2010/main" val="117162774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b117502749f5496a"/>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23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FE715230-DE37-41EC-B4D7-72BD16CF56F6}"/>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21 · DESIGN VOCABULARY</a:t>
            </a:r>
          </a:p>
        </p:txBody>
      </p:sp>
      <p:sp>
        <p:nvSpPr>
          <p:cNvPr id="51" name="page-title">
            <a:extLst xmlns:a="http://schemas.openxmlformats.org/drawingml/2006/main">
              <a:ext uri="{FF2B5EF4-FFF2-40B4-BE49-F238E27FC236}">
                <a16:creationId xmlns:a16="http://schemas.microsoft.com/office/drawing/2014/main" id="{5360CD25-A212-49D1-8302-40291B1027DB}"/>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Glossary: design and protocol</a:t>
            </a:r>
          </a:p>
        </p:txBody>
      </p:sp>
      <p:sp>
        <p:nvSpPr>
          <p:cNvPr id="52" name="intro">
            <a:extLst xmlns:a="http://schemas.openxmlformats.org/drawingml/2006/main">
              <a:ext uri="{FF2B5EF4-FFF2-40B4-BE49-F238E27FC236}">
                <a16:creationId xmlns:a16="http://schemas.microsoft.com/office/drawing/2014/main" id="{A244F56B-CD6C-41ED-9B67-D7D0187A76AC}"/>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Definitions for reading the protocol rules and the checked RTL. Physical implementation</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terms follow on the next page.</a:t>
            </a:r>
          </a:p>
        </p:txBody>
      </p:sp>
      <p:sp>
        <p:nvSpPr>
          <p:cNvPr id="53" name="component-label-246.26666666666665">
            <a:extLst xmlns:a="http://schemas.openxmlformats.org/drawingml/2006/main">
              <a:ext uri="{FF2B5EF4-FFF2-40B4-BE49-F238E27FC236}">
                <a16:creationId xmlns:a16="http://schemas.microsoft.com/office/drawing/2014/main" id="{E0598BF7-FFCB-4674-9753-5C65946600C1}"/>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D E S I G N   A N D   V E R I F I C A T I O N</a:t>
            </a:r>
          </a:p>
        </p:txBody>
      </p:sp>
      <p:graphicFrame>
        <p:nvGraphicFramePr>
          <p:cNvPr id="68" name=""/>
          <p:cNvGraphicFramePr/>
          <p:nvPr/>
        </p:nvGraphicFramePr>
        <p:xfrm>
          <a:off xmlns:a="http://schemas.openxmlformats.org/drawingml/2006/main" x="502920" y="2610866"/>
          <a:ext xmlns:a="http://schemas.openxmlformats.org/drawingml/2006/main" cx="6556248" cy="4851400"/>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TERM</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MEANS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Protocol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Rules for exchanging information between devices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RTL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Registers and the logic moving values between them</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Verilog</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 language used to describe hardware</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FSM</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 circuit progressing through defined states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Lint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Static source checks; no transaction execution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Testbench</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Code that supplies inputs and checks outputs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Coverage</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Which defined situations were exercised</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Negative control</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An intentionally wrong case the checker must reject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VCD</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Digital signal-change trace from a simulation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Handshake</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Signals agreeing when data is accepted</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MAC / PHY</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Digital frame engine / physical signalling transceiver</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MII</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Four-bit Media Independent Interface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FCS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Frame Check Sequence; transmitted CRC32</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IFG</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Inter-frame gap</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Basis vector</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One active input bit used to test a linear transform</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7162774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88BC22D-29DE-4CC2-8064-63A1FBEF275B}"/>
              </a:ext>
            </a:extLst>
          </p:cNvPr>
          <p:cNvSpPr>
            <a:spLocks xmlns:a="http://schemas.openxmlformats.org/drawingml/2006/main" noGrp="1"/>
          </p:cNvSpPr>
          <p:nvPr/>
        </p:nvSpPr>
        <p:spPr>
          <a:xfrm xmlns:a="http://schemas.openxmlformats.org/drawingml/2006/main">
            <a:off x="0" y="0"/>
            <a:ext cx="7562088" cy="45720"/>
          </a:xfrm>
          <a:prstGeom xmlns:a="http://schemas.openxmlformats.org/drawingml/2006/main" prst="rect">
            <a:avLst/>
          </a:prstGeom>
          <a:solidFill xmlns:a="http://schemas.openxmlformats.org/drawingml/2006/main">
            <a:srgbClr val="EF952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6" name="Picture 2"/>
          <p:cNvPicPr>
            <a:picLocks xmlns:a="http://schemas.openxmlformats.org/drawingml/2006/main" noChangeAspect="1"/>
          </p:cNvPicPr>
          <p:nvPr/>
        </p:nvPicPr>
        <p:blipFill>
          <a:blip xmlns:r="http://schemas.openxmlformats.org/officeDocument/2006/relationships" xmlns:a="http://schemas.openxmlformats.org/drawingml/2006/main" r:embed="R6b5149cee17041c5"/>
          <a:stretch xmlns:a="http://schemas.openxmlformats.org/drawingml/2006/main">
            <a:fillRect l="0" t="0" r="0" b="0"/>
          </a:stretch>
        </p:blipFill>
        <p:spPr>
          <a:xfrm xmlns:a="http://schemas.openxmlformats.org/drawingml/2006/main">
            <a:off x="6108192" y="233172"/>
            <a:ext cx="187984" cy="237744"/>
          </a:xfrm>
          <a:prstGeom xmlns:a="http://schemas.openxmlformats.org/drawingml/2006/main" prst="rect">
            <a:avLst/>
          </a:prstGeom>
        </p:spPr>
      </p:pic>
      <p:sp>
        <p:nvSpPr>
          <p:cNvPr id="4" name="TextBox 3">
            <a:extLst xmlns:a="http://schemas.openxmlformats.org/drawingml/2006/main">
              <a:ext uri="{FF2B5EF4-FFF2-40B4-BE49-F238E27FC236}">
                <a16:creationId xmlns:a16="http://schemas.microsoft.com/office/drawing/2014/main" id="{4D0FCFB7-35E9-4CA9-B591-F4EDD535D5DF}"/>
              </a:ext>
            </a:extLst>
          </p:cNvPr>
          <p:cNvSpPr>
            <a:spLocks xmlns:a="http://schemas.openxmlformats.org/drawingml/2006/main" noGrp="1"/>
          </p:cNvSpPr>
          <p:nvPr/>
        </p:nvSpPr>
        <p:spPr>
          <a:xfrm xmlns:a="http://schemas.openxmlformats.org/drawingml/2006/main">
            <a:off x="6382512" y="265176"/>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oAutofit/>
          </a:bodyPr>
          <a:lstStyle xmlns:a="http://schemas.openxmlformats.org/drawingml/2006/main"/>
          <a:p xmlns:a="http://schemas.openxmlformats.org/drawingml/2006/main">
            <a:pPr algn="l">
              <a:lnSpc>
                <a:spcPct val="100000"/>
              </a:lnSpc>
              <a:buNone/>
            </a:pPr>
            <a:r>
              <a:rPr sz="900" b="1">
                <a:solidFill>
                  <a:srgbClr val="111111"/>
                </a:solidFill>
                <a:latin typeface="Aptos Display"/>
                <a:ea typeface="Aptos Display"/>
                <a:cs typeface="Aptos Display"/>
              </a:rPr>
              <a:t>Ignytion </a:t>
            </a:r>
            <a:r>
              <a:rPr sz="900" b="1">
                <a:solidFill>
                  <a:srgbClr val="EF9529"/>
                </a:solidFill>
                <a:latin typeface="Aptos Display"/>
                <a:ea typeface="Aptos Display"/>
                <a:cs typeface="Aptos Display"/>
              </a:rPr>
              <a:t>io</a:t>
            </a:r>
          </a:p>
        </p:txBody>
      </p:sp>
      <p:sp>
        <p:nvSpPr>
          <p:cNvPr id="5" name="TextBox 4">
            <a:extLst xmlns:a="http://schemas.openxmlformats.org/drawingml/2006/main">
              <a:ext uri="{FF2B5EF4-FFF2-40B4-BE49-F238E27FC236}">
                <a16:creationId xmlns:a16="http://schemas.microsoft.com/office/drawing/2014/main" id="{CCB9CF38-50B4-4A02-91F2-D660013E03DE}"/>
              </a:ext>
            </a:extLst>
          </p:cNvPr>
          <p:cNvSpPr>
            <a:spLocks xmlns:a="http://schemas.openxmlformats.org/drawingml/2006/main" noGrp="1"/>
          </p:cNvSpPr>
          <p:nvPr/>
        </p:nvSpPr>
        <p:spPr>
          <a:xfrm xmlns:a="http://schemas.openxmlformats.org/drawingml/2006/main">
            <a:off x="502920" y="283464"/>
            <a:ext cx="512064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50" b="0">
                <a:solidFill>
                  <a:srgbClr val="777777"/>
                </a:solidFill>
                <a:latin typeface="Segoe UI"/>
                <a:ea typeface="Segoe UI"/>
                <a:cs typeface="Segoe UI"/>
              </a:rPr>
              <a:t>10 MBIT ETHERNET · RTL TO GDS · A BEGINNER'S WALKTHROUGH</a:t>
            </a:r>
          </a:p>
        </p:txBody>
      </p:sp>
      <p:sp>
        <p:nvSpPr>
          <p:cNvPr id="6" name="Rectangle 5">
            <a:extLst xmlns:a="http://schemas.openxmlformats.org/drawingml/2006/main">
              <a:ext uri="{FF2B5EF4-FFF2-40B4-BE49-F238E27FC236}">
                <a16:creationId xmlns:a16="http://schemas.microsoft.com/office/drawing/2014/main" id="{FFA07909-C1A5-48C5-847C-ADC7F8D921CD}"/>
              </a:ext>
            </a:extLst>
          </p:cNvPr>
          <p:cNvSpPr>
            <a:spLocks xmlns:a="http://schemas.openxmlformats.org/drawingml/2006/main" noGrp="1"/>
          </p:cNvSpPr>
          <p:nvPr/>
        </p:nvSpPr>
        <p:spPr>
          <a:xfrm xmlns:a="http://schemas.openxmlformats.org/drawingml/2006/main">
            <a:off x="502920" y="612648"/>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3ABB5754-3093-47F6-A165-38D3316DE268}"/>
              </a:ext>
            </a:extLst>
          </p:cNvPr>
          <p:cNvSpPr>
            <a:spLocks xmlns:a="http://schemas.openxmlformats.org/drawingml/2006/main" noGrp="1"/>
          </p:cNvSpPr>
          <p:nvPr/>
        </p:nvSpPr>
        <p:spPr>
          <a:xfrm xmlns:a="http://schemas.openxmlformats.org/drawingml/2006/main">
            <a:off x="502920" y="10195560"/>
            <a:ext cx="6556248" cy="9144"/>
          </a:xfrm>
          <a:prstGeom xmlns:a="http://schemas.openxmlformats.org/drawingml/2006/main" prst="rect">
            <a:avLst/>
          </a:prstGeom>
          <a:solidFill xmlns:a="http://schemas.openxmlformats.org/drawingml/2006/main">
            <a:srgbClr val="EAEAE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966C29B-8EA5-4F76-A1F3-F8C08CB54091}"/>
              </a:ext>
            </a:extLst>
          </p:cNvPr>
          <p:cNvSpPr>
            <a:spLocks xmlns:a="http://schemas.openxmlformats.org/drawingml/2006/main" noGrp="1"/>
          </p:cNvSpPr>
          <p:nvPr/>
        </p:nvSpPr>
        <p:spPr>
          <a:xfrm xmlns:a="http://schemas.openxmlformats.org/drawingml/2006/main">
            <a:off x="502920" y="10259568"/>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 2026 Ignytion IO · ignytion.io</a:t>
            </a:r>
          </a:p>
        </p:txBody>
      </p:sp>
      <p:sp>
        <p:nvSpPr>
          <p:cNvPr id="9" name="TextBox 8">
            <a:extLst xmlns:a="http://schemas.openxmlformats.org/drawingml/2006/main">
              <a:ext uri="{FF2B5EF4-FFF2-40B4-BE49-F238E27FC236}">
                <a16:creationId xmlns:a16="http://schemas.microsoft.com/office/drawing/2014/main" id="{C2F44B5B-BD2D-44EF-9A9B-B8A5F806F779}"/>
              </a:ext>
            </a:extLst>
          </p:cNvPr>
          <p:cNvSpPr>
            <a:spLocks xmlns:a="http://schemas.openxmlformats.org/drawingml/2006/main" noGrp="1"/>
          </p:cNvSpPr>
          <p:nvPr/>
        </p:nvSpPr>
        <p:spPr>
          <a:xfrm xmlns:a="http://schemas.openxmlformats.org/drawingml/2006/main">
            <a:off x="2834640" y="10259568"/>
            <a:ext cx="21031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pPr>
            <a:r>
              <a:rPr sz="800" b="0">
                <a:solidFill>
                  <a:srgbClr val="777777"/>
                </a:solidFill>
                <a:latin typeface="Segoe UI"/>
                <a:ea typeface="Segoe UI"/>
                <a:cs typeface="Segoe UI"/>
              </a:rPr>
              <a:t>October 2026 · Version 2.0</a:t>
            </a:r>
          </a:p>
        </p:txBody>
      </p:sp>
      <p:sp>
        <p:nvSpPr>
          <p:cNvPr id="10" name="TextBox 9">
            <a:extLst xmlns:a="http://schemas.openxmlformats.org/drawingml/2006/main">
              <a:ext uri="{FF2B5EF4-FFF2-40B4-BE49-F238E27FC236}">
                <a16:creationId xmlns:a16="http://schemas.microsoft.com/office/drawing/2014/main" id="{9945B582-58BA-4E8A-B160-2FA344DB573D}"/>
              </a:ext>
            </a:extLst>
          </p:cNvPr>
          <p:cNvSpPr>
            <a:spLocks xmlns:a="http://schemas.openxmlformats.org/drawingml/2006/main" noGrp="1"/>
          </p:cNvSpPr>
          <p:nvPr/>
        </p:nvSpPr>
        <p:spPr>
          <a:xfrm xmlns:a="http://schemas.openxmlformats.org/drawingml/2006/main">
            <a:off x="5029200" y="10259568"/>
            <a:ext cx="20299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pPr>
            <a:r>
              <a:rPr sz="800" b="0">
                <a:solidFill>
                  <a:srgbClr val="777777"/>
                </a:solidFill>
                <a:latin typeface="Segoe UI"/>
                <a:ea typeface="Segoe UI"/>
                <a:cs typeface="Segoe UI"/>
              </a:rPr>
              <a:t>24 / 24</a:t>
            </a:r>
            <a:endParaRPr sz="800" b="0">
              <a:solidFill>
                <a:srgbClr val="777777"/>
              </a:solidFill>
              <a:latin typeface="Segoe UI"/>
              <a:ea typeface="Segoe UI"/>
              <a:cs typeface="Segoe UI"/>
            </a:endParaRPr>
          </a:p>
        </p:txBody>
      </p:sp>
      <p:sp>
        <p:nvSpPr>
          <p:cNvPr id="50" name="eyebrow">
            <a:extLst xmlns:a="http://schemas.openxmlformats.org/drawingml/2006/main">
              <a:ext uri="{FF2B5EF4-FFF2-40B4-BE49-F238E27FC236}">
                <a16:creationId xmlns:a16="http://schemas.microsoft.com/office/drawing/2014/main" id="{900CAC37-C3A3-42A4-8879-F9700A2C37F3}"/>
              </a:ext>
            </a:extLst>
          </p:cNvPr>
          <p:cNvSpPr>
            <a:spLocks xmlns:a="http://schemas.openxmlformats.org/drawingml/2006/main" noGrp="1"/>
          </p:cNvSpPr>
          <p:nvPr/>
        </p:nvSpPr>
        <p:spPr>
          <a:xfrm xmlns:a="http://schemas.openxmlformats.org/drawingml/2006/main">
            <a:off x="502920" y="758952"/>
            <a:ext cx="6556248"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950" b="1">
                <a:solidFill>
                  <a:srgbClr val="EF9529"/>
                </a:solidFill>
                <a:latin typeface="Segoe UI"/>
                <a:ea typeface="Segoe UI"/>
                <a:cs typeface="Segoe UI"/>
              </a:defRPr>
            </a:pPr>
            <a:r>
              <a:rPr sz="950" b="1">
                <a:solidFill>
                  <a:srgbClr val="EF9529"/>
                </a:solidFill>
                <a:latin typeface="Segoe UI"/>
                <a:ea typeface="Segoe UI"/>
                <a:cs typeface="Segoe UI"/>
              </a:rPr>
              <a:t>SECTION 22 · PHYSICAL VOCABULARY</a:t>
            </a:r>
          </a:p>
        </p:txBody>
      </p:sp>
      <p:sp>
        <p:nvSpPr>
          <p:cNvPr id="51" name="page-title">
            <a:extLst xmlns:a="http://schemas.openxmlformats.org/drawingml/2006/main">
              <a:ext uri="{FF2B5EF4-FFF2-40B4-BE49-F238E27FC236}">
                <a16:creationId xmlns:a16="http://schemas.microsoft.com/office/drawing/2014/main" id="{99535F12-7D58-4AB0-B5CA-A8C45F64EF21}"/>
              </a:ext>
            </a:extLst>
          </p:cNvPr>
          <p:cNvSpPr>
            <a:spLocks xmlns:a="http://schemas.openxmlformats.org/drawingml/2006/main" noGrp="1"/>
          </p:cNvSpPr>
          <p:nvPr/>
        </p:nvSpPr>
        <p:spPr>
          <a:xfrm xmlns:a="http://schemas.openxmlformats.org/drawingml/2006/main">
            <a:off x="502920" y="1042416"/>
            <a:ext cx="6556248"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300" b="1">
                <a:solidFill>
                  <a:srgbClr val="111111"/>
                </a:solidFill>
                <a:latin typeface="Segoe UI"/>
                <a:ea typeface="Segoe UI"/>
                <a:cs typeface="Segoe UI"/>
              </a:defRPr>
            </a:pPr>
            <a:r>
              <a:rPr sz="2300" b="1">
                <a:solidFill>
                  <a:srgbClr val="111111"/>
                </a:solidFill>
                <a:latin typeface="Segoe UI"/>
                <a:ea typeface="Segoe UI"/>
                <a:cs typeface="Segoe UI"/>
              </a:rPr>
              <a:t>Glossary: implementation and signoff</a:t>
            </a:r>
          </a:p>
        </p:txBody>
      </p:sp>
      <p:sp>
        <p:nvSpPr>
          <p:cNvPr id="52" name="intro">
            <a:extLst xmlns:a="http://schemas.openxmlformats.org/drawingml/2006/main">
              <a:ext uri="{FF2B5EF4-FFF2-40B4-BE49-F238E27FC236}">
                <a16:creationId xmlns:a16="http://schemas.microsoft.com/office/drawing/2014/main" id="{F398E54B-72D5-4F32-8DB0-0B5F5AFC7F24}"/>
              </a:ext>
            </a:extLst>
          </p:cNvPr>
          <p:cNvSpPr>
            <a:spLocks xmlns:a="http://schemas.openxmlformats.org/drawingml/2006/main" noGrp="1"/>
          </p:cNvSpPr>
          <p:nvPr/>
        </p:nvSpPr>
        <p:spPr>
          <a:xfrm xmlns:a="http://schemas.openxmlformats.org/drawingml/2006/main">
            <a:off x="502920" y="1719072"/>
            <a:ext cx="6556248" cy="42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These definitions help distinguish a successfully exported reference layout from a</a:t>
            </a:r>
          </a:p>
          <a:p xmlns:a="http://schemas.openxmlformats.org/drawingml/2006/main">
            <a:pPr>
              <a:defRPr sz="1250" b="0">
                <a:solidFill>
                  <a:srgbClr val="444444"/>
                </a:solidFill>
                <a:latin typeface="Segoe UI"/>
                <a:ea typeface="Segoe UI"/>
                <a:cs typeface="Segoe UI"/>
              </a:defRPr>
            </a:pPr>
            <a:r>
              <a:rPr sz="1250" b="0">
                <a:solidFill>
                  <a:srgbClr val="444444"/>
                </a:solidFill>
                <a:latin typeface="Segoe UI"/>
                <a:ea typeface="Segoe UI"/>
                <a:cs typeface="Segoe UI"/>
              </a:rPr>
              <a:t>manufacturing-ready design.</a:t>
            </a:r>
          </a:p>
        </p:txBody>
      </p:sp>
      <p:sp>
        <p:nvSpPr>
          <p:cNvPr id="53" name="component-label-246.26666666666665">
            <a:extLst xmlns:a="http://schemas.openxmlformats.org/drawingml/2006/main">
              <a:ext uri="{FF2B5EF4-FFF2-40B4-BE49-F238E27FC236}">
                <a16:creationId xmlns:a16="http://schemas.microsoft.com/office/drawing/2014/main" id="{A915C00C-6DDD-4D2C-8C8A-7EC565FEACB6}"/>
              </a:ext>
            </a:extLst>
          </p:cNvPr>
          <p:cNvSpPr>
            <a:spLocks xmlns:a="http://schemas.openxmlformats.org/drawingml/2006/main" noGrp="1"/>
          </p:cNvSpPr>
          <p:nvPr/>
        </p:nvSpPr>
        <p:spPr>
          <a:xfrm xmlns:a="http://schemas.openxmlformats.org/drawingml/2006/main">
            <a:off x="502920" y="2345690"/>
            <a:ext cx="6556248"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850" b="1">
                <a:solidFill>
                  <a:srgbClr val="EF9529"/>
                </a:solidFill>
                <a:latin typeface="Segoe UI"/>
                <a:ea typeface="Segoe UI"/>
                <a:cs typeface="Segoe UI"/>
              </a:defRPr>
            </a:pPr>
            <a:r>
              <a:rPr sz="850" b="1">
                <a:solidFill>
                  <a:srgbClr val="EF9529"/>
                </a:solidFill>
                <a:latin typeface="Segoe UI"/>
                <a:ea typeface="Segoe UI"/>
                <a:cs typeface="Segoe UI"/>
              </a:rPr>
              <a:t>P H Y S I C A L   I M P L E M E N T A T I O N</a:t>
            </a:r>
          </a:p>
        </p:txBody>
      </p:sp>
      <p:graphicFrame>
        <p:nvGraphicFramePr>
          <p:cNvPr id="68" name=""/>
          <p:cNvGraphicFramePr/>
          <p:nvPr/>
        </p:nvGraphicFramePr>
        <p:xfrm>
          <a:off xmlns:a="http://schemas.openxmlformats.org/drawingml/2006/main" x="502920" y="2610866"/>
          <a:ext xmlns:a="http://schemas.openxmlformats.org/drawingml/2006/main" cx="6556248" cy="5457825"/>
        </p:xfrm>
        <a:graphic xmlns:a="http://schemas.openxmlformats.org/drawingml/2006/main">
          <a:graphicData uri="http://schemas.openxmlformats.org/drawingml/2006/table">
            <a:tbl>
              <a:tblPr/>
              <a:tblGrid>
                <a:gridCol w="1966874"/>
                <a:gridCol w="4589374"/>
              </a:tblGrid>
              <a:tr h="303213">
                <a:tc>
                  <a:txBody>
                    <a:bodyPr lIns="76200" tIns="57150" rIns="76200" bIns="57150">
                      <a:noAutofit/>
                    </a:bodyPr>
                    <a:lstStyle/>
                    <a:p>
                      <a:r>
                        <a:rPr sz="950" b="1">
                          <a:solidFill>
                            <a:srgbClr val="EDEDED"/>
                          </a:solidFill>
                          <a:latin typeface="Segoe UI"/>
                          <a:ea typeface="Segoe UI"/>
                          <a:cs typeface="Segoe UI"/>
                        </a:rPr>
                        <a:t>TERM</a:t>
                      </a:r>
                    </a:p>
                  </a:txBody>
                  <a:tcPr marL="91440" marR="91440" marT="45720" marB="45720">
                    <a:lnL w="0">
                      <a:noFill/>
                    </a:lnL>
                    <a:lnR w="0">
                      <a:noFill/>
                    </a:lnR>
                    <a:lnT w="0">
                      <a:noFill/>
                    </a:lnT>
                    <a:lnB w="4763">
                      <a:solidFill>
                        <a:srgbClr val="EAEAEA"/>
                      </a:solidFill>
                      <a:prstDash val="solid"/>
                    </a:lnB>
                    <a:solidFill>
                      <a:srgbClr val="0B0B0C"/>
                    </a:solidFill>
                  </a:tcPr>
                </a:tc>
                <a:tc>
                  <a:txBody>
                    <a:bodyPr lIns="76200" tIns="57150" rIns="76200" bIns="57150">
                      <a:noAutofit/>
                    </a:bodyPr>
                    <a:lstStyle/>
                    <a:p>
                      <a:r>
                        <a:rPr sz="950" b="1">
                          <a:solidFill>
                            <a:srgbClr val="EDEDED"/>
                          </a:solidFill>
                          <a:latin typeface="Segoe UI"/>
                          <a:ea typeface="Segoe UI"/>
                          <a:cs typeface="Segoe UI"/>
                        </a:rPr>
                        <a:t>WHAT IT MEANS</a:t>
                      </a:r>
                    </a:p>
                  </a:txBody>
                  <a:tcPr marL="91440" marR="91440" marT="45720" marB="45720">
                    <a:lnR w="0">
                      <a:noFill/>
                    </a:lnR>
                    <a:lnT w="0">
                      <a:noFill/>
                    </a:lnT>
                    <a:lnB w="4763">
                      <a:solidFill>
                        <a:srgbClr val="EAEAEA"/>
                      </a:solidFill>
                      <a:prstDash val="solid"/>
                    </a:lnB>
                    <a:solidFill>
                      <a:srgbClr val="0B0B0C"/>
                    </a:solidFill>
                  </a:tcPr>
                </a:tc>
              </a:tr>
              <a:tr h="303213">
                <a:tc>
                  <a:txBody>
                    <a:bodyPr lIns="76200" tIns="57150" rIns="76200" bIns="57150">
                      <a:noAutofit/>
                    </a:bodyPr>
                    <a:lstStyle/>
                    <a:p>
                      <a:r>
                        <a:rPr sz="950" b="0">
                          <a:solidFill>
                            <a:srgbClr val="444444"/>
                          </a:solidFill>
                          <a:latin typeface="Segoe UI"/>
                          <a:ea typeface="Segoe UI"/>
                          <a:cs typeface="Segoe UI"/>
                        </a:rPr>
                        <a:t>Synthesis</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Translate RTL into a technology-cell circuit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Netlist</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Cells and the connections between them</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Standard cell</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Predesigned logic/storage cell in a process library</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PDK</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Process design kit: process-specific implementation files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SG13G2</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IHP process used by these reference builds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Floorplan</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Die/core outline, rows, power and pin geometry</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Placement</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Choose legal positions for cells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Filler</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Physical row-site cell, not functional logic</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CTS / skew</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Clock distribution / difference in arrival times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Routing / via</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Metal connections / links between metal layers</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Parasitics / SPEF</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Wire resistance/capacitance / extracted data format</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Corner</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A characterised process, voltage and temperature case</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STA / slack</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Static timing analysis / remaining timing margin</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DEF / GDS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Placement/routing exchange / polygon hierarchy</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DRC</a:t>
                      </a:r>
                    </a:p>
                  </a:txBody>
                  <a:tcPr marL="91440" marR="91440" marT="45720" marB="45720">
                    <a:lnL w="0">
                      <a:noFill/>
                    </a:lnL>
                    <a:lnR w="0">
                      <a:noFill/>
                    </a:lnR>
                    <a:lnB w="4763">
                      <a:solidFill>
                        <a:srgbClr val="EAEAEA"/>
                      </a:solidFill>
                      <a:prstDash val="solid"/>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Check geometry against applicable process rules</a:t>
                      </a:r>
                    </a:p>
                  </a:txBody>
                  <a:tcPr marL="91440" marR="91440" marT="45720" marB="45720">
                    <a:lnR w="0">
                      <a:noFill/>
                    </a:lnR>
                    <a:lnB w="4763">
                      <a:solidFill>
                        <a:srgbClr val="EAEAEA"/>
                      </a:solidFill>
                      <a:prstDash val="solid"/>
                    </a:lnB>
                    <a:solidFill>
                      <a:srgbClr val="FFFFFF"/>
                    </a:solidFill>
                  </a:tcPr>
                </a:tc>
              </a:tr>
              <a:tr h="303213">
                <a:tc>
                  <a:txBody>
                    <a:bodyPr lIns="76200" tIns="57150" rIns="76200" bIns="57150">
                      <a:noAutofit/>
                    </a:bodyPr>
                    <a:lstStyle/>
                    <a:p>
                      <a:r>
                        <a:rPr sz="950" b="0">
                          <a:solidFill>
                            <a:srgbClr val="444444"/>
                          </a:solidFill>
                          <a:latin typeface="Segoe UI"/>
                          <a:ea typeface="Segoe UI"/>
                          <a:cs typeface="Segoe UI"/>
                        </a:rPr>
                        <a:t>LVS</a:t>
                      </a:r>
                    </a:p>
                  </a:txBody>
                  <a:tcPr marL="91440" marR="91440" marT="45720" marB="45720">
                    <a:lnL w="0">
                      <a:noFill/>
                    </a:lnL>
                    <a:lnR w="0">
                      <a:noFill/>
                    </a:lnR>
                    <a:lnB w="4763">
                      <a:solidFill>
                        <a:srgbClr val="EAEAEA"/>
                      </a:solidFill>
                      <a:prstDash val="solid"/>
                    </a:lnB>
                    <a:solidFill>
                      <a:srgbClr val="FAFAFA"/>
                    </a:solidFill>
                  </a:tcPr>
                </a:tc>
                <a:tc>
                  <a:txBody>
                    <a:bodyPr lIns="76200" tIns="57150" rIns="76200" bIns="57150">
                      <a:noAutofit/>
                    </a:bodyPr>
                    <a:lstStyle/>
                    <a:p>
                      <a:r>
                        <a:rPr sz="950" b="0">
                          <a:solidFill>
                            <a:srgbClr val="444444"/>
                          </a:solidFill>
                          <a:latin typeface="Segoe UI"/>
                          <a:ea typeface="Segoe UI"/>
                          <a:cs typeface="Segoe UI"/>
                        </a:rPr>
                        <a:t>Compare the extracted layout circuit with its netlist</a:t>
                      </a:r>
                    </a:p>
                  </a:txBody>
                  <a:tcPr marL="91440" marR="91440" marT="45720" marB="45720">
                    <a:lnR w="0">
                      <a:noFill/>
                    </a:lnR>
                    <a:lnB w="4763">
                      <a:solidFill>
                        <a:srgbClr val="EAEAEA"/>
                      </a:solidFill>
                      <a:prstDash val="solid"/>
                    </a:lnB>
                    <a:solidFill>
                      <a:srgbClr val="FAFAFA"/>
                    </a:solidFill>
                  </a:tcPr>
                </a:tc>
              </a:tr>
              <a:tr h="303213">
                <a:tc>
                  <a:txBody>
                    <a:bodyPr lIns="76200" tIns="57150" rIns="76200" bIns="57150">
                      <a:noAutofit/>
                    </a:bodyPr>
                    <a:lstStyle/>
                    <a:p>
                      <a:r>
                        <a:rPr sz="950" b="0">
                          <a:solidFill>
                            <a:srgbClr val="444444"/>
                          </a:solidFill>
                          <a:latin typeface="Segoe UI"/>
                          <a:ea typeface="Segoe UI"/>
                          <a:cs typeface="Segoe UI"/>
                        </a:rPr>
                        <a:t>Signoff</a:t>
                      </a:r>
                    </a:p>
                  </a:txBody>
                  <a:tcPr marL="91440" marR="91440" marT="45720" marB="45720">
                    <a:lnL w="0">
                      <a:noFill/>
                    </a:lnL>
                    <a:lnR w="0">
                      <a:noFill/>
                    </a:lnR>
                    <a:lnB w="0">
                      <a:noFill/>
                    </a:lnB>
                    <a:solidFill>
                      <a:srgbClr val="FFFFFF"/>
                    </a:solidFill>
                  </a:tcPr>
                </a:tc>
                <a:tc>
                  <a:txBody>
                    <a:bodyPr lIns="76200" tIns="57150" rIns="76200" bIns="57150">
                      <a:noAutofit/>
                    </a:bodyPr>
                    <a:lstStyle/>
                    <a:p>
                      <a:r>
                        <a:rPr sz="950" b="0">
                          <a:solidFill>
                            <a:srgbClr val="444444"/>
                          </a:solidFill>
                          <a:latin typeface="Segoe UI"/>
                          <a:ea typeface="Segoe UI"/>
                          <a:cs typeface="Segoe UI"/>
                        </a:rPr>
                        <a:t>Accepted applicable release checks; unperformed here</a:t>
                      </a:r>
                    </a:p>
                  </a:txBody>
                  <a:tcPr marL="91440" marR="91440" marT="45720" marB="45720">
                    <a:lnR w="0">
                      <a:noFill/>
                    </a:lnR>
                    <a:lnB w="0">
                      <a:noFill/>
                    </a:lnB>
                    <a:solidFill>
                      <a:srgbClr val="FFFFFF"/>
                    </a:solidFill>
                  </a:tcPr>
                </a:tc>
              </a:tr>
            </a:tbl>
          </a:graphicData>
        </a:graphic>
      </p:graphicFrame>
    </p:spTree>
    <p:extLst>
      <p:ext uri="{BB962C8B-B14F-4D97-AF65-F5344CB8AC3E}">
        <p14:creationId xmlns:p14="http://schemas.microsoft.com/office/powerpoint/2010/main" val="117162774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2026-10-03T11:43:35.6310000Z</dcterms:created>
  <dcterms:modified xsi:type="dcterms:W3CDTF">2026-10-03T11:43:35.6310000Z</dcterms:modified>
</coreProperties>
</file>